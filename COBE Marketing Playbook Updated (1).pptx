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17.xml"/>
  <Override ContentType="application/vnd.openxmlformats-officedocument.presentationml.comments+xml" PartName="/ppt/comments/comment8.xml"/>
  <Override ContentType="application/vnd.openxmlformats-officedocument.presentationml.comments+xml" PartName="/ppt/comments/comment6.xml"/>
  <Override ContentType="application/vnd.openxmlformats-officedocument.presentationml.comments+xml" PartName="/ppt/comments/comment19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5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6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18.xml"/>
  <Override ContentType="application/vnd.openxmlformats-officedocument.presentationml.comments+xml" PartName="/ppt/comments/comment12.xml"/>
  <Override ContentType="application/vnd.openxmlformats-officedocument.presentationml.comments+xml" PartName="/ppt/comments/comment1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hHHAGToa69bCmx5HCedTbAJ05y7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9" name="Ashley Walt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1C61E8-C72F-49A2-BF68-AB6E260F276D}">
  <a:tblStyle styleId="{601C61E8-C72F-49A2-BF68-AB6E260F276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2-03T17:12:26.109">
    <p:pos x="3225" y="2131"/>
    <p:text>Specify who "us" is. Send COBE Marketing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A"/>
      </p:ext>
    </p:extLst>
  </p:cm>
  <p:cm authorId="0" idx="2" dt="2026-02-03T17:11:12.786">
    <p:pos x="288" y="1267"/>
    <p:text>Reframe this to COBE Marketing manages a variety of different marketing channels that are FREE and reach many people.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e8"/>
      </p:ext>
    </p:extLst>
  </p:cm>
  <p:cm authorId="0" idx="3" dt="2026-02-03T17:10:01.083">
    <p:pos x="288" y="892"/>
    <p:text>This needs to be more relevant to the users of the playbook. 
ie: "I have a new class/or an event I want to promote - how can COBE Marketing help me/"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e4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2-03T17:29:32.472">
    <p:pos x="288" y="172"/>
    <p:text>I don't see these options following through out the deck. Lets chat how to make this more apparent within the options.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E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2-03T18:50:26.674">
    <p:pos x="6000" y="0"/>
    <p:text>A visual of the process would be beneficial here: 
1. Faculty understands marketing goal and target
2. etc. 
I think breaking it out in steps can be helpful to structure the playbook.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I"/>
      </p:ext>
    </p:extLst>
  </p:cm>
  <p:cm authorId="0" idx="6" dt="2026-02-03T18:50:26.674">
    <p:pos x="6000" y="0"/>
    <p:text>We might need a "how to use the slide deck" slide</p:text>
    <p:extLst>
      <p:ext uri="{C676402C-5697-4E1C-873F-D02D1690AC5C}">
        <p15:threadingInfo timeZoneBias="0">
          <p15:parentCm authorId="0" idx="5"/>
        </p15:threadingInfo>
      </p:ext>
      <p:ext uri="http://customooxmlschemas.google.com/">
        <go:slidesCustomData xmlns:go="http://customooxmlschemas.google.com/" commentPostId="AAAByzQ8Af4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2-03T17:31:29.401">
    <p:pos x="288" y="172"/>
    <p:text>For Example: Step 1: Who is your audience?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M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2-03T17:32:10.159">
    <p:pos x="288" y="172"/>
    <p:text>I like this - this needs to be embedded in a step... ie. pick your messaging that aligns with one of the core COBE Messaging Pillars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Q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6-02-03T17:34:12.454">
    <p:pos x="6000" y="0"/>
    <p:text>Needs more direction : ie - understanding the marketing funnel and your goal.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U"/>
      </p:ext>
    </p:extLst>
  </p:cm>
  <p:cm authorId="0" idx="10" dt="2026-02-03T17:34:52.585">
    <p:pos x="374" y="1785"/>
    <p:text>"Recommended Channels"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Y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6-02-03T18:49:50.258">
    <p:pos x="288" y="432"/>
    <p:text>Here is an idea of what it could look like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g"/>
      </p:ext>
    </p:extLst>
  </p:cm>
  <p:cm authorId="0" idx="12" dt="2026-02-03T18:49:50.258">
    <p:pos x="288" y="432"/>
    <p:text>@benhowerton@boisestate.edu Hey Ben, I've added in some commentary into the playbook. I created a copy of the Instagram page because we need more instruction. I am not in love with the format, but I think this is the mandatory information that needs to be on each slide: 
1. How to activate hands on or hands off
2. screen shot of the placement
3. indicator of the marketing channel</p:text>
    <p:extLst>
      <p:ext uri="{C676402C-5697-4E1C-873F-D02D1690AC5C}">
        <p15:threadingInfo timeZoneBias="0">
          <p15:parentCm authorId="0" idx="11"/>
        </p15:threadingInfo>
      </p:ext>
      <p:ext uri="http://customooxmlschemas.google.com/">
        <go:slidesCustomData xmlns:go="http://customooxmlschemas.google.com/" commentPostId="AAAByzQ8Af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6-02-03T18:49:50.258">
    <p:pos x="53" y="96"/>
    <p:text>Here is an idea of what it could look like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g"/>
      </p:ext>
    </p:extLst>
  </p:cm>
  <p:cm authorId="0" idx="14" dt="2026-02-03T18:49:50.258">
    <p:pos x="53" y="96"/>
    <p:text>@benhowerton@boisestate.edu Hey Ben, I've added in some commentary into the playbook. I created a copy of the Instagram page because we need more instruction. I am not in love with the format, but I think this is the mandatory information that needs to be on each slide: 
1. How to activate hands on or hands off
2. screen shot of the placement
3. indicator of the marketing channel</p:text>
    <p:extLst>
      <p:ext uri="{C676402C-5697-4E1C-873F-D02D1690AC5C}">
        <p15:threadingInfo timeZoneBias="0">
          <p15:parentCm authorId="0" idx="13"/>
        </p15:threadingInfo>
      </p:ext>
      <p:ext uri="http://customooxmlschemas.google.com/">
        <go:slidesCustomData xmlns:go="http://customooxmlschemas.google.com/" commentPostId="AAAByzQ8Af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5" dt="2026-02-03T18:57:03.570">
    <p:pos x="288" y="432"/>
    <p:text>This needs to be clearer about what this is and what the output looks like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A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6" dt="2026-02-03T18:58:31.944">
    <p:pos x="374" y="1123"/>
    <p:text>Classroom visits?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I"/>
      </p:ext>
    </p:extLst>
  </p:cm>
  <p:cm authorId="0" idx="17" dt="2026-02-03T18:58:01.428">
    <p:pos x="288" y="432"/>
    <p:text>This might need a better name like Marketing in MBEB or something. One could say that 'internal channels' are all COBE marketing channels.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E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8" dt="2026-02-03T18:59:32.341">
    <p:pos x="403" y="1411"/>
    <p:text>Let's not use the verbiage from COBE's Career Fair mixer...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M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9" dt="2026-02-03T19:01:16.918">
    <p:pos x="2880" y="806"/>
    <p:text>We might want to make the deck follow the brand guidelines. Check fonts across the board.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Q"/>
      </p:ext>
    </p:extLs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0" dt="2026-02-03T19:03:56.288">
    <p:pos x="6000" y="0"/>
    <p:text>This slide should be next to the other asset slide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U"/>
      </p:ext>
    </p:extLst>
  </p:cm>
</p:cmLst>
</file>

<file path=ppt/comments/comment1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1" dt="2026-02-03T19:06:57.451">
    <p:pos x="6000" y="0"/>
    <p:text>This is probably more suited in the appendix, essentially all this information should be going into the individual sections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c"/>
      </p:ext>
    </p:extLst>
  </p:cm>
  <p:cm authorId="0" idx="22" dt="2026-02-03T19:04:47.095">
    <p:pos x="288" y="2361"/>
    <p:text>How does this differ with the hands off/ hands on journey?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Y"/>
      </p:ext>
    </p:extLst>
  </p:cm>
</p:cmLst>
</file>

<file path=ppt/comments/comment1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3" dt="2026-02-03T19:07:50.494">
    <p:pos x="288" y="432"/>
    <p:text>In what context would this be? Since COBE Marketing is managing the channels, is this relevant for our audience?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g"/>
      </p:ext>
    </p:extLst>
  </p:cm>
</p:cmLst>
</file>

<file path=ppt/comments/comment1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4" dt="2026-02-03T19:10:02.008">
    <p:pos x="6000" y="0"/>
    <p:text>Let's connect if this is relevant. If COBE is managing the IG page, i dont think its relevant for the user of the playbook. 
There might be another section around Student Ads Media offerings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k"/>
      </p:ext>
    </p:extLst>
  </p:cm>
</p:cmLst>
</file>

<file path=ppt/comments/comment1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5" dt="2026-02-03T19:11:40.287">
    <p:pos x="288" y="2390"/>
    <p:text>Where does this go into? This would be the assumption they are building their own webpage, correct?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s"/>
      </p:ext>
    </p:extLst>
  </p:cm>
  <p:cm authorId="0" idx="26" dt="2026-02-03T19:11:05.852">
    <p:pos x="2995" y="806"/>
    <p:text>Will users have their own central landing page? Might need to adjust to the flyers/etc.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o"/>
      </p:ext>
    </p:extLst>
  </p:cm>
</p:cmLst>
</file>

<file path=ppt/comments/comment1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7" dt="2026-02-03T19:12:37.070">
    <p:pos x="374" y="1756"/>
    <p:text>Would the user need to ask COBE marketing for these insights?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0"/>
      </p:ext>
    </p:extLst>
  </p:cm>
  <p:cm authorId="0" idx="28" dt="2026-02-03T19:12:09.270">
    <p:pos x="6000" y="0"/>
    <p:text>This is great, I think it should follow the marketing goals slide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w"/>
      </p:ext>
    </p:extLst>
  </p:cm>
</p:cmLst>
</file>

<file path=ppt/comments/comment1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9" dt="2026-02-03T19:13:14.457">
    <p:pos x="288" y="2016"/>
    <p:text>Where are templates to be found?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4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33f13c3d3_1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c33f13c3d3_1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c33f13c3d3_1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4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5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6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7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8.xml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9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10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11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12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13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comments" Target="../comments/comment14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comments" Target="../comments/comment1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16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comments" Target="../comments/comment17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comments" Target="../comments/comment18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comments" Target="../comments/comment19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COLLEGE OF BUSINESS AND ECONOMICS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COBE Marketing Playbook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action-ready guide to brand-consistent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events, programs, and partnerships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474720"/>
            <a:ext cx="1828800" cy="73152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January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faculty, staff, and student organizations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COBE Marketing Team • Boise State University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The Bandwidth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141732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I have an event to promote but no time to learn your systems.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201168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Faculty and staff are experts in their fields, not marketing.</a:t>
            </a: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Learning brand guidelines, specs, and approval workflows takes time you don't have.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Student organizations face similar constraints with limited resources.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3520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Two clear pathways to get marketing done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0" y="1097280"/>
            <a:ext cx="3657600" cy="16459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212080" y="12344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COBE MARKETING REACH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212080" y="15087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1,436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212080" y="1828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Instagram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583680" y="15087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1,700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583680" y="1828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212080" y="21488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5,000+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212080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Newsletter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583680" y="21488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Daily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83680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MBEB Screens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029200" y="2926080"/>
            <a:ext cx="173736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120640" y="3063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120640" y="338328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Send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us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the facts.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</a:t>
            </a:r>
            <a:r>
              <a:rPr lang="en-US" sz="1000">
                <a:solidFill>
                  <a:srgbClr val="333333"/>
                </a:solidFill>
              </a:rPr>
              <a:t>’ll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handle the rest.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120640" y="40233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for: Busy faculty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949440" y="2926080"/>
            <a:ext cx="173736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040880" y="3063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040880" y="338328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 our templates.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 review &amp; approve.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040880" y="40233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for: Creative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4023360"/>
            <a:ext cx="11887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57200" y="41148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7200" y="44805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business day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lead 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737360" y="4023360"/>
            <a:ext cx="11887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737360" y="41148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737360" y="44805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email to start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any request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017520" y="4023360"/>
            <a:ext cx="11887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3017520" y="41148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$0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017520" y="44805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cost for most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channels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Choose</a:t>
            </a: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 Your Path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CONCIERGE 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40080" y="15087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Hands-Off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40080" y="19659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For busy faculty who want to send basic facts and have marketing handle everything else.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40080" y="265176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YOU PROVIDE: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0080" y="28803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Who, What, When, Where, Photos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40080" y="32918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WE HANDLE: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0080" y="3520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Copy, Graphics, Scheduling, Approvals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DIY WITH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937760" y="15087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937760" y="19659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For users who want creative control and will draft their own copy and graphics using our templates.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937760" y="265176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YOU CREATE: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937760" y="28803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Copy, Graphics using templates, Assets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937760" y="32918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WE PROVIDE: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937760" y="3520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Templates, Brand Review, Final Approval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GOLDEN RULE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Requests Start Here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cobe-info@boisestate.edu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Whether going Hands-Off or Hands-On, every marketing request begins with this email.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SUBJECT LINE FORMAT: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 REQUEST - Channel - Date Range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Quick-Start: Which Channel?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What's your goal?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5"/>
          <p:cNvCxnSpPr/>
          <p:nvPr/>
        </p:nvCxnSpPr>
        <p:spPr>
          <a:xfrm>
            <a:off x="3200400" y="150876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5"/>
          <p:cNvCxnSpPr/>
          <p:nvPr/>
        </p:nvCxnSpPr>
        <p:spPr>
          <a:xfrm>
            <a:off x="1600200" y="1874520"/>
            <a:ext cx="1600200" cy="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5"/>
          <p:cNvSpPr/>
          <p:nvPr/>
        </p:nvSpPr>
        <p:spPr>
          <a:xfrm>
            <a:off x="457200" y="18745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57200" y="18745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Event Attendance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5"/>
          <p:cNvCxnSpPr/>
          <p:nvPr/>
        </p:nvCxnSpPr>
        <p:spPr>
          <a:xfrm>
            <a:off x="1600200" y="23317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5"/>
          <p:cNvSpPr/>
          <p:nvPr/>
        </p:nvSpPr>
        <p:spPr>
          <a:xfrm>
            <a:off x="457200" y="2606040"/>
            <a:ext cx="22860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45720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Email Newsletter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Instagram 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5"/>
          <p:cNvCxnSpPr/>
          <p:nvPr/>
        </p:nvCxnSpPr>
        <p:spPr>
          <a:xfrm>
            <a:off x="4572000" y="150876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5"/>
          <p:cNvSpPr/>
          <p:nvPr/>
        </p:nvSpPr>
        <p:spPr>
          <a:xfrm>
            <a:off x="3429000" y="18745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3429000" y="18745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Brand Awareness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5"/>
          <p:cNvCxnSpPr/>
          <p:nvPr/>
        </p:nvCxnSpPr>
        <p:spPr>
          <a:xfrm>
            <a:off x="4572000" y="23317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5"/>
          <p:cNvSpPr/>
          <p:nvPr/>
        </p:nvSpPr>
        <p:spPr>
          <a:xfrm>
            <a:off x="3429000" y="2606040"/>
            <a:ext cx="22860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342900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Instagram Reels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MBEB Screens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5"/>
          <p:cNvCxnSpPr/>
          <p:nvPr/>
        </p:nvCxnSpPr>
        <p:spPr>
          <a:xfrm>
            <a:off x="5943600" y="150876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5"/>
          <p:cNvCxnSpPr/>
          <p:nvPr/>
        </p:nvCxnSpPr>
        <p:spPr>
          <a:xfrm>
            <a:off x="5943600" y="1874520"/>
            <a:ext cx="1600200" cy="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5"/>
          <p:cNvSpPr/>
          <p:nvPr/>
        </p:nvSpPr>
        <p:spPr>
          <a:xfrm>
            <a:off x="6400800" y="18745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400800" y="18745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Employer/Alumni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5"/>
          <p:cNvCxnSpPr/>
          <p:nvPr/>
        </p:nvCxnSpPr>
        <p:spPr>
          <a:xfrm>
            <a:off x="7543800" y="23317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5"/>
          <p:cNvSpPr/>
          <p:nvPr/>
        </p:nvSpPr>
        <p:spPr>
          <a:xfrm>
            <a:off x="6400800" y="2606040"/>
            <a:ext cx="22860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640080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Bronco Business News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40080" y="3794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QUICK TIPS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40080" y="406908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Current students?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first (1,436 followers, highest engagement)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Professionals?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LinkedIn first (1,700 followers, employer networks)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Direct action needed?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newsletter (5,000+ subscribers, highest conversion)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Budget-conscious?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Start with free COBE channels before paid 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Strategy and Foundations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Audiences • Messaging Pillars • Marketing Funnel • Brand Voice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Target</a:t>
            </a: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 Audiences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Know who you're talking to before you create content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57200" y="128016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59436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PROSPECTIVE 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94360" y="1691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Seeking flexible credentials and career pathways.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94360" y="2148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offers: Stackable certificates, industry exposure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754880" y="128016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89204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CURRENT 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892040" y="1691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Need advising on certificates, events, internships.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892040" y="2148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offers: News, social posts, email updates with CTAs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57200" y="288036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594360" y="2971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EMPLOYERS &amp; PARTNERS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94360" y="3291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Need talent pipelines and training solutions.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94360" y="37490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offers: Career fairs, mixers, paid interns,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754880" y="288036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892040" y="2971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ALUMNI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892040" y="3291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Interested in professional development.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892040" y="37490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offers: Mixers, leadership modules, networking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Core </a:t>
            </a: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Messaging</a:t>
            </a: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 Pillars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Every piece of content should connect to at least one of these themes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1280160"/>
            <a:ext cx="4572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57200" y="128016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051560" y="137160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Career-Readiness &amp; Leadership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51560" y="169164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"Students lead real projects that deliver measurable value."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2148840"/>
            <a:ext cx="4572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57200" y="214884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051560" y="224028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Flexible Learning Formats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051560" y="256032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"Complete modules in under 60 minutes; add in-person workshops."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57200" y="3017520"/>
            <a:ext cx="4572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57200" y="301752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051560" y="310896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Employer Partnership &amp;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051560" y="342900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"Meet COBE students at targeted mixers before major fairs."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57200" y="3886200"/>
            <a:ext cx="4572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457200" y="388620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051560" y="397764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Accessible Collaboration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051560" y="429768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"Clear submission rules reduce friction for departments."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 Guide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Instagram • LinkedIn • Email • Internal Channels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The Marketing Funnel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How we use different channels at each stage of the student journey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57200" y="1371600"/>
            <a:ext cx="27432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57200" y="1371600"/>
            <a:ext cx="2743200" cy="7315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594360" y="1554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TOP OF FUNNEL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94360" y="1783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Awareness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94360" y="2148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Reach new audiences and build brand recognition.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594360" y="2834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94360" y="30632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Reels &amp; Posts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Press Releases &amp; PR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MBEB Digital Signage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291840" y="1371600"/>
            <a:ext cx="27432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3291840" y="1371600"/>
            <a:ext cx="2743200" cy="73152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429000" y="1554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MID FUNNEL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429000" y="1783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Consideration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429000" y="2148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Provide depth for prospects exploring options.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429000" y="2834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B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5CB0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429000" y="30632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Website &amp; Landing Pages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Stories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LinkedIn Articles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126480" y="1371600"/>
            <a:ext cx="27432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6126480" y="1371600"/>
            <a:ext cx="2743200" cy="73152"/>
          </a:xfrm>
          <a:prstGeom prst="rect">
            <a:avLst/>
          </a:prstGeom>
          <a:solidFill>
            <a:srgbClr val="338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6263640" y="1554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BOTTOM OF FUNNEL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263640" y="1783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Conversion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263640" y="2148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Drive action with targeted outreach.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263640" y="2834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85D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85D6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263640" y="30632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Marketing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Direct Outreach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Event Registration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457200" y="685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Instagram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 current students, prospective undergrads, and event awareness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943600" y="27432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6035040" y="3657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@boisestatecobe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6035040" y="6400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1,436 followers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035040" y="10058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 student 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57200" y="164592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640080" y="16459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Reels - For Growth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40080" y="19202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Short video for maximum reach. The #1 driver of new followers.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57200" y="237744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640080" y="2377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Stories - For Urgent Info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40080" y="26517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Time-sensitive info, event reminders. Use Link Stickers for RSVPs.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57200" y="310896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640080" y="3108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Grid Posts - Evergreen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40080" y="3383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Polished announcements, achievements. Square format 1080x1080.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5029200" y="1645920"/>
            <a:ext cx="3657600" cy="128016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5212080" y="178308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SPECS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5212080" y="201168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Posts: 1080 x 1080px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Stories and Reels: 1080 x 1920px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Cadence: 3-4 posts per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 time: 10 business days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029200" y="3108960"/>
            <a:ext cx="3657600" cy="109728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D64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5212080" y="32004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PRO TIPS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212080" y="34747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include a clear CTA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 Link Stickers for RSVPs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Keep captions short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💡 Reels outperform static posts for reach. If you have video content, prioritize it!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g3c33f13c3d3_1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75" y="1376149"/>
            <a:ext cx="2705350" cy="2993715"/>
          </a:xfrm>
          <a:prstGeom prst="rect">
            <a:avLst/>
          </a:prstGeom>
          <a:noFill/>
          <a:ln cap="flat" cmpd="sng" w="9525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7" name="Google Shape;257;g3c33f13c3d3_1_38"/>
          <p:cNvSpPr/>
          <p:nvPr/>
        </p:nvSpPr>
        <p:spPr>
          <a:xfrm>
            <a:off x="6639075" y="0"/>
            <a:ext cx="2505000" cy="12201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c33f13c3d3_1_38"/>
          <p:cNvSpPr/>
          <p:nvPr/>
        </p:nvSpPr>
        <p:spPr>
          <a:xfrm>
            <a:off x="6624375" y="5520"/>
            <a:ext cx="1097400" cy="320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</a:rPr>
              <a:t>Awareness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c33f13c3d3_1_38"/>
          <p:cNvSpPr/>
          <p:nvPr/>
        </p:nvSpPr>
        <p:spPr>
          <a:xfrm>
            <a:off x="84375" y="153750"/>
            <a:ext cx="537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Instagram</a:t>
            </a: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 - @boisestatecobe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c33f13c3d3_1_38"/>
          <p:cNvSpPr/>
          <p:nvPr/>
        </p:nvSpPr>
        <p:spPr>
          <a:xfrm>
            <a:off x="6639075" y="528657"/>
            <a:ext cx="2203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1,436 followers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c33f13c3d3_1_38"/>
          <p:cNvSpPr/>
          <p:nvPr/>
        </p:nvSpPr>
        <p:spPr>
          <a:xfrm>
            <a:off x="6639076" y="875345"/>
            <a:ext cx="256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 student 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c33f13c3d3_1_38"/>
          <p:cNvSpPr/>
          <p:nvPr/>
        </p:nvSpPr>
        <p:spPr>
          <a:xfrm>
            <a:off x="2705150" y="1376151"/>
            <a:ext cx="73200" cy="6840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33f13c3d3_1_38"/>
          <p:cNvSpPr/>
          <p:nvPr/>
        </p:nvSpPr>
        <p:spPr>
          <a:xfrm>
            <a:off x="2763913" y="1376150"/>
            <a:ext cx="1869000" cy="715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lang="en-US" sz="1100">
                <a:solidFill>
                  <a:srgbClr val="0033A0"/>
                </a:solidFill>
              </a:rPr>
              <a:t>Stories - For Urgent Info</a:t>
            </a:r>
            <a:endParaRPr sz="850">
              <a:solidFill>
                <a:srgbClr val="66666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666666"/>
                </a:solidFill>
              </a:rPr>
              <a:t>Share </a:t>
            </a:r>
            <a:r>
              <a:rPr i="0" lang="en-US" sz="850" u="none" cap="none" strike="noStrike">
                <a:solidFill>
                  <a:srgbClr val="666666"/>
                </a:solidFill>
              </a:rPr>
              <a:t>Time-sensitive info, event reminders</a:t>
            </a:r>
            <a:r>
              <a:rPr lang="en-US" sz="850">
                <a:solidFill>
                  <a:srgbClr val="666666"/>
                </a:solidFill>
              </a:rPr>
              <a:t>, etc. </a:t>
            </a:r>
            <a:endParaRPr sz="850">
              <a:solidFill>
                <a:srgbClr val="66666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666666"/>
                </a:solidFill>
              </a:rPr>
              <a:t>Can drive RSVPs (via links)</a:t>
            </a:r>
            <a:endParaRPr sz="850">
              <a:solidFill>
                <a:srgbClr val="66666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666666"/>
                </a:solidFill>
              </a:rPr>
              <a:t>Stories disappear after 24 hrs.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sp>
        <p:nvSpPr>
          <p:cNvPr id="264" name="Google Shape;264;g3c33f13c3d3_1_38"/>
          <p:cNvSpPr/>
          <p:nvPr/>
        </p:nvSpPr>
        <p:spPr>
          <a:xfrm>
            <a:off x="1335976" y="4462925"/>
            <a:ext cx="3130800" cy="594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37350" lIns="74700" spcFirstLastPara="1" rIns="74700" wrap="square" tIns="3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144"/>
              <a:buFont typeface="Arial"/>
              <a:buNone/>
            </a:pPr>
            <a:r>
              <a:rPr b="1" lang="en-US" sz="1143">
                <a:solidFill>
                  <a:srgbClr val="0033A0"/>
                </a:solidFill>
              </a:rPr>
              <a:t>Posts - For Information Sharing/Highlights</a:t>
            </a:r>
            <a:endParaRPr sz="898">
              <a:solidFill>
                <a:srgbClr val="66666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99"/>
              <a:buFont typeface="Arial"/>
              <a:buNone/>
            </a:pPr>
            <a:r>
              <a:rPr lang="en-US" sz="898">
                <a:solidFill>
                  <a:srgbClr val="666666"/>
                </a:solidFill>
              </a:rPr>
              <a:t>Static post, posted on IG page. </a:t>
            </a:r>
            <a:r>
              <a:rPr b="0" i="0" lang="en-US" sz="898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Polished announcements, achievements. Square format</a:t>
            </a:r>
            <a:r>
              <a:rPr lang="en-US" sz="898">
                <a:solidFill>
                  <a:srgbClr val="666666"/>
                </a:solidFill>
              </a:rPr>
              <a:t> </a:t>
            </a:r>
            <a:r>
              <a:rPr b="0" i="0" lang="en-US" sz="898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1080x1080.</a:t>
            </a:r>
            <a:endParaRPr b="0" i="0" sz="8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c33f13c3d3_1_38"/>
          <p:cNvSpPr/>
          <p:nvPr/>
        </p:nvSpPr>
        <p:spPr>
          <a:xfrm>
            <a:off x="5031265" y="1569914"/>
            <a:ext cx="2005200" cy="2626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lt1"/>
                </a:solidFill>
              </a:rPr>
              <a:t>Hands On: </a:t>
            </a:r>
            <a:endParaRPr b="1" sz="11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Send follow information to xxx@email: </a:t>
            </a:r>
            <a:endParaRPr sz="1100">
              <a:solidFill>
                <a:schemeClr val="lt1"/>
              </a:solidFill>
            </a:endParaRPr>
          </a:p>
          <a:p>
            <a:pPr indent="-184150" lvl="1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lphaLcPeriod"/>
            </a:pPr>
            <a:r>
              <a:rPr lang="en-US" sz="1100">
                <a:solidFill>
                  <a:schemeClr val="lt1"/>
                </a:solidFill>
              </a:rPr>
              <a:t>photos</a:t>
            </a:r>
            <a:endParaRPr sz="1100">
              <a:solidFill>
                <a:schemeClr val="lt1"/>
              </a:solidFill>
            </a:endParaRPr>
          </a:p>
          <a:p>
            <a:pPr indent="-184150" lvl="1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lphaLcPeriod"/>
            </a:pPr>
            <a:r>
              <a:rPr lang="en-US" sz="1100">
                <a:solidFill>
                  <a:schemeClr val="lt1"/>
                </a:solidFill>
              </a:rPr>
              <a:t>information you want to promote</a:t>
            </a:r>
            <a:endParaRPr sz="1100">
              <a:solidFill>
                <a:schemeClr val="lt1"/>
              </a:solidFill>
            </a:endParaRPr>
          </a:p>
          <a:p>
            <a:pPr indent="-184150" lvl="1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lphaLcPeriod"/>
            </a:pPr>
            <a:r>
              <a:rPr lang="en-US" sz="1100">
                <a:solidFill>
                  <a:schemeClr val="lt1"/>
                </a:solidFill>
              </a:rPr>
              <a:t>Call to action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COBE Marketing manages: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copy, graphics, scheduling and approvals</a:t>
            </a:r>
            <a:endParaRPr sz="1100">
              <a:solidFill>
                <a:schemeClr val="lt1"/>
              </a:solidFill>
            </a:endParaRPr>
          </a:p>
          <a:p>
            <a:pPr indent="-228600" lvl="0" marL="5143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66" name="Google Shape;266;g3c33f13c3d3_1_38"/>
          <p:cNvSpPr/>
          <p:nvPr/>
        </p:nvSpPr>
        <p:spPr>
          <a:xfrm>
            <a:off x="2350" y="671275"/>
            <a:ext cx="6636600" cy="5487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c33f13c3d3_1_38"/>
          <p:cNvSpPr/>
          <p:nvPr/>
        </p:nvSpPr>
        <p:spPr>
          <a:xfrm>
            <a:off x="2350" y="625525"/>
            <a:ext cx="634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en-US" sz="1100">
                <a:solidFill>
                  <a:srgbClr val="333333"/>
                </a:solidFill>
              </a:rPr>
              <a:t>Best for:</a:t>
            </a:r>
            <a:r>
              <a:rPr lang="en-US" sz="1100">
                <a:solidFill>
                  <a:srgbClr val="333333"/>
                </a:solidFill>
              </a:rPr>
              <a:t> </a:t>
            </a:r>
            <a:r>
              <a:rPr lang="en-US" sz="1100">
                <a:solidFill>
                  <a:srgbClr val="666666"/>
                </a:solidFill>
              </a:rPr>
              <a:t>current students, prospective undergraduates, and event awareness</a:t>
            </a:r>
            <a:endParaRPr sz="1100">
              <a:solidFill>
                <a:srgbClr val="33333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en-US" sz="1100">
                <a:solidFill>
                  <a:srgbClr val="333333"/>
                </a:solidFill>
              </a:rPr>
              <a:t>Cadence: </a:t>
            </a:r>
            <a:r>
              <a:rPr lang="en-US" sz="1100">
                <a:solidFill>
                  <a:srgbClr val="666666"/>
                </a:solidFill>
              </a:rPr>
              <a:t>3-4 posts per week</a:t>
            </a:r>
            <a:endParaRPr b="1" sz="1100">
              <a:solidFill>
                <a:srgbClr val="33333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en-US" sz="1100">
                <a:solidFill>
                  <a:srgbClr val="333333"/>
                </a:solidFill>
              </a:rPr>
              <a:t>Posting Lead time:</a:t>
            </a:r>
            <a:r>
              <a:rPr lang="en-US" sz="1100">
                <a:solidFill>
                  <a:srgbClr val="666666"/>
                </a:solidFill>
              </a:rPr>
              <a:t> 10 days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c33f13c3d3_1_38"/>
          <p:cNvSpPr/>
          <p:nvPr/>
        </p:nvSpPr>
        <p:spPr>
          <a:xfrm>
            <a:off x="8038625" y="5520"/>
            <a:ext cx="1097400" cy="320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</a:rPr>
              <a:t>Consideration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c33f13c3d3_1_38"/>
          <p:cNvSpPr/>
          <p:nvPr/>
        </p:nvSpPr>
        <p:spPr>
          <a:xfrm>
            <a:off x="7091015" y="1569214"/>
            <a:ext cx="2005200" cy="26262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D64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sng">
                <a:solidFill>
                  <a:srgbClr val="D64309"/>
                </a:solidFill>
              </a:rPr>
              <a:t>Hands Off:</a:t>
            </a:r>
            <a:endParaRPr b="1" sz="1200" u="sng">
              <a:solidFill>
                <a:srgbClr val="D6430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 u="sng">
              <a:solidFill>
                <a:srgbClr val="D6430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64309"/>
                </a:solidFill>
              </a:rPr>
              <a:t>You create the following: </a:t>
            </a:r>
            <a:endParaRPr sz="1200">
              <a:solidFill>
                <a:srgbClr val="D64309"/>
              </a:solidFill>
            </a:endParaRPr>
          </a:p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AutoNum type="alphaLcPeriod"/>
            </a:pPr>
            <a:r>
              <a:rPr lang="en-US" sz="1200">
                <a:solidFill>
                  <a:srgbClr val="D64309"/>
                </a:solidFill>
              </a:rPr>
              <a:t>graphics (following the specs), assets, text, call to action</a:t>
            </a:r>
            <a:endParaRPr sz="1200">
              <a:solidFill>
                <a:srgbClr val="D64309"/>
              </a:solidFill>
            </a:endParaRPr>
          </a:p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AutoNum type="alphaLcPeriod"/>
            </a:pPr>
            <a:r>
              <a:rPr lang="en-US" sz="1200">
                <a:solidFill>
                  <a:srgbClr val="D64309"/>
                </a:solidFill>
              </a:rPr>
              <a:t>send info to xxx@email</a:t>
            </a:r>
            <a:endParaRPr sz="1200">
              <a:solidFill>
                <a:srgbClr val="D6430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6430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64309"/>
                </a:solidFill>
              </a:rPr>
              <a:t>COBE Marketing manages: brand review, final approval</a:t>
            </a:r>
            <a:endParaRPr sz="1200">
              <a:solidFill>
                <a:srgbClr val="D64309"/>
              </a:solidFill>
            </a:endParaRPr>
          </a:p>
        </p:txBody>
      </p:sp>
      <p:sp>
        <p:nvSpPr>
          <p:cNvPr id="270" name="Google Shape;270;g3c33f13c3d3_1_38"/>
          <p:cNvSpPr/>
          <p:nvPr/>
        </p:nvSpPr>
        <p:spPr>
          <a:xfrm>
            <a:off x="5031265" y="4247314"/>
            <a:ext cx="2005200" cy="8838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lang="en-US" sz="800">
                <a:solidFill>
                  <a:srgbClr val="333333"/>
                </a:solidFill>
              </a:rPr>
              <a:t>💡</a:t>
            </a:r>
            <a:r>
              <a:rPr b="1" lang="en-US" sz="1000">
                <a:solidFill>
                  <a:srgbClr val="D64309"/>
                </a:solidFill>
              </a:rPr>
              <a:t>PRO TIPS</a:t>
            </a:r>
            <a:endParaRPr sz="800">
              <a:solidFill>
                <a:srgbClr val="333333"/>
              </a:solidFill>
            </a:endParaRPr>
          </a:p>
          <a:p>
            <a:pPr indent="-168275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Char char="●"/>
            </a:pPr>
            <a:r>
              <a:rPr b="0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Reels outperform static posts for reach</a:t>
            </a:r>
            <a:r>
              <a:rPr lang="en-US" sz="850">
                <a:solidFill>
                  <a:srgbClr val="333333"/>
                </a:solidFill>
              </a:rPr>
              <a:t>→ prioritize video!</a:t>
            </a:r>
            <a:endParaRPr sz="850">
              <a:solidFill>
                <a:srgbClr val="333333"/>
              </a:solidFill>
            </a:endParaRPr>
          </a:p>
          <a:p>
            <a:pPr indent="-168275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Char char="●"/>
            </a:pPr>
            <a:r>
              <a:rPr lang="en-US" sz="850">
                <a:solidFill>
                  <a:srgbClr val="333333"/>
                </a:solidFill>
              </a:rPr>
              <a:t>Always include clear CTA</a:t>
            </a:r>
            <a:endParaRPr sz="850">
              <a:solidFill>
                <a:srgbClr val="333333"/>
              </a:solidFill>
            </a:endParaRPr>
          </a:p>
          <a:p>
            <a:pPr indent="-168275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Char char="●"/>
            </a:pPr>
            <a:r>
              <a:rPr lang="en-US" sz="850">
                <a:solidFill>
                  <a:srgbClr val="333333"/>
                </a:solidFill>
              </a:rPr>
              <a:t>Keep captions short</a:t>
            </a:r>
            <a:endParaRPr sz="850">
              <a:solidFill>
                <a:srgbClr val="333333"/>
              </a:solidFill>
            </a:endParaRPr>
          </a:p>
          <a:p>
            <a:pPr indent="-168275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Char char="●"/>
            </a:pPr>
            <a:r>
              <a:rPr lang="en-US" sz="850">
                <a:solidFill>
                  <a:srgbClr val="333333"/>
                </a:solidFill>
              </a:rPr>
              <a:t>Use link stickers for RSVP’s</a:t>
            </a:r>
            <a:endParaRPr sz="800">
              <a:solidFill>
                <a:srgbClr val="333333"/>
              </a:solidFill>
            </a:endParaRPr>
          </a:p>
        </p:txBody>
      </p:sp>
      <p:sp>
        <p:nvSpPr>
          <p:cNvPr id="271" name="Google Shape;271;g3c33f13c3d3_1_38"/>
          <p:cNvSpPr/>
          <p:nvPr/>
        </p:nvSpPr>
        <p:spPr>
          <a:xfrm>
            <a:off x="5038915" y="1241839"/>
            <a:ext cx="4057200" cy="32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33A0"/>
                </a:solidFill>
              </a:rPr>
              <a:t>How to Activate:  </a:t>
            </a:r>
            <a:endParaRPr b="1">
              <a:solidFill>
                <a:srgbClr val="0033A0"/>
              </a:solidFill>
            </a:endParaRPr>
          </a:p>
        </p:txBody>
      </p:sp>
      <p:sp>
        <p:nvSpPr>
          <p:cNvPr id="272" name="Google Shape;272;g3c33f13c3d3_1_38"/>
          <p:cNvSpPr/>
          <p:nvPr/>
        </p:nvSpPr>
        <p:spPr>
          <a:xfrm>
            <a:off x="7091015" y="4252989"/>
            <a:ext cx="2005200" cy="8838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D64309"/>
                </a:solidFill>
              </a:rPr>
              <a:t>SPECS</a:t>
            </a:r>
            <a:endParaRPr sz="1100">
              <a:solidFill>
                <a:srgbClr val="FFFFFF"/>
              </a:solidFill>
              <a:highlight>
                <a:schemeClr val="dk2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Posts: 1080 x 1080px</a:t>
            </a:r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Stories and Reels: 1080 x 1920px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c33f13c3d3_1_38"/>
          <p:cNvSpPr/>
          <p:nvPr/>
        </p:nvSpPr>
        <p:spPr>
          <a:xfrm>
            <a:off x="1262767" y="4462911"/>
            <a:ext cx="73200" cy="5943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c33f13c3d3_1_38"/>
          <p:cNvSpPr/>
          <p:nvPr/>
        </p:nvSpPr>
        <p:spPr>
          <a:xfrm>
            <a:off x="2726475" y="2549012"/>
            <a:ext cx="73200" cy="7158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c33f13c3d3_1_38"/>
          <p:cNvSpPr/>
          <p:nvPr/>
        </p:nvSpPr>
        <p:spPr>
          <a:xfrm>
            <a:off x="2789725" y="2548988"/>
            <a:ext cx="1817400" cy="715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37350" lIns="74700" spcFirstLastPara="1" rIns="74700" wrap="square" tIns="3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lang="en-US" sz="1100">
                <a:solidFill>
                  <a:srgbClr val="0033A0"/>
                </a:solidFill>
              </a:rPr>
              <a:t>Reels - For Growth</a:t>
            </a:r>
            <a:endParaRPr sz="898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666666"/>
                </a:solidFill>
              </a:rPr>
              <a:t>15sec, Short-form vertical videos shared on IG page or Story The #1 driver of new followers.</a:t>
            </a:r>
            <a:endParaRPr b="0" i="0" sz="8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57200" y="685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 employers, alumni, graduate and continuing-ed prospects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5943600" y="27432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6035040" y="3657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@boisestatecobe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6035040" y="6400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1,700 followers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6035040" y="10058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Professional network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457200" y="164592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640080" y="16459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Hero Stories - Flagship Content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640080" y="19202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Outcome-focused narratives. Student success, career placements, partnerships.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457200" y="237744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640080" y="2377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PDF Carousels - High Engagement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640080" y="26517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Multi-page PDFs for program overviews, training menus, data content.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57200" y="310896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640080" y="3108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Event Posts - Fairs and Mixers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640080" y="3383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Career fairs, employer mixers, webinars with clear registration links.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5029200" y="1645920"/>
            <a:ext cx="365760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5212080" y="178308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KEY 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5212080" y="2011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tag employer partners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212080" y="22860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Extends reach to employer networks. Faculty reshares with personal commentary generate 3-5x more engagement than institutional posts alone.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5029200" y="3291840"/>
            <a:ext cx="3657600" cy="9144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5212080" y="338328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SPECS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212080" y="356616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Banners: 1920 x 1080px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Cadence: 2-3 posts per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Events: 3 weeks lead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FACULTY ADVOCACY: When faculty reshare COBE posts on personal profiles, it reaches entirely new networks. Your voice carries more weight than a logo.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1645920" y="274320"/>
            <a:ext cx="1828800" cy="32004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HIGHEST CONVERSION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57200" y="685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Email Marketing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 driving event attendance, applications, and direct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57200" y="1645920"/>
            <a:ext cx="39319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59436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The Power of Email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594360" y="205740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Email consistently outperforms other channels for conversions. Direct inbox access means higher engagement. The student newsletter drives event RSVPs and deadline awareness.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754880" y="1645920"/>
            <a:ext cx="39319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Burnout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892040" y="205740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Over-emailing causes unsubscribes and damages trust. Batch-and-blast kills your list. Only send when you have genuine value to share.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57200" y="31089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EMAIL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57200" y="3383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Segment Your Lists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57200" y="3611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Target: students, prospects, alumni, employers.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3200400" y="3383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Subject Lines ≤55 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3200400" y="3611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Short, clear, action-oriented.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5943600" y="3383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Include Alt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5943600" y="3611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Images don't load for everyone.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NEWSLETTER STRATEGY (from Kate Watson)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certificates every few months with varied messaging to avoid tune-out. Don't put them in every email—people will start to ignore them. Lead time: 10-15 business days. Best days: Tuesday - Thursday.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457200" y="6858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0"/>
                  </a:ext>
                </a:extLst>
              </a:rPr>
              <a:t>Internal Channels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Captive audience opportunities - reach students exactly where they 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457200" y="1645920"/>
            <a:ext cx="39319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59436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The Classroom </a:t>
            </a: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Slide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594360" y="20116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3 Minutes Before 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594360" y="2240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Those few minutes before class starts are prime real estate. Students are seated and paying attention to the screen.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594360" y="2743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BEST FOR: Event announcements with QR codes, Deadline reminders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MBEB Digital Signage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892040" y="20116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Lobby and Hallway Screens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4892040" y="2240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High-traffic areas in the Micron Business Building. Students pass these screens multiple times daily.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4892040" y="2743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SPECS: 1920x1080px, Dark background, NO logo overlays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Other Campus Screens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0" name="Google Shape;350;p14"/>
          <p:cNvGraphicFramePr/>
          <p:nvPr/>
        </p:nvGraphicFramePr>
        <p:xfrm>
          <a:off x="45720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{601C61E8-C72F-49A2-BF68-AB6E260F276D}</a:tableStyleId>
              </a:tblPr>
              <a:tblGrid>
                <a:gridCol w="2286000"/>
                <a:gridCol w="1828800"/>
                <a:gridCol w="41148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Contact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 Dining Screens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768 x 1366px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subpromos@boisestate.edu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Albertsons Library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1280 x 720px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lib_communications@boisestate.edu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Campus Rec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1920 x 1080px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jaredcox@boisestate.edu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Asset Specs: Visual Reference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Know your dimensions before you create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914400" y="1371600"/>
            <a:ext cx="2011680" cy="201168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914400" y="20116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1:1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914400" y="3429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1080 x 1080px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914400" y="36576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Instagram Grid Posts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3657600" y="1371600"/>
            <a:ext cx="1371600" cy="2441448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657600" y="22860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9:16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3200400" y="3886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1080 x 1920px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3200400" y="41148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Stories &amp; Reels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5943600" y="1645920"/>
            <a:ext cx="2743200" cy="1545336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5943600" y="2194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16:9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5943600" y="3246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1920 x 1080px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5486400" y="34747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MBEB Screens, LinkedIn, Presentations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 TIP: Always design at the exact dimensions. Resizing after the fact degrades quality.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Promoting Events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Complete Event Promotion Workflow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Event Promotion Checklist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Work backwards from your event 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457200" y="1280160"/>
            <a:ext cx="20574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457200" y="1280160"/>
            <a:ext cx="20574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457200" y="12801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WEEKS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548640" y="1828800"/>
            <a:ext cx="1874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Book room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Confirm speakers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Create registration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Contact Career Services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548640" y="338328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548640" y="35661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cobecareers@boisestate.edu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2606040" y="1280160"/>
            <a:ext cx="20574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/>
          <p:nvPr/>
        </p:nvSpPr>
        <p:spPr>
          <a:xfrm>
            <a:off x="2606040" y="1280160"/>
            <a:ext cx="20574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7"/>
          <p:cNvSpPr/>
          <p:nvPr/>
        </p:nvSpPr>
        <p:spPr>
          <a:xfrm>
            <a:off x="2606040" y="12801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WEEKS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2697480" y="1828800"/>
            <a:ext cx="1874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Submit to Localist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Request LinkedIn post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Request newsletter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Order printed materials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2697480" y="338328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2697480" y="35661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boisestate.enterprise.localist.com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4754880" y="1280160"/>
            <a:ext cx="20574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4754880" y="1280160"/>
            <a:ext cx="20574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4754880" y="12801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WEEKS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4846320" y="1828800"/>
            <a:ext cx="1874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posts begin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MBEB screens 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Classroom slides 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reminder sent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4846320" y="338328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4846320" y="35661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cobe-info@boisestate.edu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6903720" y="1280160"/>
            <a:ext cx="20574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6903720" y="1280160"/>
            <a:ext cx="20574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6903720" y="12801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 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6995160" y="1828800"/>
            <a:ext cx="1874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Signage in place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Check-in 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Photographer assigned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Post-event survey 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6995160" y="338328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6995160" y="35661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Capture photos &amp; attendee count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Sample Request Email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Copy this format for a complete, actionable request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640080" y="13716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To: cobe-info@boisestate.edu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640080" y="16002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Subject: RHM REQUEST - Instagram + Newsletter - Feb 15-28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18"/>
          <p:cNvCxnSpPr/>
          <p:nvPr/>
        </p:nvCxnSpPr>
        <p:spPr>
          <a:xfrm>
            <a:off x="640080" y="1874520"/>
            <a:ext cx="786384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18"/>
          <p:cNvSpPr/>
          <p:nvPr/>
        </p:nvSpPr>
        <p:spPr>
          <a:xfrm>
            <a:off x="640080" y="201168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Hi COBE Marketing Team,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640080" y="224028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I'd like to promote our upcoming Career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1"/>
                  </a:ext>
                </a:extLst>
              </a:rPr>
              <a:t>Mixer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640080" y="256032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DETAILS: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What: RHM Spring Career Mixer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When: Thursday, Feb 27, 5-7 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Where: MBEB 1102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Who: Open to all COBE students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640080" y="342900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CHANNELS REQUESTED: Instagram post + story, Newsletter mention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640080" y="361188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GOAL: Drive event registrations (target: 50 RSVPs)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I've attached a photo from last year's event.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Registration link: [Handshake URL]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Thanks!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Ashley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640080" y="48920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Include: Event details, channels requested, goal/success metric, assets, and any links.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9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Brand &amp; Specifications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Colors • Sizes • Lead Times • Non-Negotiables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Boise State Brand Essentials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0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Required standards for all marketing materials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Official Colors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457200" y="1600200"/>
            <a:ext cx="1828800" cy="128016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0"/>
          <p:cNvSpPr/>
          <p:nvPr/>
        </p:nvSpPr>
        <p:spPr>
          <a:xfrm>
            <a:off x="548640" y="16916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BOISE STATE BLUE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Pantone 286 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Hex: #0033A0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RGB: 0, 51, 160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2377440" y="1600200"/>
            <a:ext cx="1828800" cy="12801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0"/>
          <p:cNvSpPr/>
          <p:nvPr/>
        </p:nvSpPr>
        <p:spPr>
          <a:xfrm>
            <a:off x="2468880" y="16916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BOISE STATE ORANGE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Pantone 172 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Hex: #D64309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RGB: 214, 67, 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4572000" y="1280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Typography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457200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Garamond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4572000" y="19202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Body text, formal documents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685800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Gotham / Oswald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6858000" y="19202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Marketing, headlines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4572000" y="22402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Web fonts: Oswald + Lato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Visual Rules: Non-Negotiables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457200" y="3337560"/>
            <a:ext cx="2743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0"/>
          <p:cNvSpPr/>
          <p:nvPr/>
        </p:nvSpPr>
        <p:spPr>
          <a:xfrm>
            <a:off x="594360" y="34290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594360" y="3657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Clean Screen Rule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594360" y="39319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MBEB screens already display the Boise State logo. Do not overlay logos on graphics for screens.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3291840" y="3337560"/>
            <a:ext cx="2743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0"/>
          <p:cNvSpPr/>
          <p:nvPr/>
        </p:nvSpPr>
        <p:spPr>
          <a:xfrm>
            <a:off x="3429000" y="34290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3429000" y="3657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High-Resolution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3429000" y="39319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Blurry images damage brand perception. Min 1080px for social, 1920px for screens.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6126480" y="3337560"/>
            <a:ext cx="2743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/>
          <p:nvPr/>
        </p:nvSpPr>
        <p:spPr>
          <a:xfrm>
            <a:off x="6263640" y="34290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RULE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6263640" y="3657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Accessibility Required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6263640" y="39319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Alt text for images, descriptive links, proper heading structure, sufficient contrast.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Asset Specifications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Quick reference for all graphic sizes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3" name="Google Shape;483;p21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{601C61E8-C72F-49A2-BF68-AB6E260F276D}</a:tableStyleId>
              </a:tblPr>
              <a:tblGrid>
                <a:gridCol w="2560325"/>
                <a:gridCol w="1371600"/>
                <a:gridCol w="2011675"/>
                <a:gridCol w="22860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 Type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Instagram Grid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Square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 x 1080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JPG/PNG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Instagram Stories/Reels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Vertical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 x 1920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JPG/PNG/MP4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LinkedIn Banners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Landscape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1920 x 1080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JPG/PNG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MBEB Screens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Landscape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1920 x 1080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 Dining Screens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Portrait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768 x 1366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Albertsons Library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Landscape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1280 x 720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Shuttle Stop Posters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Portrait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x 35 inches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Print-ready PDF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Flyers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Portrait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8.5 x 11 inches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Print-ready PDF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MBEB Posters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Portrait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x 31 inches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Print-ready PDF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84" name="Google Shape;484;p2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1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💡 TIP: When in doubt, provide the largest size available. We can always scale down, but we can't scale 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Lead Times: Plan Ahead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These timelines ensure quality. Rush requests require director approval.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4" name="Google Shape;494;p22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{601C61E8-C72F-49A2-BF68-AB6E260F276D}</a:tableStyleId>
              </a:tblPr>
              <a:tblGrid>
                <a:gridCol w="2286000"/>
                <a:gridCol w="1828800"/>
                <a:gridCol w="411480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 Time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Instagram &amp; LinkedIn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Sensitive topics require manager approval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Newsletter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10-15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Longer for multi-section newsletters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 Updates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Include exact copy, URL, and alt text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Landing Pages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CTA ownership and form routing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Events &amp; Fairs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3-6 weeks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Longer for venue and partner coordination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MBEB Screens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1920x1080px, dark background required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Printed Materials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2-3 weeks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Include FDCC budget code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95" name="Google Shape;495;p22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What to Include in Your Request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Channel(s) requested  •  Target publish date(s)  •  Campaign objective + success metric  •  Copy draft (≤100 words) and CTA link  •  Assets with correct sizes + alt text  •  Lead owner for approvals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Logistics and Governance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Crisis Protocol • Accessibility • Approvals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4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CRISIS PROTOCOL - MEMORIZE THIS PROCESS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4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When Things Go Wrong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Negative comments, errors, or controversial content require immediate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4"/>
          <p:cNvSpPr/>
          <p:nvPr/>
        </p:nvSpPr>
        <p:spPr>
          <a:xfrm>
            <a:off x="457200" y="1645920"/>
            <a:ext cx="2743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4"/>
          <p:cNvSpPr/>
          <p:nvPr/>
        </p:nvSpPr>
        <p:spPr>
          <a:xfrm>
            <a:off x="457200" y="1645920"/>
            <a:ext cx="27432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4"/>
          <p:cNvSpPr/>
          <p:nvPr/>
        </p:nvSpPr>
        <p:spPr>
          <a:xfrm>
            <a:off x="548640" y="1645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PAUSE IMMEDIATELY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4"/>
          <p:cNvSpPr/>
          <p:nvPr/>
        </p:nvSpPr>
        <p:spPr>
          <a:xfrm>
            <a:off x="594360" y="22402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Stop all scheduled publishing. Do not respond to negative comments yet. Take a breath.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4"/>
          <p:cNvSpPr/>
          <p:nvPr/>
        </p:nvSpPr>
        <p:spPr>
          <a:xfrm>
            <a:off x="3291840" y="1645920"/>
            <a:ext cx="2743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4"/>
          <p:cNvSpPr/>
          <p:nvPr/>
        </p:nvSpPr>
        <p:spPr>
          <a:xfrm>
            <a:off x="3291840" y="1645920"/>
            <a:ext cx="27432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4"/>
          <p:cNvSpPr/>
          <p:nvPr/>
        </p:nvSpPr>
        <p:spPr>
          <a:xfrm>
            <a:off x="3383280" y="1645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NOTIFY KATE WATSON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4"/>
          <p:cNvSpPr/>
          <p:nvPr/>
        </p:nvSpPr>
        <p:spPr>
          <a:xfrm>
            <a:off x="3429000" y="22402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Contact Kate Watson, Director, immediately. She will coordinate the 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4"/>
          <p:cNvSpPr/>
          <p:nvPr/>
        </p:nvSpPr>
        <p:spPr>
          <a:xfrm>
            <a:off x="6126480" y="1645920"/>
            <a:ext cx="2743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4"/>
          <p:cNvSpPr/>
          <p:nvPr/>
        </p:nvSpPr>
        <p:spPr>
          <a:xfrm>
            <a:off x="6126480" y="1645920"/>
            <a:ext cx="27432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4"/>
          <p:cNvSpPr/>
          <p:nvPr/>
        </p:nvSpPr>
        <p:spPr>
          <a:xfrm>
            <a:off x="6217920" y="1645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CORRECT &amp; DOCUMENT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4"/>
          <p:cNvSpPr/>
          <p:nvPr/>
        </p:nvSpPr>
        <p:spPr>
          <a:xfrm>
            <a:off x="6263640" y="22402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Once approved, correct the issue. Document what happened for future reference.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Crisis Contact: Kate Watson, Director - Email first, then call if urgent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5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Budget Planning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CPM Benchmarks • Allocation Frameworks • ROI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5"/>
          <p:cNvSpPr/>
          <p:nvPr/>
        </p:nvSpPr>
        <p:spPr>
          <a:xfrm>
            <a:off x="8229600" y="1828800"/>
            <a:ext cx="54864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CPM Benchmarks by Channel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6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6"/>
          <p:cNvSpPr/>
          <p:nvPr/>
        </p:nvSpPr>
        <p:spPr>
          <a:xfrm>
            <a:off x="5" y="-5"/>
            <a:ext cx="548700" cy="320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6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Cost Per Thousand Impressions - Lower is better for awareness campaigns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5" name="Google Shape;545;p26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{601C61E8-C72F-49A2-BF68-AB6E260F276D}</a:tableStyleId>
              </a:tblPr>
              <a:tblGrid>
                <a:gridCol w="2286000"/>
                <a:gridCol w="1188725"/>
                <a:gridCol w="1645925"/>
                <a:gridCol w="1097275"/>
                <a:gridCol w="2011675"/>
              </a:tblGrid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Est. Impressions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Quality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Meta/Instagram Ads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$560/semester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★★★★★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Arbiter Web Banner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$400/mo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$20.00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Shuttle Stop Posters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$23.33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★★★★★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Blueprint Magazine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$450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$50.00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★★★☆☆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Arbiter Print Ad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$66.67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★★★☆☆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COBE Internal (Free)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★★★★★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46" name="Google Shape;546;p26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6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KEY INSIGHT: FREE CHANNELS 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6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COBE internal channels deliver ~45,000 impressions at zero cost—that's 19% of total reach in the RHM campaign with $0 spend. Always activate free channels before investing in paid advertising. The combination of strategic paid placement + comprehensive free channel activation delivers maximum ROI.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7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7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Tracking &amp; Analytics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7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QR Codes • UTM Parameters • Performance Measurement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7"/>
          <p:cNvSpPr/>
          <p:nvPr/>
        </p:nvSpPr>
        <p:spPr>
          <a:xfrm>
            <a:off x="8229600" y="1828800"/>
            <a:ext cx="54864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QR Code Tracking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8"/>
          <p:cNvSpPr/>
          <p:nvPr/>
        </p:nvSpPr>
        <p:spPr>
          <a:xfrm>
            <a:off x="5" y="9170"/>
            <a:ext cx="548700" cy="320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Measure offline-to-online conversion with trackable QR codes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8"/>
          <p:cNvSpPr/>
          <p:nvPr/>
        </p:nvSpPr>
        <p:spPr>
          <a:xfrm>
            <a:off x="594360" y="1417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Why Track QR Codes?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594360" y="173736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Print materials, posters, and classroom slides can drive traffic—but only if you measure it. Trackable QR codes let you see exactly how many people scanned from each location or campaign.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594360" y="25146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RECOMMENDED TOOL: Flowcode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594360" y="2743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Free tier available. Create unique codes for each placement.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4754880" y="1280160"/>
            <a:ext cx="3931920" cy="20116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"/>
          <p:cNvSpPr/>
          <p:nvPr/>
        </p:nvSpPr>
        <p:spPr>
          <a:xfrm>
            <a:off x="4892040" y="1417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Implementation Steps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4892040" y="173736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Create separate QR codes for each placement (poster vs. classroom vs. flyer)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Name codes clearly: RHM-ShuttleStop-Feb25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Link all codes to your central landing 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Review scan data weekly in Flowcode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UTM Parameters for Digital Campaigns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8"/>
          <p:cNvSpPr/>
          <p:nvPr/>
        </p:nvSpPr>
        <p:spPr>
          <a:xfrm>
            <a:off x="594360" y="3886200"/>
            <a:ext cx="7955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 URL structure: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boisestate.edu/cobe/rhm-certificates?utm_source=instagram&amp;utm_medium=social&amp;utm_campaign=rhm-spring25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594360" y="443484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 consistent naming: source (where), medium (how), campaign (what). Track in Google Analytics.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Metrics That Matter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9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9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Understanding what to measure and what it actually means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9"/>
          <p:cNvSpPr/>
          <p:nvPr/>
        </p:nvSpPr>
        <p:spPr>
          <a:xfrm>
            <a:off x="457200" y="1234440"/>
            <a:ext cx="2743200" cy="2651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9"/>
          <p:cNvSpPr/>
          <p:nvPr/>
        </p:nvSpPr>
        <p:spPr>
          <a:xfrm>
            <a:off x="594360" y="1371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Reach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9"/>
          <p:cNvSpPr/>
          <p:nvPr/>
        </p:nvSpPr>
        <p:spPr>
          <a:xfrm>
            <a:off x="594360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How many people saw it?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9"/>
          <p:cNvSpPr/>
          <p:nvPr/>
        </p:nvSpPr>
        <p:spPr>
          <a:xfrm>
            <a:off x="594360" y="1965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Unique users who viewed your content. Measures awareness.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9"/>
          <p:cNvSpPr/>
          <p:nvPr/>
        </p:nvSpPr>
        <p:spPr>
          <a:xfrm>
            <a:off x="594360" y="26060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TRACK VIA: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9"/>
          <p:cNvSpPr/>
          <p:nvPr/>
        </p:nvSpPr>
        <p:spPr>
          <a:xfrm>
            <a:off x="594360" y="2788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Insights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LinkedIn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open counts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3291840" y="1234440"/>
            <a:ext cx="2743200" cy="2651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9"/>
          <p:cNvSpPr/>
          <p:nvPr/>
        </p:nvSpPr>
        <p:spPr>
          <a:xfrm>
            <a:off x="3429000" y="1371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Engagement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9"/>
          <p:cNvSpPr/>
          <p:nvPr/>
        </p:nvSpPr>
        <p:spPr>
          <a:xfrm>
            <a:off x="3429000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Did they interact?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9"/>
          <p:cNvSpPr/>
          <p:nvPr/>
        </p:nvSpPr>
        <p:spPr>
          <a:xfrm>
            <a:off x="3429000" y="1965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Likes, comments, shares, saves. Measures content quality.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9"/>
          <p:cNvSpPr/>
          <p:nvPr/>
        </p:nvSpPr>
        <p:spPr>
          <a:xfrm>
            <a:off x="3429000" y="26060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TRACK VIA: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9"/>
          <p:cNvSpPr/>
          <p:nvPr/>
        </p:nvSpPr>
        <p:spPr>
          <a:xfrm>
            <a:off x="3429000" y="2788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Formula: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(Reactions + Comments + Shares) ÷ Impressions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6126480" y="1234440"/>
            <a:ext cx="2743200" cy="2651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9"/>
          <p:cNvSpPr/>
          <p:nvPr/>
        </p:nvSpPr>
        <p:spPr>
          <a:xfrm>
            <a:off x="6263640" y="1371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Conversion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9"/>
          <p:cNvSpPr/>
          <p:nvPr/>
        </p:nvSpPr>
        <p:spPr>
          <a:xfrm>
            <a:off x="6263640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Did they take action?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9"/>
          <p:cNvSpPr/>
          <p:nvPr/>
        </p:nvSpPr>
        <p:spPr>
          <a:xfrm>
            <a:off x="6263640" y="1965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RSVPs, applications, registrations. The metric that matters for ROI.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9"/>
          <p:cNvSpPr/>
          <p:nvPr/>
        </p:nvSpPr>
        <p:spPr>
          <a:xfrm>
            <a:off x="6263640" y="26060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TRACK VIA: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9"/>
          <p:cNvSpPr/>
          <p:nvPr/>
        </p:nvSpPr>
        <p:spPr>
          <a:xfrm>
            <a:off x="6263640" y="2788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Event registrations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Applications submitted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Employer inquiries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9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9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💡 Pro tip: Reach without conversion is vanity. Always connect metrics back to program goals.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9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REPORTING CADENCE: Weekly snapshots • Monthly channel roll-ups • Per-campaign recaps • Semester summaries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0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PROOF OF CONCEPT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RHM Case Study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0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Spring 2025 Marketing Campaign Results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RHM Spring 2025: Budget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Certificate programs marketing campaign | January - May 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1"/>
          <p:cNvSpPr/>
          <p:nvPr/>
        </p:nvSpPr>
        <p:spPr>
          <a:xfrm>
            <a:off x="457200" y="123444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1"/>
          <p:cNvSpPr/>
          <p:nvPr/>
        </p:nvSpPr>
        <p:spPr>
          <a:xfrm>
            <a:off x="457200" y="13258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$2,090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1"/>
          <p:cNvSpPr/>
          <p:nvPr/>
        </p:nvSpPr>
        <p:spPr>
          <a:xfrm>
            <a:off x="45720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1"/>
          <p:cNvSpPr/>
          <p:nvPr/>
        </p:nvSpPr>
        <p:spPr>
          <a:xfrm>
            <a:off x="457200" y="2103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Paid advertising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1"/>
          <p:cNvSpPr/>
          <p:nvPr/>
        </p:nvSpPr>
        <p:spPr>
          <a:xfrm>
            <a:off x="3291840" y="123444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1"/>
          <p:cNvSpPr/>
          <p:nvPr/>
        </p:nvSpPr>
        <p:spPr>
          <a:xfrm>
            <a:off x="3291840" y="13258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237K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1"/>
          <p:cNvSpPr/>
          <p:nvPr/>
        </p:nvSpPr>
        <p:spPr>
          <a:xfrm>
            <a:off x="329184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Est. Impressions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1"/>
          <p:cNvSpPr/>
          <p:nvPr/>
        </p:nvSpPr>
        <p:spPr>
          <a:xfrm>
            <a:off x="3291840" y="2103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Paid + free channels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1"/>
          <p:cNvSpPr/>
          <p:nvPr/>
        </p:nvSpPr>
        <p:spPr>
          <a:xfrm>
            <a:off x="6126480" y="123444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1"/>
          <p:cNvSpPr/>
          <p:nvPr/>
        </p:nvSpPr>
        <p:spPr>
          <a:xfrm>
            <a:off x="6126480" y="13258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$8.82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1"/>
          <p:cNvSpPr/>
          <p:nvPr/>
        </p:nvSpPr>
        <p:spPr>
          <a:xfrm>
            <a:off x="612648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Blended CPM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1"/>
          <p:cNvSpPr/>
          <p:nvPr/>
        </p:nvSpPr>
        <p:spPr>
          <a:xfrm>
            <a:off x="6126480" y="2103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 per 1,000 impressions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1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Budget Allocation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8" name="Google Shape;638;p31"/>
          <p:cNvGraphicFramePr/>
          <p:nvPr/>
        </p:nvGraphicFramePr>
        <p:xfrm>
          <a:off x="457200" y="292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{601C61E8-C72F-49A2-BF68-AB6E260F276D}</a:tableStyleId>
              </a:tblPr>
              <a:tblGrid>
                <a:gridCol w="3200400"/>
                <a:gridCol w="914400"/>
                <a:gridCol w="1188725"/>
                <a:gridCol w="1554475"/>
                <a:gridCol w="13716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 Category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of Budget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Est. Impressions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Paid Student Media (Blueprint, Arbiter)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$1,250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$16.67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Paid Social (Meta/Instagram)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$560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Paid Print (Shuttle Stops)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$23.33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 Channels (COBE Internal)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RHM Campaign: Key Insights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2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What worked and what we learned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2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2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Best CPM: Meta/Instagram Ads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2"/>
          <p:cNvSpPr/>
          <p:nvPr/>
        </p:nvSpPr>
        <p:spPr>
          <a:xfrm>
            <a:off x="594360" y="160020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$5.33 per 1,000 impressions with precise demographic targeting to Boise residents + BSU students. $5/day budget is manageable and effective.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2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2"/>
          <p:cNvSpPr/>
          <p:nvPr/>
        </p:nvSpPr>
        <p:spPr>
          <a:xfrm>
            <a:off x="594360" y="219456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Best Quality: Tabling &amp; Class Visits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2"/>
          <p:cNvSpPr/>
          <p:nvPr/>
        </p:nvSpPr>
        <p:spPr>
          <a:xfrm>
            <a:off x="594360" y="246888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Highest-quality direct engagement. QR-coded handouts drive traffic to landing page with trackable attribution.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2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2"/>
          <p:cNvSpPr/>
          <p:nvPr/>
        </p:nvSpPr>
        <p:spPr>
          <a:xfrm>
            <a:off x="594360" y="306324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Free Channel Value: 45K Impressions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2"/>
          <p:cNvSpPr/>
          <p:nvPr/>
        </p:nvSpPr>
        <p:spPr>
          <a:xfrm>
            <a:off x="594360" y="333756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internal channels (social, newsletter, screens, tabling) deliver significant reach at zero cost. Always activate these first.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2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2"/>
          <p:cNvSpPr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Newsletter Strategy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2"/>
          <p:cNvSpPr/>
          <p:nvPr/>
        </p:nvSpPr>
        <p:spPr>
          <a:xfrm>
            <a:off x="594360" y="42062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Feature programs every few months with varied messaging. Don't appear in every email or subscribers tune out. Coordinate timing with Kate.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2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2"/>
          <p:cNvSpPr/>
          <p:nvPr/>
        </p:nvSpPr>
        <p:spPr>
          <a:xfrm>
            <a:off x="640080" y="47091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BOTTOM LINE: Free channels deliver ~19% of total impressions at zero cost. Combine strategic paid + free activation for max ROI.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Resources &amp; Directory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FAQ • Contact Directory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Frequently Asked Questions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4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Can I post directly to COBE social accounts?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No. All content goes through cobe-info@boisestate.edu for brand review.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4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How fast can you turn this around?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Standard is 10 business days. Rush requests need director approval.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I have an event in 2 weeks. Is that enough time?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4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Yes for social/email. Events/fairs need 3-6 weeks for full campaign.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Do I need to provide graphics?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No. Hands-Off path: we create them. Hands-On: </a:t>
            </a: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3"/>
                  </a:ext>
                </a:extLst>
              </a:rPr>
              <a:t>use our templates.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4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Can you promote my student org event?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Yes! Email cobe-info with subject 'STUDENT ORG REQUEST' and details.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What if I need to make a last-minute change?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Contact Kate Watson directly. We'll do our best to accommodate.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Your Marketing Team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Know who to contact for what - and always start with cobe-info@boisestate.edu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457200" y="12801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5"/>
          <p:cNvSpPr/>
          <p:nvPr/>
        </p:nvSpPr>
        <p:spPr>
          <a:xfrm>
            <a:off x="594360" y="13716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DIRECTOR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5"/>
          <p:cNvSpPr/>
          <p:nvPr/>
        </p:nvSpPr>
        <p:spPr>
          <a:xfrm>
            <a:off x="594360" y="16002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Kate Watson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5"/>
          <p:cNvSpPr/>
          <p:nvPr/>
        </p:nvSpPr>
        <p:spPr>
          <a:xfrm>
            <a:off x="59436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Strategy, approvals, crisis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3291840" y="12801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5"/>
          <p:cNvSpPr/>
          <p:nvPr/>
        </p:nvSpPr>
        <p:spPr>
          <a:xfrm>
            <a:off x="3429000" y="13716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MGMT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3429000" y="16002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Kim Presnell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342900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Social scheduling, posting logistics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6126480" y="12801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5"/>
          <p:cNvSpPr/>
          <p:nvPr/>
        </p:nvSpPr>
        <p:spPr>
          <a:xfrm>
            <a:off x="6263640" y="13716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MULTIMEDIA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6263640" y="16002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Joe Morgan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626364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Video production, event photography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457200" y="26517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5"/>
          <p:cNvSpPr/>
          <p:nvPr/>
        </p:nvSpPr>
        <p:spPr>
          <a:xfrm>
            <a:off x="594360" y="27432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GRAPHIC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594360" y="2971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McKenna Howard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594360" y="3337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Visual assets, layout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3291840" y="26517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5"/>
          <p:cNvSpPr/>
          <p:nvPr/>
        </p:nvSpPr>
        <p:spPr>
          <a:xfrm>
            <a:off x="3429000" y="27432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GRAPHIC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3429000" y="2971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Ann Hottinger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3429000" y="3337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Creative support, template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5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EMPLOYER EVENTS: Contact COBE Career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640080" y="43434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fairs, employer mixers, recruiting events → Laura Chiuppi (208) 426-1355 | cobecareers@boisestate.edu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Remember: All requests start at cobe-info@boisestate.edu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6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LET'S GO BRONCOS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6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to Get Started?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6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 your path, send your request, and let's build something great together.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6"/>
          <p:cNvSpPr/>
          <p:nvPr/>
        </p:nvSpPr>
        <p:spPr>
          <a:xfrm>
            <a:off x="2286000" y="3200400"/>
            <a:ext cx="4572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6"/>
          <p:cNvSpPr/>
          <p:nvPr/>
        </p:nvSpPr>
        <p:spPr>
          <a:xfrm>
            <a:off x="2286000" y="320040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cobe-info@boisestate.edu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6"/>
          <p:cNvSpPr/>
          <p:nvPr/>
        </p:nvSpPr>
        <p:spPr>
          <a:xfrm>
            <a:off x="2286000" y="4114800"/>
            <a:ext cx="2194560" cy="5486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6"/>
          <p:cNvSpPr/>
          <p:nvPr/>
        </p:nvSpPr>
        <p:spPr>
          <a:xfrm>
            <a:off x="2286000" y="41148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HANDS-OFF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Send facts - We create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6"/>
          <p:cNvSpPr/>
          <p:nvPr/>
        </p:nvSpPr>
        <p:spPr>
          <a:xfrm>
            <a:off x="4663440" y="4114800"/>
            <a:ext cx="2194560" cy="5486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6"/>
          <p:cNvSpPr/>
          <p:nvPr/>
        </p:nvSpPr>
        <p:spPr>
          <a:xfrm>
            <a:off x="4663440" y="41148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templates - We approve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COBE Marketing Team • College of Business and Economics • Boise State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2026-01-29T21:00:03Z</dcterms:created>
  <dc:creator>COBE Marketing Team</dc:creator>
</cp:coreProperties>
</file>