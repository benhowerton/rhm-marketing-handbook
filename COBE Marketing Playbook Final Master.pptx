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4631F1-437D-4764-92B6-2A4562E18BC6}">
  <a:tblStyle styleId="{AD4631F1-437D-4764-92B6-2A4562E18BC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bda29b306e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bda29b306e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g3bda29b306e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bd691eab24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g3bd691eab24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g3bd691eab24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0" name="Google Shape;99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2" name="Google Shape;106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3" name="Google Shape;112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3" name="Google Shape;113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4" name="Google Shape;116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bd691eab24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3" name="Google Shape;1213;g3bd691eab24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4" name="Google Shape;1214;g3bd691eab24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3" name="Google Shape;122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0" name="Google Shape;125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0" name="Google Shape;128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9" name="Google Shape;1289;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0" name="Google Shape;129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9" name="Google Shape;129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7" name="Google Shape;131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6" name="Google Shape;1336;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6" name="Google Shape;1356;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7" name="Google Shape;1357;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5" name="Google Shape;136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3" name="Google Shape;1373;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4" name="Google Shape;1374;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6" name="Shape 16"/>
        <p:cNvGrpSpPr/>
        <p:nvPr/>
      </p:nvGrpSpPr>
      <p:grpSpPr>
        <a:xfrm>
          <a:off x="0" y="0"/>
          <a:ext cx="0" cy="0"/>
          <a:chOff x="0" y="0"/>
          <a:chExt cx="0" cy="0"/>
        </a:xfrm>
      </p:grpSpPr>
      <p:sp>
        <p:nvSpPr>
          <p:cNvPr id="17" name="Google Shape;17;p4"/>
          <p:cNvSpPr/>
          <p:nvPr/>
        </p:nvSpPr>
        <p:spPr>
          <a:xfrm>
            <a:off x="0" y="0"/>
            <a:ext cx="9144000" cy="51435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9144000" cy="73152"/>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731520" y="914400"/>
            <a:ext cx="768096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COBE MARKETING</a:t>
            </a:r>
            <a:endParaRPr b="0" i="0" sz="48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PLAYBOOK</a:t>
            </a:r>
            <a:endParaRPr b="0" i="0" sz="4800" u="none" cap="none" strike="noStrike">
              <a:solidFill>
                <a:schemeClr val="dk1"/>
              </a:solidFill>
              <a:latin typeface="Calibri"/>
              <a:ea typeface="Calibri"/>
              <a:cs typeface="Calibri"/>
              <a:sym typeface="Calibri"/>
            </a:endParaRPr>
          </a:p>
        </p:txBody>
      </p:sp>
      <p:sp>
        <p:nvSpPr>
          <p:cNvPr id="20" name="Google Shape;20;p4"/>
          <p:cNvSpPr/>
          <p:nvPr/>
        </p:nvSpPr>
        <p:spPr>
          <a:xfrm>
            <a:off x="731520" y="2743200"/>
            <a:ext cx="64008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BD5E1"/>
              </a:buClr>
              <a:buSzPts val="1600"/>
              <a:buFont typeface="Arial"/>
              <a:buNone/>
            </a:pPr>
            <a:r>
              <a:rPr b="0" i="0" lang="en-US" sz="1600" u="none" cap="none" strike="noStrike">
                <a:solidFill>
                  <a:srgbClr val="CBD5E1"/>
                </a:solidFill>
                <a:latin typeface="Arial"/>
                <a:ea typeface="Arial"/>
                <a:cs typeface="Arial"/>
                <a:sym typeface="Arial"/>
              </a:rPr>
              <a:t>A step-by-step guide for College of Business and Economics programs</a:t>
            </a:r>
            <a:endParaRPr b="0" i="0" sz="16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BD5E1"/>
              </a:buClr>
              <a:buSzPts val="1600"/>
              <a:buFont typeface="Arial"/>
              <a:buNone/>
            </a:pPr>
            <a:r>
              <a:rPr b="0" i="0" lang="en-US" sz="1600" u="none" cap="none" strike="noStrike">
                <a:solidFill>
                  <a:srgbClr val="CBD5E1"/>
                </a:solidFill>
                <a:latin typeface="Arial"/>
                <a:ea typeface="Arial"/>
                <a:cs typeface="Arial"/>
                <a:sym typeface="Arial"/>
              </a:rPr>
              <a:t>to leverage COBE Marketing channels effectively and consistently.</a:t>
            </a:r>
            <a:endParaRPr b="0" i="0" sz="1600" u="none" cap="none" strike="noStrike">
              <a:solidFill>
                <a:schemeClr val="dk1"/>
              </a:solidFill>
              <a:latin typeface="Calibri"/>
              <a:ea typeface="Calibri"/>
              <a:cs typeface="Calibri"/>
              <a:sym typeface="Calibri"/>
            </a:endParaRPr>
          </a:p>
        </p:txBody>
      </p:sp>
      <p:sp>
        <p:nvSpPr>
          <p:cNvPr id="21" name="Google Shape;21;p4"/>
          <p:cNvSpPr/>
          <p:nvPr/>
        </p:nvSpPr>
        <p:spPr>
          <a:xfrm>
            <a:off x="731520" y="3749040"/>
            <a:ext cx="1371600" cy="36576"/>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731520" y="393192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Arial"/>
              <a:buNone/>
            </a:pPr>
            <a:r>
              <a:rPr b="0" i="0" lang="en-US" sz="1200" u="none" cap="none" strike="noStrike">
                <a:solidFill>
                  <a:srgbClr val="CBD5E1"/>
                </a:solidFill>
                <a:latin typeface="Arial"/>
                <a:ea typeface="Arial"/>
                <a:cs typeface="Arial"/>
                <a:sym typeface="Arial"/>
              </a:rPr>
              <a:t>Boise State University  |  College of Business &amp; Economics  |  2025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 name="Shape 27"/>
        <p:cNvGrpSpPr/>
        <p:nvPr/>
      </p:nvGrpSpPr>
      <p:grpSpPr>
        <a:xfrm>
          <a:off x="0" y="0"/>
          <a:ext cx="0" cy="0"/>
          <a:chOff x="0" y="0"/>
          <a:chExt cx="0" cy="0"/>
        </a:xfrm>
      </p:grpSpPr>
      <p:sp>
        <p:nvSpPr>
          <p:cNvPr id="28" name="Google Shape;28;p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9" name="Google Shape;29;p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30" name="Google Shape;30;p5"/>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The Bandwidth Problem</a:t>
            </a:r>
            <a:endParaRPr b="0" i="0" sz="3600" u="none" cap="none" strike="noStrike">
              <a:solidFill>
                <a:schemeClr val="dk1"/>
              </a:solidFill>
              <a:latin typeface="Calibri"/>
              <a:ea typeface="Calibri"/>
              <a:cs typeface="Calibri"/>
              <a:sym typeface="Calibri"/>
            </a:endParaRPr>
          </a:p>
        </p:txBody>
      </p:sp>
      <p:sp>
        <p:nvSpPr>
          <p:cNvPr id="31" name="Google Shape;31;p5"/>
          <p:cNvSpPr/>
          <p:nvPr/>
        </p:nvSpPr>
        <p:spPr>
          <a:xfrm>
            <a:off x="457200" y="10058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500"/>
              <a:buFont typeface="Arial"/>
              <a:buNone/>
            </a:pPr>
            <a:r>
              <a:rPr b="0" i="0" lang="en-US" sz="1500" u="none" cap="none" strike="noStrike">
                <a:solidFill>
                  <a:srgbClr val="334155"/>
                </a:solidFill>
                <a:latin typeface="Arial"/>
                <a:ea typeface="Arial"/>
                <a:cs typeface="Arial"/>
                <a:sym typeface="Arial"/>
              </a:rPr>
              <a:t>COBE Marketing manages powerful channels, but programs often:</a:t>
            </a:r>
            <a:endParaRPr b="0" i="0" sz="1500" u="none" cap="none" strike="noStrike">
              <a:solidFill>
                <a:schemeClr val="dk1"/>
              </a:solidFill>
              <a:latin typeface="Calibri"/>
              <a:ea typeface="Calibri"/>
              <a:cs typeface="Calibri"/>
              <a:sym typeface="Calibri"/>
            </a:endParaRPr>
          </a:p>
        </p:txBody>
      </p:sp>
      <p:sp>
        <p:nvSpPr>
          <p:cNvPr id="32" name="Google Shape;32;p5"/>
          <p:cNvSpPr/>
          <p:nvPr/>
        </p:nvSpPr>
        <p:spPr>
          <a:xfrm>
            <a:off x="457200" y="140365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457200" y="1403650"/>
            <a:ext cx="54900"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a:off x="640080" y="1650538"/>
            <a:ext cx="411600" cy="41160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640080" y="1650538"/>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36" name="Google Shape;36;p5"/>
          <p:cNvSpPr/>
          <p:nvPr/>
        </p:nvSpPr>
        <p:spPr>
          <a:xfrm>
            <a:off x="1234440" y="1513378"/>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Don't know what's available</a:t>
            </a:r>
            <a:endParaRPr b="0" i="0" sz="1500" u="none" cap="none" strike="noStrike">
              <a:solidFill>
                <a:schemeClr val="dk1"/>
              </a:solidFill>
              <a:latin typeface="Calibri"/>
              <a:ea typeface="Calibri"/>
              <a:cs typeface="Calibri"/>
              <a:sym typeface="Calibri"/>
            </a:endParaRPr>
          </a:p>
        </p:txBody>
      </p:sp>
      <p:sp>
        <p:nvSpPr>
          <p:cNvPr id="37" name="Google Shape;37;p5"/>
          <p:cNvSpPr/>
          <p:nvPr/>
        </p:nvSpPr>
        <p:spPr>
          <a:xfrm>
            <a:off x="1234440" y="1833418"/>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Social media (1,436 IG / 1,700 LI followers), newsletters (5,000+ subscribers), digital screens, paid ads — most departments only use 1-2.</a:t>
            </a:r>
            <a:endParaRPr b="0" i="0" sz="1200" u="none" cap="none" strike="noStrike">
              <a:solidFill>
                <a:schemeClr val="dk1"/>
              </a:solidFill>
              <a:latin typeface="Calibri"/>
              <a:ea typeface="Calibri"/>
              <a:cs typeface="Calibri"/>
              <a:sym typeface="Calibri"/>
            </a:endParaRPr>
          </a:p>
        </p:txBody>
      </p:sp>
      <p:sp>
        <p:nvSpPr>
          <p:cNvPr id="38" name="Google Shape;38;p5"/>
          <p:cNvSpPr/>
          <p:nvPr/>
        </p:nvSpPr>
        <p:spPr>
          <a:xfrm>
            <a:off x="457200" y="245521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457200" y="2455210"/>
            <a:ext cx="54900"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640080" y="2702098"/>
            <a:ext cx="411600" cy="41160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640080" y="2702098"/>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42" name="Google Shape;42;p5"/>
          <p:cNvSpPr/>
          <p:nvPr/>
        </p:nvSpPr>
        <p:spPr>
          <a:xfrm>
            <a:off x="1234440" y="2564938"/>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Don't have dedicated marketing staff</a:t>
            </a:r>
            <a:endParaRPr b="0" i="0" sz="1500" u="none" cap="none" strike="noStrike">
              <a:solidFill>
                <a:schemeClr val="dk1"/>
              </a:solidFill>
              <a:latin typeface="Calibri"/>
              <a:ea typeface="Calibri"/>
              <a:cs typeface="Calibri"/>
              <a:sym typeface="Calibri"/>
            </a:endParaRPr>
          </a:p>
        </p:txBody>
      </p:sp>
      <p:sp>
        <p:nvSpPr>
          <p:cNvPr id="43" name="Google Shape;43;p5"/>
          <p:cNvSpPr/>
          <p:nvPr/>
        </p:nvSpPr>
        <p:spPr>
          <a:xfrm>
            <a:off x="1234440" y="2884978"/>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Faculty and program leads lack time, templates, and clear processes to produce brand-ready content.</a:t>
            </a:r>
            <a:endParaRPr b="0" i="0" sz="1200" u="none" cap="none" strike="noStrike">
              <a:solidFill>
                <a:schemeClr val="dk1"/>
              </a:solidFill>
              <a:latin typeface="Calibri"/>
              <a:ea typeface="Calibri"/>
              <a:cs typeface="Calibri"/>
              <a:sym typeface="Calibri"/>
            </a:endParaRPr>
          </a:p>
        </p:txBody>
      </p:sp>
      <p:sp>
        <p:nvSpPr>
          <p:cNvPr id="44" name="Google Shape;44;p5"/>
          <p:cNvSpPr/>
          <p:nvPr/>
        </p:nvSpPr>
        <p:spPr>
          <a:xfrm>
            <a:off x="457200" y="350677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457200" y="3506770"/>
            <a:ext cx="54900"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640080" y="3753658"/>
            <a:ext cx="411600" cy="41160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640080" y="3753658"/>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X</a:t>
            </a:r>
            <a:endParaRPr b="0" i="0" sz="1600" u="none" cap="none" strike="noStrike">
              <a:solidFill>
                <a:schemeClr val="dk1"/>
              </a:solidFill>
              <a:latin typeface="Calibri"/>
              <a:ea typeface="Calibri"/>
              <a:cs typeface="Calibri"/>
              <a:sym typeface="Calibri"/>
            </a:endParaRPr>
          </a:p>
        </p:txBody>
      </p:sp>
      <p:sp>
        <p:nvSpPr>
          <p:cNvPr id="48" name="Google Shape;48;p5"/>
          <p:cNvSpPr/>
          <p:nvPr/>
        </p:nvSpPr>
        <p:spPr>
          <a:xfrm>
            <a:off x="1234440" y="3616498"/>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Miss lead-time windows</a:t>
            </a:r>
            <a:endParaRPr b="0" i="0" sz="1500" u="none" cap="none" strike="noStrike">
              <a:solidFill>
                <a:schemeClr val="dk1"/>
              </a:solidFill>
              <a:latin typeface="Calibri"/>
              <a:ea typeface="Calibri"/>
              <a:cs typeface="Calibri"/>
              <a:sym typeface="Calibri"/>
            </a:endParaRPr>
          </a:p>
        </p:txBody>
      </p:sp>
      <p:sp>
        <p:nvSpPr>
          <p:cNvPr id="49" name="Google Shape;49;p5"/>
          <p:cNvSpPr/>
          <p:nvPr/>
        </p:nvSpPr>
        <p:spPr>
          <a:xfrm>
            <a:off x="1234440" y="3936538"/>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Content submitted late gets deprioritized. Without clear timelines, promotions launch after the event.</a:t>
            </a:r>
            <a:endParaRPr b="0" i="0" sz="1200" u="none" cap="none" strike="noStrike">
              <a:solidFill>
                <a:schemeClr val="dk1"/>
              </a:solidFill>
              <a:latin typeface="Calibri"/>
              <a:ea typeface="Calibri"/>
              <a:cs typeface="Calibri"/>
              <a:sym typeface="Calibri"/>
            </a:endParaRPr>
          </a:p>
        </p:txBody>
      </p:sp>
      <p:sp>
        <p:nvSpPr>
          <p:cNvPr id="50" name="Google Shape;50;p5"/>
          <p:cNvSpPr/>
          <p:nvPr/>
        </p:nvSpPr>
        <p:spPr>
          <a:xfrm>
            <a:off x="457200" y="4450933"/>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33A0"/>
              </a:buClr>
              <a:buSzPts val="1400"/>
              <a:buFont typeface="Arial"/>
              <a:buNone/>
            </a:pPr>
            <a:r>
              <a:rPr b="1" i="0" lang="en-US" sz="1400" u="none" cap="none" strike="noStrike">
                <a:solidFill>
                  <a:srgbClr val="0033A0"/>
                </a:solidFill>
                <a:latin typeface="Arial"/>
                <a:ea typeface="Arial"/>
                <a:cs typeface="Arial"/>
                <a:sym typeface="Arial"/>
              </a:rPr>
              <a:t>This playbook solves all three — with two clear pathways.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5" name="Shape 55"/>
        <p:cNvGrpSpPr/>
        <p:nvPr/>
      </p:nvGrpSpPr>
      <p:grpSpPr>
        <a:xfrm>
          <a:off x="0" y="0"/>
          <a:ext cx="0" cy="0"/>
          <a:chOff x="0" y="0"/>
          <a:chExt cx="0" cy="0"/>
        </a:xfrm>
      </p:grpSpPr>
      <p:sp>
        <p:nvSpPr>
          <p:cNvPr id="56" name="Google Shape;56;p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7" name="Google Shape;57;p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
        <p:nvSpPr>
          <p:cNvPr id="58" name="Google Shape;58;p6"/>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Choose Your Path</a:t>
            </a:r>
            <a:endParaRPr b="0" i="0" sz="3600" u="none" cap="none" strike="noStrike">
              <a:solidFill>
                <a:schemeClr val="dk1"/>
              </a:solidFill>
              <a:latin typeface="Calibri"/>
              <a:ea typeface="Calibri"/>
              <a:cs typeface="Calibri"/>
              <a:sym typeface="Calibri"/>
            </a:endParaRPr>
          </a:p>
        </p:txBody>
      </p:sp>
      <p:sp>
        <p:nvSpPr>
          <p:cNvPr id="59" name="Google Shape;59;p6"/>
          <p:cNvSpPr/>
          <p:nvPr/>
        </p:nvSpPr>
        <p:spPr>
          <a:xfrm>
            <a:off x="457200" y="9144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Pick the approach that fits your bandwidth and comfort level.</a:t>
            </a:r>
            <a:endParaRPr b="0" i="0" sz="1400" u="none" cap="none" strike="noStrike">
              <a:solidFill>
                <a:schemeClr val="dk1"/>
              </a:solidFill>
              <a:latin typeface="Calibri"/>
              <a:ea typeface="Calibri"/>
              <a:cs typeface="Calibri"/>
              <a:sym typeface="Calibri"/>
            </a:endParaRPr>
          </a:p>
        </p:txBody>
      </p:sp>
      <p:sp>
        <p:nvSpPr>
          <p:cNvPr id="60" name="Google Shape;60;p6"/>
          <p:cNvSpPr/>
          <p:nvPr/>
        </p:nvSpPr>
        <p:spPr>
          <a:xfrm>
            <a:off x="45720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457200" y="1463040"/>
            <a:ext cx="54864" cy="2926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457200" y="1463040"/>
            <a:ext cx="3840480" cy="4572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45720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PATH 1: HANDS-OFF</a:t>
            </a:r>
            <a:endParaRPr b="0" i="0" sz="1600" u="none" cap="none" strike="noStrike">
              <a:solidFill>
                <a:schemeClr val="dk1"/>
              </a:solidFill>
              <a:latin typeface="Calibri"/>
              <a:ea typeface="Calibri"/>
              <a:cs typeface="Calibri"/>
              <a:sym typeface="Calibri"/>
            </a:endParaRPr>
          </a:p>
        </p:txBody>
      </p:sp>
      <p:sp>
        <p:nvSpPr>
          <p:cNvPr id="64" name="Google Shape;64;p6"/>
          <p:cNvSpPr/>
          <p:nvPr/>
        </p:nvSpPr>
        <p:spPr>
          <a:xfrm>
            <a:off x="64008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400"/>
              <a:buFont typeface="Arial"/>
              <a:buNone/>
            </a:pPr>
            <a:r>
              <a:rPr b="1" i="0" lang="en-US" sz="1400" u="none" cap="none" strike="noStrike">
                <a:solidFill>
                  <a:srgbClr val="0EA5E9"/>
                </a:solidFill>
                <a:latin typeface="Arial"/>
                <a:ea typeface="Arial"/>
                <a:cs typeface="Arial"/>
                <a:sym typeface="Arial"/>
              </a:rPr>
              <a:t>Concierge Service</a:t>
            </a:r>
            <a:endParaRPr b="0" i="0" sz="1400" u="none" cap="none" strike="noStrike">
              <a:solidFill>
                <a:schemeClr val="dk1"/>
              </a:solidFill>
              <a:latin typeface="Calibri"/>
              <a:ea typeface="Calibri"/>
              <a:cs typeface="Calibri"/>
              <a:sym typeface="Calibri"/>
            </a:endParaRPr>
          </a:p>
        </p:txBody>
      </p:sp>
      <p:sp>
        <p:nvSpPr>
          <p:cNvPr id="65" name="Google Shape;65;p6"/>
          <p:cNvSpPr/>
          <p:nvPr/>
        </p:nvSpPr>
        <p:spPr>
          <a:xfrm>
            <a:off x="64008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YOU PROVIDE: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Who, What, When, Where, Photos, Links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WE HANDLE: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Copywriting, graphic design, scheduling,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approvals, publishing, and performance tracking</a:t>
            </a:r>
            <a:endParaRPr b="0" i="0" sz="1100" u="none" cap="none" strike="noStrike">
              <a:solidFill>
                <a:schemeClr val="dk1"/>
              </a:solidFill>
              <a:latin typeface="Calibri"/>
              <a:ea typeface="Calibri"/>
              <a:cs typeface="Calibri"/>
              <a:sym typeface="Calibri"/>
            </a:endParaRPr>
          </a:p>
        </p:txBody>
      </p:sp>
      <p:sp>
        <p:nvSpPr>
          <p:cNvPr id="66" name="Google Shape;66;p6"/>
          <p:cNvSpPr/>
          <p:nvPr/>
        </p:nvSpPr>
        <p:spPr>
          <a:xfrm>
            <a:off x="64008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Best for: Faculty, program leads, student orgs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who want results without the production work.</a:t>
            </a:r>
            <a:endParaRPr b="0" i="0" sz="1000" u="none" cap="none" strike="noStrike">
              <a:solidFill>
                <a:schemeClr val="dk1"/>
              </a:solidFill>
              <a:latin typeface="Calibri"/>
              <a:ea typeface="Calibri"/>
              <a:cs typeface="Calibri"/>
              <a:sym typeface="Calibri"/>
            </a:endParaRPr>
          </a:p>
        </p:txBody>
      </p:sp>
      <p:sp>
        <p:nvSpPr>
          <p:cNvPr id="67" name="Google Shape;67;p6"/>
          <p:cNvSpPr/>
          <p:nvPr/>
        </p:nvSpPr>
        <p:spPr>
          <a:xfrm>
            <a:off x="484632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4846320" y="1463040"/>
            <a:ext cx="54864" cy="29260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4846320" y="1463040"/>
            <a:ext cx="3840480" cy="45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484632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PATH 2: HANDS-ON</a:t>
            </a:r>
            <a:endParaRPr b="0" i="0" sz="1600" u="none" cap="none" strike="noStrike">
              <a:solidFill>
                <a:schemeClr val="dk1"/>
              </a:solidFill>
              <a:latin typeface="Calibri"/>
              <a:ea typeface="Calibri"/>
              <a:cs typeface="Calibri"/>
              <a:sym typeface="Calibri"/>
            </a:endParaRPr>
          </a:p>
        </p:txBody>
      </p:sp>
      <p:sp>
        <p:nvSpPr>
          <p:cNvPr id="71" name="Google Shape;71;p6"/>
          <p:cNvSpPr/>
          <p:nvPr/>
        </p:nvSpPr>
        <p:spPr>
          <a:xfrm>
            <a:off x="502920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400"/>
              <a:buFont typeface="Arial"/>
              <a:buNone/>
            </a:pPr>
            <a:r>
              <a:rPr b="1" i="0" lang="en-US" sz="1400" u="none" cap="none" strike="noStrike">
                <a:solidFill>
                  <a:srgbClr val="F97316"/>
                </a:solidFill>
                <a:latin typeface="Arial"/>
                <a:ea typeface="Arial"/>
                <a:cs typeface="Arial"/>
                <a:sym typeface="Arial"/>
              </a:rPr>
              <a:t>DIY With Support</a:t>
            </a:r>
            <a:endParaRPr b="0" i="0" sz="1400" u="none" cap="none" strike="noStrike">
              <a:solidFill>
                <a:schemeClr val="dk1"/>
              </a:solidFill>
              <a:latin typeface="Calibri"/>
              <a:ea typeface="Calibri"/>
              <a:cs typeface="Calibri"/>
              <a:sym typeface="Calibri"/>
            </a:endParaRPr>
          </a:p>
        </p:txBody>
      </p:sp>
      <p:sp>
        <p:nvSpPr>
          <p:cNvPr id="72" name="Google Shape;72;p6"/>
          <p:cNvSpPr/>
          <p:nvPr/>
        </p:nvSpPr>
        <p:spPr>
          <a:xfrm>
            <a:off x="502920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YOU CREATE: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Copy, graphics, schedule using our templates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and brand guidelines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WE PROVIDE: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Templates, brand review, copy feedback,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final approval, and publishing support</a:t>
            </a:r>
            <a:endParaRPr b="0" i="0" sz="1100" u="none" cap="none" strike="noStrike">
              <a:solidFill>
                <a:schemeClr val="dk1"/>
              </a:solidFill>
              <a:latin typeface="Calibri"/>
              <a:ea typeface="Calibri"/>
              <a:cs typeface="Calibri"/>
              <a:sym typeface="Calibri"/>
            </a:endParaRPr>
          </a:p>
        </p:txBody>
      </p:sp>
      <p:sp>
        <p:nvSpPr>
          <p:cNvPr id="73" name="Google Shape;73;p6"/>
          <p:cNvSpPr/>
          <p:nvPr/>
        </p:nvSpPr>
        <p:spPr>
          <a:xfrm>
            <a:off x="502920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Best for: GAs, student workers, staff with</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some design/writing experience.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78" name="Shape 78"/>
        <p:cNvGrpSpPr/>
        <p:nvPr/>
      </p:nvGrpSpPr>
      <p:grpSpPr>
        <a:xfrm>
          <a:off x="0" y="0"/>
          <a:ext cx="0" cy="0"/>
          <a:chOff x="0" y="0"/>
          <a:chExt cx="0" cy="0"/>
        </a:xfrm>
      </p:grpSpPr>
      <p:sp>
        <p:nvSpPr>
          <p:cNvPr id="79" name="Google Shape;79;p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a:t>
            </a:r>
            <a:endParaRPr b="0" i="0" sz="1000" u="none" cap="none" strike="noStrike">
              <a:solidFill>
                <a:schemeClr val="dk1"/>
              </a:solidFill>
              <a:latin typeface="Calibri"/>
              <a:ea typeface="Calibri"/>
              <a:cs typeface="Calibri"/>
              <a:sym typeface="Calibri"/>
            </a:endParaRPr>
          </a:p>
        </p:txBody>
      </p:sp>
      <p:sp>
        <p:nvSpPr>
          <p:cNvPr id="80" name="Google Shape;80;p7"/>
          <p:cNvSpPr/>
          <p:nvPr/>
        </p:nvSpPr>
        <p:spPr>
          <a:xfrm>
            <a:off x="0" y="0"/>
            <a:ext cx="9144000" cy="5143500"/>
          </a:xfrm>
          <a:prstGeom prst="rect">
            <a:avLst/>
          </a:prstGeom>
          <a:solidFill>
            <a:srgbClr val="0B1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0" y="0"/>
            <a:ext cx="9144000" cy="54864"/>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457200" y="109728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4309"/>
              </a:buClr>
              <a:buSzPts val="4000"/>
              <a:buFont typeface="Georgia"/>
              <a:buNone/>
            </a:pPr>
            <a:r>
              <a:rPr b="1" i="0" lang="en-US" sz="4000" u="none" cap="none" strike="noStrike">
                <a:solidFill>
                  <a:srgbClr val="D64309"/>
                </a:solidFill>
                <a:latin typeface="Georgia"/>
                <a:ea typeface="Georgia"/>
                <a:cs typeface="Georgia"/>
                <a:sym typeface="Georgia"/>
              </a:rPr>
              <a:t>THE GOLDEN RULE</a:t>
            </a:r>
            <a:endParaRPr b="0" i="0" sz="4000" u="none" cap="none" strike="noStrike">
              <a:solidFill>
                <a:schemeClr val="dk1"/>
              </a:solidFill>
              <a:latin typeface="Calibri"/>
              <a:ea typeface="Calibri"/>
              <a:cs typeface="Calibri"/>
              <a:sym typeface="Calibri"/>
            </a:endParaRPr>
          </a:p>
        </p:txBody>
      </p:sp>
      <p:sp>
        <p:nvSpPr>
          <p:cNvPr id="83" name="Google Shape;83;p7"/>
          <p:cNvSpPr/>
          <p:nvPr/>
        </p:nvSpPr>
        <p:spPr>
          <a:xfrm>
            <a:off x="457200" y="182880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800"/>
              <a:buFont typeface="Arial"/>
              <a:buNone/>
            </a:pPr>
            <a:r>
              <a:rPr b="0" i="0" lang="en-US" sz="1800" u="none" cap="none" strike="noStrike">
                <a:solidFill>
                  <a:srgbClr val="CBD5E1"/>
                </a:solidFill>
                <a:latin typeface="Arial"/>
                <a:ea typeface="Arial"/>
                <a:cs typeface="Arial"/>
                <a:sym typeface="Arial"/>
              </a:rPr>
              <a:t>All requests start at:</a:t>
            </a:r>
            <a:endParaRPr b="0" i="0" sz="1800" u="none" cap="none" strike="noStrike">
              <a:solidFill>
                <a:schemeClr val="dk1"/>
              </a:solidFill>
              <a:latin typeface="Calibri"/>
              <a:ea typeface="Calibri"/>
              <a:cs typeface="Calibri"/>
              <a:sym typeface="Calibri"/>
            </a:endParaRPr>
          </a:p>
        </p:txBody>
      </p:sp>
      <p:sp>
        <p:nvSpPr>
          <p:cNvPr id="84" name="Google Shape;84;p7"/>
          <p:cNvSpPr/>
          <p:nvPr/>
        </p:nvSpPr>
        <p:spPr>
          <a:xfrm>
            <a:off x="1371600" y="2377440"/>
            <a:ext cx="6400800" cy="1097280"/>
          </a:xfrm>
          <a:prstGeom prst="rect">
            <a:avLst/>
          </a:prstGeom>
          <a:solidFill>
            <a:srgbClr val="111827"/>
          </a:solidFill>
          <a:ln cap="flat" cmpd="sng" w="12700">
            <a:solidFill>
              <a:srgbClr val="D64309"/>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1371600" y="2468880"/>
            <a:ext cx="6400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cobe-info@boisestate.edu</a:t>
            </a:r>
            <a:endParaRPr b="0" i="0" sz="2800" u="none" cap="none" strike="noStrike">
              <a:solidFill>
                <a:schemeClr val="dk1"/>
              </a:solidFill>
              <a:latin typeface="Calibri"/>
              <a:ea typeface="Calibri"/>
              <a:cs typeface="Calibri"/>
              <a:sym typeface="Calibri"/>
            </a:endParaRPr>
          </a:p>
        </p:txBody>
      </p:sp>
      <p:sp>
        <p:nvSpPr>
          <p:cNvPr id="86" name="Google Shape;86;p7"/>
          <p:cNvSpPr/>
          <p:nvPr/>
        </p:nvSpPr>
        <p:spPr>
          <a:xfrm>
            <a:off x="1371600" y="3017520"/>
            <a:ext cx="6400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A5E9"/>
              </a:buClr>
              <a:buSzPts val="1300"/>
              <a:buFont typeface="Arial"/>
              <a:buNone/>
            </a:pPr>
            <a:r>
              <a:rPr b="0" i="0" lang="en-US" sz="1300" u="none" cap="none" strike="noStrike">
                <a:solidFill>
                  <a:srgbClr val="0EA5E9"/>
                </a:solidFill>
                <a:latin typeface="Arial"/>
                <a:ea typeface="Arial"/>
                <a:cs typeface="Arial"/>
                <a:sym typeface="Arial"/>
              </a:rPr>
              <a:t>Subject: PROGRAM REQUEST – [Channel] – [Date Range]</a:t>
            </a:r>
            <a:endParaRPr b="0" i="0" sz="1300" u="none" cap="none" strike="noStrike">
              <a:solidFill>
                <a:schemeClr val="dk1"/>
              </a:solidFill>
              <a:latin typeface="Calibri"/>
              <a:ea typeface="Calibri"/>
              <a:cs typeface="Calibri"/>
              <a:sym typeface="Calibri"/>
            </a:endParaRPr>
          </a:p>
        </p:txBody>
      </p:sp>
      <p:sp>
        <p:nvSpPr>
          <p:cNvPr id="87" name="Google Shape;87;p7"/>
          <p:cNvSpPr/>
          <p:nvPr/>
        </p:nvSpPr>
        <p:spPr>
          <a:xfrm>
            <a:off x="914400" y="3840480"/>
            <a:ext cx="731520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CBD5E1"/>
              </a:buClr>
              <a:buSzPts val="1300"/>
              <a:buFont typeface="Arial"/>
              <a:buNone/>
            </a:pPr>
            <a:r>
              <a:rPr b="0" i="0" lang="en-US" sz="1300" u="none" cap="none" strike="noStrike">
                <a:solidFill>
                  <a:srgbClr val="CBD5E1"/>
                </a:solidFill>
                <a:latin typeface="Arial"/>
                <a:ea typeface="Arial"/>
                <a:cs typeface="Arial"/>
                <a:sym typeface="Arial"/>
              </a:rPr>
              <a:t>This is the single entry point for both Hands-Off and Hands-On requests.</a:t>
            </a:r>
            <a:endParaRPr b="0" i="0" sz="13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CBD5E1"/>
              </a:buClr>
              <a:buSzPts val="1300"/>
              <a:buFont typeface="Arial"/>
              <a:buNone/>
            </a:pPr>
            <a:r>
              <a:rPr b="0" i="0" lang="en-US" sz="1300" u="none" cap="none" strike="noStrike">
                <a:solidFill>
                  <a:srgbClr val="CBD5E1"/>
                </a:solidFill>
                <a:latin typeface="Arial"/>
                <a:ea typeface="Arial"/>
                <a:cs typeface="Arial"/>
                <a:sym typeface="Arial"/>
              </a:rPr>
              <a:t>No matter which path you choose, your journey starts with this email.</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91" name="Shape 91"/>
        <p:cNvGrpSpPr/>
        <p:nvPr/>
      </p:nvGrpSpPr>
      <p:grpSpPr>
        <a:xfrm>
          <a:off x="0" y="0"/>
          <a:ext cx="0" cy="0"/>
          <a:chOff x="0" y="0"/>
          <a:chExt cx="0" cy="0"/>
        </a:xfrm>
      </p:grpSpPr>
      <p:sp>
        <p:nvSpPr>
          <p:cNvPr id="92" name="Google Shape;92;p8"/>
          <p:cNvSpPr/>
          <p:nvPr/>
        </p:nvSpPr>
        <p:spPr>
          <a:xfrm>
            <a:off x="109725" y="0"/>
            <a:ext cx="9144000" cy="5143500"/>
          </a:xfrm>
          <a:prstGeom prst="rect">
            <a:avLst/>
          </a:prstGeom>
          <a:solidFill>
            <a:srgbClr val="0C4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0" y="0"/>
            <a:ext cx="109728" cy="51435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548640" y="394450"/>
            <a:ext cx="7315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800"/>
              <a:buFont typeface="Arial"/>
              <a:buNone/>
            </a:pPr>
            <a:r>
              <a:rPr b="1" i="0" lang="en-US" sz="1800" u="none" cap="none" strike="noStrike">
                <a:solidFill>
                  <a:srgbClr val="0EA5E9"/>
                </a:solidFill>
                <a:latin typeface="Arial"/>
                <a:ea typeface="Arial"/>
                <a:cs typeface="Arial"/>
                <a:sym typeface="Arial"/>
              </a:rPr>
              <a:t>SECTION 01</a:t>
            </a:r>
            <a:endParaRPr b="0" i="0" sz="1800" u="none" cap="none" strike="noStrike">
              <a:solidFill>
                <a:schemeClr val="dk1"/>
              </a:solidFill>
              <a:latin typeface="Calibri"/>
              <a:ea typeface="Calibri"/>
              <a:cs typeface="Calibri"/>
              <a:sym typeface="Calibri"/>
            </a:endParaRPr>
          </a:p>
        </p:txBody>
      </p:sp>
      <p:sp>
        <p:nvSpPr>
          <p:cNvPr id="95" name="Google Shape;95;p8"/>
          <p:cNvSpPr/>
          <p:nvPr/>
        </p:nvSpPr>
        <p:spPr>
          <a:xfrm>
            <a:off x="548640" y="1197028"/>
            <a:ext cx="73152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i="0" lang="en-US" sz="5200" u="none" cap="none" strike="noStrike">
                <a:solidFill>
                  <a:srgbClr val="FFFFFF"/>
                </a:solidFill>
                <a:latin typeface="Georgia"/>
                <a:ea typeface="Georgia"/>
                <a:cs typeface="Georgia"/>
                <a:sym typeface="Georgia"/>
              </a:rPr>
              <a:t>STRATEGY &amp;</a:t>
            </a:r>
            <a:br>
              <a:rPr b="1" i="0" lang="en-US" sz="5200" u="none" cap="none" strike="noStrike">
                <a:solidFill>
                  <a:srgbClr val="FFFFFF"/>
                </a:solidFill>
                <a:latin typeface="Georgia"/>
                <a:ea typeface="Georgia"/>
                <a:cs typeface="Georgia"/>
                <a:sym typeface="Georgia"/>
              </a:rPr>
            </a:br>
            <a:r>
              <a:rPr b="1" i="0" lang="en-US" sz="5200" u="none" cap="none" strike="noStrike">
                <a:solidFill>
                  <a:srgbClr val="FFFFFF"/>
                </a:solidFill>
                <a:latin typeface="Georgia"/>
                <a:ea typeface="Georgia"/>
                <a:cs typeface="Georgia"/>
                <a:sym typeface="Georgia"/>
              </a:rPr>
              <a:t>FOUNDATIONS</a:t>
            </a:r>
            <a:endParaRPr b="1" i="0" sz="5200" u="none" cap="none" strike="noStrike">
              <a:solidFill>
                <a:schemeClr val="dk1"/>
              </a:solidFill>
              <a:latin typeface="Calibri"/>
              <a:ea typeface="Calibri"/>
              <a:cs typeface="Calibri"/>
              <a:sym typeface="Calibri"/>
            </a:endParaRPr>
          </a:p>
        </p:txBody>
      </p:sp>
      <p:sp>
        <p:nvSpPr>
          <p:cNvPr id="96" name="Google Shape;96;p8"/>
          <p:cNvSpPr/>
          <p:nvPr/>
        </p:nvSpPr>
        <p:spPr>
          <a:xfrm>
            <a:off x="548650" y="2572251"/>
            <a:ext cx="7315200" cy="66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Target Audiences • Messaging Pillars • Marketing Funnel • Brand Voice</a:t>
            </a:r>
            <a:endParaRPr b="0" i="0" sz="2200" u="none" cap="none" strike="noStrike">
              <a:solidFill>
                <a:schemeClr val="dk1"/>
              </a:solidFill>
              <a:latin typeface="Calibri"/>
              <a:ea typeface="Calibri"/>
              <a:cs typeface="Calibri"/>
              <a:sym typeface="Calibri"/>
            </a:endParaRPr>
          </a:p>
        </p:txBody>
      </p:sp>
      <p:sp>
        <p:nvSpPr>
          <p:cNvPr id="97" name="Google Shape;97;p8"/>
          <p:cNvSpPr/>
          <p:nvPr/>
        </p:nvSpPr>
        <p:spPr>
          <a:xfrm>
            <a:off x="548640" y="3291840"/>
            <a:ext cx="1828800" cy="36576"/>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439890" y="3607440"/>
            <a:ext cx="64008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Know your audiences, align your messaging, then pick the right channel.</a:t>
            </a:r>
            <a:endParaRPr b="0" i="0" sz="14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CBD5E1"/>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2" name="Shape 102"/>
        <p:cNvGrpSpPr/>
        <p:nvPr/>
      </p:nvGrpSpPr>
      <p:grpSpPr>
        <a:xfrm>
          <a:off x="0" y="0"/>
          <a:ext cx="0" cy="0"/>
          <a:chOff x="0" y="0"/>
          <a:chExt cx="0" cy="0"/>
        </a:xfrm>
      </p:grpSpPr>
      <p:sp>
        <p:nvSpPr>
          <p:cNvPr id="103" name="Google Shape;103;p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4" name="Google Shape;104;p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6</a:t>
            </a:r>
            <a:endParaRPr b="0" i="0" sz="1000" u="none" cap="none" strike="noStrike">
              <a:solidFill>
                <a:schemeClr val="dk1"/>
              </a:solidFill>
              <a:latin typeface="Calibri"/>
              <a:ea typeface="Calibri"/>
              <a:cs typeface="Calibri"/>
              <a:sym typeface="Calibri"/>
            </a:endParaRPr>
          </a:p>
        </p:txBody>
      </p:sp>
      <p:sp>
        <p:nvSpPr>
          <p:cNvPr id="105" name="Google Shape;105;p9"/>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Target Audiences</a:t>
            </a:r>
            <a:endParaRPr b="0" i="0" sz="3600" u="none" cap="none" strike="noStrike">
              <a:solidFill>
                <a:schemeClr val="dk1"/>
              </a:solidFill>
              <a:latin typeface="Calibri"/>
              <a:ea typeface="Calibri"/>
              <a:cs typeface="Calibri"/>
              <a:sym typeface="Calibri"/>
            </a:endParaRPr>
          </a:p>
        </p:txBody>
      </p:sp>
      <p:sp>
        <p:nvSpPr>
          <p:cNvPr id="106" name="Google Shape;106;p9"/>
          <p:cNvSpPr/>
          <p:nvPr/>
        </p:nvSpPr>
        <p:spPr>
          <a:xfrm>
            <a:off x="457200" y="9144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Know who you’re talking to before you create content.</a:t>
            </a:r>
            <a:endParaRPr b="0" i="0" sz="1400" u="none" cap="none" strike="noStrike">
              <a:solidFill>
                <a:schemeClr val="dk1"/>
              </a:solidFill>
              <a:latin typeface="Calibri"/>
              <a:ea typeface="Calibri"/>
              <a:cs typeface="Calibri"/>
              <a:sym typeface="Calibri"/>
            </a:endParaRPr>
          </a:p>
        </p:txBody>
      </p:sp>
      <p:sp>
        <p:nvSpPr>
          <p:cNvPr id="107" name="Google Shape;107;p9"/>
          <p:cNvSpPr/>
          <p:nvPr/>
        </p:nvSpPr>
        <p:spPr>
          <a:xfrm>
            <a:off x="45720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457200" y="1463040"/>
            <a:ext cx="54864" cy="2926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457200" y="1463040"/>
            <a:ext cx="3840480" cy="4572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45720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PROSPECTIVE STUDENTS</a:t>
            </a:r>
            <a:endParaRPr b="0" i="0" sz="1600" u="none" cap="none" strike="noStrike">
              <a:solidFill>
                <a:schemeClr val="dk1"/>
              </a:solidFill>
              <a:latin typeface="Calibri"/>
              <a:ea typeface="Calibri"/>
              <a:cs typeface="Calibri"/>
              <a:sym typeface="Calibri"/>
            </a:endParaRPr>
          </a:p>
        </p:txBody>
      </p:sp>
      <p:sp>
        <p:nvSpPr>
          <p:cNvPr id="111" name="Google Shape;111;p9"/>
          <p:cNvSpPr/>
          <p:nvPr/>
        </p:nvSpPr>
        <p:spPr>
          <a:xfrm>
            <a:off x="64008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400"/>
              <a:buFont typeface="Arial"/>
              <a:buNone/>
            </a:pPr>
            <a:r>
              <a:rPr b="1" i="0" lang="en-US" sz="1400" u="none" cap="none" strike="noStrike">
                <a:solidFill>
                  <a:srgbClr val="0EA5E9"/>
                </a:solidFill>
                <a:latin typeface="Arial"/>
                <a:ea typeface="Arial"/>
                <a:cs typeface="Arial"/>
                <a:sym typeface="Arial"/>
              </a:rPr>
              <a:t>Seeking flexible credentials and career pathways.</a:t>
            </a:r>
            <a:endParaRPr b="0" i="0" sz="1400" u="none" cap="none" strike="noStrike">
              <a:solidFill>
                <a:schemeClr val="dk1"/>
              </a:solidFill>
              <a:latin typeface="Calibri"/>
              <a:ea typeface="Calibri"/>
              <a:cs typeface="Calibri"/>
              <a:sym typeface="Calibri"/>
            </a:endParaRPr>
          </a:p>
        </p:txBody>
      </p:sp>
      <p:sp>
        <p:nvSpPr>
          <p:cNvPr id="112" name="Google Shape;112;p9"/>
          <p:cNvSpPr/>
          <p:nvPr/>
        </p:nvSpPr>
        <p:spPr>
          <a:xfrm>
            <a:off x="64008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COBE OFFERS: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Stackable certificates, industry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exposure, career fairs, flexible online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micro-credentials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13" name="Google Shape;113;p9"/>
          <p:cNvSpPr/>
          <p:nvPr/>
        </p:nvSpPr>
        <p:spPr>
          <a:xfrm>
            <a:off x="64008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CURRENT STUDENTS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114" name="Google Shape;114;p9"/>
          <p:cNvSpPr/>
          <p:nvPr/>
        </p:nvSpPr>
        <p:spPr>
          <a:xfrm>
            <a:off x="484632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4846320" y="1463040"/>
            <a:ext cx="54864" cy="29260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4846320" y="1463040"/>
            <a:ext cx="3840480" cy="45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484632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EMPLOYERS &amp; PARTNERS</a:t>
            </a:r>
            <a:endParaRPr b="0" i="0" sz="1600" u="none" cap="none" strike="noStrike">
              <a:solidFill>
                <a:schemeClr val="dk1"/>
              </a:solidFill>
              <a:latin typeface="Calibri"/>
              <a:ea typeface="Calibri"/>
              <a:cs typeface="Calibri"/>
              <a:sym typeface="Calibri"/>
            </a:endParaRPr>
          </a:p>
        </p:txBody>
      </p:sp>
      <p:sp>
        <p:nvSpPr>
          <p:cNvPr id="118" name="Google Shape;118;p9"/>
          <p:cNvSpPr/>
          <p:nvPr/>
        </p:nvSpPr>
        <p:spPr>
          <a:xfrm>
            <a:off x="502920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400"/>
              <a:buFont typeface="Arial"/>
              <a:buNone/>
            </a:pPr>
            <a:r>
              <a:rPr b="1" i="0" lang="en-US" sz="1400" u="none" cap="none" strike="noStrike">
                <a:solidFill>
                  <a:srgbClr val="F97316"/>
                </a:solidFill>
                <a:latin typeface="Arial"/>
                <a:ea typeface="Arial"/>
                <a:cs typeface="Arial"/>
                <a:sym typeface="Arial"/>
              </a:rPr>
              <a:t>Need talent pipelines and training solutions.</a:t>
            </a:r>
            <a:endParaRPr b="0" i="0" sz="1400" u="none" cap="none" strike="noStrike">
              <a:solidFill>
                <a:schemeClr val="dk1"/>
              </a:solidFill>
              <a:latin typeface="Calibri"/>
              <a:ea typeface="Calibri"/>
              <a:cs typeface="Calibri"/>
              <a:sym typeface="Calibri"/>
            </a:endParaRPr>
          </a:p>
        </p:txBody>
      </p:sp>
      <p:sp>
        <p:nvSpPr>
          <p:cNvPr id="119" name="Google Shape;119;p9"/>
          <p:cNvSpPr/>
          <p:nvPr/>
        </p:nvSpPr>
        <p:spPr>
          <a:xfrm>
            <a:off x="502920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COBE OFFERS: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Career fairs, mixers, paid project-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based interns, free/paid training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bundles for employee upskilling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20" name="Google Shape;120;p9"/>
          <p:cNvSpPr/>
          <p:nvPr/>
        </p:nvSpPr>
        <p:spPr>
          <a:xfrm>
            <a:off x="502920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ALUMNI &amp; EMPLOYERS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4" name="Shape 124"/>
        <p:cNvGrpSpPr/>
        <p:nvPr/>
      </p:nvGrpSpPr>
      <p:grpSpPr>
        <a:xfrm>
          <a:off x="0" y="0"/>
          <a:ext cx="0" cy="0"/>
          <a:chOff x="0" y="0"/>
          <a:chExt cx="0" cy="0"/>
        </a:xfrm>
      </p:grpSpPr>
      <p:sp>
        <p:nvSpPr>
          <p:cNvPr id="125" name="Google Shape;125;p10"/>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SECTION 01</a:t>
            </a:r>
            <a:endParaRPr b="0" i="0" sz="1100" u="none" cap="none" strike="noStrike">
              <a:solidFill>
                <a:schemeClr val="dk1"/>
              </a:solidFill>
              <a:latin typeface="Calibri"/>
              <a:ea typeface="Calibri"/>
              <a:cs typeface="Calibri"/>
              <a:sym typeface="Calibri"/>
            </a:endParaRPr>
          </a:p>
        </p:txBody>
      </p:sp>
      <p:sp>
        <p:nvSpPr>
          <p:cNvPr id="127" name="Google Shape;127;p1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8" name="Google Shape;128;p1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7</a:t>
            </a:r>
            <a:endParaRPr b="0" i="0" sz="1000" u="none" cap="none" strike="noStrike">
              <a:solidFill>
                <a:schemeClr val="dk1"/>
              </a:solidFill>
              <a:latin typeface="Calibri"/>
              <a:ea typeface="Calibri"/>
              <a:cs typeface="Calibri"/>
              <a:sym typeface="Calibri"/>
            </a:endParaRPr>
          </a:p>
        </p:txBody>
      </p:sp>
      <p:sp>
        <p:nvSpPr>
          <p:cNvPr id="129" name="Google Shape;129;p10"/>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Core Messaging Pillars</a:t>
            </a:r>
            <a:endParaRPr b="0" i="0" sz="3000" u="none" cap="none" strike="noStrike">
              <a:solidFill>
                <a:schemeClr val="dk1"/>
              </a:solidFill>
              <a:latin typeface="Calibri"/>
              <a:ea typeface="Calibri"/>
              <a:cs typeface="Calibri"/>
              <a:sym typeface="Calibri"/>
            </a:endParaRPr>
          </a:p>
        </p:txBody>
      </p:sp>
      <p:sp>
        <p:nvSpPr>
          <p:cNvPr id="130" name="Google Shape;130;p10"/>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Every piece of content should connect to at least one of these themes.</a:t>
            </a:r>
            <a:endParaRPr b="0" i="0" sz="1400" u="none" cap="none" strike="noStrike">
              <a:solidFill>
                <a:schemeClr val="dk1"/>
              </a:solidFill>
              <a:latin typeface="Calibri"/>
              <a:ea typeface="Calibri"/>
              <a:cs typeface="Calibri"/>
              <a:sym typeface="Calibri"/>
            </a:endParaRPr>
          </a:p>
        </p:txBody>
      </p:sp>
      <p:sp>
        <p:nvSpPr>
          <p:cNvPr id="131" name="Google Shape;131;p10"/>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135" name="Google Shape;135;p10"/>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Career-Readiness &amp; Leadership</a:t>
            </a:r>
            <a:endParaRPr b="0" i="0" sz="1300" u="none" cap="none" strike="noStrike">
              <a:solidFill>
                <a:schemeClr val="dk1"/>
              </a:solidFill>
              <a:latin typeface="Calibri"/>
              <a:ea typeface="Calibri"/>
              <a:cs typeface="Calibri"/>
              <a:sym typeface="Calibri"/>
            </a:endParaRPr>
          </a:p>
        </p:txBody>
      </p:sp>
      <p:sp>
        <p:nvSpPr>
          <p:cNvPr id="136" name="Google Shape;136;p10"/>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Students lead real projects that deliver measurable value for host organizations.</a:t>
            </a:r>
            <a:endParaRPr b="0" i="0" sz="1000" u="none" cap="none" strike="noStrike">
              <a:solidFill>
                <a:schemeClr val="dk1"/>
              </a:solidFill>
              <a:latin typeface="Calibri"/>
              <a:ea typeface="Calibri"/>
              <a:cs typeface="Calibri"/>
              <a:sym typeface="Calibri"/>
            </a:endParaRPr>
          </a:p>
        </p:txBody>
      </p:sp>
      <p:sp>
        <p:nvSpPr>
          <p:cNvPr id="137" name="Google Shape;137;p10"/>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141" name="Google Shape;141;p10"/>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Flexible Learning Formats</a:t>
            </a:r>
            <a:endParaRPr b="0" i="0" sz="1300" u="none" cap="none" strike="noStrike">
              <a:solidFill>
                <a:schemeClr val="dk1"/>
              </a:solidFill>
              <a:latin typeface="Calibri"/>
              <a:ea typeface="Calibri"/>
              <a:cs typeface="Calibri"/>
              <a:sym typeface="Calibri"/>
            </a:endParaRPr>
          </a:p>
        </p:txBody>
      </p:sp>
      <p:sp>
        <p:nvSpPr>
          <p:cNvPr id="142" name="Google Shape;142;p10"/>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Complete modules in under 60 minutes. Add one in-person leadership workshop to deepen skills.</a:t>
            </a:r>
            <a:endParaRPr b="0" i="0" sz="1000" u="none" cap="none" strike="noStrike">
              <a:solidFill>
                <a:schemeClr val="dk1"/>
              </a:solidFill>
              <a:latin typeface="Calibri"/>
              <a:ea typeface="Calibri"/>
              <a:cs typeface="Calibri"/>
              <a:sym typeface="Calibri"/>
            </a:endParaRPr>
          </a:p>
        </p:txBody>
      </p:sp>
      <p:sp>
        <p:nvSpPr>
          <p:cNvPr id="143" name="Google Shape;143;p10"/>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147" name="Google Shape;147;p10"/>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Employer Partnership &amp; Pipeline</a:t>
            </a:r>
            <a:endParaRPr b="0" i="0" sz="1300" u="none" cap="none" strike="noStrike">
              <a:solidFill>
                <a:schemeClr val="dk1"/>
              </a:solidFill>
              <a:latin typeface="Calibri"/>
              <a:ea typeface="Calibri"/>
              <a:cs typeface="Calibri"/>
              <a:sym typeface="Calibri"/>
            </a:endParaRPr>
          </a:p>
        </p:txBody>
      </p:sp>
      <p:sp>
        <p:nvSpPr>
          <p:cNvPr id="148" name="Google Shape;148;p10"/>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Meet COBE students at targeted mixers before major fairs. Bundle training to accelerate team readiness.</a:t>
            </a:r>
            <a:endParaRPr b="0" i="0" sz="1000" u="none" cap="none" strike="noStrike">
              <a:solidFill>
                <a:schemeClr val="dk1"/>
              </a:solidFill>
              <a:latin typeface="Calibri"/>
              <a:ea typeface="Calibri"/>
              <a:cs typeface="Calibri"/>
              <a:sym typeface="Calibri"/>
            </a:endParaRPr>
          </a:p>
        </p:txBody>
      </p:sp>
      <p:sp>
        <p:nvSpPr>
          <p:cNvPr id="149" name="Google Shape;149;p10"/>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150" name="Google Shape;150;p10"/>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Accessible Collaboration</a:t>
            </a:r>
            <a:endParaRPr b="0" i="0" sz="1300" u="none" cap="none" strike="noStrike">
              <a:solidFill>
                <a:schemeClr val="dk1"/>
              </a:solidFill>
              <a:latin typeface="Calibri"/>
              <a:ea typeface="Calibri"/>
              <a:cs typeface="Calibri"/>
              <a:sym typeface="Calibri"/>
            </a:endParaRPr>
          </a:p>
        </p:txBody>
      </p:sp>
      <p:sp>
        <p:nvSpPr>
          <p:cNvPr id="151" name="Google Shape;151;p10"/>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Submit requests two weeks ahead to cobe-info@boisestate.edu with all assets. Clear process, fast results.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5" name="Shape 155"/>
        <p:cNvGrpSpPr/>
        <p:nvPr/>
      </p:nvGrpSpPr>
      <p:grpSpPr>
        <a:xfrm>
          <a:off x="0" y="0"/>
          <a:ext cx="0" cy="0"/>
          <a:chOff x="0" y="0"/>
          <a:chExt cx="0" cy="0"/>
        </a:xfrm>
      </p:grpSpPr>
      <p:sp>
        <p:nvSpPr>
          <p:cNvPr id="156" name="Google Shape;156;p1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57" name="Google Shape;157;p1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8</a:t>
            </a:r>
            <a:endParaRPr b="0" i="0" sz="1000" u="none" cap="none" strike="noStrike">
              <a:solidFill>
                <a:schemeClr val="dk1"/>
              </a:solidFill>
              <a:latin typeface="Calibri"/>
              <a:ea typeface="Calibri"/>
              <a:cs typeface="Calibri"/>
              <a:sym typeface="Calibri"/>
            </a:endParaRPr>
          </a:p>
        </p:txBody>
      </p:sp>
      <p:sp>
        <p:nvSpPr>
          <p:cNvPr id="158" name="Google Shape;158;p11"/>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The Marketing Funnel</a:t>
            </a:r>
            <a:endParaRPr b="0" i="0" sz="3600" u="none" cap="none" strike="noStrike">
              <a:solidFill>
                <a:schemeClr val="dk1"/>
              </a:solidFill>
              <a:latin typeface="Calibri"/>
              <a:ea typeface="Calibri"/>
              <a:cs typeface="Calibri"/>
              <a:sym typeface="Calibri"/>
            </a:endParaRPr>
          </a:p>
        </p:txBody>
      </p:sp>
      <p:sp>
        <p:nvSpPr>
          <p:cNvPr id="159" name="Google Shape;159;p11"/>
          <p:cNvSpPr/>
          <p:nvPr/>
        </p:nvSpPr>
        <p:spPr>
          <a:xfrm>
            <a:off x="457200" y="9144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Match your goal to the right funnel stage and channel.</a:t>
            </a:r>
            <a:endParaRPr b="0" i="0" sz="1400" u="none" cap="none" strike="noStrike">
              <a:solidFill>
                <a:schemeClr val="dk1"/>
              </a:solidFill>
              <a:latin typeface="Calibri"/>
              <a:ea typeface="Calibri"/>
              <a:cs typeface="Calibri"/>
              <a:sym typeface="Calibri"/>
            </a:endParaRPr>
          </a:p>
        </p:txBody>
      </p:sp>
      <p:sp>
        <p:nvSpPr>
          <p:cNvPr id="160" name="Google Shape;160;p11"/>
          <p:cNvSpPr/>
          <p:nvPr/>
        </p:nvSpPr>
        <p:spPr>
          <a:xfrm>
            <a:off x="45720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a:off x="457200" y="1463040"/>
            <a:ext cx="54864" cy="2926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457200" y="1463040"/>
            <a:ext cx="3840480" cy="4572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45720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TOP OF FUNNEL</a:t>
            </a:r>
            <a:endParaRPr b="0" i="0" sz="1600" u="none" cap="none" strike="noStrike">
              <a:solidFill>
                <a:schemeClr val="dk1"/>
              </a:solidFill>
              <a:latin typeface="Calibri"/>
              <a:ea typeface="Calibri"/>
              <a:cs typeface="Calibri"/>
              <a:sym typeface="Calibri"/>
            </a:endParaRPr>
          </a:p>
        </p:txBody>
      </p:sp>
      <p:sp>
        <p:nvSpPr>
          <p:cNvPr id="164" name="Google Shape;164;p11"/>
          <p:cNvSpPr/>
          <p:nvPr/>
        </p:nvSpPr>
        <p:spPr>
          <a:xfrm>
            <a:off x="64008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400"/>
              <a:buFont typeface="Arial"/>
              <a:buNone/>
            </a:pPr>
            <a:r>
              <a:rPr b="1" i="0" lang="en-US" sz="1400" u="none" cap="none" strike="noStrike">
                <a:solidFill>
                  <a:srgbClr val="0EA5E9"/>
                </a:solidFill>
                <a:latin typeface="Arial"/>
                <a:ea typeface="Arial"/>
                <a:cs typeface="Arial"/>
                <a:sym typeface="Arial"/>
              </a:rPr>
              <a:t>Awareness</a:t>
            </a:r>
            <a:endParaRPr b="0" i="0" sz="1400" u="none" cap="none" strike="noStrike">
              <a:solidFill>
                <a:schemeClr val="dk1"/>
              </a:solidFill>
              <a:latin typeface="Calibri"/>
              <a:ea typeface="Calibri"/>
              <a:cs typeface="Calibri"/>
              <a:sym typeface="Calibri"/>
            </a:endParaRPr>
          </a:p>
        </p:txBody>
      </p:sp>
      <p:sp>
        <p:nvSpPr>
          <p:cNvPr id="165" name="Google Shape;165;p11"/>
          <p:cNvSpPr/>
          <p:nvPr/>
        </p:nvSpPr>
        <p:spPr>
          <a:xfrm>
            <a:off x="64008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CHANNELS: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Instagram Reels &amp; Posts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MBEB Digital Signage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Press Releases &amp; PR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66" name="Google Shape;166;p11"/>
          <p:cNvSpPr/>
          <p:nvPr/>
        </p:nvSpPr>
        <p:spPr>
          <a:xfrm>
            <a:off x="64008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MID FUNNEL: Website, Landing Pages,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167" name="Google Shape;167;p11"/>
          <p:cNvSpPr/>
          <p:nvPr/>
        </p:nvSpPr>
        <p:spPr>
          <a:xfrm>
            <a:off x="484632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a:off x="4846320" y="1463040"/>
            <a:ext cx="54864" cy="29260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a:off x="4846320" y="1463040"/>
            <a:ext cx="3840480" cy="45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484632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BOTTOM OF FUNNEL</a:t>
            </a:r>
            <a:endParaRPr b="0" i="0" sz="1600" u="none" cap="none" strike="noStrike">
              <a:solidFill>
                <a:schemeClr val="dk1"/>
              </a:solidFill>
              <a:latin typeface="Calibri"/>
              <a:ea typeface="Calibri"/>
              <a:cs typeface="Calibri"/>
              <a:sym typeface="Calibri"/>
            </a:endParaRPr>
          </a:p>
        </p:txBody>
      </p:sp>
      <p:sp>
        <p:nvSpPr>
          <p:cNvPr id="171" name="Google Shape;171;p11"/>
          <p:cNvSpPr/>
          <p:nvPr/>
        </p:nvSpPr>
        <p:spPr>
          <a:xfrm>
            <a:off x="502920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400"/>
              <a:buFont typeface="Arial"/>
              <a:buNone/>
            </a:pPr>
            <a:r>
              <a:rPr b="1" i="0" lang="en-US" sz="1400" u="none" cap="none" strike="noStrike">
                <a:solidFill>
                  <a:srgbClr val="F97316"/>
                </a:solidFill>
                <a:latin typeface="Arial"/>
                <a:ea typeface="Arial"/>
                <a:cs typeface="Arial"/>
                <a:sym typeface="Arial"/>
              </a:rPr>
              <a:t>Conversion</a:t>
            </a:r>
            <a:endParaRPr b="0" i="0" sz="1400" u="none" cap="none" strike="noStrike">
              <a:solidFill>
                <a:schemeClr val="dk1"/>
              </a:solidFill>
              <a:latin typeface="Calibri"/>
              <a:ea typeface="Calibri"/>
              <a:cs typeface="Calibri"/>
              <a:sym typeface="Calibri"/>
            </a:endParaRPr>
          </a:p>
        </p:txBody>
      </p:sp>
      <p:sp>
        <p:nvSpPr>
          <p:cNvPr id="172" name="Google Shape;172;p11"/>
          <p:cNvSpPr/>
          <p:nvPr/>
        </p:nvSpPr>
        <p:spPr>
          <a:xfrm>
            <a:off x="502920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CHANNELS: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Email Marketing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Direct Outreach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Event Registration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73" name="Google Shape;173;p11"/>
          <p:cNvSpPr/>
          <p:nvPr/>
        </p:nvSpPr>
        <p:spPr>
          <a:xfrm>
            <a:off x="502920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Instagram Stories, LinkedIn Articles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78" name="Shape 178"/>
        <p:cNvGrpSpPr/>
        <p:nvPr/>
      </p:nvGrpSpPr>
      <p:grpSpPr>
        <a:xfrm>
          <a:off x="0" y="0"/>
          <a:ext cx="0" cy="0"/>
          <a:chOff x="0" y="0"/>
          <a:chExt cx="0" cy="0"/>
        </a:xfrm>
      </p:grpSpPr>
      <p:sp>
        <p:nvSpPr>
          <p:cNvPr id="179" name="Google Shape;179;p12"/>
          <p:cNvSpPr/>
          <p:nvPr/>
        </p:nvSpPr>
        <p:spPr>
          <a:xfrm>
            <a:off x="0" y="0"/>
            <a:ext cx="9144000" cy="5143500"/>
          </a:xfrm>
          <a:prstGeom prst="rect">
            <a:avLst/>
          </a:prstGeom>
          <a:solidFill>
            <a:srgbClr val="0C4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2"/>
          <p:cNvSpPr/>
          <p:nvPr/>
        </p:nvSpPr>
        <p:spPr>
          <a:xfrm>
            <a:off x="0" y="0"/>
            <a:ext cx="109728" cy="51435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
          <p:cNvSpPr/>
          <p:nvPr/>
        </p:nvSpPr>
        <p:spPr>
          <a:xfrm>
            <a:off x="548640" y="9144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800"/>
              <a:buFont typeface="Arial"/>
              <a:buNone/>
            </a:pPr>
            <a:r>
              <a:rPr b="1" i="0" lang="en-US" sz="1800" u="none" cap="none" strike="noStrike">
                <a:solidFill>
                  <a:srgbClr val="0EA5E9"/>
                </a:solidFill>
                <a:latin typeface="Arial"/>
                <a:ea typeface="Arial"/>
                <a:cs typeface="Arial"/>
                <a:sym typeface="Arial"/>
              </a:rPr>
              <a:t>PATH 1</a:t>
            </a:r>
            <a:endParaRPr b="0" i="0" sz="1800" u="none" cap="none" strike="noStrike">
              <a:solidFill>
                <a:schemeClr val="dk1"/>
              </a:solidFill>
              <a:latin typeface="Calibri"/>
              <a:ea typeface="Calibri"/>
              <a:cs typeface="Calibri"/>
              <a:sym typeface="Calibri"/>
            </a:endParaRPr>
          </a:p>
        </p:txBody>
      </p:sp>
      <p:sp>
        <p:nvSpPr>
          <p:cNvPr id="182" name="Google Shape;182;p12"/>
          <p:cNvSpPr/>
          <p:nvPr/>
        </p:nvSpPr>
        <p:spPr>
          <a:xfrm>
            <a:off x="548640" y="1463040"/>
            <a:ext cx="7315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i="0" lang="en-US" sz="5200" u="none" cap="none" strike="noStrike">
                <a:solidFill>
                  <a:srgbClr val="FFFFFF"/>
                </a:solidFill>
                <a:latin typeface="Georgia"/>
                <a:ea typeface="Georgia"/>
                <a:cs typeface="Georgia"/>
                <a:sym typeface="Georgia"/>
              </a:rPr>
              <a:t>HANDS-OFF</a:t>
            </a:r>
            <a:endParaRPr b="0" i="0" sz="5200" u="none" cap="none" strike="noStrike">
              <a:solidFill>
                <a:schemeClr val="dk1"/>
              </a:solidFill>
              <a:latin typeface="Calibri"/>
              <a:ea typeface="Calibri"/>
              <a:cs typeface="Calibri"/>
              <a:sym typeface="Calibri"/>
            </a:endParaRPr>
          </a:p>
        </p:txBody>
      </p:sp>
      <p:sp>
        <p:nvSpPr>
          <p:cNvPr id="183" name="Google Shape;183;p12"/>
          <p:cNvSpPr/>
          <p:nvPr/>
        </p:nvSpPr>
        <p:spPr>
          <a:xfrm>
            <a:off x="548640" y="256032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Concierge Service</a:t>
            </a:r>
            <a:endParaRPr b="0" i="0" sz="2200" u="none" cap="none" strike="noStrike">
              <a:solidFill>
                <a:schemeClr val="dk1"/>
              </a:solidFill>
              <a:latin typeface="Calibri"/>
              <a:ea typeface="Calibri"/>
              <a:cs typeface="Calibri"/>
              <a:sym typeface="Calibri"/>
            </a:endParaRPr>
          </a:p>
        </p:txBody>
      </p:sp>
      <p:sp>
        <p:nvSpPr>
          <p:cNvPr id="184" name="Google Shape;184;p12"/>
          <p:cNvSpPr/>
          <p:nvPr/>
        </p:nvSpPr>
        <p:spPr>
          <a:xfrm>
            <a:off x="548640" y="3291840"/>
            <a:ext cx="1828800" cy="36576"/>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
          <p:cNvSpPr/>
          <p:nvPr/>
        </p:nvSpPr>
        <p:spPr>
          <a:xfrm>
            <a:off x="548640" y="3520440"/>
            <a:ext cx="64008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You provide the basics. We handle everything else.</a:t>
            </a:r>
            <a:endParaRPr b="0" i="0" sz="14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Start here if you're new to COBE Marketing.</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0" name="Shape 190"/>
        <p:cNvGrpSpPr/>
        <p:nvPr/>
      </p:nvGrpSpPr>
      <p:grpSpPr>
        <a:xfrm>
          <a:off x="0" y="0"/>
          <a:ext cx="0" cy="0"/>
          <a:chOff x="0" y="0"/>
          <a:chExt cx="0" cy="0"/>
        </a:xfrm>
      </p:grpSpPr>
      <p:sp>
        <p:nvSpPr>
          <p:cNvPr id="191" name="Google Shape;191;p13"/>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193" name="Google Shape;193;p1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94" name="Google Shape;194;p1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10</a:t>
            </a:r>
            <a:endParaRPr b="0" i="0" sz="1000" u="none" cap="none" strike="noStrike">
              <a:solidFill>
                <a:schemeClr val="dk1"/>
              </a:solidFill>
              <a:latin typeface="Calibri"/>
              <a:ea typeface="Calibri"/>
              <a:cs typeface="Calibri"/>
              <a:sym typeface="Calibri"/>
            </a:endParaRPr>
          </a:p>
        </p:txBody>
      </p:sp>
      <p:sp>
        <p:nvSpPr>
          <p:cNvPr id="195" name="Google Shape;195;p13"/>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What Is Hands-Off?</a:t>
            </a:r>
            <a:endParaRPr b="0" i="0" sz="3200" u="none" cap="none" strike="noStrike">
              <a:solidFill>
                <a:schemeClr val="dk1"/>
              </a:solidFill>
              <a:latin typeface="Calibri"/>
              <a:ea typeface="Calibri"/>
              <a:cs typeface="Calibri"/>
              <a:sym typeface="Calibri"/>
            </a:endParaRPr>
          </a:p>
        </p:txBody>
      </p:sp>
      <p:sp>
        <p:nvSpPr>
          <p:cNvPr id="196" name="Google Shape;196;p13"/>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The fastest way to get your program promoted across COBE channels.</a:t>
            </a:r>
            <a:endParaRPr b="0" i="0" sz="1400" u="none" cap="none" strike="noStrike">
              <a:solidFill>
                <a:schemeClr val="dk1"/>
              </a:solidFill>
              <a:latin typeface="Calibri"/>
              <a:ea typeface="Calibri"/>
              <a:cs typeface="Calibri"/>
              <a:sym typeface="Calibri"/>
            </a:endParaRPr>
          </a:p>
        </p:txBody>
      </p:sp>
      <p:sp>
        <p:nvSpPr>
          <p:cNvPr id="197" name="Google Shape;197;p13"/>
          <p:cNvSpPr/>
          <p:nvPr/>
        </p:nvSpPr>
        <p:spPr>
          <a:xfrm>
            <a:off x="45720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p:nvPr/>
        </p:nvSpPr>
        <p:spPr>
          <a:xfrm>
            <a:off x="457200" y="1371600"/>
            <a:ext cx="54864" cy="24688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3"/>
          <p:cNvSpPr/>
          <p:nvPr/>
        </p:nvSpPr>
        <p:spPr>
          <a:xfrm>
            <a:off x="68580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300"/>
              <a:buFont typeface="Arial"/>
              <a:buNone/>
            </a:pPr>
            <a:r>
              <a:rPr b="1" i="0" lang="en-US" sz="1300" u="none" cap="none" strike="noStrike">
                <a:solidFill>
                  <a:srgbClr val="0EA5E9"/>
                </a:solidFill>
                <a:latin typeface="Arial"/>
                <a:ea typeface="Arial"/>
                <a:cs typeface="Arial"/>
                <a:sym typeface="Arial"/>
              </a:rPr>
              <a:t>WHAT YOU PROVIDE</a:t>
            </a:r>
            <a:endParaRPr b="0" i="0" sz="1300" u="none" cap="none" strike="noStrike">
              <a:solidFill>
                <a:schemeClr val="dk1"/>
              </a:solidFill>
              <a:latin typeface="Calibri"/>
              <a:ea typeface="Calibri"/>
              <a:cs typeface="Calibri"/>
              <a:sym typeface="Calibri"/>
            </a:endParaRPr>
          </a:p>
        </p:txBody>
      </p:sp>
      <p:sp>
        <p:nvSpPr>
          <p:cNvPr id="200" name="Google Shape;200;p13"/>
          <p:cNvSpPr/>
          <p:nvPr/>
        </p:nvSpPr>
        <p:spPr>
          <a:xfrm>
            <a:off x="68580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WHO is the audience? (students, employers, alumni)</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WHAT is the event/program/deadline?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WHEN does it happen? (dates + times)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WHERE is it? (location or online link)</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PHOTOS or logos (if available)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REGISTRATION LINK or CTA destination</a:t>
            </a:r>
            <a:endParaRPr b="0" i="0" sz="1100" u="none" cap="none" strike="noStrike">
              <a:solidFill>
                <a:schemeClr val="dk1"/>
              </a:solidFill>
              <a:latin typeface="Calibri"/>
              <a:ea typeface="Calibri"/>
              <a:cs typeface="Calibri"/>
              <a:sym typeface="Calibri"/>
            </a:endParaRPr>
          </a:p>
        </p:txBody>
      </p:sp>
      <p:sp>
        <p:nvSpPr>
          <p:cNvPr id="201" name="Google Shape;201;p13"/>
          <p:cNvSpPr/>
          <p:nvPr/>
        </p:nvSpPr>
        <p:spPr>
          <a:xfrm>
            <a:off x="484632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3"/>
          <p:cNvSpPr/>
          <p:nvPr/>
        </p:nvSpPr>
        <p:spPr>
          <a:xfrm>
            <a:off x="4846320" y="1371600"/>
            <a:ext cx="54864" cy="24688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3"/>
          <p:cNvSpPr/>
          <p:nvPr/>
        </p:nvSpPr>
        <p:spPr>
          <a:xfrm>
            <a:off x="507492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WHAT WE HANDLE</a:t>
            </a:r>
            <a:endParaRPr b="0" i="0" sz="1300" u="none" cap="none" strike="noStrike">
              <a:solidFill>
                <a:schemeClr val="dk1"/>
              </a:solidFill>
              <a:latin typeface="Calibri"/>
              <a:ea typeface="Calibri"/>
              <a:cs typeface="Calibri"/>
              <a:sym typeface="Calibri"/>
            </a:endParaRPr>
          </a:p>
        </p:txBody>
      </p:sp>
      <p:sp>
        <p:nvSpPr>
          <p:cNvPr id="204" name="Google Shape;204;p13"/>
          <p:cNvSpPr/>
          <p:nvPr/>
        </p:nvSpPr>
        <p:spPr>
          <a:xfrm>
            <a:off x="507492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Write compelling copy + captions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Design on-brand graphics (all sizes)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Schedule across appropriate channels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Manage approvals with COBE Marketing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Publish to social, newsletter, screens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Track performance + share results</a:t>
            </a:r>
            <a:endParaRPr b="0" i="0" sz="1100" u="none" cap="none" strike="noStrike">
              <a:solidFill>
                <a:schemeClr val="dk1"/>
              </a:solidFill>
              <a:latin typeface="Calibri"/>
              <a:ea typeface="Calibri"/>
              <a:cs typeface="Calibri"/>
              <a:sym typeface="Calibri"/>
            </a:endParaRPr>
          </a:p>
        </p:txBody>
      </p:sp>
      <p:sp>
        <p:nvSpPr>
          <p:cNvPr id="205" name="Google Shape;205;p13"/>
          <p:cNvSpPr/>
          <p:nvPr/>
        </p:nvSpPr>
        <p:spPr>
          <a:xfrm>
            <a:off x="457200" y="4023360"/>
            <a:ext cx="8229600" cy="502920"/>
          </a:xfrm>
          <a:prstGeom prst="rect">
            <a:avLst/>
          </a:prstGeom>
          <a:solidFill>
            <a:srgbClr val="FFF7ED"/>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
          <p:cNvSpPr/>
          <p:nvPr/>
        </p:nvSpPr>
        <p:spPr>
          <a:xfrm>
            <a:off x="640080" y="4069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LEAD TIME:  </a:t>
            </a:r>
            <a:r>
              <a:rPr b="0" i="0" lang="en-US" sz="1200" u="none" cap="none" strike="noStrike">
                <a:solidFill>
                  <a:srgbClr val="334155"/>
                </a:solidFill>
                <a:latin typeface="Arial"/>
                <a:ea typeface="Arial"/>
                <a:cs typeface="Arial"/>
                <a:sym typeface="Arial"/>
              </a:rPr>
              <a:t>Submit requests at least 10 business days before your target date. Events/fairs need 3-6 weeks.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1" name="Shape 211"/>
        <p:cNvGrpSpPr/>
        <p:nvPr/>
      </p:nvGrpSpPr>
      <p:grpSpPr>
        <a:xfrm>
          <a:off x="0" y="0"/>
          <a:ext cx="0" cy="0"/>
          <a:chOff x="0" y="0"/>
          <a:chExt cx="0" cy="0"/>
        </a:xfrm>
      </p:grpSpPr>
      <p:sp>
        <p:nvSpPr>
          <p:cNvPr id="212" name="Google Shape;212;p14"/>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214" name="Google Shape;214;p1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15" name="Google Shape;215;p1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11</a:t>
            </a:r>
            <a:endParaRPr b="0" i="0" sz="1000" u="none" cap="none" strike="noStrike">
              <a:solidFill>
                <a:schemeClr val="dk1"/>
              </a:solidFill>
              <a:latin typeface="Calibri"/>
              <a:ea typeface="Calibri"/>
              <a:cs typeface="Calibri"/>
              <a:sym typeface="Calibri"/>
            </a:endParaRPr>
          </a:p>
        </p:txBody>
      </p:sp>
      <p:sp>
        <p:nvSpPr>
          <p:cNvPr id="216" name="Google Shape;216;p1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Hands-Off Promotion Workflow</a:t>
            </a:r>
            <a:endParaRPr b="0" i="0" sz="3000" u="none" cap="none" strike="noStrike">
              <a:solidFill>
                <a:schemeClr val="dk1"/>
              </a:solidFill>
              <a:latin typeface="Calibri"/>
              <a:ea typeface="Calibri"/>
              <a:cs typeface="Calibri"/>
              <a:sym typeface="Calibri"/>
            </a:endParaRPr>
          </a:p>
        </p:txBody>
      </p:sp>
      <p:sp>
        <p:nvSpPr>
          <p:cNvPr id="217" name="Google Shape;217;p14"/>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From request to results in 7 steps.</a:t>
            </a:r>
            <a:endParaRPr b="0" i="0" sz="1400" u="none" cap="none" strike="noStrike">
              <a:solidFill>
                <a:schemeClr val="dk1"/>
              </a:solidFill>
              <a:latin typeface="Calibri"/>
              <a:ea typeface="Calibri"/>
              <a:cs typeface="Calibri"/>
              <a:sym typeface="Calibri"/>
            </a:endParaRPr>
          </a:p>
        </p:txBody>
      </p:sp>
      <p:sp>
        <p:nvSpPr>
          <p:cNvPr id="218" name="Google Shape;218;p14"/>
          <p:cNvSpPr/>
          <p:nvPr/>
        </p:nvSpPr>
        <p:spPr>
          <a:xfrm>
            <a:off x="457200" y="13533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457200" y="13533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220" name="Google Shape;220;p14"/>
          <p:cNvSpPr/>
          <p:nvPr/>
        </p:nvSpPr>
        <p:spPr>
          <a:xfrm>
            <a:off x="1005840" y="12801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Send Request Email</a:t>
            </a:r>
            <a:endParaRPr b="0" i="0" sz="1300" u="none" cap="none" strike="noStrike">
              <a:solidFill>
                <a:schemeClr val="dk1"/>
              </a:solidFill>
              <a:latin typeface="Calibri"/>
              <a:ea typeface="Calibri"/>
              <a:cs typeface="Calibri"/>
              <a:sym typeface="Calibri"/>
            </a:endParaRPr>
          </a:p>
        </p:txBody>
      </p:sp>
      <p:sp>
        <p:nvSpPr>
          <p:cNvPr id="221" name="Google Shape;221;p14"/>
          <p:cNvSpPr/>
          <p:nvPr/>
        </p:nvSpPr>
        <p:spPr>
          <a:xfrm>
            <a:off x="1005840" y="15544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Email cobe-info@boisestate.edu with required subject format, event details, and any assets you have.</a:t>
            </a:r>
            <a:endParaRPr b="0" i="0" sz="1000" u="none" cap="none" strike="noStrike">
              <a:solidFill>
                <a:schemeClr val="dk1"/>
              </a:solidFill>
              <a:latin typeface="Calibri"/>
              <a:ea typeface="Calibri"/>
              <a:cs typeface="Calibri"/>
              <a:sym typeface="Calibri"/>
            </a:endParaRPr>
          </a:p>
        </p:txBody>
      </p:sp>
      <p:sp>
        <p:nvSpPr>
          <p:cNvPr id="222" name="Google Shape;222;p14"/>
          <p:cNvSpPr/>
          <p:nvPr/>
        </p:nvSpPr>
        <p:spPr>
          <a:xfrm>
            <a:off x="457200" y="22677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457200" y="2267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224" name="Google Shape;224;p14"/>
          <p:cNvSpPr/>
          <p:nvPr/>
        </p:nvSpPr>
        <p:spPr>
          <a:xfrm>
            <a:off x="1005840" y="2194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Marketing Confirms</a:t>
            </a:r>
            <a:endParaRPr b="0" i="0" sz="1300" u="none" cap="none" strike="noStrike">
              <a:solidFill>
                <a:schemeClr val="dk1"/>
              </a:solidFill>
              <a:latin typeface="Calibri"/>
              <a:ea typeface="Calibri"/>
              <a:cs typeface="Calibri"/>
              <a:sym typeface="Calibri"/>
            </a:endParaRPr>
          </a:p>
        </p:txBody>
      </p:sp>
      <p:sp>
        <p:nvSpPr>
          <p:cNvPr id="225" name="Google Shape;225;p14"/>
          <p:cNvSpPr/>
          <p:nvPr/>
        </p:nvSpPr>
        <p:spPr>
          <a:xfrm>
            <a:off x="1005840" y="24688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Team confirms channels, timeline, and any additional info needed. Expect response in 1-2 business days.</a:t>
            </a:r>
            <a:endParaRPr b="0" i="0" sz="1000" u="none" cap="none" strike="noStrike">
              <a:solidFill>
                <a:schemeClr val="dk1"/>
              </a:solidFill>
              <a:latin typeface="Calibri"/>
              <a:ea typeface="Calibri"/>
              <a:cs typeface="Calibri"/>
              <a:sym typeface="Calibri"/>
            </a:endParaRPr>
          </a:p>
        </p:txBody>
      </p:sp>
      <p:sp>
        <p:nvSpPr>
          <p:cNvPr id="226" name="Google Shape;226;p14"/>
          <p:cNvSpPr/>
          <p:nvPr/>
        </p:nvSpPr>
        <p:spPr>
          <a:xfrm>
            <a:off x="457200" y="31821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457200" y="31821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228" name="Google Shape;228;p14"/>
          <p:cNvSpPr/>
          <p:nvPr/>
        </p:nvSpPr>
        <p:spPr>
          <a:xfrm>
            <a:off x="100584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Creative Development</a:t>
            </a:r>
            <a:endParaRPr b="0" i="0" sz="1300" u="none" cap="none" strike="noStrike">
              <a:solidFill>
                <a:schemeClr val="dk1"/>
              </a:solidFill>
              <a:latin typeface="Calibri"/>
              <a:ea typeface="Calibri"/>
              <a:cs typeface="Calibri"/>
              <a:sym typeface="Calibri"/>
            </a:endParaRPr>
          </a:p>
        </p:txBody>
      </p:sp>
      <p:sp>
        <p:nvSpPr>
          <p:cNvPr id="229" name="Google Shape;229;p14"/>
          <p:cNvSpPr/>
          <p:nvPr/>
        </p:nvSpPr>
        <p:spPr>
          <a:xfrm>
            <a:off x="1005840" y="33832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Marketing drafts copy and designs graphics in all required sizes for approved channels.</a:t>
            </a:r>
            <a:endParaRPr b="0" i="0" sz="1000" u="none" cap="none" strike="noStrike">
              <a:solidFill>
                <a:schemeClr val="dk1"/>
              </a:solidFill>
              <a:latin typeface="Calibri"/>
              <a:ea typeface="Calibri"/>
              <a:cs typeface="Calibri"/>
              <a:sym typeface="Calibri"/>
            </a:endParaRPr>
          </a:p>
        </p:txBody>
      </p:sp>
      <p:sp>
        <p:nvSpPr>
          <p:cNvPr id="230" name="Google Shape;230;p14"/>
          <p:cNvSpPr/>
          <p:nvPr/>
        </p:nvSpPr>
        <p:spPr>
          <a:xfrm>
            <a:off x="457200" y="40965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457200" y="40965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232" name="Google Shape;232;p14"/>
          <p:cNvSpPr/>
          <p:nvPr/>
        </p:nvSpPr>
        <p:spPr>
          <a:xfrm>
            <a:off x="1005840" y="40233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Review &amp; Approval</a:t>
            </a:r>
            <a:endParaRPr b="0" i="0" sz="1300" u="none" cap="none" strike="noStrike">
              <a:solidFill>
                <a:schemeClr val="dk1"/>
              </a:solidFill>
              <a:latin typeface="Calibri"/>
              <a:ea typeface="Calibri"/>
              <a:cs typeface="Calibri"/>
              <a:sym typeface="Calibri"/>
            </a:endParaRPr>
          </a:p>
        </p:txBody>
      </p:sp>
      <p:sp>
        <p:nvSpPr>
          <p:cNvPr id="233" name="Google Shape;233;p14"/>
          <p:cNvSpPr/>
          <p:nvPr/>
        </p:nvSpPr>
        <p:spPr>
          <a:xfrm>
            <a:off x="1005840" y="42976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You review copy for accuracy. Marketing manager approves for brand compliance.</a:t>
            </a:r>
            <a:endParaRPr b="0" i="0" sz="1000" u="none" cap="none" strike="noStrike">
              <a:solidFill>
                <a:schemeClr val="dk1"/>
              </a:solidFill>
              <a:latin typeface="Calibri"/>
              <a:ea typeface="Calibri"/>
              <a:cs typeface="Calibri"/>
              <a:sym typeface="Calibri"/>
            </a:endParaRPr>
          </a:p>
        </p:txBody>
      </p:sp>
      <p:sp>
        <p:nvSpPr>
          <p:cNvPr id="234" name="Google Shape;234;p14"/>
          <p:cNvSpPr/>
          <p:nvPr/>
        </p:nvSpPr>
        <p:spPr>
          <a:xfrm>
            <a:off x="4754880" y="13533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4754880" y="13533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a:t>
            </a:r>
            <a:endParaRPr b="0" i="0" sz="1600" u="none" cap="none" strike="noStrike">
              <a:solidFill>
                <a:schemeClr val="dk1"/>
              </a:solidFill>
              <a:latin typeface="Calibri"/>
              <a:ea typeface="Calibri"/>
              <a:cs typeface="Calibri"/>
              <a:sym typeface="Calibri"/>
            </a:endParaRPr>
          </a:p>
        </p:txBody>
      </p:sp>
      <p:sp>
        <p:nvSpPr>
          <p:cNvPr id="236" name="Google Shape;236;p14"/>
          <p:cNvSpPr/>
          <p:nvPr/>
        </p:nvSpPr>
        <p:spPr>
          <a:xfrm>
            <a:off x="5303520" y="12801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Schedule &amp; Publish</a:t>
            </a:r>
            <a:endParaRPr b="0" i="0" sz="1300" u="none" cap="none" strike="noStrike">
              <a:solidFill>
                <a:schemeClr val="dk1"/>
              </a:solidFill>
              <a:latin typeface="Calibri"/>
              <a:ea typeface="Calibri"/>
              <a:cs typeface="Calibri"/>
              <a:sym typeface="Calibri"/>
            </a:endParaRPr>
          </a:p>
        </p:txBody>
      </p:sp>
      <p:sp>
        <p:nvSpPr>
          <p:cNvPr id="237" name="Google Shape;237;p14"/>
          <p:cNvSpPr/>
          <p:nvPr/>
        </p:nvSpPr>
        <p:spPr>
          <a:xfrm>
            <a:off x="5303520" y="15544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Content is scheduled across channels: social, newsletter, screens, web, and paid placements.</a:t>
            </a:r>
            <a:endParaRPr b="0" i="0" sz="1000" u="none" cap="none" strike="noStrike">
              <a:solidFill>
                <a:schemeClr val="dk1"/>
              </a:solidFill>
              <a:latin typeface="Calibri"/>
              <a:ea typeface="Calibri"/>
              <a:cs typeface="Calibri"/>
              <a:sym typeface="Calibri"/>
            </a:endParaRPr>
          </a:p>
        </p:txBody>
      </p:sp>
      <p:sp>
        <p:nvSpPr>
          <p:cNvPr id="238" name="Google Shape;238;p14"/>
          <p:cNvSpPr/>
          <p:nvPr/>
        </p:nvSpPr>
        <p:spPr>
          <a:xfrm>
            <a:off x="4754880" y="22677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4754880" y="2267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6</a:t>
            </a:r>
            <a:endParaRPr b="0" i="0" sz="1600" u="none" cap="none" strike="noStrike">
              <a:solidFill>
                <a:schemeClr val="dk1"/>
              </a:solidFill>
              <a:latin typeface="Calibri"/>
              <a:ea typeface="Calibri"/>
              <a:cs typeface="Calibri"/>
              <a:sym typeface="Calibri"/>
            </a:endParaRPr>
          </a:p>
        </p:txBody>
      </p:sp>
      <p:sp>
        <p:nvSpPr>
          <p:cNvPr id="240" name="Google Shape;240;p14"/>
          <p:cNvSpPr/>
          <p:nvPr/>
        </p:nvSpPr>
        <p:spPr>
          <a:xfrm>
            <a:off x="5303520" y="2194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Day-of Promotion</a:t>
            </a:r>
            <a:endParaRPr b="0" i="0" sz="1300" u="none" cap="none" strike="noStrike">
              <a:solidFill>
                <a:schemeClr val="dk1"/>
              </a:solidFill>
              <a:latin typeface="Calibri"/>
              <a:ea typeface="Calibri"/>
              <a:cs typeface="Calibri"/>
              <a:sym typeface="Calibri"/>
            </a:endParaRPr>
          </a:p>
        </p:txBody>
      </p:sp>
      <p:sp>
        <p:nvSpPr>
          <p:cNvPr id="241" name="Google Shape;241;p14"/>
          <p:cNvSpPr/>
          <p:nvPr/>
        </p:nvSpPr>
        <p:spPr>
          <a:xfrm>
            <a:off x="5303520" y="24688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Stories, reminders, and last-minute pushes go live. Event photography if applicable.</a:t>
            </a:r>
            <a:endParaRPr b="0" i="0" sz="1000" u="none" cap="none" strike="noStrike">
              <a:solidFill>
                <a:schemeClr val="dk1"/>
              </a:solidFill>
              <a:latin typeface="Calibri"/>
              <a:ea typeface="Calibri"/>
              <a:cs typeface="Calibri"/>
              <a:sym typeface="Calibri"/>
            </a:endParaRPr>
          </a:p>
        </p:txBody>
      </p:sp>
      <p:sp>
        <p:nvSpPr>
          <p:cNvPr id="242" name="Google Shape;242;p14"/>
          <p:cNvSpPr/>
          <p:nvPr/>
        </p:nvSpPr>
        <p:spPr>
          <a:xfrm>
            <a:off x="4754880" y="31821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4754880" y="31821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7</a:t>
            </a:r>
            <a:endParaRPr b="0" i="0" sz="1600" u="none" cap="none" strike="noStrike">
              <a:solidFill>
                <a:schemeClr val="dk1"/>
              </a:solidFill>
              <a:latin typeface="Calibri"/>
              <a:ea typeface="Calibri"/>
              <a:cs typeface="Calibri"/>
              <a:sym typeface="Calibri"/>
            </a:endParaRPr>
          </a:p>
        </p:txBody>
      </p:sp>
      <p:sp>
        <p:nvSpPr>
          <p:cNvPr id="244" name="Google Shape;244;p14"/>
          <p:cNvSpPr/>
          <p:nvPr/>
        </p:nvSpPr>
        <p:spPr>
          <a:xfrm>
            <a:off x="530352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Recap &amp; Metrics</a:t>
            </a:r>
            <a:endParaRPr b="0" i="0" sz="1300" u="none" cap="none" strike="noStrike">
              <a:solidFill>
                <a:schemeClr val="dk1"/>
              </a:solidFill>
              <a:latin typeface="Calibri"/>
              <a:ea typeface="Calibri"/>
              <a:cs typeface="Calibri"/>
              <a:sym typeface="Calibri"/>
            </a:endParaRPr>
          </a:p>
        </p:txBody>
      </p:sp>
      <p:sp>
        <p:nvSpPr>
          <p:cNvPr id="245" name="Google Shape;245;p14"/>
          <p:cNvSpPr/>
          <p:nvPr/>
        </p:nvSpPr>
        <p:spPr>
          <a:xfrm>
            <a:off x="5303520" y="33832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Post-campaign report: impressions, clicks, RSVPs, and lessons for next time.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0" name="Shape 250"/>
        <p:cNvGrpSpPr/>
        <p:nvPr/>
      </p:nvGrpSpPr>
      <p:grpSpPr>
        <a:xfrm>
          <a:off x="0" y="0"/>
          <a:ext cx="0" cy="0"/>
          <a:chOff x="0" y="0"/>
          <a:chExt cx="0" cy="0"/>
        </a:xfrm>
      </p:grpSpPr>
      <p:sp>
        <p:nvSpPr>
          <p:cNvPr id="251" name="Google Shape;251;p15"/>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253" name="Google Shape;253;p1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54" name="Google Shape;254;p1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12</a:t>
            </a:r>
            <a:endParaRPr b="0" i="0" sz="1000" u="none" cap="none" strike="noStrike">
              <a:solidFill>
                <a:schemeClr val="dk1"/>
              </a:solidFill>
              <a:latin typeface="Calibri"/>
              <a:ea typeface="Calibri"/>
              <a:cs typeface="Calibri"/>
              <a:sym typeface="Calibri"/>
            </a:endParaRPr>
          </a:p>
        </p:txBody>
      </p:sp>
      <p:sp>
        <p:nvSpPr>
          <p:cNvPr id="255" name="Google Shape;255;p15"/>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Which Channel Should I Use?</a:t>
            </a:r>
            <a:endParaRPr b="0" i="0" sz="3000" u="none" cap="none" strike="noStrike">
              <a:solidFill>
                <a:schemeClr val="dk1"/>
              </a:solidFill>
              <a:latin typeface="Calibri"/>
              <a:ea typeface="Calibri"/>
              <a:cs typeface="Calibri"/>
              <a:sym typeface="Calibri"/>
            </a:endParaRPr>
          </a:p>
        </p:txBody>
      </p:sp>
      <p:sp>
        <p:nvSpPr>
          <p:cNvPr id="256" name="Google Shape;256;p15"/>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Tell us your goal. We'll recommend the right mix. (Includes COBECAST for partnerships and thought leadership.)</a:t>
            </a:r>
            <a:endParaRPr b="0" i="0" sz="1400" u="none" cap="none" strike="noStrike">
              <a:solidFill>
                <a:schemeClr val="dk1"/>
              </a:solidFill>
              <a:latin typeface="Calibri"/>
              <a:ea typeface="Calibri"/>
              <a:cs typeface="Calibri"/>
              <a:sym typeface="Calibri"/>
            </a:endParaRPr>
          </a:p>
        </p:txBody>
      </p:sp>
      <p:graphicFrame>
        <p:nvGraphicFramePr>
          <p:cNvPr id="257" name="Google Shape;257;p15"/>
          <p:cNvGraphicFramePr/>
          <p:nvPr/>
        </p:nvGraphicFramePr>
        <p:xfrm>
          <a:off x="457200" y="1325880"/>
          <a:ext cx="3000000" cy="3000000"/>
        </p:xfrm>
        <a:graphic>
          <a:graphicData uri="http://schemas.openxmlformats.org/drawingml/2006/table">
            <a:tbl>
              <a:tblPr>
                <a:noFill/>
                <a:tableStyleId>{AD4631F1-437D-4764-92B6-2A4562E18BC6}</a:tableStyleId>
              </a:tblPr>
              <a:tblGrid>
                <a:gridCol w="2286000"/>
                <a:gridCol w="3200400"/>
                <a:gridCol w="2743200"/>
              </a:tblGrid>
              <a:tr h="3657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YOUR GOAL</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RECOMMENDED CHANNELS</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WHAT TO SEND IN EMAIL</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Drive event attendance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Newsletter + Instagram + MBEB Screens + Localist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Event details, date, link, photo</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Recruit to certificate program</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Newsletter + Landing Page + Paid Ads + Class Visits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Program blurb, CTA link, target audience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Build employer awareness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LinkedIn + Email outreach + Career Fair promo</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Employer value props, partner logos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Quick campus visibility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MBEB Screens + SUB/Library Screens + Flyers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Graphic (1920x1080), date range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Showcase student success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Instagram Reels + LinkedIn + Newsletter</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Student photo/video, quote, story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2" name="Shape 262"/>
        <p:cNvGrpSpPr/>
        <p:nvPr/>
      </p:nvGrpSpPr>
      <p:grpSpPr>
        <a:xfrm>
          <a:off x="0" y="0"/>
          <a:ext cx="0" cy="0"/>
          <a:chOff x="0" y="0"/>
          <a:chExt cx="0" cy="0"/>
        </a:xfrm>
      </p:grpSpPr>
      <p:sp>
        <p:nvSpPr>
          <p:cNvPr id="263" name="Google Shape;263;p16"/>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265" name="Google Shape;265;p1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66" name="Google Shape;266;p1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13</a:t>
            </a:r>
            <a:endParaRPr b="0" i="0" sz="1000" u="none" cap="none" strike="noStrike">
              <a:solidFill>
                <a:schemeClr val="dk1"/>
              </a:solidFill>
              <a:latin typeface="Calibri"/>
              <a:ea typeface="Calibri"/>
              <a:cs typeface="Calibri"/>
              <a:sym typeface="Calibri"/>
            </a:endParaRPr>
          </a:p>
        </p:txBody>
      </p:sp>
      <p:sp>
        <p:nvSpPr>
          <p:cNvPr id="267" name="Google Shape;267;p16"/>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Event Promotion Timeline</a:t>
            </a:r>
            <a:endParaRPr b="0" i="0" sz="3000" u="none" cap="none" strike="noStrike">
              <a:solidFill>
                <a:schemeClr val="dk1"/>
              </a:solidFill>
              <a:latin typeface="Calibri"/>
              <a:ea typeface="Calibri"/>
              <a:cs typeface="Calibri"/>
              <a:sym typeface="Calibri"/>
            </a:endParaRPr>
          </a:p>
        </p:txBody>
      </p:sp>
      <p:sp>
        <p:nvSpPr>
          <p:cNvPr id="268" name="Google Shape;268;p16"/>
          <p:cNvSpPr/>
          <p:nvPr/>
        </p:nvSpPr>
        <p:spPr>
          <a:xfrm>
            <a:off x="548640" y="1143000"/>
            <a:ext cx="182880" cy="1828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621792" y="132588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914400" y="105156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000"/>
              <a:buFont typeface="Arial"/>
              <a:buNone/>
            </a:pPr>
            <a:r>
              <a:rPr b="1" i="0" lang="en-US" sz="1000" u="none" cap="none" strike="noStrike">
                <a:solidFill>
                  <a:srgbClr val="0033A0"/>
                </a:solidFill>
                <a:latin typeface="Arial"/>
                <a:ea typeface="Arial"/>
                <a:cs typeface="Arial"/>
                <a:sym typeface="Arial"/>
              </a:rPr>
              <a:t>6 WEEKS OUT</a:t>
            </a:r>
            <a:endParaRPr b="0" i="0" sz="1000" u="none" cap="none" strike="noStrike">
              <a:solidFill>
                <a:schemeClr val="dk1"/>
              </a:solidFill>
              <a:latin typeface="Calibri"/>
              <a:ea typeface="Calibri"/>
              <a:cs typeface="Calibri"/>
              <a:sym typeface="Calibri"/>
            </a:endParaRPr>
          </a:p>
        </p:txBody>
      </p:sp>
      <p:sp>
        <p:nvSpPr>
          <p:cNvPr id="271" name="Google Shape;271;p16"/>
          <p:cNvSpPr/>
          <p:nvPr/>
        </p:nvSpPr>
        <p:spPr>
          <a:xfrm>
            <a:off x="2377440" y="105156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Confirm event details, venue, speakers</a:t>
            </a:r>
            <a:endParaRPr b="0" i="0" sz="1000" u="none" cap="none" strike="noStrike">
              <a:solidFill>
                <a:schemeClr val="dk1"/>
              </a:solidFill>
              <a:latin typeface="Calibri"/>
              <a:ea typeface="Calibri"/>
              <a:cs typeface="Calibri"/>
              <a:sym typeface="Calibri"/>
            </a:endParaRPr>
          </a:p>
        </p:txBody>
      </p:sp>
      <p:sp>
        <p:nvSpPr>
          <p:cNvPr id="272" name="Google Shape;272;p16"/>
          <p:cNvSpPr/>
          <p:nvPr/>
        </p:nvSpPr>
        <p:spPr>
          <a:xfrm>
            <a:off x="5486400" y="10515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Reserve newsletter slot, draft Localist listing</a:t>
            </a:r>
            <a:endParaRPr b="0" i="0" sz="1000" u="none" cap="none" strike="noStrike">
              <a:solidFill>
                <a:schemeClr val="dk1"/>
              </a:solidFill>
              <a:latin typeface="Calibri"/>
              <a:ea typeface="Calibri"/>
              <a:cs typeface="Calibri"/>
              <a:sym typeface="Calibri"/>
            </a:endParaRPr>
          </a:p>
        </p:txBody>
      </p:sp>
      <p:sp>
        <p:nvSpPr>
          <p:cNvPr id="273" name="Google Shape;273;p16"/>
          <p:cNvSpPr/>
          <p:nvPr/>
        </p:nvSpPr>
        <p:spPr>
          <a:xfrm>
            <a:off x="548640" y="1691640"/>
            <a:ext cx="182880" cy="1828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621792" y="187452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914400" y="160020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000"/>
              <a:buFont typeface="Arial"/>
              <a:buNone/>
            </a:pPr>
            <a:r>
              <a:rPr b="1" i="0" lang="en-US" sz="1000" u="none" cap="none" strike="noStrike">
                <a:solidFill>
                  <a:srgbClr val="0EA5E9"/>
                </a:solidFill>
                <a:latin typeface="Arial"/>
                <a:ea typeface="Arial"/>
                <a:cs typeface="Arial"/>
                <a:sym typeface="Arial"/>
              </a:rPr>
              <a:t>4 WEEKS OUT</a:t>
            </a:r>
            <a:endParaRPr b="0" i="0" sz="1000" u="none" cap="none" strike="noStrike">
              <a:solidFill>
                <a:schemeClr val="dk1"/>
              </a:solidFill>
              <a:latin typeface="Calibri"/>
              <a:ea typeface="Calibri"/>
              <a:cs typeface="Calibri"/>
              <a:sym typeface="Calibri"/>
            </a:endParaRPr>
          </a:p>
        </p:txBody>
      </p:sp>
      <p:sp>
        <p:nvSpPr>
          <p:cNvPr id="276" name="Google Shape;276;p16"/>
          <p:cNvSpPr/>
          <p:nvPr/>
        </p:nvSpPr>
        <p:spPr>
          <a:xfrm>
            <a:off x="2377440" y="16002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Provide photos, speaker bios, reg link</a:t>
            </a:r>
            <a:endParaRPr b="0" i="0" sz="1000" u="none" cap="none" strike="noStrike">
              <a:solidFill>
                <a:schemeClr val="dk1"/>
              </a:solidFill>
              <a:latin typeface="Calibri"/>
              <a:ea typeface="Calibri"/>
              <a:cs typeface="Calibri"/>
              <a:sym typeface="Calibri"/>
            </a:endParaRPr>
          </a:p>
        </p:txBody>
      </p:sp>
      <p:sp>
        <p:nvSpPr>
          <p:cNvPr id="277" name="Google Shape;277;p16"/>
          <p:cNvSpPr/>
          <p:nvPr/>
        </p:nvSpPr>
        <p:spPr>
          <a:xfrm>
            <a:off x="5486400" y="160020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Design graphics, draft social copy, submit MBEB screens</a:t>
            </a:r>
            <a:endParaRPr b="0" i="0" sz="1000" u="none" cap="none" strike="noStrike">
              <a:solidFill>
                <a:schemeClr val="dk1"/>
              </a:solidFill>
              <a:latin typeface="Calibri"/>
              <a:ea typeface="Calibri"/>
              <a:cs typeface="Calibri"/>
              <a:sym typeface="Calibri"/>
            </a:endParaRPr>
          </a:p>
        </p:txBody>
      </p:sp>
      <p:sp>
        <p:nvSpPr>
          <p:cNvPr id="278" name="Google Shape;278;p16"/>
          <p:cNvSpPr/>
          <p:nvPr/>
        </p:nvSpPr>
        <p:spPr>
          <a:xfrm>
            <a:off x="548640" y="2240280"/>
            <a:ext cx="182880" cy="18288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621792" y="242316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914400" y="214884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Arial"/>
              <a:buNone/>
            </a:pPr>
            <a:r>
              <a:rPr b="1" i="0" lang="en-US" sz="1000" u="none" cap="none" strike="noStrike">
                <a:solidFill>
                  <a:srgbClr val="0D9488"/>
                </a:solidFill>
                <a:latin typeface="Arial"/>
                <a:ea typeface="Arial"/>
                <a:cs typeface="Arial"/>
                <a:sym typeface="Arial"/>
              </a:rPr>
              <a:t>3 WEEKS OUT</a:t>
            </a:r>
            <a:endParaRPr b="0" i="0" sz="1000" u="none" cap="none" strike="noStrike">
              <a:solidFill>
                <a:schemeClr val="dk1"/>
              </a:solidFill>
              <a:latin typeface="Calibri"/>
              <a:ea typeface="Calibri"/>
              <a:cs typeface="Calibri"/>
              <a:sym typeface="Calibri"/>
            </a:endParaRPr>
          </a:p>
        </p:txBody>
      </p:sp>
      <p:sp>
        <p:nvSpPr>
          <p:cNvPr id="281" name="Google Shape;281;p16"/>
          <p:cNvSpPr/>
          <p:nvPr/>
        </p:nvSpPr>
        <p:spPr>
          <a:xfrm>
            <a:off x="2377440" y="214884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Review and approve all copy/creative</a:t>
            </a:r>
            <a:endParaRPr b="0" i="0" sz="1000" u="none" cap="none" strike="noStrike">
              <a:solidFill>
                <a:schemeClr val="dk1"/>
              </a:solidFill>
              <a:latin typeface="Calibri"/>
              <a:ea typeface="Calibri"/>
              <a:cs typeface="Calibri"/>
              <a:sym typeface="Calibri"/>
            </a:endParaRPr>
          </a:p>
        </p:txBody>
      </p:sp>
      <p:sp>
        <p:nvSpPr>
          <p:cNvPr id="282" name="Google Shape;282;p16"/>
          <p:cNvSpPr/>
          <p:nvPr/>
        </p:nvSpPr>
        <p:spPr>
          <a:xfrm>
            <a:off x="5486400" y="214884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Schedule social posts, submit digital screens campus-wide</a:t>
            </a:r>
            <a:endParaRPr b="0" i="0" sz="1000" u="none" cap="none" strike="noStrike">
              <a:solidFill>
                <a:schemeClr val="dk1"/>
              </a:solidFill>
              <a:latin typeface="Calibri"/>
              <a:ea typeface="Calibri"/>
              <a:cs typeface="Calibri"/>
              <a:sym typeface="Calibri"/>
            </a:endParaRPr>
          </a:p>
        </p:txBody>
      </p:sp>
      <p:sp>
        <p:nvSpPr>
          <p:cNvPr id="283" name="Google Shape;283;p16"/>
          <p:cNvSpPr/>
          <p:nvPr/>
        </p:nvSpPr>
        <p:spPr>
          <a:xfrm>
            <a:off x="548640" y="2788920"/>
            <a:ext cx="182880" cy="1828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621792" y="297180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914400" y="269748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2 WEEKS OUT</a:t>
            </a:r>
            <a:endParaRPr b="0" i="0" sz="1000" u="none" cap="none" strike="noStrike">
              <a:solidFill>
                <a:schemeClr val="dk1"/>
              </a:solidFill>
              <a:latin typeface="Calibri"/>
              <a:ea typeface="Calibri"/>
              <a:cs typeface="Calibri"/>
              <a:sym typeface="Calibri"/>
            </a:endParaRPr>
          </a:p>
        </p:txBody>
      </p:sp>
      <p:sp>
        <p:nvSpPr>
          <p:cNvPr id="286" name="Google Shape;286;p16"/>
          <p:cNvSpPr/>
          <p:nvPr/>
        </p:nvSpPr>
        <p:spPr>
          <a:xfrm>
            <a:off x="2377440" y="269748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Share with your network, invite key attendees</a:t>
            </a:r>
            <a:endParaRPr b="0" i="0" sz="1000" u="none" cap="none" strike="noStrike">
              <a:solidFill>
                <a:schemeClr val="dk1"/>
              </a:solidFill>
              <a:latin typeface="Calibri"/>
              <a:ea typeface="Calibri"/>
              <a:cs typeface="Calibri"/>
              <a:sym typeface="Calibri"/>
            </a:endParaRPr>
          </a:p>
        </p:txBody>
      </p:sp>
      <p:sp>
        <p:nvSpPr>
          <p:cNvPr id="287" name="Google Shape;287;p16"/>
          <p:cNvSpPr/>
          <p:nvPr/>
        </p:nvSpPr>
        <p:spPr>
          <a:xfrm>
            <a:off x="5486400" y="269748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Newsletter feature goes out, LinkedIn event created</a:t>
            </a:r>
            <a:endParaRPr b="0" i="0" sz="1000" u="none" cap="none" strike="noStrike">
              <a:solidFill>
                <a:schemeClr val="dk1"/>
              </a:solidFill>
              <a:latin typeface="Calibri"/>
              <a:ea typeface="Calibri"/>
              <a:cs typeface="Calibri"/>
              <a:sym typeface="Calibri"/>
            </a:endParaRPr>
          </a:p>
        </p:txBody>
      </p:sp>
      <p:sp>
        <p:nvSpPr>
          <p:cNvPr id="288" name="Google Shape;288;p16"/>
          <p:cNvSpPr/>
          <p:nvPr/>
        </p:nvSpPr>
        <p:spPr>
          <a:xfrm>
            <a:off x="548640" y="3337560"/>
            <a:ext cx="182880" cy="182880"/>
          </a:xfrm>
          <a:prstGeom prst="ellipse">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621792" y="352044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a:off x="914400" y="324612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4309"/>
              </a:buClr>
              <a:buSzPts val="1000"/>
              <a:buFont typeface="Arial"/>
              <a:buNone/>
            </a:pPr>
            <a:r>
              <a:rPr b="1" i="0" lang="en-US" sz="1000" u="none" cap="none" strike="noStrike">
                <a:solidFill>
                  <a:srgbClr val="D64309"/>
                </a:solidFill>
                <a:latin typeface="Arial"/>
                <a:ea typeface="Arial"/>
                <a:cs typeface="Arial"/>
                <a:sym typeface="Arial"/>
              </a:rPr>
              <a:t>1 WEEK OUT</a:t>
            </a:r>
            <a:endParaRPr b="0" i="0" sz="1000" u="none" cap="none" strike="noStrike">
              <a:solidFill>
                <a:schemeClr val="dk1"/>
              </a:solidFill>
              <a:latin typeface="Calibri"/>
              <a:ea typeface="Calibri"/>
              <a:cs typeface="Calibri"/>
              <a:sym typeface="Calibri"/>
            </a:endParaRPr>
          </a:p>
        </p:txBody>
      </p:sp>
      <p:sp>
        <p:nvSpPr>
          <p:cNvPr id="291" name="Google Shape;291;p16"/>
          <p:cNvSpPr/>
          <p:nvPr/>
        </p:nvSpPr>
        <p:spPr>
          <a:xfrm>
            <a:off x="2377440" y="324612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Final headcount check, logistics confirmed</a:t>
            </a:r>
            <a:endParaRPr b="0" i="0" sz="1000" u="none" cap="none" strike="noStrike">
              <a:solidFill>
                <a:schemeClr val="dk1"/>
              </a:solidFill>
              <a:latin typeface="Calibri"/>
              <a:ea typeface="Calibri"/>
              <a:cs typeface="Calibri"/>
              <a:sym typeface="Calibri"/>
            </a:endParaRPr>
          </a:p>
        </p:txBody>
      </p:sp>
      <p:sp>
        <p:nvSpPr>
          <p:cNvPr id="292" name="Google Shape;292;p16"/>
          <p:cNvSpPr/>
          <p:nvPr/>
        </p:nvSpPr>
        <p:spPr>
          <a:xfrm>
            <a:off x="5486400" y="324612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Reminder posts, stories, email reminder blast</a:t>
            </a:r>
            <a:endParaRPr b="0" i="0" sz="1000" u="none" cap="none" strike="noStrike">
              <a:solidFill>
                <a:schemeClr val="dk1"/>
              </a:solidFill>
              <a:latin typeface="Calibri"/>
              <a:ea typeface="Calibri"/>
              <a:cs typeface="Calibri"/>
              <a:sym typeface="Calibri"/>
            </a:endParaRPr>
          </a:p>
        </p:txBody>
      </p:sp>
      <p:sp>
        <p:nvSpPr>
          <p:cNvPr id="293" name="Google Shape;293;p16"/>
          <p:cNvSpPr/>
          <p:nvPr/>
        </p:nvSpPr>
        <p:spPr>
          <a:xfrm>
            <a:off x="548640" y="3886200"/>
            <a:ext cx="182880" cy="182880"/>
          </a:xfrm>
          <a:prstGeom prst="ellipse">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621792" y="406908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914400" y="379476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000"/>
              <a:buFont typeface="Arial"/>
              <a:buNone/>
            </a:pPr>
            <a:r>
              <a:rPr b="1" i="0" lang="en-US" sz="1000" u="none" cap="none" strike="noStrike">
                <a:solidFill>
                  <a:srgbClr val="EF4444"/>
                </a:solidFill>
                <a:latin typeface="Arial"/>
                <a:ea typeface="Arial"/>
                <a:cs typeface="Arial"/>
                <a:sym typeface="Arial"/>
              </a:rPr>
              <a:t>DAY OF</a:t>
            </a:r>
            <a:endParaRPr b="0" i="0" sz="1000" u="none" cap="none" strike="noStrike">
              <a:solidFill>
                <a:schemeClr val="dk1"/>
              </a:solidFill>
              <a:latin typeface="Calibri"/>
              <a:ea typeface="Calibri"/>
              <a:cs typeface="Calibri"/>
              <a:sym typeface="Calibri"/>
            </a:endParaRPr>
          </a:p>
        </p:txBody>
      </p:sp>
      <p:sp>
        <p:nvSpPr>
          <p:cNvPr id="296" name="Google Shape;296;p16"/>
          <p:cNvSpPr/>
          <p:nvPr/>
        </p:nvSpPr>
        <p:spPr>
          <a:xfrm>
            <a:off x="2377440" y="379476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Run the event, coordinate check-in</a:t>
            </a:r>
            <a:endParaRPr b="0" i="0" sz="1000" u="none" cap="none" strike="noStrike">
              <a:solidFill>
                <a:schemeClr val="dk1"/>
              </a:solidFill>
              <a:latin typeface="Calibri"/>
              <a:ea typeface="Calibri"/>
              <a:cs typeface="Calibri"/>
              <a:sym typeface="Calibri"/>
            </a:endParaRPr>
          </a:p>
        </p:txBody>
      </p:sp>
      <p:sp>
        <p:nvSpPr>
          <p:cNvPr id="297" name="Google Shape;297;p16"/>
          <p:cNvSpPr/>
          <p:nvPr/>
        </p:nvSpPr>
        <p:spPr>
          <a:xfrm>
            <a:off x="5486400" y="37947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Live stories, day-of posts, photography</a:t>
            </a:r>
            <a:endParaRPr b="0" i="0" sz="1000" u="none" cap="none" strike="noStrike">
              <a:solidFill>
                <a:schemeClr val="dk1"/>
              </a:solidFill>
              <a:latin typeface="Calibri"/>
              <a:ea typeface="Calibri"/>
              <a:cs typeface="Calibri"/>
              <a:sym typeface="Calibri"/>
            </a:endParaRPr>
          </a:p>
        </p:txBody>
      </p:sp>
      <p:sp>
        <p:nvSpPr>
          <p:cNvPr id="298" name="Google Shape;298;p16"/>
          <p:cNvSpPr/>
          <p:nvPr/>
        </p:nvSpPr>
        <p:spPr>
          <a:xfrm>
            <a:off x="548640" y="4434840"/>
            <a:ext cx="182880" cy="18288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914400" y="434340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Arial"/>
              <a:buNone/>
            </a:pPr>
            <a:r>
              <a:rPr b="1" i="0" lang="en-US" sz="1000" u="none" cap="none" strike="noStrike">
                <a:solidFill>
                  <a:srgbClr val="7C3AED"/>
                </a:solidFill>
                <a:latin typeface="Arial"/>
                <a:ea typeface="Arial"/>
                <a:cs typeface="Arial"/>
                <a:sym typeface="Arial"/>
              </a:rPr>
              <a:t>1 WEEK AFTER</a:t>
            </a:r>
            <a:endParaRPr b="0" i="0" sz="1000" u="none" cap="none" strike="noStrike">
              <a:solidFill>
                <a:schemeClr val="dk1"/>
              </a:solidFill>
              <a:latin typeface="Calibri"/>
              <a:ea typeface="Calibri"/>
              <a:cs typeface="Calibri"/>
              <a:sym typeface="Calibri"/>
            </a:endParaRPr>
          </a:p>
        </p:txBody>
      </p:sp>
      <p:sp>
        <p:nvSpPr>
          <p:cNvPr id="300" name="Google Shape;300;p16"/>
          <p:cNvSpPr/>
          <p:nvPr/>
        </p:nvSpPr>
        <p:spPr>
          <a:xfrm>
            <a:off x="2377440" y="43434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Share feedback, thank-you notes</a:t>
            </a:r>
            <a:endParaRPr b="0" i="0" sz="1000" u="none" cap="none" strike="noStrike">
              <a:solidFill>
                <a:schemeClr val="dk1"/>
              </a:solidFill>
              <a:latin typeface="Calibri"/>
              <a:ea typeface="Calibri"/>
              <a:cs typeface="Calibri"/>
              <a:sym typeface="Calibri"/>
            </a:endParaRPr>
          </a:p>
        </p:txBody>
      </p:sp>
      <p:sp>
        <p:nvSpPr>
          <p:cNvPr id="301" name="Google Shape;301;p16"/>
          <p:cNvSpPr/>
          <p:nvPr/>
        </p:nvSpPr>
        <p:spPr>
          <a:xfrm>
            <a:off x="5486400" y="434340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Post-event recap, metrics report, photo gallery</a:t>
            </a:r>
            <a:endParaRPr b="0" i="0" sz="1000" u="none" cap="none" strike="noStrike">
              <a:solidFill>
                <a:schemeClr val="dk1"/>
              </a:solidFill>
              <a:latin typeface="Calibri"/>
              <a:ea typeface="Calibri"/>
              <a:cs typeface="Calibri"/>
              <a:sym typeface="Calibri"/>
            </a:endParaRPr>
          </a:p>
        </p:txBody>
      </p:sp>
      <p:sp>
        <p:nvSpPr>
          <p:cNvPr id="302" name="Google Shape;302;p16"/>
          <p:cNvSpPr/>
          <p:nvPr/>
        </p:nvSpPr>
        <p:spPr>
          <a:xfrm>
            <a:off x="914400" y="822960"/>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Arial"/>
              <a:buNone/>
            </a:pPr>
            <a:r>
              <a:rPr b="1" i="0" lang="en-US" sz="900" u="none" cap="none" strike="noStrike">
                <a:solidFill>
                  <a:srgbClr val="64748B"/>
                </a:solidFill>
                <a:latin typeface="Arial"/>
                <a:ea typeface="Arial"/>
                <a:cs typeface="Arial"/>
                <a:sym typeface="Arial"/>
              </a:rPr>
              <a:t>WHEN</a:t>
            </a:r>
            <a:endParaRPr b="0" i="0" sz="900" u="none" cap="none" strike="noStrike">
              <a:solidFill>
                <a:schemeClr val="dk1"/>
              </a:solidFill>
              <a:latin typeface="Calibri"/>
              <a:ea typeface="Calibri"/>
              <a:cs typeface="Calibri"/>
              <a:sym typeface="Calibri"/>
            </a:endParaRPr>
          </a:p>
        </p:txBody>
      </p:sp>
      <p:sp>
        <p:nvSpPr>
          <p:cNvPr id="303" name="Google Shape;303;p16"/>
          <p:cNvSpPr/>
          <p:nvPr/>
        </p:nvSpPr>
        <p:spPr>
          <a:xfrm>
            <a:off x="2377440" y="822960"/>
            <a:ext cx="2926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900"/>
              <a:buFont typeface="Arial"/>
              <a:buNone/>
            </a:pPr>
            <a:r>
              <a:rPr b="1" i="0" lang="en-US" sz="900" u="none" cap="none" strike="noStrike">
                <a:solidFill>
                  <a:srgbClr val="0EA5E9"/>
                </a:solidFill>
                <a:latin typeface="Arial"/>
                <a:ea typeface="Arial"/>
                <a:cs typeface="Arial"/>
                <a:sym typeface="Arial"/>
              </a:rPr>
              <a:t>YOU DO</a:t>
            </a:r>
            <a:endParaRPr b="0" i="0" sz="900" u="none" cap="none" strike="noStrike">
              <a:solidFill>
                <a:schemeClr val="dk1"/>
              </a:solidFill>
              <a:latin typeface="Calibri"/>
              <a:ea typeface="Calibri"/>
              <a:cs typeface="Calibri"/>
              <a:sym typeface="Calibri"/>
            </a:endParaRPr>
          </a:p>
        </p:txBody>
      </p:sp>
      <p:sp>
        <p:nvSpPr>
          <p:cNvPr id="304" name="Google Shape;304;p16"/>
          <p:cNvSpPr/>
          <p:nvPr/>
        </p:nvSpPr>
        <p:spPr>
          <a:xfrm>
            <a:off x="5486400" y="822960"/>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900"/>
              <a:buFont typeface="Arial"/>
              <a:buNone/>
            </a:pPr>
            <a:r>
              <a:rPr b="1" i="0" lang="en-US" sz="900" u="none" cap="none" strike="noStrike">
                <a:solidFill>
                  <a:srgbClr val="0033A0"/>
                </a:solidFill>
                <a:latin typeface="Arial"/>
                <a:ea typeface="Arial"/>
                <a:cs typeface="Arial"/>
                <a:sym typeface="Arial"/>
              </a:rPr>
              <a:t>MARKETING DOES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5F9"/>
        </a:solidFill>
      </p:bgPr>
    </p:bg>
    <p:spTree>
      <p:nvGrpSpPr>
        <p:cNvPr id="309" name="Shape 309"/>
        <p:cNvGrpSpPr/>
        <p:nvPr/>
      </p:nvGrpSpPr>
      <p:grpSpPr>
        <a:xfrm>
          <a:off x="0" y="0"/>
          <a:ext cx="0" cy="0"/>
          <a:chOff x="0" y="0"/>
          <a:chExt cx="0" cy="0"/>
        </a:xfrm>
      </p:grpSpPr>
      <p:sp>
        <p:nvSpPr>
          <p:cNvPr id="310" name="Google Shape;310;p17"/>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312" name="Google Shape;312;p1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313" name="Google Shape;313;p1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14</a:t>
            </a:r>
            <a:endParaRPr b="0" i="0" sz="1000" u="none" cap="none" strike="noStrike">
              <a:solidFill>
                <a:schemeClr val="dk1"/>
              </a:solidFill>
              <a:latin typeface="Calibri"/>
              <a:ea typeface="Calibri"/>
              <a:cs typeface="Calibri"/>
              <a:sym typeface="Calibri"/>
            </a:endParaRPr>
          </a:p>
        </p:txBody>
      </p:sp>
      <p:sp>
        <p:nvSpPr>
          <p:cNvPr id="314" name="Google Shape;314;p17"/>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Sample Request Email</a:t>
            </a:r>
            <a:endParaRPr b="0" i="0" sz="3000" u="none" cap="none" strike="noStrike">
              <a:solidFill>
                <a:schemeClr val="dk1"/>
              </a:solidFill>
              <a:latin typeface="Calibri"/>
              <a:ea typeface="Calibri"/>
              <a:cs typeface="Calibri"/>
              <a:sym typeface="Calibri"/>
            </a:endParaRPr>
          </a:p>
        </p:txBody>
      </p:sp>
      <p:sp>
        <p:nvSpPr>
          <p:cNvPr id="315" name="Google Shape;315;p17"/>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Copy, paste, and adapt this template for your next request.</a:t>
            </a:r>
            <a:endParaRPr b="0" i="0" sz="1400" u="none" cap="none" strike="noStrike">
              <a:solidFill>
                <a:schemeClr val="dk1"/>
              </a:solidFill>
              <a:latin typeface="Calibri"/>
              <a:ea typeface="Calibri"/>
              <a:cs typeface="Calibri"/>
              <a:sym typeface="Calibri"/>
            </a:endParaRPr>
          </a:p>
        </p:txBody>
      </p:sp>
      <p:sp>
        <p:nvSpPr>
          <p:cNvPr id="316" name="Google Shape;316;p17"/>
          <p:cNvSpPr/>
          <p:nvPr/>
        </p:nvSpPr>
        <p:spPr>
          <a:xfrm>
            <a:off x="457200" y="1280160"/>
            <a:ext cx="8229600" cy="34747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p:nvPr/>
        </p:nvSpPr>
        <p:spPr>
          <a:xfrm>
            <a:off x="731520" y="1371600"/>
            <a:ext cx="7680960" cy="320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Arial"/>
              <a:buNone/>
            </a:pPr>
            <a:r>
              <a:rPr b="1" i="0" lang="en-US" sz="1100" u="none" cap="none" strike="noStrike">
                <a:solidFill>
                  <a:srgbClr val="64748B"/>
                </a:solidFill>
                <a:latin typeface="Arial"/>
                <a:ea typeface="Arial"/>
                <a:cs typeface="Arial"/>
                <a:sym typeface="Arial"/>
              </a:rPr>
              <a:t>To: </a:t>
            </a:r>
            <a:r>
              <a:rPr b="1" i="0" lang="en-US" sz="1100" u="none" cap="none" strike="noStrike">
                <a:solidFill>
                  <a:srgbClr val="0EA5E9"/>
                </a:solidFill>
                <a:latin typeface="Arial"/>
                <a:ea typeface="Arial"/>
                <a:cs typeface="Arial"/>
                <a:sym typeface="Arial"/>
              </a:rPr>
              <a:t>cobe-info@boisestate.edu</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1" i="0" lang="en-US" sz="1100" u="none" cap="none" strike="noStrike">
                <a:solidFill>
                  <a:srgbClr val="64748B"/>
                </a:solidFill>
                <a:latin typeface="Arial"/>
                <a:ea typeface="Arial"/>
                <a:cs typeface="Arial"/>
                <a:sym typeface="Arial"/>
              </a:rPr>
              <a:t>Subject: </a:t>
            </a:r>
            <a:r>
              <a:rPr b="0" i="0" lang="en-US" sz="1100" u="none" cap="none" strike="noStrike">
                <a:solidFill>
                  <a:srgbClr val="0B1220"/>
                </a:solidFill>
                <a:latin typeface="Arial"/>
                <a:ea typeface="Arial"/>
                <a:cs typeface="Arial"/>
                <a:sym typeface="Arial"/>
              </a:rPr>
              <a:t>PROGRAM REQUEST – Newsletter + Instagram + MBEB – Oct 2025</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Hi COBE Marketing team,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We'd like to promote the Hospitality Career Panel &amp; Career Fair.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220"/>
              </a:buClr>
              <a:buSzPts val="1100"/>
              <a:buFont typeface="Arial"/>
              <a:buNone/>
            </a:pPr>
            <a:r>
              <a:rPr b="1" i="0" lang="en-US" sz="1100" u="none" cap="none" strike="noStrike">
                <a:solidFill>
                  <a:srgbClr val="0B1220"/>
                </a:solidFill>
                <a:latin typeface="Arial"/>
                <a:ea typeface="Arial"/>
                <a:cs typeface="Arial"/>
                <a:sym typeface="Arial"/>
              </a:rPr>
              <a:t>Event Details: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What: Hospitality Career Panel &amp; Career Fair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When: Thursday, October 23, 4-6 PM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Where: Jackson Commons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Who: All COBE students + employers (Grove Hotel, Idaho Central Arena, etc.)</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Registration: [Handshake Link]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Channels requested: Student Events Newsletter, Instagram post + stories, MBEB screens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Target dates: Promotion to begin Oct 1; event Oct 23</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Success metric: RSVPs via Handshake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Attached: Event flyer (1080x1080), speaker headshots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Approval contact: Ashley Walter (ashleywalter@boisestate.edu)</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Thank you!</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1" name="Shape 321"/>
        <p:cNvGrpSpPr/>
        <p:nvPr/>
      </p:nvGrpSpPr>
      <p:grpSpPr>
        <a:xfrm>
          <a:off x="0" y="0"/>
          <a:ext cx="0" cy="0"/>
          <a:chOff x="0" y="0"/>
          <a:chExt cx="0" cy="0"/>
        </a:xfrm>
      </p:grpSpPr>
      <p:sp>
        <p:nvSpPr>
          <p:cNvPr id="322" name="Google Shape;322;p18"/>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324" name="Google Shape;324;p1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325" name="Google Shape;325;p1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15</a:t>
            </a:r>
            <a:endParaRPr b="0" i="0" sz="1000" u="none" cap="none" strike="noStrike">
              <a:solidFill>
                <a:schemeClr val="dk1"/>
              </a:solidFill>
              <a:latin typeface="Calibri"/>
              <a:ea typeface="Calibri"/>
              <a:cs typeface="Calibri"/>
              <a:sym typeface="Calibri"/>
            </a:endParaRPr>
          </a:p>
        </p:txBody>
      </p:sp>
      <p:sp>
        <p:nvSpPr>
          <p:cNvPr id="326" name="Google Shape;326;p18"/>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Hands-Off: Instagram</a:t>
            </a:r>
            <a:endParaRPr b="0" i="0" sz="2600" u="none" cap="none" strike="noStrike">
              <a:solidFill>
                <a:schemeClr val="dk1"/>
              </a:solidFill>
              <a:latin typeface="Calibri"/>
              <a:ea typeface="Calibri"/>
              <a:cs typeface="Calibri"/>
              <a:sym typeface="Calibri"/>
            </a:endParaRPr>
          </a:p>
        </p:txBody>
      </p:sp>
      <p:sp>
        <p:nvSpPr>
          <p:cNvPr id="327" name="Google Shape;327;p18"/>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328" name="Google Shape;328;p18"/>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Student engagement, event awareness, program visibility. 1,436 followers.</a:t>
            </a:r>
            <a:endParaRPr b="0" i="0" sz="1100" u="none" cap="none" strike="noStrike">
              <a:solidFill>
                <a:schemeClr val="dk1"/>
              </a:solidFill>
              <a:latin typeface="Calibri"/>
              <a:ea typeface="Calibri"/>
              <a:cs typeface="Calibri"/>
              <a:sym typeface="Calibri"/>
            </a:endParaRPr>
          </a:p>
        </p:txBody>
      </p:sp>
      <p:sp>
        <p:nvSpPr>
          <p:cNvPr id="329" name="Google Shape;329;p18"/>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ASSET TYPES</a:t>
            </a:r>
            <a:endParaRPr b="0" i="0" sz="1000" u="none" cap="none" strike="noStrike">
              <a:solidFill>
                <a:schemeClr val="dk1"/>
              </a:solidFill>
              <a:latin typeface="Calibri"/>
              <a:ea typeface="Calibri"/>
              <a:cs typeface="Calibri"/>
              <a:sym typeface="Calibri"/>
            </a:endParaRPr>
          </a:p>
        </p:txBody>
      </p:sp>
      <p:sp>
        <p:nvSpPr>
          <p:cNvPr id="331" name="Google Shape;331;p18"/>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Square posts (1080x1080), Stories/Reels (1080x1920)</a:t>
            </a:r>
            <a:endParaRPr b="0" i="0" sz="1100" u="none" cap="none" strike="noStrike">
              <a:solidFill>
                <a:schemeClr val="dk1"/>
              </a:solidFill>
              <a:latin typeface="Calibri"/>
              <a:ea typeface="Calibri"/>
              <a:cs typeface="Calibri"/>
              <a:sym typeface="Calibri"/>
            </a:endParaRPr>
          </a:p>
        </p:txBody>
      </p:sp>
      <p:sp>
        <p:nvSpPr>
          <p:cNvPr id="332" name="Google Shape;332;p18"/>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334" name="Google Shape;334;p18"/>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3-4 posts/week during peak recruitment; stories around events</a:t>
            </a:r>
            <a:endParaRPr b="0" i="0" sz="1100" u="none" cap="none" strike="noStrike">
              <a:solidFill>
                <a:schemeClr val="dk1"/>
              </a:solidFill>
              <a:latin typeface="Calibri"/>
              <a:ea typeface="Calibri"/>
              <a:cs typeface="Calibri"/>
              <a:sym typeface="Calibri"/>
            </a:endParaRPr>
          </a:p>
        </p:txBody>
      </p:sp>
      <p:sp>
        <p:nvSpPr>
          <p:cNvPr id="335" name="Google Shape;335;p18"/>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337" name="Google Shape;337;p18"/>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urgent posts need marketing manager approval</a:t>
            </a:r>
            <a:endParaRPr b="0" i="0" sz="1100" u="none" cap="none" strike="noStrike">
              <a:solidFill>
                <a:schemeClr val="dk1"/>
              </a:solidFill>
              <a:latin typeface="Calibri"/>
              <a:ea typeface="Calibri"/>
              <a:cs typeface="Calibri"/>
              <a:sym typeface="Calibri"/>
            </a:endParaRPr>
          </a:p>
        </p:txBody>
      </p:sp>
      <p:sp>
        <p:nvSpPr>
          <p:cNvPr id="338" name="Google Shape;338;p18"/>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WHAT YOU SEND COBE</a:t>
            </a:r>
            <a:endParaRPr b="0" i="0" sz="1000" u="none" cap="none" strike="noStrike">
              <a:solidFill>
                <a:schemeClr val="dk1"/>
              </a:solidFill>
              <a:latin typeface="Calibri"/>
              <a:ea typeface="Calibri"/>
              <a:cs typeface="Calibri"/>
              <a:sym typeface="Calibri"/>
            </a:endParaRPr>
          </a:p>
        </p:txBody>
      </p:sp>
      <p:sp>
        <p:nvSpPr>
          <p:cNvPr id="340" name="Google Shape;340;p18"/>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Event/program details, photos (min 1080px), registration link, goal/success metric.</a:t>
            </a:r>
            <a:endParaRPr b="0" i="0" sz="1100" u="none" cap="none" strike="noStrike">
              <a:solidFill>
                <a:schemeClr val="dk1"/>
              </a:solidFill>
              <a:latin typeface="Calibri"/>
              <a:ea typeface="Calibri"/>
              <a:cs typeface="Calibri"/>
              <a:sym typeface="Calibri"/>
            </a:endParaRPr>
          </a:p>
        </p:txBody>
      </p:sp>
      <p:sp>
        <p:nvSpPr>
          <p:cNvPr id="341" name="Google Shape;341;p18"/>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8"/>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PRO TIPS</a:t>
            </a:r>
            <a:endParaRPr b="0" i="0" sz="1000" u="none" cap="none" strike="noStrike">
              <a:solidFill>
                <a:schemeClr val="dk1"/>
              </a:solidFill>
              <a:latin typeface="Calibri"/>
              <a:ea typeface="Calibri"/>
              <a:cs typeface="Calibri"/>
              <a:sym typeface="Calibri"/>
            </a:endParaRPr>
          </a:p>
        </p:txBody>
      </p:sp>
      <p:sp>
        <p:nvSpPr>
          <p:cNvPr id="343" name="Google Shape;343;p18"/>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Reels outperform static posts for reach. Use Link Stickers in Stories. Always include a clear CTA.</a:t>
            </a:r>
            <a:endParaRPr b="0" i="0" sz="1100" u="none" cap="none" strike="noStrike">
              <a:solidFill>
                <a:schemeClr val="dk1"/>
              </a:solidFill>
              <a:latin typeface="Calibri"/>
              <a:ea typeface="Calibri"/>
              <a:cs typeface="Calibri"/>
              <a:sym typeface="Calibri"/>
            </a:endParaRPr>
          </a:p>
        </p:txBody>
      </p:sp>
      <p:sp>
        <p:nvSpPr>
          <p:cNvPr id="344" name="Google Shape;344;p18"/>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FUNNEL STAGE</a:t>
            </a:r>
            <a:endParaRPr b="0" i="0" sz="1000" u="none" cap="none" strike="noStrike">
              <a:solidFill>
                <a:schemeClr val="dk1"/>
              </a:solidFill>
              <a:latin typeface="Calibri"/>
              <a:ea typeface="Calibri"/>
              <a:cs typeface="Calibri"/>
              <a:sym typeface="Calibri"/>
            </a:endParaRPr>
          </a:p>
        </p:txBody>
      </p:sp>
      <p:sp>
        <p:nvSpPr>
          <p:cNvPr id="346" name="Google Shape;346;p18"/>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Awareness + Consideration. Best for current students and prospective undergrads.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50" name="Shape 350"/>
        <p:cNvGrpSpPr/>
        <p:nvPr/>
      </p:nvGrpSpPr>
      <p:grpSpPr>
        <a:xfrm>
          <a:off x="0" y="0"/>
          <a:ext cx="0" cy="0"/>
          <a:chOff x="0" y="0"/>
          <a:chExt cx="0" cy="0"/>
        </a:xfrm>
      </p:grpSpPr>
      <p:sp>
        <p:nvSpPr>
          <p:cNvPr id="351" name="Google Shape;351;p19"/>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9"/>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353" name="Google Shape;353;p1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354" name="Google Shape;354;p1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16</a:t>
            </a:r>
            <a:endParaRPr b="0" i="0" sz="1000" u="none" cap="none" strike="noStrike">
              <a:solidFill>
                <a:schemeClr val="dk1"/>
              </a:solidFill>
              <a:latin typeface="Calibri"/>
              <a:ea typeface="Calibri"/>
              <a:cs typeface="Calibri"/>
              <a:sym typeface="Calibri"/>
            </a:endParaRPr>
          </a:p>
        </p:txBody>
      </p:sp>
      <p:sp>
        <p:nvSpPr>
          <p:cNvPr id="355" name="Google Shape;355;p19"/>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Hands-Off: LinkedIn</a:t>
            </a:r>
            <a:endParaRPr b="0" i="0" sz="2600" u="none" cap="none" strike="noStrike">
              <a:solidFill>
                <a:schemeClr val="dk1"/>
              </a:solidFill>
              <a:latin typeface="Calibri"/>
              <a:ea typeface="Calibri"/>
              <a:cs typeface="Calibri"/>
              <a:sym typeface="Calibri"/>
            </a:endParaRPr>
          </a:p>
        </p:txBody>
      </p:sp>
      <p:sp>
        <p:nvSpPr>
          <p:cNvPr id="356" name="Google Shape;356;p19"/>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357" name="Google Shape;357;p19"/>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Employer partnerships, alumni highlights, professional storytelling. 1,700 followers.</a:t>
            </a:r>
            <a:endParaRPr b="0" i="0" sz="1100" u="none" cap="none" strike="noStrike">
              <a:solidFill>
                <a:schemeClr val="dk1"/>
              </a:solidFill>
              <a:latin typeface="Calibri"/>
              <a:ea typeface="Calibri"/>
              <a:cs typeface="Calibri"/>
              <a:sym typeface="Calibri"/>
            </a:endParaRPr>
          </a:p>
        </p:txBody>
      </p:sp>
      <p:sp>
        <p:nvSpPr>
          <p:cNvPr id="358" name="Google Shape;358;p19"/>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9"/>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ASSET TYPES</a:t>
            </a:r>
            <a:endParaRPr b="0" i="0" sz="1000" u="none" cap="none" strike="noStrike">
              <a:solidFill>
                <a:schemeClr val="dk1"/>
              </a:solidFill>
              <a:latin typeface="Calibri"/>
              <a:ea typeface="Calibri"/>
              <a:cs typeface="Calibri"/>
              <a:sym typeface="Calibri"/>
            </a:endParaRPr>
          </a:p>
        </p:txBody>
      </p:sp>
      <p:sp>
        <p:nvSpPr>
          <p:cNvPr id="360" name="Google Shape;360;p19"/>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Banners (1920x1080), articles, student spotlights, employer partnerships</a:t>
            </a:r>
            <a:endParaRPr b="0" i="0" sz="1100" u="none" cap="none" strike="noStrike">
              <a:solidFill>
                <a:schemeClr val="dk1"/>
              </a:solidFill>
              <a:latin typeface="Calibri"/>
              <a:ea typeface="Calibri"/>
              <a:cs typeface="Calibri"/>
              <a:sym typeface="Calibri"/>
            </a:endParaRPr>
          </a:p>
        </p:txBody>
      </p:sp>
      <p:sp>
        <p:nvSpPr>
          <p:cNvPr id="361" name="Google Shape;361;p19"/>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9"/>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363" name="Google Shape;363;p19"/>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2-3 posts/week; increase around fairs and mixers</a:t>
            </a:r>
            <a:endParaRPr b="0" i="0" sz="1100" u="none" cap="none" strike="noStrike">
              <a:solidFill>
                <a:schemeClr val="dk1"/>
              </a:solidFill>
              <a:latin typeface="Calibri"/>
              <a:ea typeface="Calibri"/>
              <a:cs typeface="Calibri"/>
              <a:sym typeface="Calibri"/>
            </a:endParaRPr>
          </a:p>
        </p:txBody>
      </p:sp>
      <p:sp>
        <p:nvSpPr>
          <p:cNvPr id="364" name="Google Shape;364;p19"/>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9"/>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366" name="Google Shape;366;p19"/>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webinars/events should be requested 3 weeks out</a:t>
            </a:r>
            <a:endParaRPr b="0" i="0" sz="1100" u="none" cap="none" strike="noStrike">
              <a:solidFill>
                <a:schemeClr val="dk1"/>
              </a:solidFill>
              <a:latin typeface="Calibri"/>
              <a:ea typeface="Calibri"/>
              <a:cs typeface="Calibri"/>
              <a:sym typeface="Calibri"/>
            </a:endParaRPr>
          </a:p>
        </p:txBody>
      </p:sp>
      <p:sp>
        <p:nvSpPr>
          <p:cNvPr id="367" name="Google Shape;367;p19"/>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9"/>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WHAT YOU SEND COBE</a:t>
            </a:r>
            <a:endParaRPr b="0" i="0" sz="1000" u="none" cap="none" strike="noStrike">
              <a:solidFill>
                <a:schemeClr val="dk1"/>
              </a:solidFill>
              <a:latin typeface="Calibri"/>
              <a:ea typeface="Calibri"/>
              <a:cs typeface="Calibri"/>
              <a:sym typeface="Calibri"/>
            </a:endParaRPr>
          </a:p>
        </p:txBody>
      </p:sp>
      <p:sp>
        <p:nvSpPr>
          <p:cNvPr id="369" name="Google Shape;369;p19"/>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Story/achievement details + outcome data. Partner names to tag. Photos, headshots, or PDF carousel.</a:t>
            </a:r>
            <a:endParaRPr b="0" i="0" sz="1100" u="none" cap="none" strike="noStrike">
              <a:solidFill>
                <a:schemeClr val="dk1"/>
              </a:solidFill>
              <a:latin typeface="Calibri"/>
              <a:ea typeface="Calibri"/>
              <a:cs typeface="Calibri"/>
              <a:sym typeface="Calibri"/>
            </a:endParaRPr>
          </a:p>
        </p:txBody>
      </p:sp>
      <p:sp>
        <p:nvSpPr>
          <p:cNvPr id="370" name="Google Shape;370;p19"/>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FACULTY ADVOCACY</a:t>
            </a:r>
            <a:endParaRPr b="0" i="0" sz="1000" u="none" cap="none" strike="noStrike">
              <a:solidFill>
                <a:schemeClr val="dk1"/>
              </a:solidFill>
              <a:latin typeface="Calibri"/>
              <a:ea typeface="Calibri"/>
              <a:cs typeface="Calibri"/>
              <a:sym typeface="Calibri"/>
            </a:endParaRPr>
          </a:p>
        </p:txBody>
      </p:sp>
      <p:sp>
        <p:nvSpPr>
          <p:cNvPr id="372" name="Google Shape;372;p19"/>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Faculty reshares with personal commentary generate 3-5x more engagement than brand-only posts.</a:t>
            </a:r>
            <a:endParaRPr b="0" i="0" sz="1100" u="none" cap="none" strike="noStrike">
              <a:solidFill>
                <a:schemeClr val="dk1"/>
              </a:solidFill>
              <a:latin typeface="Calibri"/>
              <a:ea typeface="Calibri"/>
              <a:cs typeface="Calibri"/>
              <a:sym typeface="Calibri"/>
            </a:endParaRPr>
          </a:p>
        </p:txBody>
      </p:sp>
      <p:sp>
        <p:nvSpPr>
          <p:cNvPr id="373" name="Google Shape;373;p19"/>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FUNNEL STAGE</a:t>
            </a:r>
            <a:endParaRPr b="0" i="0" sz="1000" u="none" cap="none" strike="noStrike">
              <a:solidFill>
                <a:schemeClr val="dk1"/>
              </a:solidFill>
              <a:latin typeface="Calibri"/>
              <a:ea typeface="Calibri"/>
              <a:cs typeface="Calibri"/>
              <a:sym typeface="Calibri"/>
            </a:endParaRPr>
          </a:p>
        </p:txBody>
      </p:sp>
      <p:sp>
        <p:nvSpPr>
          <p:cNvPr id="375" name="Google Shape;375;p19"/>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Consideration + Conversion. Best for employers, alumni, and graduate/CE prospects.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79" name="Shape 379"/>
        <p:cNvGrpSpPr/>
        <p:nvPr/>
      </p:nvGrpSpPr>
      <p:grpSpPr>
        <a:xfrm>
          <a:off x="0" y="0"/>
          <a:ext cx="0" cy="0"/>
          <a:chOff x="0" y="0"/>
          <a:chExt cx="0" cy="0"/>
        </a:xfrm>
      </p:grpSpPr>
      <p:sp>
        <p:nvSpPr>
          <p:cNvPr id="380" name="Google Shape;380;p20"/>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0"/>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382" name="Google Shape;382;p2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383" name="Google Shape;383;p2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17</a:t>
            </a:r>
            <a:endParaRPr b="0" i="0" sz="1000" u="none" cap="none" strike="noStrike">
              <a:solidFill>
                <a:schemeClr val="dk1"/>
              </a:solidFill>
              <a:latin typeface="Calibri"/>
              <a:ea typeface="Calibri"/>
              <a:cs typeface="Calibri"/>
              <a:sym typeface="Calibri"/>
            </a:endParaRPr>
          </a:p>
        </p:txBody>
      </p:sp>
      <p:sp>
        <p:nvSpPr>
          <p:cNvPr id="384" name="Google Shape;384;p20"/>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Hands-Off: Email Newsletter</a:t>
            </a:r>
            <a:endParaRPr b="0" i="0" sz="2600" u="none" cap="none" strike="noStrike">
              <a:solidFill>
                <a:schemeClr val="dk1"/>
              </a:solidFill>
              <a:latin typeface="Calibri"/>
              <a:ea typeface="Calibri"/>
              <a:cs typeface="Calibri"/>
              <a:sym typeface="Calibri"/>
            </a:endParaRPr>
          </a:p>
        </p:txBody>
      </p:sp>
      <p:sp>
        <p:nvSpPr>
          <p:cNvPr id="385" name="Google Shape;385;p20"/>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HIGHEST CONVERSION</a:t>
            </a:r>
            <a:endParaRPr b="0" i="0" sz="1000" u="none" cap="none" strike="noStrike">
              <a:solidFill>
                <a:schemeClr val="dk1"/>
              </a:solidFill>
              <a:latin typeface="Calibri"/>
              <a:ea typeface="Calibri"/>
              <a:cs typeface="Calibri"/>
              <a:sym typeface="Calibri"/>
            </a:endParaRPr>
          </a:p>
        </p:txBody>
      </p:sp>
      <p:sp>
        <p:nvSpPr>
          <p:cNvPr id="386" name="Google Shape;386;p20"/>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5,000+ subscribers. Highest conversion rate of any COBE channel. Direct inbox delivery.</a:t>
            </a:r>
            <a:endParaRPr b="0" i="0" sz="1100" u="none" cap="none" strike="noStrike">
              <a:solidFill>
                <a:schemeClr val="dk1"/>
              </a:solidFill>
              <a:latin typeface="Calibri"/>
              <a:ea typeface="Calibri"/>
              <a:cs typeface="Calibri"/>
              <a:sym typeface="Calibri"/>
            </a:endParaRPr>
          </a:p>
        </p:txBody>
      </p:sp>
      <p:sp>
        <p:nvSpPr>
          <p:cNvPr id="387" name="Google Shape;387;p20"/>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0"/>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NEWSLETTERS</a:t>
            </a:r>
            <a:endParaRPr b="0" i="0" sz="1000" u="none" cap="none" strike="noStrike">
              <a:solidFill>
                <a:schemeClr val="dk1"/>
              </a:solidFill>
              <a:latin typeface="Calibri"/>
              <a:ea typeface="Calibri"/>
              <a:cs typeface="Calibri"/>
              <a:sym typeface="Calibri"/>
            </a:endParaRPr>
          </a:p>
        </p:txBody>
      </p:sp>
      <p:sp>
        <p:nvSpPr>
          <p:cNvPr id="389" name="Google Shape;389;p20"/>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Student Events (weekly/biweekly) and Bronco Business News (monthly/quarterly)</a:t>
            </a:r>
            <a:endParaRPr b="0" i="0" sz="1100" u="none" cap="none" strike="noStrike">
              <a:solidFill>
                <a:schemeClr val="dk1"/>
              </a:solidFill>
              <a:latin typeface="Calibri"/>
              <a:ea typeface="Calibri"/>
              <a:cs typeface="Calibri"/>
              <a:sym typeface="Calibri"/>
            </a:endParaRPr>
          </a:p>
        </p:txBody>
      </p:sp>
      <p:sp>
        <p:nvSpPr>
          <p:cNvPr id="390" name="Google Shape;390;p20"/>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0"/>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SUBSCRIBER REACH</a:t>
            </a:r>
            <a:endParaRPr b="0" i="0" sz="1000" u="none" cap="none" strike="noStrike">
              <a:solidFill>
                <a:schemeClr val="dk1"/>
              </a:solidFill>
              <a:latin typeface="Calibri"/>
              <a:ea typeface="Calibri"/>
              <a:cs typeface="Calibri"/>
              <a:sym typeface="Calibri"/>
            </a:endParaRPr>
          </a:p>
        </p:txBody>
      </p:sp>
      <p:sp>
        <p:nvSpPr>
          <p:cNvPr id="392" name="Google Shape;392;p20"/>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5,000+ COBE subscribers across student and faculty lists</a:t>
            </a:r>
            <a:endParaRPr b="0" i="0" sz="1100" u="none" cap="none" strike="noStrike">
              <a:solidFill>
                <a:schemeClr val="dk1"/>
              </a:solidFill>
              <a:latin typeface="Calibri"/>
              <a:ea typeface="Calibri"/>
              <a:cs typeface="Calibri"/>
              <a:sym typeface="Calibri"/>
            </a:endParaRPr>
          </a:p>
        </p:txBody>
      </p:sp>
      <p:sp>
        <p:nvSpPr>
          <p:cNvPr id="393" name="Google Shape;393;p20"/>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0"/>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395" name="Google Shape;395;p20"/>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(simple), 15 business days (complex multi-section)</a:t>
            </a:r>
            <a:endParaRPr b="0" i="0" sz="1100" u="none" cap="none" strike="noStrike">
              <a:solidFill>
                <a:schemeClr val="dk1"/>
              </a:solidFill>
              <a:latin typeface="Calibri"/>
              <a:ea typeface="Calibri"/>
              <a:cs typeface="Calibri"/>
              <a:sym typeface="Calibri"/>
            </a:endParaRPr>
          </a:p>
        </p:txBody>
      </p:sp>
      <p:sp>
        <p:nvSpPr>
          <p:cNvPr id="396" name="Google Shape;396;p20"/>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0"/>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SUBJECT LINE</a:t>
            </a:r>
            <a:endParaRPr b="0" i="0" sz="1000" u="none" cap="none" strike="noStrike">
              <a:solidFill>
                <a:schemeClr val="dk1"/>
              </a:solidFill>
              <a:latin typeface="Calibri"/>
              <a:ea typeface="Calibri"/>
              <a:cs typeface="Calibri"/>
              <a:sym typeface="Calibri"/>
            </a:endParaRPr>
          </a:p>
        </p:txBody>
      </p:sp>
      <p:sp>
        <p:nvSpPr>
          <p:cNvPr id="398" name="Google Shape;398;p20"/>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Keep under 55 characters. Be specific. Include date if event-related.</a:t>
            </a:r>
            <a:endParaRPr b="0" i="0" sz="1100" u="none" cap="none" strike="noStrike">
              <a:solidFill>
                <a:schemeClr val="dk1"/>
              </a:solidFill>
              <a:latin typeface="Calibri"/>
              <a:ea typeface="Calibri"/>
              <a:cs typeface="Calibri"/>
              <a:sym typeface="Calibri"/>
            </a:endParaRPr>
          </a:p>
        </p:txBody>
      </p:sp>
      <p:sp>
        <p:nvSpPr>
          <p:cNvPr id="399" name="Google Shape;399;p20"/>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0"/>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WHAT YOU SEND COBE</a:t>
            </a:r>
            <a:endParaRPr b="0" i="0" sz="1000" u="none" cap="none" strike="noStrike">
              <a:solidFill>
                <a:schemeClr val="dk1"/>
              </a:solidFill>
              <a:latin typeface="Calibri"/>
              <a:ea typeface="Calibri"/>
              <a:cs typeface="Calibri"/>
              <a:sym typeface="Calibri"/>
            </a:endParaRPr>
          </a:p>
        </p:txBody>
      </p:sp>
      <p:sp>
        <p:nvSpPr>
          <p:cNvPr id="401" name="Google Shape;401;p20"/>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Event details + target audience, copy (≤20 words), CTA and final link, images with alt text.</a:t>
            </a:r>
            <a:endParaRPr b="0" i="0" sz="1100" u="none" cap="none" strike="noStrike">
              <a:solidFill>
                <a:schemeClr val="dk1"/>
              </a:solidFill>
              <a:latin typeface="Calibri"/>
              <a:ea typeface="Calibri"/>
              <a:cs typeface="Calibri"/>
              <a:sym typeface="Calibri"/>
            </a:endParaRPr>
          </a:p>
        </p:txBody>
      </p:sp>
      <p:sp>
        <p:nvSpPr>
          <p:cNvPr id="402" name="Google Shape;402;p20"/>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KEY INSIGHT (FROM KATE)</a:t>
            </a:r>
            <a:endParaRPr b="0" i="0" sz="1000" u="none" cap="none" strike="noStrike">
              <a:solidFill>
                <a:schemeClr val="dk1"/>
              </a:solidFill>
              <a:latin typeface="Calibri"/>
              <a:ea typeface="Calibri"/>
              <a:cs typeface="Calibri"/>
              <a:sym typeface="Calibri"/>
            </a:endParaRPr>
          </a:p>
        </p:txBody>
      </p:sp>
      <p:sp>
        <p:nvSpPr>
          <p:cNvPr id="404" name="Google Shape;404;p20"/>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Feature certificates every few months — not every newsletter. Vary messaging each time to avoid tune-out. Include events (career fairs, panels) as they happen.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8" name="Shape 408"/>
        <p:cNvGrpSpPr/>
        <p:nvPr/>
      </p:nvGrpSpPr>
      <p:grpSpPr>
        <a:xfrm>
          <a:off x="0" y="0"/>
          <a:ext cx="0" cy="0"/>
          <a:chOff x="0" y="0"/>
          <a:chExt cx="0" cy="0"/>
        </a:xfrm>
      </p:grpSpPr>
      <p:sp>
        <p:nvSpPr>
          <p:cNvPr id="409" name="Google Shape;409;p21"/>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1"/>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411" name="Google Shape;411;p2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412" name="Google Shape;412;p2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18</a:t>
            </a:r>
            <a:endParaRPr b="0" i="0" sz="1000" u="none" cap="none" strike="noStrike">
              <a:solidFill>
                <a:schemeClr val="dk1"/>
              </a:solidFill>
              <a:latin typeface="Calibri"/>
              <a:ea typeface="Calibri"/>
              <a:cs typeface="Calibri"/>
              <a:sym typeface="Calibri"/>
            </a:endParaRPr>
          </a:p>
        </p:txBody>
      </p:sp>
      <p:sp>
        <p:nvSpPr>
          <p:cNvPr id="413" name="Google Shape;413;p21"/>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Hands-Off: Internal Channels</a:t>
            </a:r>
            <a:endParaRPr b="0" i="0" sz="2600" u="none" cap="none" strike="noStrike">
              <a:solidFill>
                <a:schemeClr val="dk1"/>
              </a:solidFill>
              <a:latin typeface="Calibri"/>
              <a:ea typeface="Calibri"/>
              <a:cs typeface="Calibri"/>
              <a:sym typeface="Calibri"/>
            </a:endParaRPr>
          </a:p>
        </p:txBody>
      </p:sp>
      <p:sp>
        <p:nvSpPr>
          <p:cNvPr id="414" name="Google Shape;414;p21"/>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CLASSROOM SLIDES</a:t>
            </a:r>
            <a:endParaRPr b="0" i="0" sz="1000" u="none" cap="none" strike="noStrike">
              <a:solidFill>
                <a:schemeClr val="dk1"/>
              </a:solidFill>
              <a:latin typeface="Calibri"/>
              <a:ea typeface="Calibri"/>
              <a:cs typeface="Calibri"/>
              <a:sym typeface="Calibri"/>
            </a:endParaRPr>
          </a:p>
        </p:txBody>
      </p:sp>
      <p:sp>
        <p:nvSpPr>
          <p:cNvPr id="415" name="Google Shape;415;p21"/>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Display 3 min before class on instructor screen. High-visibility to captive audience. 5 day lead time.</a:t>
            </a:r>
            <a:endParaRPr b="0" i="0" sz="1100" u="none" cap="none" strike="noStrike">
              <a:solidFill>
                <a:schemeClr val="dk1"/>
              </a:solidFill>
              <a:latin typeface="Calibri"/>
              <a:ea typeface="Calibri"/>
              <a:cs typeface="Calibri"/>
              <a:sym typeface="Calibri"/>
            </a:endParaRPr>
          </a:p>
        </p:txBody>
      </p:sp>
      <p:sp>
        <p:nvSpPr>
          <p:cNvPr id="416" name="Google Shape;416;p21"/>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MBEB SCREENS</a:t>
            </a:r>
            <a:endParaRPr b="0" i="0" sz="1000" u="none" cap="none" strike="noStrike">
              <a:solidFill>
                <a:schemeClr val="dk1"/>
              </a:solidFill>
              <a:latin typeface="Calibri"/>
              <a:ea typeface="Calibri"/>
              <a:cs typeface="Calibri"/>
              <a:sym typeface="Calibri"/>
            </a:endParaRPr>
          </a:p>
        </p:txBody>
      </p:sp>
      <p:sp>
        <p:nvSpPr>
          <p:cNvPr id="418" name="Google Shape;418;p21"/>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Daily rotation on screens throughout MBEB. 1920x1080 JPG, dark bg, no logo overlay. 5 day lead time.</a:t>
            </a:r>
            <a:endParaRPr b="0" i="0" sz="1100" u="none" cap="none" strike="noStrike">
              <a:solidFill>
                <a:schemeClr val="dk1"/>
              </a:solidFill>
              <a:latin typeface="Calibri"/>
              <a:ea typeface="Calibri"/>
              <a:cs typeface="Calibri"/>
              <a:sym typeface="Calibri"/>
            </a:endParaRPr>
          </a:p>
        </p:txBody>
      </p:sp>
      <p:sp>
        <p:nvSpPr>
          <p:cNvPr id="419" name="Google Shape;419;p21"/>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CAMPUS SCREENS</a:t>
            </a:r>
            <a:endParaRPr b="0" i="0" sz="1000" u="none" cap="none" strike="noStrike">
              <a:solidFill>
                <a:schemeClr val="dk1"/>
              </a:solidFill>
              <a:latin typeface="Calibri"/>
              <a:ea typeface="Calibri"/>
              <a:cs typeface="Calibri"/>
              <a:sym typeface="Calibri"/>
            </a:endParaRPr>
          </a:p>
        </p:txBody>
      </p:sp>
      <p:sp>
        <p:nvSpPr>
          <p:cNvPr id="421" name="Google Shape;421;p21"/>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Library: 1280x720 | Housing: 1920x1080 | SUB: 768x1366 | Rec: 1920x1080. Submit 3-4 wks ahead.</a:t>
            </a:r>
            <a:endParaRPr b="0" i="0" sz="1100" u="none" cap="none" strike="noStrike">
              <a:solidFill>
                <a:schemeClr val="dk1"/>
              </a:solidFill>
              <a:latin typeface="Calibri"/>
              <a:ea typeface="Calibri"/>
              <a:cs typeface="Calibri"/>
              <a:sym typeface="Calibri"/>
            </a:endParaRPr>
          </a:p>
        </p:txBody>
      </p:sp>
      <p:sp>
        <p:nvSpPr>
          <p:cNvPr id="422" name="Google Shape;422;p21"/>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SUB PROMOS</a:t>
            </a:r>
            <a:endParaRPr b="0" i="0" sz="1000" u="none" cap="none" strike="noStrike">
              <a:solidFill>
                <a:schemeClr val="dk1"/>
              </a:solidFill>
              <a:latin typeface="Calibri"/>
              <a:ea typeface="Calibri"/>
              <a:cs typeface="Calibri"/>
              <a:sym typeface="Calibri"/>
            </a:endParaRPr>
          </a:p>
        </p:txBody>
      </p:sp>
      <p:sp>
        <p:nvSpPr>
          <p:cNvPr id="424" name="Google Shape;424;p21"/>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Toilet Talk (1000x1000 JPG, last Thursday of month). Digital displays. Social media posts.</a:t>
            </a:r>
            <a:endParaRPr b="0" i="0" sz="1100" u="none" cap="none" strike="noStrike">
              <a:solidFill>
                <a:schemeClr val="dk1"/>
              </a:solidFill>
              <a:latin typeface="Calibri"/>
              <a:ea typeface="Calibri"/>
              <a:cs typeface="Calibri"/>
              <a:sym typeface="Calibri"/>
            </a:endParaRPr>
          </a:p>
        </p:txBody>
      </p:sp>
      <p:sp>
        <p:nvSpPr>
          <p:cNvPr id="425" name="Google Shape;425;p21"/>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1"/>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WHAT YOU SEND COBE</a:t>
            </a:r>
            <a:endParaRPr b="0" i="0" sz="1000" u="none" cap="none" strike="noStrike">
              <a:solidFill>
                <a:schemeClr val="dk1"/>
              </a:solidFill>
              <a:latin typeface="Calibri"/>
              <a:ea typeface="Calibri"/>
              <a:cs typeface="Calibri"/>
              <a:sym typeface="Calibri"/>
            </a:endParaRPr>
          </a:p>
        </p:txBody>
      </p:sp>
      <p:sp>
        <p:nvSpPr>
          <p:cNvPr id="427" name="Google Shape;427;p21"/>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Event details, dates, QR code destination URL, photos/graphics if available.</a:t>
            </a:r>
            <a:endParaRPr b="0" i="0" sz="1100" u="none" cap="none" strike="noStrike">
              <a:solidFill>
                <a:schemeClr val="dk1"/>
              </a:solidFill>
              <a:latin typeface="Calibri"/>
              <a:ea typeface="Calibri"/>
              <a:cs typeface="Calibri"/>
              <a:sym typeface="Calibri"/>
            </a:endParaRPr>
          </a:p>
        </p:txBody>
      </p:sp>
      <p:sp>
        <p:nvSpPr>
          <p:cNvPr id="428" name="Google Shape;428;p21"/>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1"/>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WHAT TO PROVIDE</a:t>
            </a:r>
            <a:endParaRPr b="0" i="0" sz="1000" u="none" cap="none" strike="noStrike">
              <a:solidFill>
                <a:schemeClr val="dk1"/>
              </a:solidFill>
              <a:latin typeface="Calibri"/>
              <a:ea typeface="Calibri"/>
              <a:cs typeface="Calibri"/>
              <a:sym typeface="Calibri"/>
            </a:endParaRPr>
          </a:p>
        </p:txBody>
      </p:sp>
      <p:sp>
        <p:nvSpPr>
          <p:cNvPr id="430" name="Google Shape;430;p21"/>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Square-ish photo, short paragraph (value props), CTA button link</a:t>
            </a:r>
            <a:endParaRPr b="0" i="0" sz="1100" u="none" cap="none" strike="noStrike">
              <a:solidFill>
                <a:schemeClr val="dk1"/>
              </a:solidFill>
              <a:latin typeface="Calibri"/>
              <a:ea typeface="Calibri"/>
              <a:cs typeface="Calibri"/>
              <a:sym typeface="Calibri"/>
            </a:endParaRPr>
          </a:p>
        </p:txBody>
      </p:sp>
      <p:sp>
        <p:nvSpPr>
          <p:cNvPr id="431" name="Google Shape;431;p21"/>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1"/>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433" name="Google Shape;433;p21"/>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Classroom slides: 5 business days. MBEB screens: 5 business days. Other campus: 1.5-4 weeks.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37" name="Shape 437"/>
        <p:cNvGrpSpPr/>
        <p:nvPr/>
      </p:nvGrpSpPr>
      <p:grpSpPr>
        <a:xfrm>
          <a:off x="0" y="0"/>
          <a:ext cx="0" cy="0"/>
          <a:chOff x="0" y="0"/>
          <a:chExt cx="0" cy="0"/>
        </a:xfrm>
      </p:grpSpPr>
      <p:sp>
        <p:nvSpPr>
          <p:cNvPr id="438" name="Google Shape;438;p22"/>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440" name="Google Shape;440;p2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441" name="Google Shape;441;p2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19</a:t>
            </a:r>
            <a:endParaRPr b="0" i="0" sz="1000" u="none" cap="none" strike="noStrike">
              <a:solidFill>
                <a:schemeClr val="dk1"/>
              </a:solidFill>
              <a:latin typeface="Calibri"/>
              <a:ea typeface="Calibri"/>
              <a:cs typeface="Calibri"/>
              <a:sym typeface="Calibri"/>
            </a:endParaRPr>
          </a:p>
        </p:txBody>
      </p:sp>
      <p:sp>
        <p:nvSpPr>
          <p:cNvPr id="442" name="Google Shape;442;p22"/>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COBECAST Podcast</a:t>
            </a:r>
            <a:endParaRPr b="0" i="0" sz="2600" u="none" cap="none" strike="noStrike">
              <a:solidFill>
                <a:schemeClr val="dk1"/>
              </a:solidFill>
              <a:latin typeface="Calibri"/>
              <a:ea typeface="Calibri"/>
              <a:cs typeface="Calibri"/>
              <a:sym typeface="Calibri"/>
            </a:endParaRPr>
          </a:p>
        </p:txBody>
      </p:sp>
      <p:sp>
        <p:nvSpPr>
          <p:cNvPr id="443" name="Google Shape;443;p22"/>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444" name="Google Shape;444;p22"/>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Employer partnerships, alumni engagement, thought leadership, student recruiting influence.</a:t>
            </a:r>
            <a:endParaRPr b="0" i="0" sz="1100" u="none" cap="none" strike="noStrike">
              <a:solidFill>
                <a:schemeClr val="dk1"/>
              </a:solidFill>
              <a:latin typeface="Calibri"/>
              <a:ea typeface="Calibri"/>
              <a:cs typeface="Calibri"/>
              <a:sym typeface="Calibri"/>
            </a:endParaRPr>
          </a:p>
        </p:txBody>
      </p:sp>
      <p:sp>
        <p:nvSpPr>
          <p:cNvPr id="445" name="Google Shape;445;p22"/>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2"/>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FORMAT</a:t>
            </a:r>
            <a:endParaRPr b="0" i="0" sz="1000" u="none" cap="none" strike="noStrike">
              <a:solidFill>
                <a:schemeClr val="dk1"/>
              </a:solidFill>
              <a:latin typeface="Calibri"/>
              <a:ea typeface="Calibri"/>
              <a:cs typeface="Calibri"/>
              <a:sym typeface="Calibri"/>
            </a:endParaRPr>
          </a:p>
        </p:txBody>
      </p:sp>
      <p:sp>
        <p:nvSpPr>
          <p:cNvPr id="447" name="Google Shape;447;p22"/>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Audio podcast episodes featuring external industry guests coordinated with Career Services.</a:t>
            </a:r>
            <a:endParaRPr b="0" i="0" sz="1100" u="none" cap="none" strike="noStrike">
              <a:solidFill>
                <a:schemeClr val="dk1"/>
              </a:solidFill>
              <a:latin typeface="Calibri"/>
              <a:ea typeface="Calibri"/>
              <a:cs typeface="Calibri"/>
              <a:sym typeface="Calibri"/>
            </a:endParaRPr>
          </a:p>
        </p:txBody>
      </p:sp>
      <p:sp>
        <p:nvSpPr>
          <p:cNvPr id="448" name="Google Shape;448;p22"/>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2"/>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450" name="Google Shape;450;p22"/>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As needed; plan around key industry events, career fairs, or partnership launches.</a:t>
            </a:r>
            <a:endParaRPr b="0" i="0" sz="1100" u="none" cap="none" strike="noStrike">
              <a:solidFill>
                <a:schemeClr val="dk1"/>
              </a:solidFill>
              <a:latin typeface="Calibri"/>
              <a:ea typeface="Calibri"/>
              <a:cs typeface="Calibri"/>
              <a:sym typeface="Calibri"/>
            </a:endParaRPr>
          </a:p>
        </p:txBody>
      </p:sp>
      <p:sp>
        <p:nvSpPr>
          <p:cNvPr id="451" name="Google Shape;451;p22"/>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2"/>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453" name="Google Shape;453;p22"/>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3-4 weeks from guest identification to published episode. Coordinate with Career Services and Joe Morgan.</a:t>
            </a:r>
            <a:endParaRPr b="0" i="0" sz="1100" u="none" cap="none" strike="noStrike">
              <a:solidFill>
                <a:schemeClr val="dk1"/>
              </a:solidFill>
              <a:latin typeface="Calibri"/>
              <a:ea typeface="Calibri"/>
              <a:cs typeface="Calibri"/>
              <a:sym typeface="Calibri"/>
            </a:endParaRPr>
          </a:p>
        </p:txBody>
      </p:sp>
      <p:sp>
        <p:nvSpPr>
          <p:cNvPr id="454" name="Google Shape;454;p22"/>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2"/>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WORKFLOW SUMMARY</a:t>
            </a:r>
            <a:endParaRPr b="0" i="0" sz="1000" u="none" cap="none" strike="noStrike">
              <a:solidFill>
                <a:schemeClr val="dk1"/>
              </a:solidFill>
              <a:latin typeface="Calibri"/>
              <a:ea typeface="Calibri"/>
              <a:cs typeface="Calibri"/>
              <a:sym typeface="Calibri"/>
            </a:endParaRPr>
          </a:p>
        </p:txBody>
      </p:sp>
      <p:sp>
        <p:nvSpPr>
          <p:cNvPr id="456" name="Google Shape;456;p22"/>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Identify guest, coordinate with Career Services, pitch to Kate, schedule recording with Joe, promote via cobe-info channels.</a:t>
            </a:r>
            <a:endParaRPr b="0" i="0" sz="1100" u="none" cap="none" strike="noStrike">
              <a:solidFill>
                <a:schemeClr val="dk1"/>
              </a:solidFill>
              <a:latin typeface="Calibri"/>
              <a:ea typeface="Calibri"/>
              <a:cs typeface="Calibri"/>
              <a:sym typeface="Calibri"/>
            </a:endParaRPr>
          </a:p>
        </p:txBody>
      </p:sp>
      <p:sp>
        <p:nvSpPr>
          <p:cNvPr id="457" name="Google Shape;457;p22"/>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2"/>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HANDS-OFF / HANDS-ON</a:t>
            </a:r>
            <a:endParaRPr b="0" i="0" sz="1000" u="none" cap="none" strike="noStrike">
              <a:solidFill>
                <a:schemeClr val="dk1"/>
              </a:solidFill>
              <a:latin typeface="Calibri"/>
              <a:ea typeface="Calibri"/>
              <a:cs typeface="Calibri"/>
              <a:sym typeface="Calibri"/>
            </a:endParaRPr>
          </a:p>
        </p:txBody>
      </p:sp>
      <p:sp>
        <p:nvSpPr>
          <p:cNvPr id="459" name="Google Shape;459;p22"/>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Hands-Off: COBE coordinates logistics + promotion. Hands-On: Program team handles guest outreach + prep pack; COBE supports review + publishing.</a:t>
            </a:r>
            <a:endParaRPr b="0" i="0" sz="1100" u="none" cap="none" strike="noStrike">
              <a:solidFill>
                <a:schemeClr val="dk1"/>
              </a:solidFill>
              <a:latin typeface="Calibri"/>
              <a:ea typeface="Calibri"/>
              <a:cs typeface="Calibri"/>
              <a:sym typeface="Calibri"/>
            </a:endParaRPr>
          </a:p>
        </p:txBody>
      </p:sp>
      <p:sp>
        <p:nvSpPr>
          <p:cNvPr id="460" name="Google Shape;460;p22"/>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2"/>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CTA EXAMPLES</a:t>
            </a:r>
            <a:endParaRPr b="0" i="0" sz="1000" u="none" cap="none" strike="noStrike">
              <a:solidFill>
                <a:schemeClr val="dk1"/>
              </a:solidFill>
              <a:latin typeface="Calibri"/>
              <a:ea typeface="Calibri"/>
              <a:cs typeface="Calibri"/>
              <a:sym typeface="Calibri"/>
            </a:endParaRPr>
          </a:p>
        </p:txBody>
      </p:sp>
      <p:sp>
        <p:nvSpPr>
          <p:cNvPr id="462" name="Google Shape;462;p22"/>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"Listen now" | "Meet our guest at the career fair" | "Explore internship opportunities"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7" name="Shape 467"/>
        <p:cNvGrpSpPr/>
        <p:nvPr/>
      </p:nvGrpSpPr>
      <p:grpSpPr>
        <a:xfrm>
          <a:off x="0" y="0"/>
          <a:ext cx="0" cy="0"/>
          <a:chOff x="0" y="0"/>
          <a:chExt cx="0" cy="0"/>
        </a:xfrm>
      </p:grpSpPr>
      <p:sp>
        <p:nvSpPr>
          <p:cNvPr id="468" name="Google Shape;468;p2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469" name="Google Shape;469;p2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20</a:t>
            </a:r>
            <a:endParaRPr b="0" i="0" sz="1000" u="none" cap="none" strike="noStrike">
              <a:solidFill>
                <a:schemeClr val="dk1"/>
              </a:solidFill>
              <a:latin typeface="Calibri"/>
              <a:ea typeface="Calibri"/>
              <a:cs typeface="Calibri"/>
              <a:sym typeface="Calibri"/>
            </a:endParaRPr>
          </a:p>
        </p:txBody>
      </p:sp>
      <p:sp>
        <p:nvSpPr>
          <p:cNvPr id="470" name="Google Shape;470;p2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COBECAST: 6-Step Process</a:t>
            </a:r>
            <a:endParaRPr b="0" i="0" sz="2800" u="none" cap="none" strike="noStrike">
              <a:solidFill>
                <a:schemeClr val="dk1"/>
              </a:solidFill>
              <a:latin typeface="Calibri"/>
              <a:ea typeface="Calibri"/>
              <a:cs typeface="Calibri"/>
              <a:sym typeface="Calibri"/>
            </a:endParaRPr>
          </a:p>
        </p:txBody>
      </p:sp>
      <p:sp>
        <p:nvSpPr>
          <p:cNvPr id="471" name="Google Shape;471;p23"/>
          <p:cNvSpPr/>
          <p:nvPr/>
        </p:nvSpPr>
        <p:spPr>
          <a:xfrm>
            <a:off x="457200" y="112471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3"/>
          <p:cNvSpPr/>
          <p:nvPr/>
        </p:nvSpPr>
        <p:spPr>
          <a:xfrm>
            <a:off x="457200" y="1124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473" name="Google Shape;473;p23"/>
          <p:cNvSpPr/>
          <p:nvPr/>
        </p:nvSpPr>
        <p:spPr>
          <a:xfrm>
            <a:off x="1005840" y="1051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Identify the External Guest</a:t>
            </a:r>
            <a:endParaRPr b="0" i="0" sz="1200" u="none" cap="none" strike="noStrike">
              <a:solidFill>
                <a:schemeClr val="dk1"/>
              </a:solidFill>
              <a:latin typeface="Calibri"/>
              <a:ea typeface="Calibri"/>
              <a:cs typeface="Calibri"/>
              <a:sym typeface="Calibri"/>
            </a:endParaRPr>
          </a:p>
        </p:txBody>
      </p:sp>
      <p:sp>
        <p:nvSpPr>
          <p:cNvPr id="474" name="Google Shape;474;p23"/>
          <p:cNvSpPr/>
          <p:nvPr/>
        </p:nvSpPr>
        <p:spPr>
          <a:xfrm>
            <a:off x="1005840" y="132588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Industry professional, alumni, employer, or community partner who offers learning, career insight, leadership, or industry perspective (not promotion).</a:t>
            </a:r>
            <a:endParaRPr b="0" i="0" sz="950" u="none" cap="none" strike="noStrike">
              <a:solidFill>
                <a:schemeClr val="dk1"/>
              </a:solidFill>
              <a:latin typeface="Calibri"/>
              <a:ea typeface="Calibri"/>
              <a:cs typeface="Calibri"/>
              <a:sym typeface="Calibri"/>
            </a:endParaRPr>
          </a:p>
        </p:txBody>
      </p:sp>
      <p:sp>
        <p:nvSpPr>
          <p:cNvPr id="475" name="Google Shape;475;p23"/>
          <p:cNvSpPr/>
          <p:nvPr/>
        </p:nvSpPr>
        <p:spPr>
          <a:xfrm>
            <a:off x="457200" y="240487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3"/>
          <p:cNvSpPr/>
          <p:nvPr/>
        </p:nvSpPr>
        <p:spPr>
          <a:xfrm>
            <a:off x="457200" y="240487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477" name="Google Shape;477;p23"/>
          <p:cNvSpPr/>
          <p:nvPr/>
        </p:nvSpPr>
        <p:spPr>
          <a:xfrm>
            <a:off x="1005840" y="23317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Coordinate with Career Services</a:t>
            </a:r>
            <a:endParaRPr b="0" i="0" sz="1200" u="none" cap="none" strike="noStrike">
              <a:solidFill>
                <a:schemeClr val="dk1"/>
              </a:solidFill>
              <a:latin typeface="Calibri"/>
              <a:ea typeface="Calibri"/>
              <a:cs typeface="Calibri"/>
              <a:sym typeface="Calibri"/>
            </a:endParaRPr>
          </a:p>
        </p:txBody>
      </p:sp>
      <p:sp>
        <p:nvSpPr>
          <p:cNvPr id="478" name="Google Shape;478;p23"/>
          <p:cNvSpPr/>
          <p:nvPr/>
        </p:nvSpPr>
        <p:spPr>
          <a:xfrm>
            <a:off x="1005840" y="260604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Reach out to Laura Chiuppi (laurachiuppi@boisestate.edu) — ask if she'd like to be introduced to the guest, explore projects/internships, or have the guest speak in class.</a:t>
            </a:r>
            <a:endParaRPr b="0" i="0" sz="950" u="none" cap="none" strike="noStrike">
              <a:solidFill>
                <a:schemeClr val="dk1"/>
              </a:solidFill>
              <a:latin typeface="Calibri"/>
              <a:ea typeface="Calibri"/>
              <a:cs typeface="Calibri"/>
              <a:sym typeface="Calibri"/>
            </a:endParaRPr>
          </a:p>
        </p:txBody>
      </p:sp>
      <p:sp>
        <p:nvSpPr>
          <p:cNvPr id="479" name="Google Shape;479;p23"/>
          <p:cNvSpPr/>
          <p:nvPr/>
        </p:nvSpPr>
        <p:spPr>
          <a:xfrm>
            <a:off x="457200" y="368503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3"/>
          <p:cNvSpPr/>
          <p:nvPr/>
        </p:nvSpPr>
        <p:spPr>
          <a:xfrm>
            <a:off x="457200" y="368503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481" name="Google Shape;481;p23"/>
          <p:cNvSpPr/>
          <p:nvPr/>
        </p:nvSpPr>
        <p:spPr>
          <a:xfrm>
            <a:off x="1005840" y="36118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Pitch the Guest</a:t>
            </a:r>
            <a:endParaRPr b="0" i="0" sz="1200" u="none" cap="none" strike="noStrike">
              <a:solidFill>
                <a:schemeClr val="dk1"/>
              </a:solidFill>
              <a:latin typeface="Calibri"/>
              <a:ea typeface="Calibri"/>
              <a:cs typeface="Calibri"/>
              <a:sym typeface="Calibri"/>
            </a:endParaRPr>
          </a:p>
        </p:txBody>
      </p:sp>
      <p:sp>
        <p:nvSpPr>
          <p:cNvPr id="482" name="Google Shape;482;p23"/>
          <p:cNvSpPr/>
          <p:nvPr/>
        </p:nvSpPr>
        <p:spPr>
          <a:xfrm>
            <a:off x="1005840" y="388620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Send a brief email: who they are, why students benefit, and whether Career Services wants involvement. Get confirmation from Kate Watson before proceeding.</a:t>
            </a:r>
            <a:endParaRPr b="0" i="0" sz="950" u="none" cap="none" strike="noStrike">
              <a:solidFill>
                <a:schemeClr val="dk1"/>
              </a:solidFill>
              <a:latin typeface="Calibri"/>
              <a:ea typeface="Calibri"/>
              <a:cs typeface="Calibri"/>
              <a:sym typeface="Calibri"/>
            </a:endParaRPr>
          </a:p>
        </p:txBody>
      </p:sp>
      <p:sp>
        <p:nvSpPr>
          <p:cNvPr id="483" name="Google Shape;483;p23"/>
          <p:cNvSpPr/>
          <p:nvPr/>
        </p:nvSpPr>
        <p:spPr>
          <a:xfrm>
            <a:off x="4754880" y="112471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3"/>
          <p:cNvSpPr/>
          <p:nvPr/>
        </p:nvSpPr>
        <p:spPr>
          <a:xfrm>
            <a:off x="4754880" y="1124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485" name="Google Shape;485;p23"/>
          <p:cNvSpPr/>
          <p:nvPr/>
        </p:nvSpPr>
        <p:spPr>
          <a:xfrm>
            <a:off x="5303520" y="1051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Schedule the Recording</a:t>
            </a:r>
            <a:endParaRPr b="0" i="0" sz="1200" u="none" cap="none" strike="noStrike">
              <a:solidFill>
                <a:schemeClr val="dk1"/>
              </a:solidFill>
              <a:latin typeface="Calibri"/>
              <a:ea typeface="Calibri"/>
              <a:cs typeface="Calibri"/>
              <a:sym typeface="Calibri"/>
            </a:endParaRPr>
          </a:p>
        </p:txBody>
      </p:sp>
      <p:sp>
        <p:nvSpPr>
          <p:cNvPr id="486" name="Google Shape;486;p23"/>
          <p:cNvSpPr/>
          <p:nvPr/>
        </p:nvSpPr>
        <p:spPr>
          <a:xfrm>
            <a:off x="5303520" y="132588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Coordinate date/time via Calendly or email. Confirm with Joe Morgan (multimedia) for recording logistics. Send guest a prep sheet with topics and format.</a:t>
            </a:r>
            <a:endParaRPr b="0" i="0" sz="950" u="none" cap="none" strike="noStrike">
              <a:solidFill>
                <a:schemeClr val="dk1"/>
              </a:solidFill>
              <a:latin typeface="Calibri"/>
              <a:ea typeface="Calibri"/>
              <a:cs typeface="Calibri"/>
              <a:sym typeface="Calibri"/>
            </a:endParaRPr>
          </a:p>
        </p:txBody>
      </p:sp>
      <p:sp>
        <p:nvSpPr>
          <p:cNvPr id="487" name="Google Shape;487;p23"/>
          <p:cNvSpPr/>
          <p:nvPr/>
        </p:nvSpPr>
        <p:spPr>
          <a:xfrm>
            <a:off x="4754880" y="240487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3"/>
          <p:cNvSpPr/>
          <p:nvPr/>
        </p:nvSpPr>
        <p:spPr>
          <a:xfrm>
            <a:off x="4754880" y="240487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a:t>
            </a:r>
            <a:endParaRPr b="0" i="0" sz="1600" u="none" cap="none" strike="noStrike">
              <a:solidFill>
                <a:schemeClr val="dk1"/>
              </a:solidFill>
              <a:latin typeface="Calibri"/>
              <a:ea typeface="Calibri"/>
              <a:cs typeface="Calibri"/>
              <a:sym typeface="Calibri"/>
            </a:endParaRPr>
          </a:p>
        </p:txBody>
      </p:sp>
      <p:sp>
        <p:nvSpPr>
          <p:cNvPr id="489" name="Google Shape;489;p23"/>
          <p:cNvSpPr/>
          <p:nvPr/>
        </p:nvSpPr>
        <p:spPr>
          <a:xfrm>
            <a:off x="5303520" y="23317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Record &amp; Edit</a:t>
            </a:r>
            <a:endParaRPr b="0" i="0" sz="1200" u="none" cap="none" strike="noStrike">
              <a:solidFill>
                <a:schemeClr val="dk1"/>
              </a:solidFill>
              <a:latin typeface="Calibri"/>
              <a:ea typeface="Calibri"/>
              <a:cs typeface="Calibri"/>
              <a:sym typeface="Calibri"/>
            </a:endParaRPr>
          </a:p>
        </p:txBody>
      </p:sp>
      <p:sp>
        <p:nvSpPr>
          <p:cNvPr id="490" name="Google Shape;490;p23"/>
          <p:cNvSpPr/>
          <p:nvPr/>
        </p:nvSpPr>
        <p:spPr>
          <a:xfrm>
            <a:off x="5303520" y="260604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Joe handles recording and editing. Review final cut for accuracy. Add intro/outro if applicable.</a:t>
            </a:r>
            <a:endParaRPr b="0" i="0" sz="950" u="none" cap="none" strike="noStrike">
              <a:solidFill>
                <a:schemeClr val="dk1"/>
              </a:solidFill>
              <a:latin typeface="Calibri"/>
              <a:ea typeface="Calibri"/>
              <a:cs typeface="Calibri"/>
              <a:sym typeface="Calibri"/>
            </a:endParaRPr>
          </a:p>
        </p:txBody>
      </p:sp>
      <p:sp>
        <p:nvSpPr>
          <p:cNvPr id="491" name="Google Shape;491;p23"/>
          <p:cNvSpPr/>
          <p:nvPr/>
        </p:nvSpPr>
        <p:spPr>
          <a:xfrm>
            <a:off x="4754880" y="368503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3"/>
          <p:cNvSpPr/>
          <p:nvPr/>
        </p:nvSpPr>
        <p:spPr>
          <a:xfrm>
            <a:off x="4754880" y="368503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6</a:t>
            </a:r>
            <a:endParaRPr b="0" i="0" sz="1600" u="none" cap="none" strike="noStrike">
              <a:solidFill>
                <a:schemeClr val="dk1"/>
              </a:solidFill>
              <a:latin typeface="Calibri"/>
              <a:ea typeface="Calibri"/>
              <a:cs typeface="Calibri"/>
              <a:sym typeface="Calibri"/>
            </a:endParaRPr>
          </a:p>
        </p:txBody>
      </p:sp>
      <p:sp>
        <p:nvSpPr>
          <p:cNvPr id="493" name="Google Shape;493;p23"/>
          <p:cNvSpPr/>
          <p:nvPr/>
        </p:nvSpPr>
        <p:spPr>
          <a:xfrm>
            <a:off x="5303520" y="36118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Promote the Episode</a:t>
            </a:r>
            <a:endParaRPr b="0" i="0" sz="1200" u="none" cap="none" strike="noStrike">
              <a:solidFill>
                <a:schemeClr val="dk1"/>
              </a:solidFill>
              <a:latin typeface="Calibri"/>
              <a:ea typeface="Calibri"/>
              <a:cs typeface="Calibri"/>
              <a:sym typeface="Calibri"/>
            </a:endParaRPr>
          </a:p>
        </p:txBody>
      </p:sp>
      <p:sp>
        <p:nvSpPr>
          <p:cNvPr id="494" name="Google Shape;494;p23"/>
          <p:cNvSpPr/>
          <p:nvPr/>
        </p:nvSpPr>
        <p:spPr>
          <a:xfrm>
            <a:off x="5303520" y="388620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Submit promotion request to cobe-info@boisestate.edu: social posts, newsletter feature, LinkedIn. Tag guest and their organization.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9" name="Shape 499"/>
        <p:cNvGrpSpPr/>
        <p:nvPr/>
      </p:nvGrpSpPr>
      <p:grpSpPr>
        <a:xfrm>
          <a:off x="0" y="0"/>
          <a:ext cx="0" cy="0"/>
          <a:chOff x="0" y="0"/>
          <a:chExt cx="0" cy="0"/>
        </a:xfrm>
      </p:grpSpPr>
      <p:sp>
        <p:nvSpPr>
          <p:cNvPr id="500" name="Google Shape;500;p24"/>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502" name="Google Shape;502;p2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03" name="Google Shape;503;p2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21</a:t>
            </a:r>
            <a:endParaRPr b="0" i="0" sz="1000" u="none" cap="none" strike="noStrike">
              <a:solidFill>
                <a:schemeClr val="dk1"/>
              </a:solidFill>
              <a:latin typeface="Calibri"/>
              <a:ea typeface="Calibri"/>
              <a:cs typeface="Calibri"/>
              <a:sym typeface="Calibri"/>
            </a:endParaRPr>
          </a:p>
        </p:txBody>
      </p:sp>
      <p:sp>
        <p:nvSpPr>
          <p:cNvPr id="504" name="Google Shape;504;p2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Hands-Off Lead Time Reference</a:t>
            </a:r>
            <a:endParaRPr b="0" i="0" sz="2800" u="none" cap="none" strike="noStrike">
              <a:solidFill>
                <a:schemeClr val="dk1"/>
              </a:solidFill>
              <a:latin typeface="Calibri"/>
              <a:ea typeface="Calibri"/>
              <a:cs typeface="Calibri"/>
              <a:sym typeface="Calibri"/>
            </a:endParaRPr>
          </a:p>
        </p:txBody>
      </p:sp>
      <p:graphicFrame>
        <p:nvGraphicFramePr>
          <p:cNvPr id="505" name="Google Shape;505;p24"/>
          <p:cNvGraphicFramePr/>
          <p:nvPr/>
        </p:nvGraphicFramePr>
        <p:xfrm>
          <a:off x="457200" y="1051560"/>
          <a:ext cx="3000000" cy="3000000"/>
        </p:xfrm>
        <a:graphic>
          <a:graphicData uri="http://schemas.openxmlformats.org/drawingml/2006/table">
            <a:tbl>
              <a:tblPr>
                <a:noFill/>
                <a:tableStyleId>{AD4631F1-437D-4764-92B6-2A4562E18BC6}</a:tableStyleId>
              </a:tblPr>
              <a:tblGrid>
                <a:gridCol w="2286000"/>
                <a:gridCol w="1828800"/>
                <a:gridCol w="4114800"/>
              </a:tblGrid>
              <a:tr h="3657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Channel</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Lead Time</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Notes</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Instagram / LinkedIn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10 business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Urgent posts need marketing manager approval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Email Newsletter</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10-15 business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Complex multi-section newsletters need more lead time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Web / Landing Page Updates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10-15 business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Include exact copy, URL, alt text. New pages = 15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MBEB / Campus Screens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3-4 weeks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Submit graphic 3 weeks before desired display date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Events / Fairs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3-6 weeks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Longer for venue booking and partner coordination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Print (Posters/Shuttle)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2-3 weeks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Include FDCC funding string for printing costs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
        <p:nvSpPr>
          <p:cNvPr id="506" name="Google Shape;506;p24"/>
          <p:cNvSpPr/>
          <p:nvPr/>
        </p:nvSpPr>
        <p:spPr>
          <a:xfrm>
            <a:off x="457200" y="37490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HANDS-OFF REQUEST CHECKLIST</a:t>
            </a:r>
            <a:endParaRPr b="0" i="0" sz="1300" u="none" cap="none" strike="noStrike">
              <a:solidFill>
                <a:schemeClr val="dk1"/>
              </a:solidFill>
              <a:latin typeface="Calibri"/>
              <a:ea typeface="Calibri"/>
              <a:cs typeface="Calibri"/>
              <a:sym typeface="Calibri"/>
            </a:endParaRPr>
          </a:p>
        </p:txBody>
      </p:sp>
      <p:sp>
        <p:nvSpPr>
          <p:cNvPr id="507" name="Google Shape;507;p24"/>
          <p:cNvSpPr/>
          <p:nvPr/>
        </p:nvSpPr>
        <p:spPr>
          <a:xfrm>
            <a:off x="640080" y="4023360"/>
            <a:ext cx="77724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Email sent to cobe-info@boisestate.edu with correct subject line format</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Event/program details included (Who, What, When, Where)</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Registration or CTA link provided</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Photos/logos attached (if available)</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Approval contact name and email included</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Sent at least 10 business days before target date (5 days for classroom slides/MBEB screens)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512" name="Shape 512"/>
        <p:cNvGrpSpPr/>
        <p:nvPr/>
      </p:nvGrpSpPr>
      <p:grpSpPr>
        <a:xfrm>
          <a:off x="0" y="0"/>
          <a:ext cx="0" cy="0"/>
          <a:chOff x="0" y="0"/>
          <a:chExt cx="0" cy="0"/>
        </a:xfrm>
      </p:grpSpPr>
      <p:sp>
        <p:nvSpPr>
          <p:cNvPr id="513" name="Google Shape;513;p25"/>
          <p:cNvSpPr/>
          <p:nvPr/>
        </p:nvSpPr>
        <p:spPr>
          <a:xfrm>
            <a:off x="0" y="0"/>
            <a:ext cx="9144000" cy="5143500"/>
          </a:xfrm>
          <a:prstGeom prst="rect">
            <a:avLst/>
          </a:prstGeom>
          <a:solidFill>
            <a:srgbClr val="7C2D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0" y="0"/>
            <a:ext cx="109728" cy="51435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5"/>
          <p:cNvSpPr/>
          <p:nvPr/>
        </p:nvSpPr>
        <p:spPr>
          <a:xfrm>
            <a:off x="548640" y="9144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800"/>
              <a:buFont typeface="Arial"/>
              <a:buNone/>
            </a:pPr>
            <a:r>
              <a:rPr b="1" i="0" lang="en-US" sz="1800" u="none" cap="none" strike="noStrike">
                <a:solidFill>
                  <a:srgbClr val="F97316"/>
                </a:solidFill>
                <a:latin typeface="Arial"/>
                <a:ea typeface="Arial"/>
                <a:cs typeface="Arial"/>
                <a:sym typeface="Arial"/>
              </a:rPr>
              <a:t>PATH 2</a:t>
            </a:r>
            <a:endParaRPr b="0" i="0" sz="1800" u="none" cap="none" strike="noStrike">
              <a:solidFill>
                <a:schemeClr val="dk1"/>
              </a:solidFill>
              <a:latin typeface="Calibri"/>
              <a:ea typeface="Calibri"/>
              <a:cs typeface="Calibri"/>
              <a:sym typeface="Calibri"/>
            </a:endParaRPr>
          </a:p>
        </p:txBody>
      </p:sp>
      <p:sp>
        <p:nvSpPr>
          <p:cNvPr id="516" name="Google Shape;516;p25"/>
          <p:cNvSpPr/>
          <p:nvPr/>
        </p:nvSpPr>
        <p:spPr>
          <a:xfrm>
            <a:off x="548640" y="1463040"/>
            <a:ext cx="7315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i="0" lang="en-US" sz="5200" u="none" cap="none" strike="noStrike">
                <a:solidFill>
                  <a:srgbClr val="FFFFFF"/>
                </a:solidFill>
                <a:latin typeface="Georgia"/>
                <a:ea typeface="Georgia"/>
                <a:cs typeface="Georgia"/>
                <a:sym typeface="Georgia"/>
              </a:rPr>
              <a:t>HANDS-ON</a:t>
            </a:r>
            <a:endParaRPr b="0" i="0" sz="5200" u="none" cap="none" strike="noStrike">
              <a:solidFill>
                <a:schemeClr val="dk1"/>
              </a:solidFill>
              <a:latin typeface="Calibri"/>
              <a:ea typeface="Calibri"/>
              <a:cs typeface="Calibri"/>
              <a:sym typeface="Calibri"/>
            </a:endParaRPr>
          </a:p>
        </p:txBody>
      </p:sp>
      <p:sp>
        <p:nvSpPr>
          <p:cNvPr id="517" name="Google Shape;517;p25"/>
          <p:cNvSpPr/>
          <p:nvPr/>
        </p:nvSpPr>
        <p:spPr>
          <a:xfrm>
            <a:off x="548640" y="256032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DIY With Support</a:t>
            </a:r>
            <a:endParaRPr b="0" i="0" sz="2200" u="none" cap="none" strike="noStrike">
              <a:solidFill>
                <a:schemeClr val="dk1"/>
              </a:solidFill>
              <a:latin typeface="Calibri"/>
              <a:ea typeface="Calibri"/>
              <a:cs typeface="Calibri"/>
              <a:sym typeface="Calibri"/>
            </a:endParaRPr>
          </a:p>
        </p:txBody>
      </p:sp>
      <p:sp>
        <p:nvSpPr>
          <p:cNvPr id="518" name="Google Shape;518;p25"/>
          <p:cNvSpPr/>
          <p:nvPr/>
        </p:nvSpPr>
        <p:spPr>
          <a:xfrm>
            <a:off x="548640" y="3291840"/>
            <a:ext cx="1828800" cy="36576"/>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
          <p:cNvSpPr/>
          <p:nvPr/>
        </p:nvSpPr>
        <p:spPr>
          <a:xfrm>
            <a:off x="548640" y="3520440"/>
            <a:ext cx="64008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You build the content using our templates.</a:t>
            </a:r>
            <a:endParaRPr b="0" i="0" sz="14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We review, approve, and help you publish.</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4" name="Shape 524"/>
        <p:cNvGrpSpPr/>
        <p:nvPr/>
      </p:nvGrpSpPr>
      <p:grpSpPr>
        <a:xfrm>
          <a:off x="0" y="0"/>
          <a:ext cx="0" cy="0"/>
          <a:chOff x="0" y="0"/>
          <a:chExt cx="0" cy="0"/>
        </a:xfrm>
      </p:grpSpPr>
      <p:sp>
        <p:nvSpPr>
          <p:cNvPr id="525" name="Google Shape;525;p26"/>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6"/>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527" name="Google Shape;527;p2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28" name="Google Shape;528;p2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23</a:t>
            </a:r>
            <a:endParaRPr b="0" i="0" sz="1000" u="none" cap="none" strike="noStrike">
              <a:solidFill>
                <a:schemeClr val="dk1"/>
              </a:solidFill>
              <a:latin typeface="Calibri"/>
              <a:ea typeface="Calibri"/>
              <a:cs typeface="Calibri"/>
              <a:sym typeface="Calibri"/>
            </a:endParaRPr>
          </a:p>
        </p:txBody>
      </p:sp>
      <p:sp>
        <p:nvSpPr>
          <p:cNvPr id="529" name="Google Shape;529;p26"/>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What Is Hands-On?</a:t>
            </a:r>
            <a:endParaRPr b="0" i="0" sz="3200" u="none" cap="none" strike="noStrike">
              <a:solidFill>
                <a:schemeClr val="dk1"/>
              </a:solidFill>
              <a:latin typeface="Calibri"/>
              <a:ea typeface="Calibri"/>
              <a:cs typeface="Calibri"/>
              <a:sym typeface="Calibri"/>
            </a:endParaRPr>
          </a:p>
        </p:txBody>
      </p:sp>
      <p:sp>
        <p:nvSpPr>
          <p:cNvPr id="530" name="Google Shape;530;p26"/>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For teams ready to create their own content with guidance and guardrails.</a:t>
            </a:r>
            <a:endParaRPr b="0" i="0" sz="1400" u="none" cap="none" strike="noStrike">
              <a:solidFill>
                <a:schemeClr val="dk1"/>
              </a:solidFill>
              <a:latin typeface="Calibri"/>
              <a:ea typeface="Calibri"/>
              <a:cs typeface="Calibri"/>
              <a:sym typeface="Calibri"/>
            </a:endParaRPr>
          </a:p>
        </p:txBody>
      </p:sp>
      <p:sp>
        <p:nvSpPr>
          <p:cNvPr id="531" name="Google Shape;531;p26"/>
          <p:cNvSpPr/>
          <p:nvPr/>
        </p:nvSpPr>
        <p:spPr>
          <a:xfrm>
            <a:off x="457200" y="1371600"/>
            <a:ext cx="3840480" cy="20116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6"/>
          <p:cNvSpPr/>
          <p:nvPr/>
        </p:nvSpPr>
        <p:spPr>
          <a:xfrm>
            <a:off x="457200" y="1371600"/>
            <a:ext cx="54864" cy="20116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6"/>
          <p:cNvSpPr/>
          <p:nvPr/>
        </p:nvSpPr>
        <p:spPr>
          <a:xfrm>
            <a:off x="685800" y="14630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300"/>
              <a:buFont typeface="Arial"/>
              <a:buNone/>
            </a:pPr>
            <a:r>
              <a:rPr b="1" i="0" lang="en-US" sz="1300" u="none" cap="none" strike="noStrike">
                <a:solidFill>
                  <a:srgbClr val="F97316"/>
                </a:solidFill>
                <a:latin typeface="Arial"/>
                <a:ea typeface="Arial"/>
                <a:cs typeface="Arial"/>
                <a:sym typeface="Arial"/>
              </a:rPr>
              <a:t>WHAT YOU CREATE</a:t>
            </a:r>
            <a:endParaRPr b="0" i="0" sz="1300" u="none" cap="none" strike="noStrike">
              <a:solidFill>
                <a:schemeClr val="dk1"/>
              </a:solidFill>
              <a:latin typeface="Calibri"/>
              <a:ea typeface="Calibri"/>
              <a:cs typeface="Calibri"/>
              <a:sym typeface="Calibri"/>
            </a:endParaRPr>
          </a:p>
        </p:txBody>
      </p:sp>
      <p:sp>
        <p:nvSpPr>
          <p:cNvPr id="534" name="Google Shape;534;p26"/>
          <p:cNvSpPr/>
          <p:nvPr/>
        </p:nvSpPr>
        <p:spPr>
          <a:xfrm>
            <a:off x="685800" y="1783080"/>
            <a:ext cx="3474720" cy="1371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Draft copy using our copy frameworks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Design graphics using brand templates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Build a posting schedule with cadence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Set up tracking (UTM links, QR codes)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Develop a budget plan (if paid channels)</a:t>
            </a:r>
            <a:endParaRPr b="0" i="0" sz="1100" u="none" cap="none" strike="noStrike">
              <a:solidFill>
                <a:schemeClr val="dk1"/>
              </a:solidFill>
              <a:latin typeface="Calibri"/>
              <a:ea typeface="Calibri"/>
              <a:cs typeface="Calibri"/>
              <a:sym typeface="Calibri"/>
            </a:endParaRPr>
          </a:p>
        </p:txBody>
      </p:sp>
      <p:sp>
        <p:nvSpPr>
          <p:cNvPr id="535" name="Google Shape;535;p26"/>
          <p:cNvSpPr/>
          <p:nvPr/>
        </p:nvSpPr>
        <p:spPr>
          <a:xfrm>
            <a:off x="4846320" y="1371600"/>
            <a:ext cx="3840480" cy="20116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6"/>
          <p:cNvSpPr/>
          <p:nvPr/>
        </p:nvSpPr>
        <p:spPr>
          <a:xfrm>
            <a:off x="4846320" y="1371600"/>
            <a:ext cx="54864" cy="20116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6"/>
          <p:cNvSpPr/>
          <p:nvPr/>
        </p:nvSpPr>
        <p:spPr>
          <a:xfrm>
            <a:off x="5074920" y="14630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WHAT WE PROVIDE</a:t>
            </a:r>
            <a:endParaRPr b="0" i="0" sz="1300" u="none" cap="none" strike="noStrike">
              <a:solidFill>
                <a:schemeClr val="dk1"/>
              </a:solidFill>
              <a:latin typeface="Calibri"/>
              <a:ea typeface="Calibri"/>
              <a:cs typeface="Calibri"/>
              <a:sym typeface="Calibri"/>
            </a:endParaRPr>
          </a:p>
        </p:txBody>
      </p:sp>
      <p:sp>
        <p:nvSpPr>
          <p:cNvPr id="538" name="Google Shape;538;p26"/>
          <p:cNvSpPr/>
          <p:nvPr/>
        </p:nvSpPr>
        <p:spPr>
          <a:xfrm>
            <a:off x="5074920" y="1783080"/>
            <a:ext cx="3474720" cy="1371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Template repository (social, email, budget)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Brand guidelines and asset specs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Copy and design feedback</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Final brand compliance review</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Publishing and scheduling support</a:t>
            </a:r>
            <a:endParaRPr b="0" i="0" sz="1100" u="none" cap="none" strike="noStrike">
              <a:solidFill>
                <a:schemeClr val="dk1"/>
              </a:solidFill>
              <a:latin typeface="Calibri"/>
              <a:ea typeface="Calibri"/>
              <a:cs typeface="Calibri"/>
              <a:sym typeface="Calibri"/>
            </a:endParaRPr>
          </a:p>
        </p:txBody>
      </p:sp>
      <p:sp>
        <p:nvSpPr>
          <p:cNvPr id="539" name="Google Shape;539;p26"/>
          <p:cNvSpPr/>
          <p:nvPr/>
        </p:nvSpPr>
        <p:spPr>
          <a:xfrm>
            <a:off x="457200" y="3566160"/>
            <a:ext cx="8229600" cy="109728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6"/>
          <p:cNvSpPr/>
          <p:nvPr/>
        </p:nvSpPr>
        <p:spPr>
          <a:xfrm>
            <a:off x="685800" y="365760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PREREQUISITES</a:t>
            </a:r>
            <a:endParaRPr b="0" i="0" sz="1200" u="none" cap="none" strike="noStrike">
              <a:solidFill>
                <a:schemeClr val="dk1"/>
              </a:solidFill>
              <a:latin typeface="Calibri"/>
              <a:ea typeface="Calibri"/>
              <a:cs typeface="Calibri"/>
              <a:sym typeface="Calibri"/>
            </a:endParaRPr>
          </a:p>
        </p:txBody>
      </p:sp>
      <p:sp>
        <p:nvSpPr>
          <p:cNvPr id="541" name="Google Shape;541;p26"/>
          <p:cNvSpPr/>
          <p:nvPr/>
        </p:nvSpPr>
        <p:spPr>
          <a:xfrm>
            <a:off x="685800" y="3977640"/>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Access to template repository </a:t>
            </a:r>
            <a:r>
              <a:rPr b="0" i="0" lang="en-US" sz="1000" u="none" cap="none" strike="noStrike">
                <a:solidFill>
                  <a:srgbClr val="64748B"/>
                </a:solidFill>
                <a:latin typeface="Arial"/>
                <a:ea typeface="Arial"/>
                <a:cs typeface="Arial"/>
                <a:sym typeface="Arial"/>
              </a:rPr>
              <a:t>(shared Google Drive folder)</a:t>
            </a:r>
            <a:r>
              <a:rPr b="0" i="0" lang="en-US" sz="1000" u="none" cap="none" strike="noStrike">
                <a:solidFill>
                  <a:srgbClr val="CBD5E1"/>
                </a:solidFill>
                <a:latin typeface="Arial"/>
                <a:ea typeface="Arial"/>
                <a:cs typeface="Arial"/>
                <a:sym typeface="Arial"/>
              </a:rPr>
              <a:t>  |  </a:t>
            </a:r>
            <a:r>
              <a:rPr b="0" i="0" lang="en-US" sz="1000" u="none" cap="none" strike="noStrike">
                <a:solidFill>
                  <a:srgbClr val="334155"/>
                </a:solidFill>
                <a:latin typeface="Arial"/>
                <a:ea typeface="Arial"/>
                <a:cs typeface="Arial"/>
                <a:sym typeface="Arial"/>
              </a:rPr>
              <a:t>Basic design tool </a:t>
            </a:r>
            <a:r>
              <a:rPr b="0" i="0" lang="en-US" sz="1000" u="none" cap="none" strike="noStrike">
                <a:solidFill>
                  <a:srgbClr val="64748B"/>
                </a:solidFill>
                <a:latin typeface="Arial"/>
                <a:ea typeface="Arial"/>
                <a:cs typeface="Arial"/>
                <a:sym typeface="Arial"/>
              </a:rPr>
              <a:t>(Canva, Slides, or InDesign)</a:t>
            </a:r>
            <a:r>
              <a:rPr b="0" i="0" lang="en-US" sz="1000" u="none" cap="none" strike="noStrike">
                <a:solidFill>
                  <a:srgbClr val="CBD5E1"/>
                </a:solidFill>
                <a:latin typeface="Arial"/>
                <a:ea typeface="Arial"/>
                <a:cs typeface="Arial"/>
                <a:sym typeface="Arial"/>
              </a:rPr>
              <a:t>  |  </a:t>
            </a:r>
            <a:r>
              <a:rPr b="0" i="0" lang="en-US" sz="1000" u="none" cap="none" strike="noStrike">
                <a:solidFill>
                  <a:srgbClr val="334155"/>
                </a:solidFill>
                <a:latin typeface="Arial"/>
                <a:ea typeface="Arial"/>
                <a:cs typeface="Arial"/>
                <a:sym typeface="Arial"/>
              </a:rPr>
              <a:t>WordPress access </a:t>
            </a:r>
            <a:r>
              <a:rPr b="0" i="0" lang="en-US" sz="1000" u="none" cap="none" strike="noStrike">
                <a:solidFill>
                  <a:srgbClr val="64748B"/>
                </a:solidFill>
                <a:latin typeface="Arial"/>
                <a:ea typeface="Arial"/>
                <a:cs typeface="Arial"/>
                <a:sym typeface="Arial"/>
              </a:rPr>
              <a:t>(requires accessibility training)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46" name="Shape 546"/>
        <p:cNvGrpSpPr/>
        <p:nvPr/>
      </p:nvGrpSpPr>
      <p:grpSpPr>
        <a:xfrm>
          <a:off x="0" y="0"/>
          <a:ext cx="0" cy="0"/>
          <a:chOff x="0" y="0"/>
          <a:chExt cx="0" cy="0"/>
        </a:xfrm>
      </p:grpSpPr>
      <p:sp>
        <p:nvSpPr>
          <p:cNvPr id="547" name="Google Shape;547;p27"/>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549" name="Google Shape;549;p2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50" name="Google Shape;550;p2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24</a:t>
            </a:r>
            <a:endParaRPr b="0" i="0" sz="1000" u="none" cap="none" strike="noStrike">
              <a:solidFill>
                <a:schemeClr val="dk1"/>
              </a:solidFill>
              <a:latin typeface="Calibri"/>
              <a:ea typeface="Calibri"/>
              <a:cs typeface="Calibri"/>
              <a:sym typeface="Calibri"/>
            </a:endParaRPr>
          </a:p>
        </p:txBody>
      </p:sp>
      <p:sp>
        <p:nvSpPr>
          <p:cNvPr id="551" name="Google Shape;551;p27"/>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Hands-On Workflow: 10 Steps</a:t>
            </a:r>
            <a:endParaRPr b="0" i="0" sz="2800" u="none" cap="none" strike="noStrike">
              <a:solidFill>
                <a:schemeClr val="dk1"/>
              </a:solidFill>
              <a:latin typeface="Calibri"/>
              <a:ea typeface="Calibri"/>
              <a:cs typeface="Calibri"/>
              <a:sym typeface="Calibri"/>
            </a:endParaRPr>
          </a:p>
        </p:txBody>
      </p:sp>
      <p:sp>
        <p:nvSpPr>
          <p:cNvPr id="552" name="Google Shape;552;p27"/>
          <p:cNvSpPr/>
          <p:nvPr/>
        </p:nvSpPr>
        <p:spPr>
          <a:xfrm>
            <a:off x="457200" y="109728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7"/>
          <p:cNvSpPr/>
          <p:nvPr/>
        </p:nvSpPr>
        <p:spPr>
          <a:xfrm>
            <a:off x="457200" y="10972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554" name="Google Shape;554;p27"/>
          <p:cNvSpPr/>
          <p:nvPr/>
        </p:nvSpPr>
        <p:spPr>
          <a:xfrm>
            <a:off x="1005840" y="10515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Select goal + channels</a:t>
            </a:r>
            <a:endParaRPr b="0" i="0" sz="1200" u="none" cap="none" strike="noStrike">
              <a:solidFill>
                <a:schemeClr val="dk1"/>
              </a:solidFill>
              <a:latin typeface="Calibri"/>
              <a:ea typeface="Calibri"/>
              <a:cs typeface="Calibri"/>
              <a:sym typeface="Calibri"/>
            </a:endParaRPr>
          </a:p>
        </p:txBody>
      </p:sp>
      <p:sp>
        <p:nvSpPr>
          <p:cNvPr id="555" name="Google Shape;555;p27"/>
          <p:cNvSpPr/>
          <p:nvPr/>
        </p:nvSpPr>
        <p:spPr>
          <a:xfrm>
            <a:off x="1005840" y="130759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Define your objective and pick channels from the decision helper.</a:t>
            </a:r>
            <a:endParaRPr b="0" i="0" sz="1000" u="none" cap="none" strike="noStrike">
              <a:solidFill>
                <a:schemeClr val="dk1"/>
              </a:solidFill>
              <a:latin typeface="Calibri"/>
              <a:ea typeface="Calibri"/>
              <a:cs typeface="Calibri"/>
              <a:sym typeface="Calibri"/>
            </a:endParaRPr>
          </a:p>
        </p:txBody>
      </p:sp>
      <p:sp>
        <p:nvSpPr>
          <p:cNvPr id="556" name="Google Shape;556;p27"/>
          <p:cNvSpPr/>
          <p:nvPr/>
        </p:nvSpPr>
        <p:spPr>
          <a:xfrm>
            <a:off x="457200" y="187452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7"/>
          <p:cNvSpPr/>
          <p:nvPr/>
        </p:nvSpPr>
        <p:spPr>
          <a:xfrm>
            <a:off x="457200" y="1874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558" name="Google Shape;558;p27"/>
          <p:cNvSpPr/>
          <p:nvPr/>
        </p:nvSpPr>
        <p:spPr>
          <a:xfrm>
            <a:off x="1005840" y="182880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Pull correct template</a:t>
            </a:r>
            <a:endParaRPr b="0" i="0" sz="1200" u="none" cap="none" strike="noStrike">
              <a:solidFill>
                <a:schemeClr val="dk1"/>
              </a:solidFill>
              <a:latin typeface="Calibri"/>
              <a:ea typeface="Calibri"/>
              <a:cs typeface="Calibri"/>
              <a:sym typeface="Calibri"/>
            </a:endParaRPr>
          </a:p>
        </p:txBody>
      </p:sp>
      <p:sp>
        <p:nvSpPr>
          <p:cNvPr id="559" name="Google Shape;559;p27"/>
          <p:cNvSpPr/>
          <p:nvPr/>
        </p:nvSpPr>
        <p:spPr>
          <a:xfrm>
            <a:off x="1005840" y="208483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Download social, email, or budget template from the shared repository.</a:t>
            </a:r>
            <a:endParaRPr b="0" i="0" sz="1000" u="none" cap="none" strike="noStrike">
              <a:solidFill>
                <a:schemeClr val="dk1"/>
              </a:solidFill>
              <a:latin typeface="Calibri"/>
              <a:ea typeface="Calibri"/>
              <a:cs typeface="Calibri"/>
              <a:sym typeface="Calibri"/>
            </a:endParaRPr>
          </a:p>
        </p:txBody>
      </p:sp>
      <p:sp>
        <p:nvSpPr>
          <p:cNvPr id="560" name="Google Shape;560;p27"/>
          <p:cNvSpPr/>
          <p:nvPr/>
        </p:nvSpPr>
        <p:spPr>
          <a:xfrm>
            <a:off x="457200" y="265176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7"/>
          <p:cNvSpPr/>
          <p:nvPr/>
        </p:nvSpPr>
        <p:spPr>
          <a:xfrm>
            <a:off x="457200" y="26517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562" name="Google Shape;562;p27"/>
          <p:cNvSpPr/>
          <p:nvPr/>
        </p:nvSpPr>
        <p:spPr>
          <a:xfrm>
            <a:off x="1005840" y="260604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Draft copy</a:t>
            </a:r>
            <a:endParaRPr b="0" i="0" sz="1200" u="none" cap="none" strike="noStrike">
              <a:solidFill>
                <a:schemeClr val="dk1"/>
              </a:solidFill>
              <a:latin typeface="Calibri"/>
              <a:ea typeface="Calibri"/>
              <a:cs typeface="Calibri"/>
              <a:sym typeface="Calibri"/>
            </a:endParaRPr>
          </a:p>
        </p:txBody>
      </p:sp>
      <p:sp>
        <p:nvSpPr>
          <p:cNvPr id="563" name="Google Shape;563;p27"/>
          <p:cNvSpPr/>
          <p:nvPr/>
        </p:nvSpPr>
        <p:spPr>
          <a:xfrm>
            <a:off x="1005840" y="286207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Write captions, subject lines, and CTAs using the copy framework.</a:t>
            </a:r>
            <a:endParaRPr b="0" i="0" sz="1000" u="none" cap="none" strike="noStrike">
              <a:solidFill>
                <a:schemeClr val="dk1"/>
              </a:solidFill>
              <a:latin typeface="Calibri"/>
              <a:ea typeface="Calibri"/>
              <a:cs typeface="Calibri"/>
              <a:sym typeface="Calibri"/>
            </a:endParaRPr>
          </a:p>
        </p:txBody>
      </p:sp>
      <p:sp>
        <p:nvSpPr>
          <p:cNvPr id="564" name="Google Shape;564;p27"/>
          <p:cNvSpPr/>
          <p:nvPr/>
        </p:nvSpPr>
        <p:spPr>
          <a:xfrm>
            <a:off x="457200" y="342900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7"/>
          <p:cNvSpPr/>
          <p:nvPr/>
        </p:nvSpPr>
        <p:spPr>
          <a:xfrm>
            <a:off x="457200" y="34290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566" name="Google Shape;566;p27"/>
          <p:cNvSpPr/>
          <p:nvPr/>
        </p:nvSpPr>
        <p:spPr>
          <a:xfrm>
            <a:off x="1005840" y="338328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Build graphics</a:t>
            </a:r>
            <a:endParaRPr b="0" i="0" sz="1200" u="none" cap="none" strike="noStrike">
              <a:solidFill>
                <a:schemeClr val="dk1"/>
              </a:solidFill>
              <a:latin typeface="Calibri"/>
              <a:ea typeface="Calibri"/>
              <a:cs typeface="Calibri"/>
              <a:sym typeface="Calibri"/>
            </a:endParaRPr>
          </a:p>
        </p:txBody>
      </p:sp>
      <p:sp>
        <p:nvSpPr>
          <p:cNvPr id="567" name="Google Shape;567;p27"/>
          <p:cNvSpPr/>
          <p:nvPr/>
        </p:nvSpPr>
        <p:spPr>
          <a:xfrm>
            <a:off x="1005840" y="363931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Design assets in correct specs using brand colors and templates.</a:t>
            </a:r>
            <a:endParaRPr b="0" i="0" sz="1000" u="none" cap="none" strike="noStrike">
              <a:solidFill>
                <a:schemeClr val="dk1"/>
              </a:solidFill>
              <a:latin typeface="Calibri"/>
              <a:ea typeface="Calibri"/>
              <a:cs typeface="Calibri"/>
              <a:sym typeface="Calibri"/>
            </a:endParaRPr>
          </a:p>
        </p:txBody>
      </p:sp>
      <p:sp>
        <p:nvSpPr>
          <p:cNvPr id="568" name="Google Shape;568;p27"/>
          <p:cNvSpPr/>
          <p:nvPr/>
        </p:nvSpPr>
        <p:spPr>
          <a:xfrm>
            <a:off x="457200" y="420624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7"/>
          <p:cNvSpPr/>
          <p:nvPr/>
        </p:nvSpPr>
        <p:spPr>
          <a:xfrm>
            <a:off x="457200" y="42062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a:t>
            </a:r>
            <a:endParaRPr b="0" i="0" sz="1600" u="none" cap="none" strike="noStrike">
              <a:solidFill>
                <a:schemeClr val="dk1"/>
              </a:solidFill>
              <a:latin typeface="Calibri"/>
              <a:ea typeface="Calibri"/>
              <a:cs typeface="Calibri"/>
              <a:sym typeface="Calibri"/>
            </a:endParaRPr>
          </a:p>
        </p:txBody>
      </p:sp>
      <p:sp>
        <p:nvSpPr>
          <p:cNvPr id="570" name="Google Shape;570;p27"/>
          <p:cNvSpPr/>
          <p:nvPr/>
        </p:nvSpPr>
        <p:spPr>
          <a:xfrm>
            <a:off x="1005840" y="416052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Build schedule</a:t>
            </a:r>
            <a:endParaRPr b="0" i="0" sz="1200" u="none" cap="none" strike="noStrike">
              <a:solidFill>
                <a:schemeClr val="dk1"/>
              </a:solidFill>
              <a:latin typeface="Calibri"/>
              <a:ea typeface="Calibri"/>
              <a:cs typeface="Calibri"/>
              <a:sym typeface="Calibri"/>
            </a:endParaRPr>
          </a:p>
        </p:txBody>
      </p:sp>
      <p:sp>
        <p:nvSpPr>
          <p:cNvPr id="571" name="Google Shape;571;p27"/>
          <p:cNvSpPr/>
          <p:nvPr/>
        </p:nvSpPr>
        <p:spPr>
          <a:xfrm>
            <a:off x="1005840" y="441655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Map out posting cadence and dates in the calendar template.</a:t>
            </a:r>
            <a:endParaRPr b="0" i="0" sz="1000" u="none" cap="none" strike="noStrike">
              <a:solidFill>
                <a:schemeClr val="dk1"/>
              </a:solidFill>
              <a:latin typeface="Calibri"/>
              <a:ea typeface="Calibri"/>
              <a:cs typeface="Calibri"/>
              <a:sym typeface="Calibri"/>
            </a:endParaRPr>
          </a:p>
        </p:txBody>
      </p:sp>
      <p:sp>
        <p:nvSpPr>
          <p:cNvPr id="572" name="Google Shape;572;p27"/>
          <p:cNvSpPr/>
          <p:nvPr/>
        </p:nvSpPr>
        <p:spPr>
          <a:xfrm>
            <a:off x="4754880" y="109728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7"/>
          <p:cNvSpPr/>
          <p:nvPr/>
        </p:nvSpPr>
        <p:spPr>
          <a:xfrm>
            <a:off x="4754880" y="10972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6</a:t>
            </a:r>
            <a:endParaRPr b="0" i="0" sz="1600" u="none" cap="none" strike="noStrike">
              <a:solidFill>
                <a:schemeClr val="dk1"/>
              </a:solidFill>
              <a:latin typeface="Calibri"/>
              <a:ea typeface="Calibri"/>
              <a:cs typeface="Calibri"/>
              <a:sym typeface="Calibri"/>
            </a:endParaRPr>
          </a:p>
        </p:txBody>
      </p:sp>
      <p:sp>
        <p:nvSpPr>
          <p:cNvPr id="574" name="Google Shape;574;p27"/>
          <p:cNvSpPr/>
          <p:nvPr/>
        </p:nvSpPr>
        <p:spPr>
          <a:xfrm>
            <a:off x="5303520" y="10515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Set up tracking</a:t>
            </a:r>
            <a:endParaRPr b="0" i="0" sz="1200" u="none" cap="none" strike="noStrike">
              <a:solidFill>
                <a:schemeClr val="dk1"/>
              </a:solidFill>
              <a:latin typeface="Calibri"/>
              <a:ea typeface="Calibri"/>
              <a:cs typeface="Calibri"/>
              <a:sym typeface="Calibri"/>
            </a:endParaRPr>
          </a:p>
        </p:txBody>
      </p:sp>
      <p:sp>
        <p:nvSpPr>
          <p:cNvPr id="575" name="Google Shape;575;p27"/>
          <p:cNvSpPr/>
          <p:nvPr/>
        </p:nvSpPr>
        <p:spPr>
          <a:xfrm>
            <a:off x="5303520" y="130759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Create UTM links, Flowcode QR codes, and Looker Studio dashboard for each channel. Set up tracking BEFORE first post.</a:t>
            </a:r>
            <a:endParaRPr b="0" i="0" sz="1000" u="none" cap="none" strike="noStrike">
              <a:solidFill>
                <a:schemeClr val="dk1"/>
              </a:solidFill>
              <a:latin typeface="Calibri"/>
              <a:ea typeface="Calibri"/>
              <a:cs typeface="Calibri"/>
              <a:sym typeface="Calibri"/>
            </a:endParaRPr>
          </a:p>
        </p:txBody>
      </p:sp>
      <p:sp>
        <p:nvSpPr>
          <p:cNvPr id="576" name="Google Shape;576;p27"/>
          <p:cNvSpPr/>
          <p:nvPr/>
        </p:nvSpPr>
        <p:spPr>
          <a:xfrm>
            <a:off x="4754880" y="187452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7"/>
          <p:cNvSpPr/>
          <p:nvPr/>
        </p:nvSpPr>
        <p:spPr>
          <a:xfrm>
            <a:off x="4754880" y="1874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7</a:t>
            </a:r>
            <a:endParaRPr b="0" i="0" sz="1600" u="none" cap="none" strike="noStrike">
              <a:solidFill>
                <a:schemeClr val="dk1"/>
              </a:solidFill>
              <a:latin typeface="Calibri"/>
              <a:ea typeface="Calibri"/>
              <a:cs typeface="Calibri"/>
              <a:sym typeface="Calibri"/>
            </a:endParaRPr>
          </a:p>
        </p:txBody>
      </p:sp>
      <p:sp>
        <p:nvSpPr>
          <p:cNvPr id="578" name="Google Shape;578;p27"/>
          <p:cNvSpPr/>
          <p:nvPr/>
        </p:nvSpPr>
        <p:spPr>
          <a:xfrm>
            <a:off x="5303520" y="182880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Plan paid budget</a:t>
            </a:r>
            <a:endParaRPr b="0" i="0" sz="1200" u="none" cap="none" strike="noStrike">
              <a:solidFill>
                <a:schemeClr val="dk1"/>
              </a:solidFill>
              <a:latin typeface="Calibri"/>
              <a:ea typeface="Calibri"/>
              <a:cs typeface="Calibri"/>
              <a:sym typeface="Calibri"/>
            </a:endParaRPr>
          </a:p>
        </p:txBody>
      </p:sp>
      <p:sp>
        <p:nvSpPr>
          <p:cNvPr id="579" name="Google Shape;579;p27"/>
          <p:cNvSpPr/>
          <p:nvPr/>
        </p:nvSpPr>
        <p:spPr>
          <a:xfrm>
            <a:off x="5303520" y="208483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If using paid channels, draft a simple spend plan.</a:t>
            </a:r>
            <a:endParaRPr b="0" i="0" sz="1000" u="none" cap="none" strike="noStrike">
              <a:solidFill>
                <a:schemeClr val="dk1"/>
              </a:solidFill>
              <a:latin typeface="Calibri"/>
              <a:ea typeface="Calibri"/>
              <a:cs typeface="Calibri"/>
              <a:sym typeface="Calibri"/>
            </a:endParaRPr>
          </a:p>
        </p:txBody>
      </p:sp>
      <p:sp>
        <p:nvSpPr>
          <p:cNvPr id="580" name="Google Shape;580;p27"/>
          <p:cNvSpPr/>
          <p:nvPr/>
        </p:nvSpPr>
        <p:spPr>
          <a:xfrm>
            <a:off x="4754880" y="265176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7"/>
          <p:cNvSpPr/>
          <p:nvPr/>
        </p:nvSpPr>
        <p:spPr>
          <a:xfrm>
            <a:off x="4754880" y="26517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8</a:t>
            </a:r>
            <a:endParaRPr b="0" i="0" sz="1600" u="none" cap="none" strike="noStrike">
              <a:solidFill>
                <a:schemeClr val="dk1"/>
              </a:solidFill>
              <a:latin typeface="Calibri"/>
              <a:ea typeface="Calibri"/>
              <a:cs typeface="Calibri"/>
              <a:sym typeface="Calibri"/>
            </a:endParaRPr>
          </a:p>
        </p:txBody>
      </p:sp>
      <p:sp>
        <p:nvSpPr>
          <p:cNvPr id="582" name="Google Shape;582;p27"/>
          <p:cNvSpPr/>
          <p:nvPr/>
        </p:nvSpPr>
        <p:spPr>
          <a:xfrm>
            <a:off x="5303520" y="260604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Submit for review</a:t>
            </a:r>
            <a:endParaRPr b="0" i="0" sz="1200" u="none" cap="none" strike="noStrike">
              <a:solidFill>
                <a:schemeClr val="dk1"/>
              </a:solidFill>
              <a:latin typeface="Calibri"/>
              <a:ea typeface="Calibri"/>
              <a:cs typeface="Calibri"/>
              <a:sym typeface="Calibri"/>
            </a:endParaRPr>
          </a:p>
        </p:txBody>
      </p:sp>
      <p:sp>
        <p:nvSpPr>
          <p:cNvPr id="583" name="Google Shape;583;p27"/>
          <p:cNvSpPr/>
          <p:nvPr/>
        </p:nvSpPr>
        <p:spPr>
          <a:xfrm>
            <a:off x="5303520" y="286207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Email complete asset pack to cobe-info@boisestate.edu.</a:t>
            </a:r>
            <a:endParaRPr b="0" i="0" sz="1000" u="none" cap="none" strike="noStrike">
              <a:solidFill>
                <a:schemeClr val="dk1"/>
              </a:solidFill>
              <a:latin typeface="Calibri"/>
              <a:ea typeface="Calibri"/>
              <a:cs typeface="Calibri"/>
              <a:sym typeface="Calibri"/>
            </a:endParaRPr>
          </a:p>
        </p:txBody>
      </p:sp>
      <p:sp>
        <p:nvSpPr>
          <p:cNvPr id="584" name="Google Shape;584;p27"/>
          <p:cNvSpPr/>
          <p:nvPr/>
        </p:nvSpPr>
        <p:spPr>
          <a:xfrm>
            <a:off x="4754880" y="342900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7"/>
          <p:cNvSpPr/>
          <p:nvPr/>
        </p:nvSpPr>
        <p:spPr>
          <a:xfrm>
            <a:off x="4754880" y="34290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9</a:t>
            </a:r>
            <a:endParaRPr b="0" i="0" sz="1600" u="none" cap="none" strike="noStrike">
              <a:solidFill>
                <a:schemeClr val="dk1"/>
              </a:solidFill>
              <a:latin typeface="Calibri"/>
              <a:ea typeface="Calibri"/>
              <a:cs typeface="Calibri"/>
              <a:sym typeface="Calibri"/>
            </a:endParaRPr>
          </a:p>
        </p:txBody>
      </p:sp>
      <p:sp>
        <p:nvSpPr>
          <p:cNvPr id="586" name="Google Shape;586;p27"/>
          <p:cNvSpPr/>
          <p:nvPr/>
        </p:nvSpPr>
        <p:spPr>
          <a:xfrm>
            <a:off x="5303520" y="338328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Revise + approval</a:t>
            </a:r>
            <a:endParaRPr b="0" i="0" sz="1200" u="none" cap="none" strike="noStrike">
              <a:solidFill>
                <a:schemeClr val="dk1"/>
              </a:solidFill>
              <a:latin typeface="Calibri"/>
              <a:ea typeface="Calibri"/>
              <a:cs typeface="Calibri"/>
              <a:sym typeface="Calibri"/>
            </a:endParaRPr>
          </a:p>
        </p:txBody>
      </p:sp>
      <p:sp>
        <p:nvSpPr>
          <p:cNvPr id="587" name="Google Shape;587;p27"/>
          <p:cNvSpPr/>
          <p:nvPr/>
        </p:nvSpPr>
        <p:spPr>
          <a:xfrm>
            <a:off x="5303520" y="363931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Incorporate feedback. Marketing gives final brand approval.</a:t>
            </a:r>
            <a:endParaRPr b="0" i="0" sz="1000" u="none" cap="none" strike="noStrike">
              <a:solidFill>
                <a:schemeClr val="dk1"/>
              </a:solidFill>
              <a:latin typeface="Calibri"/>
              <a:ea typeface="Calibri"/>
              <a:cs typeface="Calibri"/>
              <a:sym typeface="Calibri"/>
            </a:endParaRPr>
          </a:p>
        </p:txBody>
      </p:sp>
      <p:sp>
        <p:nvSpPr>
          <p:cNvPr id="588" name="Google Shape;588;p27"/>
          <p:cNvSpPr/>
          <p:nvPr/>
        </p:nvSpPr>
        <p:spPr>
          <a:xfrm>
            <a:off x="4754880" y="420624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7"/>
          <p:cNvSpPr/>
          <p:nvPr/>
        </p:nvSpPr>
        <p:spPr>
          <a:xfrm>
            <a:off x="4754880" y="42062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10</a:t>
            </a:r>
            <a:endParaRPr b="0" i="0" sz="1600" u="none" cap="none" strike="noStrike">
              <a:solidFill>
                <a:schemeClr val="dk1"/>
              </a:solidFill>
              <a:latin typeface="Calibri"/>
              <a:ea typeface="Calibri"/>
              <a:cs typeface="Calibri"/>
              <a:sym typeface="Calibri"/>
            </a:endParaRPr>
          </a:p>
        </p:txBody>
      </p:sp>
      <p:sp>
        <p:nvSpPr>
          <p:cNvPr id="590" name="Google Shape;590;p27"/>
          <p:cNvSpPr/>
          <p:nvPr/>
        </p:nvSpPr>
        <p:spPr>
          <a:xfrm>
            <a:off x="5303520" y="416052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Publish + schedule</a:t>
            </a:r>
            <a:endParaRPr b="0" i="0" sz="1200" u="none" cap="none" strike="noStrike">
              <a:solidFill>
                <a:schemeClr val="dk1"/>
              </a:solidFill>
              <a:latin typeface="Calibri"/>
              <a:ea typeface="Calibri"/>
              <a:cs typeface="Calibri"/>
              <a:sym typeface="Calibri"/>
            </a:endParaRPr>
          </a:p>
        </p:txBody>
      </p:sp>
      <p:sp>
        <p:nvSpPr>
          <p:cNvPr id="591" name="Google Shape;591;p27"/>
          <p:cNvSpPr/>
          <p:nvPr/>
        </p:nvSpPr>
        <p:spPr>
          <a:xfrm>
            <a:off x="5303520" y="441655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Content goes live. Marketing helps with channel scheduling.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96" name="Shape 596"/>
        <p:cNvGrpSpPr/>
        <p:nvPr/>
      </p:nvGrpSpPr>
      <p:grpSpPr>
        <a:xfrm>
          <a:off x="0" y="0"/>
          <a:ext cx="0" cy="0"/>
          <a:chOff x="0" y="0"/>
          <a:chExt cx="0" cy="0"/>
        </a:xfrm>
      </p:grpSpPr>
      <p:sp>
        <p:nvSpPr>
          <p:cNvPr id="597" name="Google Shape;597;p28"/>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599" name="Google Shape;599;p2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00" name="Google Shape;600;p2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25</a:t>
            </a:r>
            <a:endParaRPr b="0" i="0" sz="1000" u="none" cap="none" strike="noStrike">
              <a:solidFill>
                <a:schemeClr val="dk1"/>
              </a:solidFill>
              <a:latin typeface="Calibri"/>
              <a:ea typeface="Calibri"/>
              <a:cs typeface="Calibri"/>
              <a:sym typeface="Calibri"/>
            </a:endParaRPr>
          </a:p>
        </p:txBody>
      </p:sp>
      <p:sp>
        <p:nvSpPr>
          <p:cNvPr id="601" name="Google Shape;601;p28"/>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Template Guide: Social Media Calendar</a:t>
            </a:r>
            <a:endParaRPr b="0" i="0" sz="2800" u="none" cap="none" strike="noStrike">
              <a:solidFill>
                <a:schemeClr val="dk1"/>
              </a:solidFill>
              <a:latin typeface="Calibri"/>
              <a:ea typeface="Calibri"/>
              <a:cs typeface="Calibri"/>
              <a:sym typeface="Calibri"/>
            </a:endParaRPr>
          </a:p>
        </p:txBody>
      </p:sp>
      <p:sp>
        <p:nvSpPr>
          <p:cNvPr id="602" name="Google Shape;602;p28"/>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100"/>
              <a:buFont typeface="Arial"/>
              <a:buNone/>
            </a:pPr>
            <a:r>
              <a:rPr b="0" i="1" lang="en-US" sz="1100" u="none" cap="none" strike="noStrike">
                <a:solidFill>
                  <a:srgbClr val="F97316"/>
                </a:solidFill>
                <a:latin typeface="Arial"/>
                <a:ea typeface="Arial"/>
                <a:cs typeface="Arial"/>
                <a:sym typeface="Arial"/>
              </a:rPr>
              <a:t>Template file: Social Media Calendar Template.xlsx  |  Example: Social Media Calendar Example.xlsx</a:t>
            </a:r>
            <a:endParaRPr b="0" i="0" sz="1100" u="none" cap="none" strike="noStrike">
              <a:solidFill>
                <a:schemeClr val="dk1"/>
              </a:solidFill>
              <a:latin typeface="Calibri"/>
              <a:ea typeface="Calibri"/>
              <a:cs typeface="Calibri"/>
              <a:sym typeface="Calibri"/>
            </a:endParaRPr>
          </a:p>
        </p:txBody>
      </p:sp>
      <p:sp>
        <p:nvSpPr>
          <p:cNvPr id="603" name="Google Shape;603;p28"/>
          <p:cNvSpPr/>
          <p:nvPr/>
        </p:nvSpPr>
        <p:spPr>
          <a:xfrm>
            <a:off x="45720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8"/>
          <p:cNvSpPr/>
          <p:nvPr/>
        </p:nvSpPr>
        <p:spPr>
          <a:xfrm>
            <a:off x="457200" y="1280160"/>
            <a:ext cx="54864" cy="210312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8"/>
          <p:cNvSpPr/>
          <p:nvPr/>
        </p:nvSpPr>
        <p:spPr>
          <a:xfrm>
            <a:off x="68580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HOW TO USE THE TEMPLATE</a:t>
            </a:r>
            <a:endParaRPr b="0" i="0" sz="1200" u="none" cap="none" strike="noStrike">
              <a:solidFill>
                <a:schemeClr val="dk1"/>
              </a:solidFill>
              <a:latin typeface="Calibri"/>
              <a:ea typeface="Calibri"/>
              <a:cs typeface="Calibri"/>
              <a:sym typeface="Calibri"/>
            </a:endParaRPr>
          </a:p>
        </p:txBody>
      </p:sp>
      <p:sp>
        <p:nvSpPr>
          <p:cNvPr id="606" name="Google Shape;606;p28"/>
          <p:cNvSpPr/>
          <p:nvPr/>
        </p:nvSpPr>
        <p:spPr>
          <a:xfrm>
            <a:off x="68580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Open the template Excel file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Fill in: Date, Channel, Post Type, Copy, CTA, Link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Add the graphic filename for each post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Color-code by channel (IG = pink, LI = blue, etc.)</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Review against recommended cadence below</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Submit completed calendar with assets to cobe-info</a:t>
            </a:r>
            <a:endParaRPr b="0" i="0" sz="1000" u="none" cap="none" strike="noStrike">
              <a:solidFill>
                <a:schemeClr val="dk1"/>
              </a:solidFill>
              <a:latin typeface="Calibri"/>
              <a:ea typeface="Calibri"/>
              <a:cs typeface="Calibri"/>
              <a:sym typeface="Calibri"/>
            </a:endParaRPr>
          </a:p>
        </p:txBody>
      </p:sp>
      <p:sp>
        <p:nvSpPr>
          <p:cNvPr id="607" name="Google Shape;607;p28"/>
          <p:cNvSpPr/>
          <p:nvPr/>
        </p:nvSpPr>
        <p:spPr>
          <a:xfrm>
            <a:off x="484632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8"/>
          <p:cNvSpPr/>
          <p:nvPr/>
        </p:nvSpPr>
        <p:spPr>
          <a:xfrm>
            <a:off x="4846320" y="1280160"/>
            <a:ext cx="54864" cy="210312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8"/>
          <p:cNvSpPr/>
          <p:nvPr/>
        </p:nvSpPr>
        <p:spPr>
          <a:xfrm>
            <a:off x="507492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RECOMMENDED CADENCE</a:t>
            </a:r>
            <a:endParaRPr b="0" i="0" sz="1200" u="none" cap="none" strike="noStrike">
              <a:solidFill>
                <a:schemeClr val="dk1"/>
              </a:solidFill>
              <a:latin typeface="Calibri"/>
              <a:ea typeface="Calibri"/>
              <a:cs typeface="Calibri"/>
              <a:sym typeface="Calibri"/>
            </a:endParaRPr>
          </a:p>
        </p:txBody>
      </p:sp>
      <p:sp>
        <p:nvSpPr>
          <p:cNvPr id="610" name="Google Shape;610;p28"/>
          <p:cNvSpPr/>
          <p:nvPr/>
        </p:nvSpPr>
        <p:spPr>
          <a:xfrm>
            <a:off x="507492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Instagram: 3-4 posts/week during peak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LinkedIn: 2-3 posts/week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Stories: Around events and deadlines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features: Every few months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Vary messaging each time (avoid tune-out)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Increase around fairs, deadlines, events</a:t>
            </a:r>
            <a:endParaRPr b="0" i="0" sz="1000" u="none" cap="none" strike="noStrike">
              <a:solidFill>
                <a:schemeClr val="dk1"/>
              </a:solidFill>
              <a:latin typeface="Calibri"/>
              <a:ea typeface="Calibri"/>
              <a:cs typeface="Calibri"/>
              <a:sym typeface="Calibri"/>
            </a:endParaRPr>
          </a:p>
        </p:txBody>
      </p:sp>
      <p:sp>
        <p:nvSpPr>
          <p:cNvPr id="611" name="Google Shape;611;p28"/>
          <p:cNvSpPr/>
          <p:nvPr/>
        </p:nvSpPr>
        <p:spPr>
          <a:xfrm>
            <a:off x="457200" y="356616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ASSET SPECIFICATIONS</a:t>
            </a:r>
            <a:endParaRPr b="0" i="0" sz="1200" u="none" cap="none" strike="noStrike">
              <a:solidFill>
                <a:schemeClr val="dk1"/>
              </a:solidFill>
              <a:latin typeface="Calibri"/>
              <a:ea typeface="Calibri"/>
              <a:cs typeface="Calibri"/>
              <a:sym typeface="Calibri"/>
            </a:endParaRPr>
          </a:p>
        </p:txBody>
      </p:sp>
      <p:graphicFrame>
        <p:nvGraphicFramePr>
          <p:cNvPr id="612" name="Google Shape;612;p28"/>
          <p:cNvGraphicFramePr/>
          <p:nvPr/>
        </p:nvGraphicFramePr>
        <p:xfrm>
          <a:off x="457200" y="3840480"/>
          <a:ext cx="3000000" cy="3000000"/>
        </p:xfrm>
        <a:graphic>
          <a:graphicData uri="http://schemas.openxmlformats.org/drawingml/2006/table">
            <a:tbl>
              <a:tblPr>
                <a:noFill/>
                <a:tableStyleId>{AD4631F1-437D-4764-92B6-2A4562E18BC6}</a:tableStyleId>
              </a:tblPr>
              <a:tblGrid>
                <a:gridCol w="1645925"/>
                <a:gridCol w="1645925"/>
                <a:gridCol w="1371600"/>
                <a:gridCol w="3566150"/>
              </a:tblGrid>
              <a:tr h="18287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Asset Type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Size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Format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Used For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Square post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 grid, Facebook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Story / Reel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1920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JPG/PNG/MP4</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Instagram/Facebook stories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Banner / Screen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1920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LinkedIn, MBEB screens, classroom slides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SUB Dining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768 x 1366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Student Union dining area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Library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1280 x 720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Albertsons Library digital displays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17" name="Shape 617"/>
        <p:cNvGrpSpPr/>
        <p:nvPr/>
      </p:nvGrpSpPr>
      <p:grpSpPr>
        <a:xfrm>
          <a:off x="0" y="0"/>
          <a:ext cx="0" cy="0"/>
          <a:chOff x="0" y="0"/>
          <a:chExt cx="0" cy="0"/>
        </a:xfrm>
      </p:grpSpPr>
      <p:sp>
        <p:nvSpPr>
          <p:cNvPr id="618" name="Google Shape;618;p29"/>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9"/>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620" name="Google Shape;620;p2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21" name="Google Shape;621;p2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26</a:t>
            </a:r>
            <a:endParaRPr b="0" i="0" sz="1000" u="none" cap="none" strike="noStrike">
              <a:solidFill>
                <a:schemeClr val="dk1"/>
              </a:solidFill>
              <a:latin typeface="Calibri"/>
              <a:ea typeface="Calibri"/>
              <a:cs typeface="Calibri"/>
              <a:sym typeface="Calibri"/>
            </a:endParaRPr>
          </a:p>
        </p:txBody>
      </p:sp>
      <p:sp>
        <p:nvSpPr>
          <p:cNvPr id="622" name="Google Shape;622;p29"/>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Template Guide: Budget Planning</a:t>
            </a:r>
            <a:endParaRPr b="0" i="0" sz="2800" u="none" cap="none" strike="noStrike">
              <a:solidFill>
                <a:schemeClr val="dk1"/>
              </a:solidFill>
              <a:latin typeface="Calibri"/>
              <a:ea typeface="Calibri"/>
              <a:cs typeface="Calibri"/>
              <a:sym typeface="Calibri"/>
            </a:endParaRPr>
          </a:p>
        </p:txBody>
      </p:sp>
      <p:sp>
        <p:nvSpPr>
          <p:cNvPr id="623" name="Google Shape;623;p29"/>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100"/>
              <a:buFont typeface="Arial"/>
              <a:buNone/>
            </a:pPr>
            <a:r>
              <a:rPr b="0" i="1" lang="en-US" sz="1100" u="none" cap="none" strike="noStrike">
                <a:solidFill>
                  <a:srgbClr val="F97316"/>
                </a:solidFill>
                <a:latin typeface="Arial"/>
                <a:ea typeface="Arial"/>
                <a:cs typeface="Arial"/>
                <a:sym typeface="Arial"/>
              </a:rPr>
              <a:t>Template file: RHM Marketing Budget 2025.xlsx (use as model)</a:t>
            </a:r>
            <a:endParaRPr b="0" i="0" sz="1100" u="none" cap="none" strike="noStrike">
              <a:solidFill>
                <a:schemeClr val="dk1"/>
              </a:solidFill>
              <a:latin typeface="Calibri"/>
              <a:ea typeface="Calibri"/>
              <a:cs typeface="Calibri"/>
              <a:sym typeface="Calibri"/>
            </a:endParaRPr>
          </a:p>
        </p:txBody>
      </p:sp>
      <p:sp>
        <p:nvSpPr>
          <p:cNvPr id="624" name="Google Shape;624;p29"/>
          <p:cNvSpPr/>
          <p:nvPr/>
        </p:nvSpPr>
        <p:spPr>
          <a:xfrm>
            <a:off x="457200" y="1280160"/>
            <a:ext cx="8229600" cy="731520"/>
          </a:xfrm>
          <a:prstGeom prst="rect">
            <a:avLst/>
          </a:prstGeom>
          <a:solidFill>
            <a:srgbClr val="F0FDF4"/>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9"/>
          <p:cNvSpPr/>
          <p:nvPr/>
        </p:nvSpPr>
        <p:spPr>
          <a:xfrm>
            <a:off x="457200" y="1280160"/>
            <a:ext cx="54864" cy="73152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9"/>
          <p:cNvSpPr/>
          <p:nvPr/>
        </p:nvSpPr>
        <p:spPr>
          <a:xfrm>
            <a:off x="685800" y="1371600"/>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200"/>
              <a:buFont typeface="Arial"/>
              <a:buNone/>
            </a:pPr>
            <a:r>
              <a:rPr b="1" i="0" lang="en-US" sz="1200" u="none" cap="none" strike="noStrike">
                <a:solidFill>
                  <a:srgbClr val="10B981"/>
                </a:solidFill>
                <a:latin typeface="Arial"/>
                <a:ea typeface="Arial"/>
                <a:cs typeface="Arial"/>
                <a:sym typeface="Arial"/>
              </a:rPr>
              <a:t>RULE #1: FREE CHANNELS FIRST  </a:t>
            </a:r>
            <a:r>
              <a:rPr b="0" i="0" lang="en-US" sz="1100" u="none" cap="none" strike="noStrike">
                <a:solidFill>
                  <a:srgbClr val="334155"/>
                </a:solidFill>
                <a:latin typeface="Arial"/>
                <a:ea typeface="Arial"/>
                <a:cs typeface="Arial"/>
                <a:sym typeface="Arial"/>
              </a:rPr>
              <a:t>Always maximize free COBE channels (Instagram, LinkedIn, newsletters, MBEB screens, tabling, class visits, Localist) before allocating paid budget. These deliver ~45,000 impressions at zero cost.</a:t>
            </a:r>
            <a:endParaRPr b="0" i="0" sz="1200" u="none" cap="none" strike="noStrike">
              <a:solidFill>
                <a:schemeClr val="dk1"/>
              </a:solidFill>
              <a:latin typeface="Calibri"/>
              <a:ea typeface="Calibri"/>
              <a:cs typeface="Calibri"/>
              <a:sym typeface="Calibri"/>
            </a:endParaRPr>
          </a:p>
        </p:txBody>
      </p:sp>
      <p:sp>
        <p:nvSpPr>
          <p:cNvPr id="627" name="Google Shape;627;p29"/>
          <p:cNvSpPr/>
          <p:nvPr/>
        </p:nvSpPr>
        <p:spPr>
          <a:xfrm>
            <a:off x="457200" y="2194560"/>
            <a:ext cx="3840480" cy="23774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9"/>
          <p:cNvSpPr/>
          <p:nvPr/>
        </p:nvSpPr>
        <p:spPr>
          <a:xfrm>
            <a:off x="457200" y="2194560"/>
            <a:ext cx="54864" cy="237744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9"/>
          <p:cNvSpPr/>
          <p:nvPr/>
        </p:nvSpPr>
        <p:spPr>
          <a:xfrm>
            <a:off x="685800" y="22860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BUDGET WORKBOOK SHEETS</a:t>
            </a:r>
            <a:endParaRPr b="0" i="0" sz="1200" u="none" cap="none" strike="noStrike">
              <a:solidFill>
                <a:schemeClr val="dk1"/>
              </a:solidFill>
              <a:latin typeface="Calibri"/>
              <a:ea typeface="Calibri"/>
              <a:cs typeface="Calibri"/>
              <a:sym typeface="Calibri"/>
            </a:endParaRPr>
          </a:p>
        </p:txBody>
      </p:sp>
      <p:sp>
        <p:nvSpPr>
          <p:cNvPr id="630" name="Google Shape;630;p29"/>
          <p:cNvSpPr/>
          <p:nvPr/>
        </p:nvSpPr>
        <p:spPr>
          <a:xfrm>
            <a:off x="685800" y="260604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Executive Summary – Total budget, impressions, milestones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Channel Detail – Per-channel rates, monthly spend, notes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Monthly Calendar – Visual timeline of all activities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ROAS &amp; Impressions – CPM analysis and channel ratings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Contacts &amp; Process – Team contacts and request format</a:t>
            </a:r>
            <a:endParaRPr b="0" i="0" sz="1000" u="none" cap="none" strike="noStrike">
              <a:solidFill>
                <a:schemeClr val="dk1"/>
              </a:solidFill>
              <a:latin typeface="Calibri"/>
              <a:ea typeface="Calibri"/>
              <a:cs typeface="Calibri"/>
              <a:sym typeface="Calibri"/>
            </a:endParaRPr>
          </a:p>
        </p:txBody>
      </p:sp>
      <p:sp>
        <p:nvSpPr>
          <p:cNvPr id="631" name="Google Shape;631;p29"/>
          <p:cNvSpPr/>
          <p:nvPr/>
        </p:nvSpPr>
        <p:spPr>
          <a:xfrm>
            <a:off x="4846320" y="2194560"/>
            <a:ext cx="3840480" cy="23774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9"/>
          <p:cNvSpPr/>
          <p:nvPr/>
        </p:nvSpPr>
        <p:spPr>
          <a:xfrm>
            <a:off x="4846320" y="2194560"/>
            <a:ext cx="54864" cy="237744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9"/>
          <p:cNvSpPr/>
          <p:nvPr/>
        </p:nvSpPr>
        <p:spPr>
          <a:xfrm>
            <a:off x="5074920" y="22860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CPM BENCHMARKS (RHM DATA)</a:t>
            </a:r>
            <a:endParaRPr b="0" i="0" sz="1200" u="none" cap="none" strike="noStrike">
              <a:solidFill>
                <a:schemeClr val="dk1"/>
              </a:solidFill>
              <a:latin typeface="Calibri"/>
              <a:ea typeface="Calibri"/>
              <a:cs typeface="Calibri"/>
              <a:sym typeface="Calibri"/>
            </a:endParaRPr>
          </a:p>
        </p:txBody>
      </p:sp>
      <p:sp>
        <p:nvSpPr>
          <p:cNvPr id="634" name="Google Shape;634;p29"/>
          <p:cNvSpPr/>
          <p:nvPr/>
        </p:nvSpPr>
        <p:spPr>
          <a:xfrm>
            <a:off x="5074920" y="260604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Meta/IG Ads: ~$5.33 CPM (best value)</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Arbiter Web Banner: ~$20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Shuttle Stop Posters: ~$23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Blueprint Magazine: ~$50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Arbiter Print: ~$67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Blended average: $8.82 CPM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39" name="Shape 639"/>
        <p:cNvGrpSpPr/>
        <p:nvPr/>
      </p:nvGrpSpPr>
      <p:grpSpPr>
        <a:xfrm>
          <a:off x="0" y="0"/>
          <a:ext cx="0" cy="0"/>
          <a:chOff x="0" y="0"/>
          <a:chExt cx="0" cy="0"/>
        </a:xfrm>
      </p:grpSpPr>
      <p:sp>
        <p:nvSpPr>
          <p:cNvPr id="640" name="Google Shape;640;p30"/>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0"/>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642" name="Google Shape;642;p3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43" name="Google Shape;643;p3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27</a:t>
            </a:r>
            <a:endParaRPr b="0" i="0" sz="1000" u="none" cap="none" strike="noStrike">
              <a:solidFill>
                <a:schemeClr val="dk1"/>
              </a:solidFill>
              <a:latin typeface="Calibri"/>
              <a:ea typeface="Calibri"/>
              <a:cs typeface="Calibri"/>
              <a:sym typeface="Calibri"/>
            </a:endParaRPr>
          </a:p>
        </p:txBody>
      </p:sp>
      <p:sp>
        <p:nvSpPr>
          <p:cNvPr id="644" name="Google Shape;644;p30"/>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Instagram (@boisestatecobe)</a:t>
            </a:r>
            <a:endParaRPr b="0" i="0" sz="2600" u="none" cap="none" strike="noStrike">
              <a:solidFill>
                <a:schemeClr val="dk1"/>
              </a:solidFill>
              <a:latin typeface="Calibri"/>
              <a:ea typeface="Calibri"/>
              <a:cs typeface="Calibri"/>
              <a:sym typeface="Calibri"/>
            </a:endParaRPr>
          </a:p>
        </p:txBody>
      </p:sp>
      <p:sp>
        <p:nvSpPr>
          <p:cNvPr id="645" name="Google Shape;645;p30"/>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646" name="Google Shape;646;p30"/>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Student engagement, event awareness, program visibility</a:t>
            </a:r>
            <a:endParaRPr b="0" i="0" sz="1100" u="none" cap="none" strike="noStrike">
              <a:solidFill>
                <a:schemeClr val="dk1"/>
              </a:solidFill>
              <a:latin typeface="Calibri"/>
              <a:ea typeface="Calibri"/>
              <a:cs typeface="Calibri"/>
              <a:sym typeface="Calibri"/>
            </a:endParaRPr>
          </a:p>
        </p:txBody>
      </p:sp>
      <p:sp>
        <p:nvSpPr>
          <p:cNvPr id="647" name="Google Shape;647;p30"/>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0"/>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ASSET TYPES</a:t>
            </a:r>
            <a:endParaRPr b="0" i="0" sz="1000" u="none" cap="none" strike="noStrike">
              <a:solidFill>
                <a:schemeClr val="dk1"/>
              </a:solidFill>
              <a:latin typeface="Calibri"/>
              <a:ea typeface="Calibri"/>
              <a:cs typeface="Calibri"/>
              <a:sym typeface="Calibri"/>
            </a:endParaRPr>
          </a:p>
        </p:txBody>
      </p:sp>
      <p:sp>
        <p:nvSpPr>
          <p:cNvPr id="649" name="Google Shape;649;p30"/>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Square posts (1080x1080), Stories/Reels (1080x1920)</a:t>
            </a:r>
            <a:endParaRPr b="0" i="0" sz="1100" u="none" cap="none" strike="noStrike">
              <a:solidFill>
                <a:schemeClr val="dk1"/>
              </a:solidFill>
              <a:latin typeface="Calibri"/>
              <a:ea typeface="Calibri"/>
              <a:cs typeface="Calibri"/>
              <a:sym typeface="Calibri"/>
            </a:endParaRPr>
          </a:p>
        </p:txBody>
      </p:sp>
      <p:sp>
        <p:nvSpPr>
          <p:cNvPr id="650" name="Google Shape;650;p30"/>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0"/>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652" name="Google Shape;652;p30"/>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3-4 posts/week during peak recruitment; stories around events</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0"/>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655" name="Google Shape;655;p30"/>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urgent posts need marketing manager approval</a:t>
            </a:r>
            <a:endParaRPr b="0" i="0" sz="1100" u="none" cap="none" strike="noStrike">
              <a:solidFill>
                <a:schemeClr val="dk1"/>
              </a:solidFill>
              <a:latin typeface="Calibri"/>
              <a:ea typeface="Calibri"/>
              <a:cs typeface="Calibri"/>
              <a:sym typeface="Calibri"/>
            </a:endParaRPr>
          </a:p>
        </p:txBody>
      </p:sp>
      <p:sp>
        <p:nvSpPr>
          <p:cNvPr id="656" name="Google Shape;656;p30"/>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0"/>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COPY TIPS</a:t>
            </a:r>
            <a:endParaRPr b="0" i="0" sz="1000" u="none" cap="none" strike="noStrike">
              <a:solidFill>
                <a:schemeClr val="dk1"/>
              </a:solidFill>
              <a:latin typeface="Calibri"/>
              <a:ea typeface="Calibri"/>
              <a:cs typeface="Calibri"/>
              <a:sym typeface="Calibri"/>
            </a:endParaRPr>
          </a:p>
        </p:txBody>
      </p:sp>
      <p:sp>
        <p:nvSpPr>
          <p:cNvPr id="658" name="Google Shape;658;p30"/>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Short, energetic captions. Strong CTA. Use relevant hashtags.</a:t>
            </a:r>
            <a:endParaRPr b="0" i="0" sz="1100" u="none" cap="none" strike="noStrike">
              <a:solidFill>
                <a:schemeClr val="dk1"/>
              </a:solidFill>
              <a:latin typeface="Calibri"/>
              <a:ea typeface="Calibri"/>
              <a:cs typeface="Calibri"/>
              <a:sym typeface="Calibri"/>
            </a:endParaRPr>
          </a:p>
        </p:txBody>
      </p:sp>
      <p:sp>
        <p:nvSpPr>
          <p:cNvPr id="659" name="Google Shape;659;p30"/>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0"/>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CTA EXAMPLES</a:t>
            </a:r>
            <a:endParaRPr b="0" i="0" sz="1000" u="none" cap="none" strike="noStrike">
              <a:solidFill>
                <a:schemeClr val="dk1"/>
              </a:solidFill>
              <a:latin typeface="Calibri"/>
              <a:ea typeface="Calibri"/>
              <a:cs typeface="Calibri"/>
              <a:sym typeface="Calibri"/>
            </a:endParaRPr>
          </a:p>
        </p:txBody>
      </p:sp>
      <p:sp>
        <p:nvSpPr>
          <p:cNvPr id="661" name="Google Shape;661;p30"/>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"Register now" | "Apply today" | "Tap link in bio"</a:t>
            </a:r>
            <a:endParaRPr b="0" i="0" sz="1100" u="none" cap="none" strike="noStrike">
              <a:solidFill>
                <a:schemeClr val="dk1"/>
              </a:solidFill>
              <a:latin typeface="Calibri"/>
              <a:ea typeface="Calibri"/>
              <a:cs typeface="Calibri"/>
              <a:sym typeface="Calibri"/>
            </a:endParaRPr>
          </a:p>
        </p:txBody>
      </p:sp>
      <p:sp>
        <p:nvSpPr>
          <p:cNvPr id="662" name="Google Shape;662;p30"/>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0"/>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HANDS-ON MINI-CHECKLIST</a:t>
            </a:r>
            <a:endParaRPr b="0" i="0" sz="1000" u="none" cap="none" strike="noStrike">
              <a:solidFill>
                <a:schemeClr val="dk1"/>
              </a:solidFill>
              <a:latin typeface="Calibri"/>
              <a:ea typeface="Calibri"/>
              <a:cs typeface="Calibri"/>
              <a:sym typeface="Calibri"/>
            </a:endParaRPr>
          </a:p>
        </p:txBody>
      </p:sp>
      <p:sp>
        <p:nvSpPr>
          <p:cNvPr id="664" name="Google Shape;664;p30"/>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Use Social Media Calendar Template  ☐ Export graphics at 1080x1080 or 1080x1920  ☐ Include caption + CTA link  ☐ Submit to cobe-info@boisestate.edu for brand review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69" name="Shape 669"/>
        <p:cNvGrpSpPr/>
        <p:nvPr/>
      </p:nvGrpSpPr>
      <p:grpSpPr>
        <a:xfrm>
          <a:off x="0" y="0"/>
          <a:ext cx="0" cy="0"/>
          <a:chOff x="0" y="0"/>
          <a:chExt cx="0" cy="0"/>
        </a:xfrm>
      </p:grpSpPr>
      <p:sp>
        <p:nvSpPr>
          <p:cNvPr id="670" name="Google Shape;670;p31"/>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1"/>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672" name="Google Shape;672;p3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73" name="Google Shape;673;p3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28</a:t>
            </a:r>
            <a:endParaRPr b="0" i="0" sz="1000" u="none" cap="none" strike="noStrike">
              <a:solidFill>
                <a:schemeClr val="dk1"/>
              </a:solidFill>
              <a:latin typeface="Calibri"/>
              <a:ea typeface="Calibri"/>
              <a:cs typeface="Calibri"/>
              <a:sym typeface="Calibri"/>
            </a:endParaRPr>
          </a:p>
        </p:txBody>
      </p:sp>
      <p:sp>
        <p:nvSpPr>
          <p:cNvPr id="674" name="Google Shape;674;p31"/>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LinkedIn (@boisestatecobe)</a:t>
            </a:r>
            <a:endParaRPr b="0" i="0" sz="2600" u="none" cap="none" strike="noStrike">
              <a:solidFill>
                <a:schemeClr val="dk1"/>
              </a:solidFill>
              <a:latin typeface="Calibri"/>
              <a:ea typeface="Calibri"/>
              <a:cs typeface="Calibri"/>
              <a:sym typeface="Calibri"/>
            </a:endParaRPr>
          </a:p>
        </p:txBody>
      </p:sp>
      <p:sp>
        <p:nvSpPr>
          <p:cNvPr id="675" name="Google Shape;675;p31"/>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676" name="Google Shape;676;p31"/>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Employer partnerships, alumni highlights, professional storytelling, Online BBA community</a:t>
            </a:r>
            <a:endParaRPr b="0" i="0" sz="1100" u="none" cap="none" strike="noStrike">
              <a:solidFill>
                <a:schemeClr val="dk1"/>
              </a:solidFill>
              <a:latin typeface="Calibri"/>
              <a:ea typeface="Calibri"/>
              <a:cs typeface="Calibri"/>
              <a:sym typeface="Calibri"/>
            </a:endParaRPr>
          </a:p>
        </p:txBody>
      </p:sp>
      <p:sp>
        <p:nvSpPr>
          <p:cNvPr id="677" name="Google Shape;677;p31"/>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1"/>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ASSET TYPES</a:t>
            </a:r>
            <a:endParaRPr b="0" i="0" sz="1000" u="none" cap="none" strike="noStrike">
              <a:solidFill>
                <a:schemeClr val="dk1"/>
              </a:solidFill>
              <a:latin typeface="Calibri"/>
              <a:ea typeface="Calibri"/>
              <a:cs typeface="Calibri"/>
              <a:sym typeface="Calibri"/>
            </a:endParaRPr>
          </a:p>
        </p:txBody>
      </p:sp>
      <p:sp>
        <p:nvSpPr>
          <p:cNvPr id="679" name="Google Shape;679;p31"/>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Banners (1920x1080), articles, student spotlights, employer partnerships</a:t>
            </a:r>
            <a:endParaRPr b="0" i="0" sz="1100" u="none" cap="none" strike="noStrike">
              <a:solidFill>
                <a:schemeClr val="dk1"/>
              </a:solidFill>
              <a:latin typeface="Calibri"/>
              <a:ea typeface="Calibri"/>
              <a:cs typeface="Calibri"/>
              <a:sym typeface="Calibri"/>
            </a:endParaRPr>
          </a:p>
        </p:txBody>
      </p:sp>
      <p:sp>
        <p:nvSpPr>
          <p:cNvPr id="680" name="Google Shape;680;p31"/>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1"/>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682" name="Google Shape;682;p31"/>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2-3 posts/week; increase around fairs and mixers</a:t>
            </a:r>
            <a:endParaRPr b="0" i="0" sz="1100" u="none" cap="none" strike="noStrike">
              <a:solidFill>
                <a:schemeClr val="dk1"/>
              </a:solidFill>
              <a:latin typeface="Calibri"/>
              <a:ea typeface="Calibri"/>
              <a:cs typeface="Calibri"/>
              <a:sym typeface="Calibri"/>
            </a:endParaRPr>
          </a:p>
        </p:txBody>
      </p:sp>
      <p:sp>
        <p:nvSpPr>
          <p:cNvPr id="683" name="Google Shape;683;p31"/>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1"/>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685" name="Google Shape;685;p31"/>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webinars/events should be requested 3 weeks out</a:t>
            </a:r>
            <a:endParaRPr b="0" i="0" sz="1100" u="none" cap="none" strike="noStrike">
              <a:solidFill>
                <a:schemeClr val="dk1"/>
              </a:solidFill>
              <a:latin typeface="Calibri"/>
              <a:ea typeface="Calibri"/>
              <a:cs typeface="Calibri"/>
              <a:sym typeface="Calibri"/>
            </a:endParaRPr>
          </a:p>
        </p:txBody>
      </p:sp>
      <p:sp>
        <p:nvSpPr>
          <p:cNvPr id="686" name="Google Shape;686;p31"/>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1"/>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COPY TIPS</a:t>
            </a:r>
            <a:endParaRPr b="0" i="0" sz="1000" u="none" cap="none" strike="noStrike">
              <a:solidFill>
                <a:schemeClr val="dk1"/>
              </a:solidFill>
              <a:latin typeface="Calibri"/>
              <a:ea typeface="Calibri"/>
              <a:cs typeface="Calibri"/>
              <a:sym typeface="Calibri"/>
            </a:endParaRPr>
          </a:p>
        </p:txBody>
      </p:sp>
      <p:sp>
        <p:nvSpPr>
          <p:cNvPr id="688" name="Google Shape;688;p31"/>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Professional, outcome-focused. Include employer value props and landing page links.</a:t>
            </a:r>
            <a:endParaRPr b="0" i="0" sz="1100" u="none" cap="none" strike="noStrike">
              <a:solidFill>
                <a:schemeClr val="dk1"/>
              </a:solidFill>
              <a:latin typeface="Calibri"/>
              <a:ea typeface="Calibri"/>
              <a:cs typeface="Calibri"/>
              <a:sym typeface="Calibri"/>
            </a:endParaRPr>
          </a:p>
        </p:txBody>
      </p:sp>
      <p:sp>
        <p:nvSpPr>
          <p:cNvPr id="689" name="Google Shape;689;p31"/>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1"/>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CTA EXAMPLES</a:t>
            </a:r>
            <a:endParaRPr b="0" i="0" sz="1000" u="none" cap="none" strike="noStrike">
              <a:solidFill>
                <a:schemeClr val="dk1"/>
              </a:solidFill>
              <a:latin typeface="Calibri"/>
              <a:ea typeface="Calibri"/>
              <a:cs typeface="Calibri"/>
              <a:sym typeface="Calibri"/>
            </a:endParaRPr>
          </a:p>
        </p:txBody>
      </p:sp>
      <p:sp>
        <p:nvSpPr>
          <p:cNvPr id="691" name="Google Shape;691;p31"/>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"Learn more" | "Connect with our team" | "Register for the mixer"</a:t>
            </a:r>
            <a:endParaRPr b="0" i="0" sz="1100" u="none" cap="none" strike="noStrike">
              <a:solidFill>
                <a:schemeClr val="dk1"/>
              </a:solidFill>
              <a:latin typeface="Calibri"/>
              <a:ea typeface="Calibri"/>
              <a:cs typeface="Calibri"/>
              <a:sym typeface="Calibri"/>
            </a:endParaRPr>
          </a:p>
        </p:txBody>
      </p:sp>
      <p:sp>
        <p:nvSpPr>
          <p:cNvPr id="692" name="Google Shape;692;p31"/>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1"/>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HANDS-ON MINI-CHECKLIST</a:t>
            </a:r>
            <a:endParaRPr b="0" i="0" sz="1000" u="none" cap="none" strike="noStrike">
              <a:solidFill>
                <a:schemeClr val="dk1"/>
              </a:solidFill>
              <a:latin typeface="Calibri"/>
              <a:ea typeface="Calibri"/>
              <a:cs typeface="Calibri"/>
              <a:sym typeface="Calibri"/>
            </a:endParaRPr>
          </a:p>
        </p:txBody>
      </p:sp>
      <p:sp>
        <p:nvSpPr>
          <p:cNvPr id="694" name="Google Shape;694;p31"/>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Use 1920x1080 for event banners  ☐ Tag industry partners  ☐ Link to landing page  ☐ Submit to cobe-info@boisestate.edu for brand review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99" name="Shape 699"/>
        <p:cNvGrpSpPr/>
        <p:nvPr/>
      </p:nvGrpSpPr>
      <p:grpSpPr>
        <a:xfrm>
          <a:off x="0" y="0"/>
          <a:ext cx="0" cy="0"/>
          <a:chOff x="0" y="0"/>
          <a:chExt cx="0" cy="0"/>
        </a:xfrm>
      </p:grpSpPr>
      <p:sp>
        <p:nvSpPr>
          <p:cNvPr id="700" name="Google Shape;700;p32"/>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02" name="Google Shape;702;p3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03" name="Google Shape;703;p3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29</a:t>
            </a:r>
            <a:endParaRPr b="0" i="0" sz="1000" u="none" cap="none" strike="noStrike">
              <a:solidFill>
                <a:schemeClr val="dk1"/>
              </a:solidFill>
              <a:latin typeface="Calibri"/>
              <a:ea typeface="Calibri"/>
              <a:cs typeface="Calibri"/>
              <a:sym typeface="Calibri"/>
            </a:endParaRPr>
          </a:p>
        </p:txBody>
      </p:sp>
      <p:sp>
        <p:nvSpPr>
          <p:cNvPr id="704" name="Google Shape;704;p32"/>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Email &amp; Newsletter</a:t>
            </a:r>
            <a:endParaRPr b="0" i="0" sz="2600" u="none" cap="none" strike="noStrike">
              <a:solidFill>
                <a:schemeClr val="dk1"/>
              </a:solidFill>
              <a:latin typeface="Calibri"/>
              <a:ea typeface="Calibri"/>
              <a:cs typeface="Calibri"/>
              <a:sym typeface="Calibri"/>
            </a:endParaRPr>
          </a:p>
        </p:txBody>
      </p:sp>
      <p:sp>
        <p:nvSpPr>
          <p:cNvPr id="705" name="Google Shape;705;p32"/>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706" name="Google Shape;706;p32"/>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Driving event attendance, applications, and program inquiries</a:t>
            </a:r>
            <a:endParaRPr b="0" i="0" sz="1100" u="none" cap="none" strike="noStrike">
              <a:solidFill>
                <a:schemeClr val="dk1"/>
              </a:solidFill>
              <a:latin typeface="Calibri"/>
              <a:ea typeface="Calibri"/>
              <a:cs typeface="Calibri"/>
              <a:sym typeface="Calibri"/>
            </a:endParaRPr>
          </a:p>
        </p:txBody>
      </p:sp>
      <p:sp>
        <p:nvSpPr>
          <p:cNvPr id="707" name="Google Shape;707;p32"/>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2"/>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NEWSLETTERS</a:t>
            </a:r>
            <a:endParaRPr b="0" i="0" sz="1000" u="none" cap="none" strike="noStrike">
              <a:solidFill>
                <a:schemeClr val="dk1"/>
              </a:solidFill>
              <a:latin typeface="Calibri"/>
              <a:ea typeface="Calibri"/>
              <a:cs typeface="Calibri"/>
              <a:sym typeface="Calibri"/>
            </a:endParaRPr>
          </a:p>
        </p:txBody>
      </p:sp>
      <p:sp>
        <p:nvSpPr>
          <p:cNvPr id="709" name="Google Shape;709;p32"/>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Student Events (weekly/biweekly) and Bronco Business News (monthly/quarterly)</a:t>
            </a:r>
            <a:endParaRPr b="0" i="0" sz="1100" u="none" cap="none" strike="noStrike">
              <a:solidFill>
                <a:schemeClr val="dk1"/>
              </a:solidFill>
              <a:latin typeface="Calibri"/>
              <a:ea typeface="Calibri"/>
              <a:cs typeface="Calibri"/>
              <a:sym typeface="Calibri"/>
            </a:endParaRPr>
          </a:p>
        </p:txBody>
      </p:sp>
      <p:sp>
        <p:nvSpPr>
          <p:cNvPr id="710" name="Google Shape;710;p32"/>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2"/>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SUBSCRIBER REACH</a:t>
            </a:r>
            <a:endParaRPr b="0" i="0" sz="1000" u="none" cap="none" strike="noStrike">
              <a:solidFill>
                <a:schemeClr val="dk1"/>
              </a:solidFill>
              <a:latin typeface="Calibri"/>
              <a:ea typeface="Calibri"/>
              <a:cs typeface="Calibri"/>
              <a:sym typeface="Calibri"/>
            </a:endParaRPr>
          </a:p>
        </p:txBody>
      </p:sp>
      <p:sp>
        <p:nvSpPr>
          <p:cNvPr id="712" name="Google Shape;712;p32"/>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5,000+ COBE subscribers across student and faculty lists</a:t>
            </a:r>
            <a:endParaRPr b="0" i="0" sz="1100" u="none" cap="none" strike="noStrike">
              <a:solidFill>
                <a:schemeClr val="dk1"/>
              </a:solidFill>
              <a:latin typeface="Calibri"/>
              <a:ea typeface="Calibri"/>
              <a:cs typeface="Calibri"/>
              <a:sym typeface="Calibri"/>
            </a:endParaRPr>
          </a:p>
        </p:txBody>
      </p:sp>
      <p:sp>
        <p:nvSpPr>
          <p:cNvPr id="713" name="Google Shape;713;p32"/>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2"/>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715" name="Google Shape;715;p32"/>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(simple), 15 business days (complex multi-section)</a:t>
            </a:r>
            <a:endParaRPr b="0" i="0" sz="1100" u="none" cap="none" strike="noStrike">
              <a:solidFill>
                <a:schemeClr val="dk1"/>
              </a:solidFill>
              <a:latin typeface="Calibri"/>
              <a:ea typeface="Calibri"/>
              <a:cs typeface="Calibri"/>
              <a:sym typeface="Calibri"/>
            </a:endParaRPr>
          </a:p>
        </p:txBody>
      </p:sp>
      <p:sp>
        <p:nvSpPr>
          <p:cNvPr id="716" name="Google Shape;716;p32"/>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2"/>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SUBJECT LINE</a:t>
            </a:r>
            <a:endParaRPr b="0" i="0" sz="1000" u="none" cap="none" strike="noStrike">
              <a:solidFill>
                <a:schemeClr val="dk1"/>
              </a:solidFill>
              <a:latin typeface="Calibri"/>
              <a:ea typeface="Calibri"/>
              <a:cs typeface="Calibri"/>
              <a:sym typeface="Calibri"/>
            </a:endParaRPr>
          </a:p>
        </p:txBody>
      </p:sp>
      <p:sp>
        <p:nvSpPr>
          <p:cNvPr id="718" name="Google Shape;718;p32"/>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Keep under 55 characters. Be specific. Include date if event-related.</a:t>
            </a:r>
            <a:endParaRPr b="0" i="0" sz="1100" u="none" cap="none" strike="noStrike">
              <a:solidFill>
                <a:schemeClr val="dk1"/>
              </a:solidFill>
              <a:latin typeface="Calibri"/>
              <a:ea typeface="Calibri"/>
              <a:cs typeface="Calibri"/>
              <a:sym typeface="Calibri"/>
            </a:endParaRPr>
          </a:p>
        </p:txBody>
      </p:sp>
      <p:sp>
        <p:nvSpPr>
          <p:cNvPr id="719" name="Google Shape;719;p32"/>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2"/>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WHAT TO PROVIDE</a:t>
            </a:r>
            <a:endParaRPr b="0" i="0" sz="1000" u="none" cap="none" strike="noStrike">
              <a:solidFill>
                <a:schemeClr val="dk1"/>
              </a:solidFill>
              <a:latin typeface="Calibri"/>
              <a:ea typeface="Calibri"/>
              <a:cs typeface="Calibri"/>
              <a:sym typeface="Calibri"/>
            </a:endParaRPr>
          </a:p>
        </p:txBody>
      </p:sp>
      <p:sp>
        <p:nvSpPr>
          <p:cNvPr id="721" name="Google Shape;721;p32"/>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Square-ish photo, short paragraph (value props), CTA button link</a:t>
            </a:r>
            <a:endParaRPr b="0" i="0" sz="1100" u="none" cap="none" strike="noStrike">
              <a:solidFill>
                <a:schemeClr val="dk1"/>
              </a:solidFill>
              <a:latin typeface="Calibri"/>
              <a:ea typeface="Calibri"/>
              <a:cs typeface="Calibri"/>
              <a:sym typeface="Calibri"/>
            </a:endParaRPr>
          </a:p>
        </p:txBody>
      </p:sp>
      <p:sp>
        <p:nvSpPr>
          <p:cNvPr id="722" name="Google Shape;722;p32"/>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2"/>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KEY INSIGHT (FROM KATE)</a:t>
            </a:r>
            <a:endParaRPr b="0" i="0" sz="1000" u="none" cap="none" strike="noStrike">
              <a:solidFill>
                <a:schemeClr val="dk1"/>
              </a:solidFill>
              <a:latin typeface="Calibri"/>
              <a:ea typeface="Calibri"/>
              <a:cs typeface="Calibri"/>
              <a:sym typeface="Calibri"/>
            </a:endParaRPr>
          </a:p>
        </p:txBody>
      </p:sp>
      <p:sp>
        <p:nvSpPr>
          <p:cNvPr id="724" name="Google Shape;724;p32"/>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Feature certificates every few months — not every newsletter. Vary messaging each time to avoid tune-out. Include events (career fairs, panels) as they happen.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29" name="Shape 729"/>
        <p:cNvGrpSpPr/>
        <p:nvPr/>
      </p:nvGrpSpPr>
      <p:grpSpPr>
        <a:xfrm>
          <a:off x="0" y="0"/>
          <a:ext cx="0" cy="0"/>
          <a:chOff x="0" y="0"/>
          <a:chExt cx="0" cy="0"/>
        </a:xfrm>
      </p:grpSpPr>
      <p:sp>
        <p:nvSpPr>
          <p:cNvPr id="730" name="Google Shape;730;p33"/>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32" name="Google Shape;732;p3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33" name="Google Shape;733;p3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30</a:t>
            </a:r>
            <a:endParaRPr b="0" i="0" sz="1000" u="none" cap="none" strike="noStrike">
              <a:solidFill>
                <a:schemeClr val="dk1"/>
              </a:solidFill>
              <a:latin typeface="Calibri"/>
              <a:ea typeface="Calibri"/>
              <a:cs typeface="Calibri"/>
              <a:sym typeface="Calibri"/>
            </a:endParaRPr>
          </a:p>
        </p:txBody>
      </p:sp>
      <p:sp>
        <p:nvSpPr>
          <p:cNvPr id="734" name="Google Shape;734;p33"/>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Channel Guide: Digital Screens &amp; Physical Materials</a:t>
            </a:r>
            <a:endParaRPr b="0" i="0" sz="2400" u="none" cap="none" strike="noStrike">
              <a:solidFill>
                <a:schemeClr val="dk1"/>
              </a:solidFill>
              <a:latin typeface="Calibri"/>
              <a:ea typeface="Calibri"/>
              <a:cs typeface="Calibri"/>
              <a:sym typeface="Calibri"/>
            </a:endParaRPr>
          </a:p>
        </p:txBody>
      </p:sp>
      <p:graphicFrame>
        <p:nvGraphicFramePr>
          <p:cNvPr id="735" name="Google Shape;735;p33"/>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371600"/>
                <a:gridCol w="1645925"/>
                <a:gridCol w="2560325"/>
                <a:gridCol w="2651750"/>
              </a:tblGrid>
              <a:tr h="304800">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Location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Spec</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Submit To</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Notes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MBEB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cobe-info@boisestate.edu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Logo on screen already—NO logo overlays. Dark bg + white text best.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Housing Displays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PPT/PDF</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verenitzebeltran@boisestate.edu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Landscape preferred. Marketing form submission.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Student Union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SUB promotional request form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 dining screens (768x1366), 2 info desk (1920x1080)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Albertsons Library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1280x720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lib_communications@boisestate.edu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High foot traffic location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Campus Rec</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jaredcox@boisestate.edu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Rec center digital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
        <p:nvSpPr>
          <p:cNvPr id="736" name="Google Shape;736;p33"/>
          <p:cNvSpPr/>
          <p:nvPr/>
        </p:nvSpPr>
        <p:spPr>
          <a:xfrm>
            <a:off x="457200" y="30175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PRINT MATERIALS</a:t>
            </a:r>
            <a:endParaRPr b="0" i="0" sz="1300" u="none" cap="none" strike="noStrike">
              <a:solidFill>
                <a:schemeClr val="dk1"/>
              </a:solidFill>
              <a:latin typeface="Calibri"/>
              <a:ea typeface="Calibri"/>
              <a:cs typeface="Calibri"/>
              <a:sym typeface="Calibri"/>
            </a:endParaRPr>
          </a:p>
        </p:txBody>
      </p:sp>
      <p:graphicFrame>
        <p:nvGraphicFramePr>
          <p:cNvPr id="737" name="Google Shape;737;p33"/>
          <p:cNvGraphicFramePr/>
          <p:nvPr/>
        </p:nvGraphicFramePr>
        <p:xfrm>
          <a:off x="457200" y="3291840"/>
          <a:ext cx="3000000" cy="3000000"/>
        </p:xfrm>
        <a:graphic>
          <a:graphicData uri="http://schemas.openxmlformats.org/drawingml/2006/table">
            <a:tbl>
              <a:tblPr>
                <a:noFill/>
                <a:tableStyleId>{AD4631F1-437D-4764-92B6-2A4562E18BC6}</a:tableStyleId>
              </a:tblPr>
              <a:tblGrid>
                <a:gridCol w="1371600"/>
                <a:gridCol w="1371600"/>
                <a:gridCol w="1188725"/>
                <a:gridCol w="4297675"/>
              </a:tblGrid>
              <a:tr h="27432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Material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Size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Cost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Notes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2743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Flyers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8.5" x 11"</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Minimal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Post on MBEB bulletin boards. Remove after event.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743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Posters (MBEB)</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24" x 31"</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$8-$12/ea</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Uncoated $8, semi-gloss $12. Include FDCC code.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743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Shuttle Stop Posters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24" x 35"</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$14/ea</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Captive bus rider audience. High visibility.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42" name="Shape 742"/>
        <p:cNvGrpSpPr/>
        <p:nvPr/>
      </p:nvGrpSpPr>
      <p:grpSpPr>
        <a:xfrm>
          <a:off x="0" y="0"/>
          <a:ext cx="0" cy="0"/>
          <a:chOff x="0" y="0"/>
          <a:chExt cx="0" cy="0"/>
        </a:xfrm>
      </p:grpSpPr>
      <p:sp>
        <p:nvSpPr>
          <p:cNvPr id="743" name="Google Shape;743;p34"/>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45" name="Google Shape;745;p3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46" name="Google Shape;746;p3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31</a:t>
            </a:r>
            <a:endParaRPr b="0" i="0" sz="1000" u="none" cap="none" strike="noStrike">
              <a:solidFill>
                <a:schemeClr val="dk1"/>
              </a:solidFill>
              <a:latin typeface="Calibri"/>
              <a:ea typeface="Calibri"/>
              <a:cs typeface="Calibri"/>
              <a:sym typeface="Calibri"/>
            </a:endParaRPr>
          </a:p>
        </p:txBody>
      </p:sp>
      <p:sp>
        <p:nvSpPr>
          <p:cNvPr id="747" name="Google Shape;747;p34"/>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Website &amp; Landing Pages</a:t>
            </a:r>
            <a:endParaRPr b="0" i="0" sz="2600" u="none" cap="none" strike="noStrike">
              <a:solidFill>
                <a:schemeClr val="dk1"/>
              </a:solidFill>
              <a:latin typeface="Calibri"/>
              <a:ea typeface="Calibri"/>
              <a:cs typeface="Calibri"/>
              <a:sym typeface="Calibri"/>
            </a:endParaRPr>
          </a:p>
        </p:txBody>
      </p:sp>
      <p:sp>
        <p:nvSpPr>
          <p:cNvPr id="748" name="Google Shape;748;p34"/>
          <p:cNvSpPr/>
          <p:nvPr/>
        </p:nvSpPr>
        <p:spPr>
          <a:xfrm>
            <a:off x="45720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4"/>
          <p:cNvSpPr/>
          <p:nvPr/>
        </p:nvSpPr>
        <p:spPr>
          <a:xfrm>
            <a:off x="457200" y="1005840"/>
            <a:ext cx="54864" cy="22860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4"/>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100"/>
              <a:buFont typeface="Arial"/>
              <a:buNone/>
            </a:pPr>
            <a:r>
              <a:rPr b="1" i="0" lang="en-US" sz="1100" u="none" cap="none" strike="noStrike">
                <a:solidFill>
                  <a:srgbClr val="F97316"/>
                </a:solidFill>
                <a:latin typeface="Arial"/>
                <a:ea typeface="Arial"/>
                <a:cs typeface="Arial"/>
                <a:sym typeface="Arial"/>
              </a:rPr>
              <a:t>WHAT MAKES A GOOD LANDING PAGE</a:t>
            </a:r>
            <a:endParaRPr b="0" i="0" sz="1100" u="none" cap="none" strike="noStrike">
              <a:solidFill>
                <a:schemeClr val="dk1"/>
              </a:solidFill>
              <a:latin typeface="Calibri"/>
              <a:ea typeface="Calibri"/>
              <a:cs typeface="Calibri"/>
              <a:sym typeface="Calibri"/>
            </a:endParaRPr>
          </a:p>
        </p:txBody>
      </p:sp>
      <p:sp>
        <p:nvSpPr>
          <p:cNvPr id="751" name="Google Shape;751;p34"/>
          <p:cNvSpPr/>
          <p:nvPr/>
        </p:nvSpPr>
        <p:spPr>
          <a:xfrm>
            <a:off x="68580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Clear headline stating the program/event</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2-3 bullet value propositions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Strong CTA button ("Apply Now", "Register")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Contact info for questions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Mobile-responsive design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Alt text on all images (accessibility required)</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Updated deadlines and dates</a:t>
            </a:r>
            <a:endParaRPr b="0" i="0" sz="1000" u="none" cap="none" strike="noStrike">
              <a:solidFill>
                <a:schemeClr val="dk1"/>
              </a:solidFill>
              <a:latin typeface="Calibri"/>
              <a:ea typeface="Calibri"/>
              <a:cs typeface="Calibri"/>
              <a:sym typeface="Calibri"/>
            </a:endParaRPr>
          </a:p>
        </p:txBody>
      </p:sp>
      <p:sp>
        <p:nvSpPr>
          <p:cNvPr id="752" name="Google Shape;752;p34"/>
          <p:cNvSpPr/>
          <p:nvPr/>
        </p:nvSpPr>
        <p:spPr>
          <a:xfrm>
            <a:off x="484632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4"/>
          <p:cNvSpPr/>
          <p:nvPr/>
        </p:nvSpPr>
        <p:spPr>
          <a:xfrm>
            <a:off x="4846320" y="1005840"/>
            <a:ext cx="54864" cy="22860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4"/>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100"/>
              <a:buFont typeface="Arial"/>
              <a:buNone/>
            </a:pPr>
            <a:r>
              <a:rPr b="1" i="0" lang="en-US" sz="1100" u="none" cap="none" strike="noStrike">
                <a:solidFill>
                  <a:srgbClr val="EF4444"/>
                </a:solidFill>
                <a:latin typeface="Arial"/>
                <a:ea typeface="Arial"/>
                <a:cs typeface="Arial"/>
                <a:sym typeface="Arial"/>
              </a:rPr>
              <a:t>WORDPRESS ACCESS REQUIREMENTS</a:t>
            </a:r>
            <a:endParaRPr b="0" i="0" sz="1100" u="none" cap="none" strike="noStrike">
              <a:solidFill>
                <a:schemeClr val="dk1"/>
              </a:solidFill>
              <a:latin typeface="Calibri"/>
              <a:ea typeface="Calibri"/>
              <a:cs typeface="Calibri"/>
              <a:sym typeface="Calibri"/>
            </a:endParaRPr>
          </a:p>
        </p:txBody>
      </p:sp>
      <p:sp>
        <p:nvSpPr>
          <p:cNvPr id="755" name="Google Shape;755;p34"/>
          <p:cNvSpPr/>
          <p:nvPr/>
        </p:nvSpPr>
        <p:spPr>
          <a:xfrm>
            <a:off x="507492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Complete web accessibility compliance training (60-90 min, self-paced)</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Enroll: boisestate.edu/webguide/wordpress-accessibility-compliance-training/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After completion, you receive WordPress Editor access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Complete Introduction to WordPress 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Review your responsibilities as account holder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Review security information (data limitations)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Contact helpdesk@boisestate.edu for support</a:t>
            </a:r>
            <a:endParaRPr b="0" i="0" sz="1000" u="none" cap="none" strike="noStrike">
              <a:solidFill>
                <a:schemeClr val="dk1"/>
              </a:solidFill>
              <a:latin typeface="Calibri"/>
              <a:ea typeface="Calibri"/>
              <a:cs typeface="Calibri"/>
              <a:sym typeface="Calibri"/>
            </a:endParaRPr>
          </a:p>
        </p:txBody>
      </p:sp>
      <p:sp>
        <p:nvSpPr>
          <p:cNvPr id="756" name="Google Shape;756;p34"/>
          <p:cNvSpPr/>
          <p:nvPr/>
        </p:nvSpPr>
        <p:spPr>
          <a:xfrm>
            <a:off x="457200" y="3474720"/>
            <a:ext cx="8229600" cy="128016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4"/>
          <p:cNvSpPr/>
          <p:nvPr/>
        </p:nvSpPr>
        <p:spPr>
          <a:xfrm>
            <a:off x="457200" y="3474720"/>
            <a:ext cx="54864" cy="128016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4"/>
          <p:cNvSpPr/>
          <p:nvPr/>
        </p:nvSpPr>
        <p:spPr>
          <a:xfrm>
            <a:off x="685800" y="356616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100"/>
              <a:buFont typeface="Arial"/>
              <a:buNone/>
            </a:pPr>
            <a:r>
              <a:rPr b="1" i="0" lang="en-US" sz="1100" u="none" cap="none" strike="noStrike">
                <a:solidFill>
                  <a:srgbClr val="0033A0"/>
                </a:solidFill>
                <a:latin typeface="Arial"/>
                <a:ea typeface="Arial"/>
                <a:cs typeface="Arial"/>
                <a:sym typeface="Arial"/>
              </a:rPr>
              <a:t>WEB UPDATE REQUEST FORMAT</a:t>
            </a:r>
            <a:endParaRPr b="0" i="0" sz="1100" u="none" cap="none" strike="noStrike">
              <a:solidFill>
                <a:schemeClr val="dk1"/>
              </a:solidFill>
              <a:latin typeface="Calibri"/>
              <a:ea typeface="Calibri"/>
              <a:cs typeface="Calibri"/>
              <a:sym typeface="Calibri"/>
            </a:endParaRPr>
          </a:p>
        </p:txBody>
      </p:sp>
      <p:sp>
        <p:nvSpPr>
          <p:cNvPr id="759" name="Google Shape;759;p34"/>
          <p:cNvSpPr/>
          <p:nvPr/>
        </p:nvSpPr>
        <p:spPr>
          <a:xfrm>
            <a:off x="685800" y="3840480"/>
            <a:ext cx="7772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Send to: cobe-info@boisestate.edu  |  Lead time: 10 days (updates), 15 days (new pages)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1" i="0" lang="en-US" sz="1000" u="none" cap="none" strike="noStrike">
                <a:solidFill>
                  <a:srgbClr val="334155"/>
                </a:solidFill>
                <a:latin typeface="Arial"/>
                <a:ea typeface="Arial"/>
                <a:cs typeface="Arial"/>
                <a:sym typeface="Arial"/>
              </a:rPr>
              <a:t>Include: </a:t>
            </a:r>
            <a:r>
              <a:rPr b="0" i="0" lang="en-US" sz="1000" u="none" cap="none" strike="noStrike">
                <a:solidFill>
                  <a:srgbClr val="334155"/>
                </a:solidFill>
                <a:latin typeface="Arial"/>
                <a:ea typeface="Arial"/>
                <a:cs typeface="Arial"/>
                <a:sym typeface="Arial"/>
              </a:rPr>
              <a:t>Page URL + exact text to change  |  New assets with alt text and credit  |  CTA destination + form ownership (who monitors submissions)  |  Quality check: headings, alt text, descriptive links, correct dates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64" name="Shape 764"/>
        <p:cNvGrpSpPr/>
        <p:nvPr/>
      </p:nvGrpSpPr>
      <p:grpSpPr>
        <a:xfrm>
          <a:off x="0" y="0"/>
          <a:ext cx="0" cy="0"/>
          <a:chOff x="0" y="0"/>
          <a:chExt cx="0" cy="0"/>
        </a:xfrm>
      </p:grpSpPr>
      <p:sp>
        <p:nvSpPr>
          <p:cNvPr id="765" name="Google Shape;765;p35"/>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5"/>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67" name="Google Shape;767;p3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68" name="Google Shape;768;p3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32</a:t>
            </a:r>
            <a:endParaRPr b="0" i="0" sz="1000" u="none" cap="none" strike="noStrike">
              <a:solidFill>
                <a:schemeClr val="dk1"/>
              </a:solidFill>
              <a:latin typeface="Calibri"/>
              <a:ea typeface="Calibri"/>
              <a:cs typeface="Calibri"/>
              <a:sym typeface="Calibri"/>
            </a:endParaRPr>
          </a:p>
        </p:txBody>
      </p:sp>
      <p:sp>
        <p:nvSpPr>
          <p:cNvPr id="769" name="Google Shape;769;p35"/>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Tracking Setup: QR Codes &amp; UTMs</a:t>
            </a:r>
            <a:endParaRPr b="0" i="0" sz="2800" u="none" cap="none" strike="noStrike">
              <a:solidFill>
                <a:schemeClr val="dk1"/>
              </a:solidFill>
              <a:latin typeface="Calibri"/>
              <a:ea typeface="Calibri"/>
              <a:cs typeface="Calibri"/>
              <a:sym typeface="Calibri"/>
            </a:endParaRPr>
          </a:p>
        </p:txBody>
      </p:sp>
      <p:sp>
        <p:nvSpPr>
          <p:cNvPr id="770" name="Google Shape;770;p35"/>
          <p:cNvSpPr/>
          <p:nvPr/>
        </p:nvSpPr>
        <p:spPr>
          <a:xfrm>
            <a:off x="45720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5"/>
          <p:cNvSpPr/>
          <p:nvPr/>
        </p:nvSpPr>
        <p:spPr>
          <a:xfrm>
            <a:off x="457200" y="1005840"/>
            <a:ext cx="54864" cy="27432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5"/>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US" sz="1200" u="none" cap="none" strike="noStrike">
                <a:solidFill>
                  <a:srgbClr val="7C3AED"/>
                </a:solidFill>
                <a:latin typeface="Arial"/>
                <a:ea typeface="Arial"/>
                <a:cs typeface="Arial"/>
                <a:sym typeface="Arial"/>
              </a:rPr>
              <a:t>FLOWCODE QR CODES</a:t>
            </a:r>
            <a:endParaRPr b="0" i="0" sz="1200" u="none" cap="none" strike="noStrike">
              <a:solidFill>
                <a:schemeClr val="dk1"/>
              </a:solidFill>
              <a:latin typeface="Calibri"/>
              <a:ea typeface="Calibri"/>
              <a:cs typeface="Calibri"/>
              <a:sym typeface="Calibri"/>
            </a:endParaRPr>
          </a:p>
        </p:txBody>
      </p:sp>
      <p:sp>
        <p:nvSpPr>
          <p:cNvPr id="773" name="Google Shape;773;p35"/>
          <p:cNvSpPr/>
          <p:nvPr/>
        </p:nvSpPr>
        <p:spPr>
          <a:xfrm>
            <a:off x="68580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Create account at flowcode.com</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Generate QR code pointing to your landing page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Name convention: Program_Channel_Semester (e.g., RHM_Shuttle_SP25)</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Download as high-res PNG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Place on every physical asset (posters, flyers, handouts)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Monitor scans in the Flowcode dashboard</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Include scan data in your campaign report</a:t>
            </a:r>
            <a:endParaRPr b="0" i="0" sz="1000" u="none" cap="none" strike="noStrike">
              <a:solidFill>
                <a:schemeClr val="dk1"/>
              </a:solidFill>
              <a:latin typeface="Calibri"/>
              <a:ea typeface="Calibri"/>
              <a:cs typeface="Calibri"/>
              <a:sym typeface="Calibri"/>
            </a:endParaRPr>
          </a:p>
        </p:txBody>
      </p:sp>
      <p:sp>
        <p:nvSpPr>
          <p:cNvPr id="774" name="Google Shape;774;p35"/>
          <p:cNvSpPr/>
          <p:nvPr/>
        </p:nvSpPr>
        <p:spPr>
          <a:xfrm>
            <a:off x="484632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5"/>
          <p:cNvSpPr/>
          <p:nvPr/>
        </p:nvSpPr>
        <p:spPr>
          <a:xfrm>
            <a:off x="4846320" y="1005840"/>
            <a:ext cx="54864" cy="2743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5"/>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Arial"/>
              <a:buNone/>
            </a:pPr>
            <a:r>
              <a:rPr b="1" i="0" lang="en-US" sz="1200" u="none" cap="none" strike="noStrike">
                <a:solidFill>
                  <a:srgbClr val="0D9488"/>
                </a:solidFill>
                <a:latin typeface="Arial"/>
                <a:ea typeface="Arial"/>
                <a:cs typeface="Arial"/>
                <a:sym typeface="Arial"/>
              </a:rPr>
              <a:t>UTM PARAMETERS</a:t>
            </a:r>
            <a:endParaRPr b="0" i="0" sz="1200" u="none" cap="none" strike="noStrike">
              <a:solidFill>
                <a:schemeClr val="dk1"/>
              </a:solidFill>
              <a:latin typeface="Calibri"/>
              <a:ea typeface="Calibri"/>
              <a:cs typeface="Calibri"/>
              <a:sym typeface="Calibri"/>
            </a:endParaRPr>
          </a:p>
        </p:txBody>
      </p:sp>
      <p:sp>
        <p:nvSpPr>
          <p:cNvPr id="777" name="Google Shape;777;p35"/>
          <p:cNvSpPr/>
          <p:nvPr/>
        </p:nvSpPr>
        <p:spPr>
          <a:xfrm>
            <a:off x="507492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Use Google Campaign URL Builder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utm_source = channel (instagram, newsletter, shuttle)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utm_medium = type (social, email, print, screen)</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utm_campaign = program_semester (rhm_sp25)</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Apply to every digital link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Track in Google Analytics or Looker Studio</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Compare channel performance side-by-side</a:t>
            </a:r>
            <a:endParaRPr b="0" i="0" sz="1000" u="none" cap="none" strike="noStrike">
              <a:solidFill>
                <a:schemeClr val="dk1"/>
              </a:solidFill>
              <a:latin typeface="Calibri"/>
              <a:ea typeface="Calibri"/>
              <a:cs typeface="Calibri"/>
              <a:sym typeface="Calibri"/>
            </a:endParaRPr>
          </a:p>
        </p:txBody>
      </p:sp>
      <p:sp>
        <p:nvSpPr>
          <p:cNvPr id="778" name="Google Shape;778;p35"/>
          <p:cNvSpPr/>
          <p:nvPr/>
        </p:nvSpPr>
        <p:spPr>
          <a:xfrm>
            <a:off x="457200" y="3931920"/>
            <a:ext cx="8229600" cy="822960"/>
          </a:xfrm>
          <a:prstGeom prst="rect">
            <a:avLst/>
          </a:prstGeom>
          <a:solidFill>
            <a:srgbClr val="F5F3FF"/>
          </a:solidFill>
          <a:ln cap="flat" cmpd="sng" w="12700">
            <a:solidFill>
              <a:srgbClr val="7C3AED"/>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5"/>
          <p:cNvSpPr/>
          <p:nvPr/>
        </p:nvSpPr>
        <p:spPr>
          <a:xfrm>
            <a:off x="685800" y="3977640"/>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Arial"/>
              <a:buNone/>
            </a:pPr>
            <a:r>
              <a:rPr b="1" i="0" lang="en-US" sz="1000" u="none" cap="none" strike="noStrike">
                <a:solidFill>
                  <a:srgbClr val="7C3AED"/>
                </a:solidFill>
                <a:latin typeface="Arial"/>
                <a:ea typeface="Arial"/>
                <a:cs typeface="Arial"/>
                <a:sym typeface="Arial"/>
              </a:rPr>
              <a:t>QR PLACEMENT STRATEGY</a:t>
            </a:r>
            <a:endParaRPr b="0" i="0" sz="1000" u="none" cap="none" strike="noStrike">
              <a:solidFill>
                <a:schemeClr val="dk1"/>
              </a:solidFill>
              <a:latin typeface="Calibri"/>
              <a:ea typeface="Calibri"/>
              <a:cs typeface="Calibri"/>
              <a:sym typeface="Calibri"/>
            </a:endParaRPr>
          </a:p>
        </p:txBody>
      </p:sp>
      <p:sp>
        <p:nvSpPr>
          <p:cNvPr id="780" name="Google Shape;780;p35"/>
          <p:cNvSpPr/>
          <p:nvPr/>
        </p:nvSpPr>
        <p:spPr>
          <a:xfrm>
            <a:off x="685800" y="425196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Place QR codes on: shuttle stop posters, class visit handouts, tabling materials, MBEB posters, career fair table signs, and event signage. Each physical touchpoint becomes a measurable conversion opportunity.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pic>
        <p:nvPicPr>
          <p:cNvPr descr="Beautify this slide" id="786" name="Google Shape;786;p3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90" name="Shape 790"/>
        <p:cNvGrpSpPr/>
        <p:nvPr/>
      </p:nvGrpSpPr>
      <p:grpSpPr>
        <a:xfrm>
          <a:off x="0" y="0"/>
          <a:ext cx="0" cy="0"/>
          <a:chOff x="0" y="0"/>
          <a:chExt cx="0" cy="0"/>
        </a:xfrm>
      </p:grpSpPr>
      <p:sp>
        <p:nvSpPr>
          <p:cNvPr id="791" name="Google Shape;791;p37"/>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93" name="Google Shape;793;p3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94" name="Google Shape;794;p3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33</a:t>
            </a:r>
            <a:endParaRPr b="0" i="0" sz="1000" u="none" cap="none" strike="noStrike">
              <a:solidFill>
                <a:schemeClr val="dk1"/>
              </a:solidFill>
              <a:latin typeface="Calibri"/>
              <a:ea typeface="Calibri"/>
              <a:cs typeface="Calibri"/>
              <a:sym typeface="Calibri"/>
            </a:endParaRPr>
          </a:p>
        </p:txBody>
      </p:sp>
      <p:sp>
        <p:nvSpPr>
          <p:cNvPr id="795" name="Google Shape;795;p37"/>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Hands-On Tool Stack (Boise State)</a:t>
            </a:r>
            <a:endParaRPr b="0" i="0" sz="2800" u="none" cap="none" strike="noStrike">
              <a:solidFill>
                <a:schemeClr val="dk1"/>
              </a:solidFill>
              <a:latin typeface="Calibri"/>
              <a:ea typeface="Calibri"/>
              <a:cs typeface="Calibri"/>
              <a:sym typeface="Calibri"/>
            </a:endParaRPr>
          </a:p>
        </p:txBody>
      </p:sp>
      <p:sp>
        <p:nvSpPr>
          <p:cNvPr id="796" name="Google Shape;796;p37"/>
          <p:cNvSpPr/>
          <p:nvPr/>
        </p:nvSpPr>
        <p:spPr>
          <a:xfrm>
            <a:off x="45720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7"/>
          <p:cNvSpPr/>
          <p:nvPr/>
        </p:nvSpPr>
        <p:spPr>
          <a:xfrm>
            <a:off x="457200" y="1005840"/>
            <a:ext cx="54864" cy="27432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7"/>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US" sz="1200" u="none" cap="none" strike="noStrike">
                <a:solidFill>
                  <a:srgbClr val="7C3AED"/>
                </a:solidFill>
                <a:latin typeface="Arial"/>
                <a:ea typeface="Arial"/>
                <a:cs typeface="Arial"/>
                <a:sym typeface="Arial"/>
              </a:rPr>
              <a:t>TRACKING + ATTRIBUTION</a:t>
            </a:r>
            <a:endParaRPr b="0" i="0" sz="1200" u="none" cap="none" strike="noStrike">
              <a:solidFill>
                <a:schemeClr val="dk1"/>
              </a:solidFill>
              <a:latin typeface="Calibri"/>
              <a:ea typeface="Calibri"/>
              <a:cs typeface="Calibri"/>
              <a:sym typeface="Calibri"/>
            </a:endParaRPr>
          </a:p>
        </p:txBody>
      </p:sp>
      <p:sp>
        <p:nvSpPr>
          <p:cNvPr id="799" name="Google Shape;799;p37"/>
          <p:cNvSpPr/>
          <p:nvPr/>
        </p:nvSpPr>
        <p:spPr>
          <a:xfrm>
            <a:off x="68580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Flowcode: QR scan attribution per physical placement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 Parameters: Link attribution by channel and campaign</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Looker Studio: Dashboards comparing channel performance side-by-side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Google Analytics: Website traffic and conversion tracking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800" name="Google Shape;800;p37"/>
          <p:cNvSpPr/>
          <p:nvPr/>
        </p:nvSpPr>
        <p:spPr>
          <a:xfrm>
            <a:off x="484632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7"/>
          <p:cNvSpPr/>
          <p:nvPr/>
        </p:nvSpPr>
        <p:spPr>
          <a:xfrm>
            <a:off x="4846320" y="1005840"/>
            <a:ext cx="54864" cy="2743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7"/>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Arial"/>
              <a:buNone/>
            </a:pPr>
            <a:r>
              <a:rPr b="1" i="0" lang="en-US" sz="1200" u="none" cap="none" strike="noStrike">
                <a:solidFill>
                  <a:srgbClr val="0D9488"/>
                </a:solidFill>
                <a:latin typeface="Arial"/>
                <a:ea typeface="Arial"/>
                <a:cs typeface="Arial"/>
                <a:sym typeface="Arial"/>
              </a:rPr>
              <a:t>WEB + EMAIL SETUP</a:t>
            </a:r>
            <a:endParaRPr b="0" i="0" sz="1200" u="none" cap="none" strike="noStrike">
              <a:solidFill>
                <a:schemeClr val="dk1"/>
              </a:solidFill>
              <a:latin typeface="Calibri"/>
              <a:ea typeface="Calibri"/>
              <a:cs typeface="Calibri"/>
              <a:sym typeface="Calibri"/>
            </a:endParaRPr>
          </a:p>
        </p:txBody>
      </p:sp>
      <p:sp>
        <p:nvSpPr>
          <p:cNvPr id="803" name="Google Shape;803;p37"/>
          <p:cNvSpPr/>
          <p:nvPr/>
        </p:nvSpPr>
        <p:spPr>
          <a:xfrm>
            <a:off x="507492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WordPress: Primary platform for program landing pages (requires accessibility 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Google Sites: Alternative for quick-launch pages when WordPress access is pending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Boise State IT: Request event/program email alias or shared mailbox for campaign inquiries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Canva / InDesign: Graphic asset creation within Boise State brand guidelines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804" name="Google Shape;804;p37"/>
          <p:cNvSpPr/>
          <p:nvPr/>
        </p:nvSpPr>
        <p:spPr>
          <a:xfrm>
            <a:off x="457200" y="3931920"/>
            <a:ext cx="8229600" cy="822960"/>
          </a:xfrm>
          <a:prstGeom prst="rect">
            <a:avLst/>
          </a:prstGeom>
          <a:solidFill>
            <a:srgbClr val="F5F3FF"/>
          </a:solidFill>
          <a:ln cap="flat" cmpd="sng" w="12700">
            <a:solidFill>
              <a:srgbClr val="7C3AED"/>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7"/>
          <p:cNvSpPr/>
          <p:nvPr/>
        </p:nvSpPr>
        <p:spPr>
          <a:xfrm>
            <a:off x="685800" y="3977640"/>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Arial"/>
              <a:buNone/>
            </a:pPr>
            <a:r>
              <a:rPr b="1" i="0" lang="en-US" sz="1000" u="none" cap="none" strike="noStrike">
                <a:solidFill>
                  <a:srgbClr val="7C3AED"/>
                </a:solidFill>
                <a:latin typeface="Arial"/>
                <a:ea typeface="Arial"/>
                <a:cs typeface="Arial"/>
                <a:sym typeface="Arial"/>
              </a:rPr>
              <a:t>KEY PRINCIPLE</a:t>
            </a:r>
            <a:endParaRPr b="0" i="0" sz="1000" u="none" cap="none" strike="noStrike">
              <a:solidFill>
                <a:schemeClr val="dk1"/>
              </a:solidFill>
              <a:latin typeface="Calibri"/>
              <a:ea typeface="Calibri"/>
              <a:cs typeface="Calibri"/>
              <a:sym typeface="Calibri"/>
            </a:endParaRPr>
          </a:p>
        </p:txBody>
      </p:sp>
      <p:sp>
        <p:nvSpPr>
          <p:cNvPr id="806" name="Google Shape;806;p37"/>
          <p:cNvSpPr/>
          <p:nvPr/>
        </p:nvSpPr>
        <p:spPr>
          <a:xfrm>
            <a:off x="685800" y="425196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Set up tracking and landing page BEFORE the first post goes live. Every channel link should be trackable from day one. RHM used this exact stack to attribute page traffic across 10+ channels.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5F9"/>
        </a:solidFill>
      </p:bgPr>
    </p:bg>
    <p:spTree>
      <p:nvGrpSpPr>
        <p:cNvPr id="811" name="Shape 811"/>
        <p:cNvGrpSpPr/>
        <p:nvPr/>
      </p:nvGrpSpPr>
      <p:grpSpPr>
        <a:xfrm>
          <a:off x="0" y="0"/>
          <a:ext cx="0" cy="0"/>
          <a:chOff x="0" y="0"/>
          <a:chExt cx="0" cy="0"/>
        </a:xfrm>
      </p:grpSpPr>
      <p:sp>
        <p:nvSpPr>
          <p:cNvPr id="812" name="Google Shape;812;p38"/>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14" name="Google Shape;814;p3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15" name="Google Shape;815;p3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34</a:t>
            </a:r>
            <a:endParaRPr b="0" i="0" sz="1000" u="none" cap="none" strike="noStrike">
              <a:solidFill>
                <a:schemeClr val="dk1"/>
              </a:solidFill>
              <a:latin typeface="Calibri"/>
              <a:ea typeface="Calibri"/>
              <a:cs typeface="Calibri"/>
              <a:sym typeface="Calibri"/>
            </a:endParaRPr>
          </a:p>
        </p:txBody>
      </p:sp>
      <p:sp>
        <p:nvSpPr>
          <p:cNvPr id="816" name="Google Shape;816;p38"/>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Hands-On Submission Checklist</a:t>
            </a:r>
            <a:endParaRPr b="0" i="0" sz="2800" u="none" cap="none" strike="noStrike">
              <a:solidFill>
                <a:schemeClr val="dk1"/>
              </a:solidFill>
              <a:latin typeface="Calibri"/>
              <a:ea typeface="Calibri"/>
              <a:cs typeface="Calibri"/>
              <a:sym typeface="Calibri"/>
            </a:endParaRPr>
          </a:p>
        </p:txBody>
      </p:sp>
      <p:sp>
        <p:nvSpPr>
          <p:cNvPr id="817" name="Google Shape;817;p38"/>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Complete this before submitting your asset pack to cobe-info@boisestate.edu.</a:t>
            </a:r>
            <a:endParaRPr b="0" i="0" sz="1300" u="none" cap="none" strike="noStrike">
              <a:solidFill>
                <a:schemeClr val="dk1"/>
              </a:solidFill>
              <a:latin typeface="Calibri"/>
              <a:ea typeface="Calibri"/>
              <a:cs typeface="Calibri"/>
              <a:sym typeface="Calibri"/>
            </a:endParaRPr>
          </a:p>
        </p:txBody>
      </p:sp>
      <p:sp>
        <p:nvSpPr>
          <p:cNvPr id="818" name="Google Shape;818;p38"/>
          <p:cNvSpPr/>
          <p:nvPr/>
        </p:nvSpPr>
        <p:spPr>
          <a:xfrm>
            <a:off x="457200" y="1280160"/>
            <a:ext cx="3840480" cy="3291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8"/>
          <p:cNvSpPr/>
          <p:nvPr/>
        </p:nvSpPr>
        <p:spPr>
          <a:xfrm>
            <a:off x="457200" y="1280160"/>
            <a:ext cx="54864" cy="329184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8"/>
          <p:cNvSpPr/>
          <p:nvPr/>
        </p:nvSpPr>
        <p:spPr>
          <a:xfrm>
            <a:off x="68580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CONTENT &amp; COPY</a:t>
            </a:r>
            <a:endParaRPr b="0" i="0" sz="1200" u="none" cap="none" strike="noStrike">
              <a:solidFill>
                <a:schemeClr val="dk1"/>
              </a:solidFill>
              <a:latin typeface="Calibri"/>
              <a:ea typeface="Calibri"/>
              <a:cs typeface="Calibri"/>
              <a:sym typeface="Calibri"/>
            </a:endParaRPr>
          </a:p>
        </p:txBody>
      </p:sp>
      <p:sp>
        <p:nvSpPr>
          <p:cNvPr id="821" name="Google Shape;821;p38"/>
          <p:cNvSpPr/>
          <p:nvPr/>
        </p:nvSpPr>
        <p:spPr>
          <a:xfrm>
            <a:off x="685800" y="1691640"/>
            <a:ext cx="3474720" cy="2651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Copy draft for each channel (under 100 words each)</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Subject line under 55 characters (for email)</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Clear CTA on every piece (Register, Apply, etc.)</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CTA destination URL tested and working</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Registration/landing page link confirmed</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Alt text written for every image</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Student/partner names and titles double-checked</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Dates, times, and locations verified</a:t>
            </a:r>
            <a:endParaRPr b="0" i="0" sz="1000" u="none" cap="none" strike="noStrike">
              <a:solidFill>
                <a:schemeClr val="dk1"/>
              </a:solidFill>
              <a:latin typeface="Calibri"/>
              <a:ea typeface="Calibri"/>
              <a:cs typeface="Calibri"/>
              <a:sym typeface="Calibri"/>
            </a:endParaRPr>
          </a:p>
        </p:txBody>
      </p:sp>
      <p:sp>
        <p:nvSpPr>
          <p:cNvPr id="822" name="Google Shape;822;p38"/>
          <p:cNvSpPr/>
          <p:nvPr/>
        </p:nvSpPr>
        <p:spPr>
          <a:xfrm>
            <a:off x="4846320" y="1280160"/>
            <a:ext cx="3840480" cy="3291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8"/>
          <p:cNvSpPr/>
          <p:nvPr/>
        </p:nvSpPr>
        <p:spPr>
          <a:xfrm>
            <a:off x="4846320" y="1280160"/>
            <a:ext cx="54864" cy="329184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8"/>
          <p:cNvSpPr/>
          <p:nvPr/>
        </p:nvSpPr>
        <p:spPr>
          <a:xfrm>
            <a:off x="507492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ASSETS &amp; GRAPHICS</a:t>
            </a:r>
            <a:endParaRPr b="0" i="0" sz="1200" u="none" cap="none" strike="noStrike">
              <a:solidFill>
                <a:schemeClr val="dk1"/>
              </a:solidFill>
              <a:latin typeface="Calibri"/>
              <a:ea typeface="Calibri"/>
              <a:cs typeface="Calibri"/>
              <a:sym typeface="Calibri"/>
            </a:endParaRPr>
          </a:p>
        </p:txBody>
      </p:sp>
      <p:sp>
        <p:nvSpPr>
          <p:cNvPr id="825" name="Google Shape;825;p38"/>
          <p:cNvSpPr/>
          <p:nvPr/>
        </p:nvSpPr>
        <p:spPr>
          <a:xfrm>
            <a:off x="5074920" y="1691640"/>
            <a:ext cx="3474720" cy="2651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Graphics exported in correct specs per channel</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Files follow Boise State brand standards</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File naming: Topic_StartDate_Size.jpg</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QR code (Flowcode) included on physical materials</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UTM parameters added to all digital links</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Completed social media calendar template</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Budget plan (if paid channels are included)</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Approval contact name and email</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FDCC funding string (if printing needed)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29" name="Shape 829"/>
        <p:cNvGrpSpPr/>
        <p:nvPr/>
      </p:nvGrpSpPr>
      <p:grpSpPr>
        <a:xfrm>
          <a:off x="0" y="0"/>
          <a:ext cx="0" cy="0"/>
          <a:chOff x="0" y="0"/>
          <a:chExt cx="0" cy="0"/>
        </a:xfrm>
      </p:grpSpPr>
      <p:sp>
        <p:nvSpPr>
          <p:cNvPr id="830" name="Google Shape;830;p39"/>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9"/>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32" name="Google Shape;832;p3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33" name="Google Shape;833;p3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35</a:t>
            </a:r>
            <a:endParaRPr b="0" i="0" sz="1000" u="none" cap="none" strike="noStrike">
              <a:solidFill>
                <a:schemeClr val="dk1"/>
              </a:solidFill>
              <a:latin typeface="Calibri"/>
              <a:ea typeface="Calibri"/>
              <a:cs typeface="Calibri"/>
              <a:sym typeface="Calibri"/>
            </a:endParaRPr>
          </a:p>
        </p:txBody>
      </p:sp>
      <p:sp>
        <p:nvSpPr>
          <p:cNvPr id="834" name="Google Shape;834;p39"/>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Asset Pack Folder Structure</a:t>
            </a:r>
            <a:endParaRPr b="0" i="0" sz="3200" u="none" cap="none" strike="noStrike">
              <a:solidFill>
                <a:schemeClr val="dk1"/>
              </a:solidFill>
              <a:latin typeface="Calibri"/>
              <a:ea typeface="Calibri"/>
              <a:cs typeface="Calibri"/>
              <a:sym typeface="Calibri"/>
            </a:endParaRPr>
          </a:p>
        </p:txBody>
      </p:sp>
      <p:sp>
        <p:nvSpPr>
          <p:cNvPr id="835" name="Google Shape;835;p39"/>
          <p:cNvSpPr/>
          <p:nvPr/>
        </p:nvSpPr>
        <p:spPr>
          <a:xfrm>
            <a:off x="457200" y="116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Organize your deliverables before submitting to COBE for review.</a:t>
            </a:r>
            <a:endParaRPr b="0" i="0" sz="1400" u="none" cap="none" strike="noStrike">
              <a:solidFill>
                <a:schemeClr val="dk1"/>
              </a:solidFill>
              <a:latin typeface="Calibri"/>
              <a:ea typeface="Calibri"/>
              <a:cs typeface="Calibri"/>
              <a:sym typeface="Calibri"/>
            </a:endParaRPr>
          </a:p>
        </p:txBody>
      </p:sp>
      <p:sp>
        <p:nvSpPr>
          <p:cNvPr id="836" name="Google Shape;836;p39"/>
          <p:cNvSpPr/>
          <p:nvPr/>
        </p:nvSpPr>
        <p:spPr>
          <a:xfrm>
            <a:off x="45720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9"/>
          <p:cNvSpPr/>
          <p:nvPr/>
        </p:nvSpPr>
        <p:spPr>
          <a:xfrm>
            <a:off x="457200" y="1371600"/>
            <a:ext cx="54864" cy="24688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9"/>
          <p:cNvSpPr/>
          <p:nvPr/>
        </p:nvSpPr>
        <p:spPr>
          <a:xfrm>
            <a:off x="68580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300"/>
              <a:buFont typeface="Arial"/>
              <a:buNone/>
            </a:pPr>
            <a:r>
              <a:rPr b="1" i="0" lang="en-US" sz="1300" u="none" cap="none" strike="noStrike">
                <a:solidFill>
                  <a:srgbClr val="0EA5E9"/>
                </a:solidFill>
                <a:latin typeface="Arial"/>
                <a:ea typeface="Arial"/>
                <a:cs typeface="Arial"/>
                <a:sym typeface="Arial"/>
              </a:rPr>
              <a:t>RECOMMENDED FOLDERS</a:t>
            </a:r>
            <a:endParaRPr b="0" i="0" sz="1300" u="none" cap="none" strike="noStrike">
              <a:solidFill>
                <a:schemeClr val="dk1"/>
              </a:solidFill>
              <a:latin typeface="Calibri"/>
              <a:ea typeface="Calibri"/>
              <a:cs typeface="Calibri"/>
              <a:sym typeface="Calibri"/>
            </a:endParaRPr>
          </a:p>
        </p:txBody>
      </p:sp>
      <p:sp>
        <p:nvSpPr>
          <p:cNvPr id="839" name="Google Shape;839;p39"/>
          <p:cNvSpPr/>
          <p:nvPr/>
        </p:nvSpPr>
        <p:spPr>
          <a:xfrm>
            <a:off x="68580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/01_Copy — Captions, email body, talking points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/02_Graphics — Final images at spec</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/03_Links_Tracking — UTM URLs, QR files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/04_Schedule — Social media calendar</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/05_Budget — If using paid channels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840" name="Google Shape;840;p39"/>
          <p:cNvSpPr/>
          <p:nvPr/>
        </p:nvSpPr>
        <p:spPr>
          <a:xfrm>
            <a:off x="484632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9"/>
          <p:cNvSpPr/>
          <p:nvPr/>
        </p:nvSpPr>
        <p:spPr>
          <a:xfrm>
            <a:off x="4846320" y="1371600"/>
            <a:ext cx="54864" cy="24688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9"/>
          <p:cNvSpPr/>
          <p:nvPr/>
        </p:nvSpPr>
        <p:spPr>
          <a:xfrm>
            <a:off x="507492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FILE NAMING CONVENTION</a:t>
            </a:r>
            <a:endParaRPr b="0" i="0" sz="1300" u="none" cap="none" strike="noStrike">
              <a:solidFill>
                <a:schemeClr val="dk1"/>
              </a:solidFill>
              <a:latin typeface="Calibri"/>
              <a:ea typeface="Calibri"/>
              <a:cs typeface="Calibri"/>
              <a:sym typeface="Calibri"/>
            </a:endParaRPr>
          </a:p>
        </p:txBody>
      </p:sp>
      <p:sp>
        <p:nvSpPr>
          <p:cNvPr id="843" name="Google Shape;843;p39"/>
          <p:cNvSpPr/>
          <p:nvPr/>
        </p:nvSpPr>
        <p:spPr>
          <a:xfrm>
            <a:off x="507492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Pattern: topic_start-end-date_size.ext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CareerFair_2025-10-01_1920x1080.jpg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RHM-ShuttleStop-Feb25_QR.png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RHM_SocialCalendar_Spring2025.xlsx</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No spaces — use hyphens or underscores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844" name="Google Shape;844;p39"/>
          <p:cNvSpPr/>
          <p:nvPr/>
        </p:nvSpPr>
        <p:spPr>
          <a:xfrm>
            <a:off x="457200" y="4023360"/>
            <a:ext cx="8229600" cy="502920"/>
          </a:xfrm>
          <a:prstGeom prst="rect">
            <a:avLst/>
          </a:prstGeom>
          <a:solidFill>
            <a:srgbClr val="FFF7ED"/>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9"/>
          <p:cNvSpPr/>
          <p:nvPr/>
        </p:nvSpPr>
        <p:spPr>
          <a:xfrm>
            <a:off x="640080" y="4069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Zip your folder and attach it to your email to cobe-info@boisestate.edu. Include date format YYYY-MM-DD for sorting.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850" name="Shape 850"/>
        <p:cNvGrpSpPr/>
        <p:nvPr/>
      </p:nvGrpSpPr>
      <p:grpSpPr>
        <a:xfrm>
          <a:off x="0" y="0"/>
          <a:ext cx="0" cy="0"/>
          <a:chOff x="0" y="0"/>
          <a:chExt cx="0" cy="0"/>
        </a:xfrm>
      </p:grpSpPr>
      <p:sp>
        <p:nvSpPr>
          <p:cNvPr id="851" name="Google Shape;851;p40"/>
          <p:cNvSpPr/>
          <p:nvPr/>
        </p:nvSpPr>
        <p:spPr>
          <a:xfrm>
            <a:off x="0" y="0"/>
            <a:ext cx="9144000" cy="5143500"/>
          </a:xfrm>
          <a:prstGeom prst="rect">
            <a:avLst/>
          </a:prstGeom>
          <a:solidFill>
            <a:srgbClr val="0C4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0"/>
          <p:cNvSpPr/>
          <p:nvPr/>
        </p:nvSpPr>
        <p:spPr>
          <a:xfrm>
            <a:off x="0" y="0"/>
            <a:ext cx="109800" cy="51435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0"/>
          <p:cNvSpPr/>
          <p:nvPr/>
        </p:nvSpPr>
        <p:spPr>
          <a:xfrm>
            <a:off x="548640" y="838275"/>
            <a:ext cx="7315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800"/>
              <a:buFont typeface="Arial"/>
              <a:buNone/>
            </a:pPr>
            <a:r>
              <a:rPr b="1" lang="en-US" sz="1800">
                <a:solidFill>
                  <a:srgbClr val="0EA5E9"/>
                </a:solidFill>
              </a:rPr>
              <a:t>PROOF OF CONCEPT</a:t>
            </a:r>
            <a:endParaRPr b="0" i="0" sz="1800" u="none" cap="none" strike="noStrike">
              <a:solidFill>
                <a:schemeClr val="dk1"/>
              </a:solidFill>
              <a:latin typeface="Calibri"/>
              <a:ea typeface="Calibri"/>
              <a:cs typeface="Calibri"/>
              <a:sym typeface="Calibri"/>
            </a:endParaRPr>
          </a:p>
        </p:txBody>
      </p:sp>
      <p:sp>
        <p:nvSpPr>
          <p:cNvPr id="854" name="Google Shape;854;p40"/>
          <p:cNvSpPr/>
          <p:nvPr/>
        </p:nvSpPr>
        <p:spPr>
          <a:xfrm>
            <a:off x="548650" y="1463052"/>
            <a:ext cx="7315200" cy="133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lang="en-US" sz="5200">
                <a:solidFill>
                  <a:srgbClr val="FFFFFF"/>
                </a:solidFill>
                <a:latin typeface="Georgia"/>
                <a:ea typeface="Georgia"/>
                <a:cs typeface="Georgia"/>
                <a:sym typeface="Georgia"/>
              </a:rPr>
              <a:t>RHM Case Study Example</a:t>
            </a:r>
            <a:endParaRPr b="0" i="0" sz="5200" u="none" cap="none" strike="noStrike">
              <a:solidFill>
                <a:schemeClr val="dk1"/>
              </a:solidFill>
              <a:latin typeface="Calibri"/>
              <a:ea typeface="Calibri"/>
              <a:cs typeface="Calibri"/>
              <a:sym typeface="Calibri"/>
            </a:endParaRPr>
          </a:p>
        </p:txBody>
      </p:sp>
      <p:sp>
        <p:nvSpPr>
          <p:cNvPr id="855" name="Google Shape;855;p40"/>
          <p:cNvSpPr/>
          <p:nvPr/>
        </p:nvSpPr>
        <p:spPr>
          <a:xfrm>
            <a:off x="548640" y="3291840"/>
            <a:ext cx="1828800" cy="366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0"/>
          <p:cNvSpPr/>
          <p:nvPr/>
        </p:nvSpPr>
        <p:spPr>
          <a:xfrm>
            <a:off x="548640" y="3520440"/>
            <a:ext cx="64008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lang="en-US">
                <a:solidFill>
                  <a:srgbClr val="CBD5E1"/>
                </a:solidFill>
              </a:rPr>
              <a:t>The Resort And Hospitality Management Program Marketing Tactics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61" name="Shape 861"/>
        <p:cNvGrpSpPr/>
        <p:nvPr/>
      </p:nvGrpSpPr>
      <p:grpSpPr>
        <a:xfrm>
          <a:off x="0" y="0"/>
          <a:ext cx="0" cy="0"/>
          <a:chOff x="0" y="0"/>
          <a:chExt cx="0" cy="0"/>
        </a:xfrm>
      </p:grpSpPr>
      <p:sp>
        <p:nvSpPr>
          <p:cNvPr id="862" name="Google Shape;862;p41"/>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1"/>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64" name="Google Shape;864;p4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65" name="Google Shape;865;p4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36</a:t>
            </a:r>
            <a:endParaRPr b="0" i="0" sz="1000" u="none" cap="none" strike="noStrike">
              <a:solidFill>
                <a:schemeClr val="dk1"/>
              </a:solidFill>
              <a:latin typeface="Calibri"/>
              <a:ea typeface="Calibri"/>
              <a:cs typeface="Calibri"/>
              <a:sym typeface="Calibri"/>
            </a:endParaRPr>
          </a:p>
        </p:txBody>
      </p:sp>
      <p:sp>
        <p:nvSpPr>
          <p:cNvPr id="866" name="Google Shape;866;p41"/>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Hands-On in Action: RHM Program Marketing</a:t>
            </a:r>
            <a:endParaRPr b="0" i="0" sz="2400" u="none" cap="none" strike="noStrike">
              <a:solidFill>
                <a:schemeClr val="dk1"/>
              </a:solidFill>
              <a:latin typeface="Calibri"/>
              <a:ea typeface="Calibri"/>
              <a:cs typeface="Calibri"/>
              <a:sym typeface="Calibri"/>
            </a:endParaRPr>
          </a:p>
        </p:txBody>
      </p:sp>
      <p:sp>
        <p:nvSpPr>
          <p:cNvPr id="867" name="Google Shape;867;p41"/>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RHM owned production. COBE supported review and publishing.</a:t>
            </a:r>
            <a:endParaRPr b="0" i="0" sz="1400" u="none" cap="none" strike="noStrike">
              <a:solidFill>
                <a:schemeClr val="dk1"/>
              </a:solidFill>
              <a:latin typeface="Calibri"/>
              <a:ea typeface="Calibri"/>
              <a:cs typeface="Calibri"/>
              <a:sym typeface="Calibri"/>
            </a:endParaRPr>
          </a:p>
        </p:txBody>
      </p:sp>
      <p:sp>
        <p:nvSpPr>
          <p:cNvPr id="868" name="Google Shape;868;p41"/>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1"/>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$2,090</a:t>
            </a:r>
            <a:endParaRPr b="0" i="0" sz="2800" u="none" cap="none" strike="noStrike">
              <a:solidFill>
                <a:schemeClr val="dk1"/>
              </a:solidFill>
              <a:latin typeface="Calibri"/>
              <a:ea typeface="Calibri"/>
              <a:cs typeface="Calibri"/>
              <a:sym typeface="Calibri"/>
            </a:endParaRPr>
          </a:p>
        </p:txBody>
      </p:sp>
      <p:sp>
        <p:nvSpPr>
          <p:cNvPr id="870" name="Google Shape;870;p41"/>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Total Budget</a:t>
            </a:r>
            <a:endParaRPr b="0" i="0" sz="1100" u="none" cap="none" strike="noStrike">
              <a:solidFill>
                <a:schemeClr val="dk1"/>
              </a:solidFill>
              <a:latin typeface="Calibri"/>
              <a:ea typeface="Calibri"/>
              <a:cs typeface="Calibri"/>
              <a:sym typeface="Calibri"/>
            </a:endParaRPr>
          </a:p>
        </p:txBody>
      </p:sp>
      <p:sp>
        <p:nvSpPr>
          <p:cNvPr id="871" name="Google Shape;871;p41"/>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1"/>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237K+</a:t>
            </a:r>
            <a:endParaRPr b="0" i="0" sz="2800" u="none" cap="none" strike="noStrike">
              <a:solidFill>
                <a:schemeClr val="dk1"/>
              </a:solidFill>
              <a:latin typeface="Calibri"/>
              <a:ea typeface="Calibri"/>
              <a:cs typeface="Calibri"/>
              <a:sym typeface="Calibri"/>
            </a:endParaRPr>
          </a:p>
        </p:txBody>
      </p:sp>
      <p:sp>
        <p:nvSpPr>
          <p:cNvPr id="873" name="Google Shape;873;p41"/>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Projected Impressions</a:t>
            </a:r>
            <a:endParaRPr b="0" i="0" sz="1100" u="none" cap="none" strike="noStrike">
              <a:solidFill>
                <a:schemeClr val="dk1"/>
              </a:solidFill>
              <a:latin typeface="Calibri"/>
              <a:ea typeface="Calibri"/>
              <a:cs typeface="Calibri"/>
              <a:sym typeface="Calibri"/>
            </a:endParaRPr>
          </a:p>
        </p:txBody>
      </p:sp>
      <p:sp>
        <p:nvSpPr>
          <p:cNvPr id="874" name="Google Shape;874;p41"/>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1"/>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10+</a:t>
            </a:r>
            <a:endParaRPr b="0" i="0" sz="2800" u="none" cap="none" strike="noStrike">
              <a:solidFill>
                <a:schemeClr val="dk1"/>
              </a:solidFill>
              <a:latin typeface="Calibri"/>
              <a:ea typeface="Calibri"/>
              <a:cs typeface="Calibri"/>
              <a:sym typeface="Calibri"/>
            </a:endParaRPr>
          </a:p>
        </p:txBody>
      </p:sp>
      <p:sp>
        <p:nvSpPr>
          <p:cNvPr id="876" name="Google Shape;876;p41"/>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Channels Activated</a:t>
            </a:r>
            <a:endParaRPr b="0" i="0" sz="1100" u="none" cap="none" strike="noStrike">
              <a:solidFill>
                <a:schemeClr val="dk1"/>
              </a:solidFill>
              <a:latin typeface="Calibri"/>
              <a:ea typeface="Calibri"/>
              <a:cs typeface="Calibri"/>
              <a:sym typeface="Calibri"/>
            </a:endParaRPr>
          </a:p>
        </p:txBody>
      </p:sp>
      <p:sp>
        <p:nvSpPr>
          <p:cNvPr id="877" name="Google Shape;877;p41"/>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1"/>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$8.82</a:t>
            </a:r>
            <a:endParaRPr b="0" i="0" sz="2800" u="none" cap="none" strike="noStrike">
              <a:solidFill>
                <a:schemeClr val="dk1"/>
              </a:solidFill>
              <a:latin typeface="Calibri"/>
              <a:ea typeface="Calibri"/>
              <a:cs typeface="Calibri"/>
              <a:sym typeface="Calibri"/>
            </a:endParaRPr>
          </a:p>
        </p:txBody>
      </p:sp>
      <p:sp>
        <p:nvSpPr>
          <p:cNvPr id="879" name="Google Shape;879;p41"/>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Blended CPM</a:t>
            </a:r>
            <a:endParaRPr b="0" i="0" sz="1100" u="none" cap="none" strike="noStrike">
              <a:solidFill>
                <a:schemeClr val="dk1"/>
              </a:solidFill>
              <a:latin typeface="Calibri"/>
              <a:ea typeface="Calibri"/>
              <a:cs typeface="Calibri"/>
              <a:sym typeface="Calibri"/>
            </a:endParaRPr>
          </a:p>
        </p:txBody>
      </p:sp>
      <p:sp>
        <p:nvSpPr>
          <p:cNvPr id="880" name="Google Shape;880;p41"/>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1"/>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1"/>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WHAT RHM OWNED (Independent Team)</a:t>
            </a:r>
            <a:endParaRPr b="0" i="0" sz="1200" u="none" cap="none" strike="noStrike">
              <a:solidFill>
                <a:schemeClr val="dk1"/>
              </a:solidFill>
              <a:latin typeface="Calibri"/>
              <a:ea typeface="Calibri"/>
              <a:cs typeface="Calibri"/>
              <a:sym typeface="Calibri"/>
            </a:endParaRPr>
          </a:p>
        </p:txBody>
      </p:sp>
      <p:sp>
        <p:nvSpPr>
          <p:cNvPr id="883" name="Google Shape;883;p41"/>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Strategy, messaging, and campaign planning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Asset creation (graphics, copy, QR codes)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Landing page setup and tracking architecture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Budget proposal and channel selection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Content calendar and posting schedule</a:t>
            </a:r>
            <a:endParaRPr b="0" i="0" sz="1000" u="none" cap="none" strike="noStrike">
              <a:solidFill>
                <a:schemeClr val="dk1"/>
              </a:solidFill>
              <a:latin typeface="Calibri"/>
              <a:ea typeface="Calibri"/>
              <a:cs typeface="Calibri"/>
              <a:sym typeface="Calibri"/>
            </a:endParaRPr>
          </a:p>
        </p:txBody>
      </p:sp>
      <p:sp>
        <p:nvSpPr>
          <p:cNvPr id="884" name="Google Shape;884;p41"/>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1"/>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1"/>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WHAT COBE MARKETING SUPPORTED (Review + Publish)</a:t>
            </a:r>
            <a:endParaRPr b="0" i="0" sz="1200" u="none" cap="none" strike="noStrike">
              <a:solidFill>
                <a:schemeClr val="dk1"/>
              </a:solidFill>
              <a:latin typeface="Calibri"/>
              <a:ea typeface="Calibri"/>
              <a:cs typeface="Calibri"/>
              <a:sym typeface="Calibri"/>
            </a:endParaRPr>
          </a:p>
        </p:txBody>
      </p:sp>
      <p:sp>
        <p:nvSpPr>
          <p:cNvPr id="887" name="Google Shape;887;p41"/>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Brand compliance review on all assets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publishing and scheduling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and campus screen submission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Social media posting to COBE accounts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Feedback and amplification support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91" name="Shape 891"/>
        <p:cNvGrpSpPr/>
        <p:nvPr/>
      </p:nvGrpSpPr>
      <p:grpSpPr>
        <a:xfrm>
          <a:off x="0" y="0"/>
          <a:ext cx="0" cy="0"/>
          <a:chOff x="0" y="0"/>
          <a:chExt cx="0" cy="0"/>
        </a:xfrm>
      </p:grpSpPr>
      <p:sp>
        <p:nvSpPr>
          <p:cNvPr id="892" name="Google Shape;892;p42"/>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94" name="Google Shape;894;p4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95" name="Google Shape;895;p4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37</a:t>
            </a:r>
            <a:endParaRPr b="0" i="0" sz="1000" u="none" cap="none" strike="noStrike">
              <a:solidFill>
                <a:schemeClr val="dk1"/>
              </a:solidFill>
              <a:latin typeface="Calibri"/>
              <a:ea typeface="Calibri"/>
              <a:cs typeface="Calibri"/>
              <a:sym typeface="Calibri"/>
            </a:endParaRPr>
          </a:p>
        </p:txBody>
      </p:sp>
      <p:sp>
        <p:nvSpPr>
          <p:cNvPr id="896" name="Google Shape;896;p42"/>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How We Worked With COBE Marketing</a:t>
            </a:r>
            <a:endParaRPr b="0" i="0" sz="2400" u="none" cap="none" strike="noStrike">
              <a:solidFill>
                <a:schemeClr val="dk1"/>
              </a:solidFill>
              <a:latin typeface="Calibri"/>
              <a:ea typeface="Calibri"/>
              <a:cs typeface="Calibri"/>
              <a:sym typeface="Calibri"/>
            </a:endParaRPr>
          </a:p>
        </p:txBody>
      </p:sp>
      <p:sp>
        <p:nvSpPr>
          <p:cNvPr id="897" name="Google Shape;897;p42"/>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Two-team model: RHM owned production, COBE supported quality and publishing.</a:t>
            </a:r>
            <a:endParaRPr b="0" i="0" sz="1400" u="none" cap="none" strike="noStrike">
              <a:solidFill>
                <a:schemeClr val="dk1"/>
              </a:solidFill>
              <a:latin typeface="Calibri"/>
              <a:ea typeface="Calibri"/>
              <a:cs typeface="Calibri"/>
              <a:sym typeface="Calibri"/>
            </a:endParaRPr>
          </a:p>
        </p:txBody>
      </p:sp>
      <p:sp>
        <p:nvSpPr>
          <p:cNvPr id="898" name="Google Shape;898;p42"/>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2"/>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OWN</a:t>
            </a:r>
            <a:endParaRPr b="0" i="0" sz="2800" u="none" cap="none" strike="noStrike">
              <a:solidFill>
                <a:schemeClr val="dk1"/>
              </a:solidFill>
              <a:latin typeface="Calibri"/>
              <a:ea typeface="Calibri"/>
              <a:cs typeface="Calibri"/>
              <a:sym typeface="Calibri"/>
            </a:endParaRPr>
          </a:p>
        </p:txBody>
      </p:sp>
      <p:sp>
        <p:nvSpPr>
          <p:cNvPr id="900" name="Google Shape;900;p42"/>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Strategy</a:t>
            </a:r>
            <a:endParaRPr b="0" i="0" sz="1100" u="none" cap="none" strike="noStrike">
              <a:solidFill>
                <a:schemeClr val="dk1"/>
              </a:solidFill>
              <a:latin typeface="Calibri"/>
              <a:ea typeface="Calibri"/>
              <a:cs typeface="Calibri"/>
              <a:sym typeface="Calibri"/>
            </a:endParaRPr>
          </a:p>
        </p:txBody>
      </p:sp>
      <p:sp>
        <p:nvSpPr>
          <p:cNvPr id="901" name="Google Shape;901;p42"/>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2"/>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CREATE</a:t>
            </a:r>
            <a:endParaRPr b="0" i="0" sz="2800" u="none" cap="none" strike="noStrike">
              <a:solidFill>
                <a:schemeClr val="dk1"/>
              </a:solidFill>
              <a:latin typeface="Calibri"/>
              <a:ea typeface="Calibri"/>
              <a:cs typeface="Calibri"/>
              <a:sym typeface="Calibri"/>
            </a:endParaRPr>
          </a:p>
        </p:txBody>
      </p:sp>
      <p:sp>
        <p:nvSpPr>
          <p:cNvPr id="903" name="Google Shape;903;p42"/>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Assets</a:t>
            </a:r>
            <a:endParaRPr b="0" i="0" sz="1100" u="none" cap="none" strike="noStrike">
              <a:solidFill>
                <a:schemeClr val="dk1"/>
              </a:solidFill>
              <a:latin typeface="Calibri"/>
              <a:ea typeface="Calibri"/>
              <a:cs typeface="Calibri"/>
              <a:sym typeface="Calibri"/>
            </a:endParaRPr>
          </a:p>
        </p:txBody>
      </p:sp>
      <p:sp>
        <p:nvSpPr>
          <p:cNvPr id="904" name="Google Shape;904;p42"/>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2"/>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TRACK</a:t>
            </a:r>
            <a:endParaRPr b="0" i="0" sz="2800" u="none" cap="none" strike="noStrike">
              <a:solidFill>
                <a:schemeClr val="dk1"/>
              </a:solidFill>
              <a:latin typeface="Calibri"/>
              <a:ea typeface="Calibri"/>
              <a:cs typeface="Calibri"/>
              <a:sym typeface="Calibri"/>
            </a:endParaRPr>
          </a:p>
        </p:txBody>
      </p:sp>
      <p:sp>
        <p:nvSpPr>
          <p:cNvPr id="906" name="Google Shape;906;p42"/>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Results</a:t>
            </a:r>
            <a:endParaRPr b="0" i="0" sz="1100" u="none" cap="none" strike="noStrike">
              <a:solidFill>
                <a:schemeClr val="dk1"/>
              </a:solidFill>
              <a:latin typeface="Calibri"/>
              <a:ea typeface="Calibri"/>
              <a:cs typeface="Calibri"/>
              <a:sym typeface="Calibri"/>
            </a:endParaRPr>
          </a:p>
        </p:txBody>
      </p:sp>
      <p:sp>
        <p:nvSpPr>
          <p:cNvPr id="907" name="Google Shape;907;p42"/>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42"/>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PLAN</a:t>
            </a:r>
            <a:endParaRPr b="0" i="0" sz="2800" u="none" cap="none" strike="noStrike">
              <a:solidFill>
                <a:schemeClr val="dk1"/>
              </a:solidFill>
              <a:latin typeface="Calibri"/>
              <a:ea typeface="Calibri"/>
              <a:cs typeface="Calibri"/>
              <a:sym typeface="Calibri"/>
            </a:endParaRPr>
          </a:p>
        </p:txBody>
      </p:sp>
      <p:sp>
        <p:nvSpPr>
          <p:cNvPr id="909" name="Google Shape;909;p42"/>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Budget</a:t>
            </a:r>
            <a:endParaRPr b="0" i="0" sz="1100" u="none" cap="none" strike="noStrike">
              <a:solidFill>
                <a:schemeClr val="dk1"/>
              </a:solidFill>
              <a:latin typeface="Calibri"/>
              <a:ea typeface="Calibri"/>
              <a:cs typeface="Calibri"/>
              <a:sym typeface="Calibri"/>
            </a:endParaRPr>
          </a:p>
        </p:txBody>
      </p:sp>
      <p:sp>
        <p:nvSpPr>
          <p:cNvPr id="910" name="Google Shape;910;p42"/>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2"/>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2"/>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RHM OWNED (Independent Team)</a:t>
            </a:r>
            <a:endParaRPr b="0" i="0" sz="1200" u="none" cap="none" strike="noStrike">
              <a:solidFill>
                <a:schemeClr val="dk1"/>
              </a:solidFill>
              <a:latin typeface="Calibri"/>
              <a:ea typeface="Calibri"/>
              <a:cs typeface="Calibri"/>
              <a:sym typeface="Calibri"/>
            </a:endParaRPr>
          </a:p>
        </p:txBody>
      </p:sp>
      <p:sp>
        <p:nvSpPr>
          <p:cNvPr id="913" name="Google Shape;913;p42"/>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Campaign strategy and messaging pillars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All graphic design and copywriting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Landing page creation and maintenance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QR code tracking setup (Flowcode)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Content calendar and posting schedule</a:t>
            </a:r>
            <a:endParaRPr b="0" i="0" sz="1000" u="none" cap="none" strike="noStrike">
              <a:solidFill>
                <a:schemeClr val="dk1"/>
              </a:solidFill>
              <a:latin typeface="Calibri"/>
              <a:ea typeface="Calibri"/>
              <a:cs typeface="Calibri"/>
              <a:sym typeface="Calibri"/>
            </a:endParaRPr>
          </a:p>
        </p:txBody>
      </p:sp>
      <p:sp>
        <p:nvSpPr>
          <p:cNvPr id="914" name="Google Shape;914;p42"/>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2"/>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2"/>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COBE MARKETING SUPPORTED (Review + Publish)</a:t>
            </a:r>
            <a:endParaRPr b="0" i="0" sz="1200" u="none" cap="none" strike="noStrike">
              <a:solidFill>
                <a:schemeClr val="dk1"/>
              </a:solidFill>
              <a:latin typeface="Calibri"/>
              <a:ea typeface="Calibri"/>
              <a:cs typeface="Calibri"/>
              <a:sym typeface="Calibri"/>
            </a:endParaRPr>
          </a:p>
        </p:txBody>
      </p:sp>
      <p:sp>
        <p:nvSpPr>
          <p:cNvPr id="917" name="Google Shape;917;p42"/>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Brand compliance review on all assets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inclusion and scheduling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and campus screen submission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Social posting to @boisestatecobe accounts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Feedback loops and amplification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21" name="Shape 921"/>
        <p:cNvGrpSpPr/>
        <p:nvPr/>
      </p:nvGrpSpPr>
      <p:grpSpPr>
        <a:xfrm>
          <a:off x="0" y="0"/>
          <a:ext cx="0" cy="0"/>
          <a:chOff x="0" y="0"/>
          <a:chExt cx="0" cy="0"/>
        </a:xfrm>
      </p:grpSpPr>
      <p:sp>
        <p:nvSpPr>
          <p:cNvPr id="922" name="Google Shape;922;p43"/>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924" name="Google Shape;924;p4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925" name="Google Shape;925;p4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38</a:t>
            </a:r>
            <a:endParaRPr b="0" i="0" sz="1000" u="none" cap="none" strike="noStrike">
              <a:solidFill>
                <a:schemeClr val="dk1"/>
              </a:solidFill>
              <a:latin typeface="Calibri"/>
              <a:ea typeface="Calibri"/>
              <a:cs typeface="Calibri"/>
              <a:sym typeface="Calibri"/>
            </a:endParaRPr>
          </a:p>
        </p:txBody>
      </p:sp>
      <p:sp>
        <p:nvSpPr>
          <p:cNvPr id="926" name="Google Shape;926;p4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Strategy: Message, Offer, Funnel</a:t>
            </a:r>
            <a:endParaRPr b="0" i="0" sz="3000" u="none" cap="none" strike="noStrike">
              <a:solidFill>
                <a:schemeClr val="dk1"/>
              </a:solidFill>
              <a:latin typeface="Calibri"/>
              <a:ea typeface="Calibri"/>
              <a:cs typeface="Calibri"/>
              <a:sym typeface="Calibri"/>
            </a:endParaRPr>
          </a:p>
        </p:txBody>
      </p:sp>
      <p:sp>
        <p:nvSpPr>
          <p:cNvPr id="927" name="Google Shape;927;p43"/>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How RHM framed the campaign to connect with each audience.</a:t>
            </a:r>
            <a:endParaRPr b="0" i="0" sz="1400" u="none" cap="none" strike="noStrike">
              <a:solidFill>
                <a:schemeClr val="dk1"/>
              </a:solidFill>
              <a:latin typeface="Calibri"/>
              <a:ea typeface="Calibri"/>
              <a:cs typeface="Calibri"/>
              <a:sym typeface="Calibri"/>
            </a:endParaRPr>
          </a:p>
        </p:txBody>
      </p:sp>
      <p:sp>
        <p:nvSpPr>
          <p:cNvPr id="928" name="Google Shape;928;p43"/>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3"/>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3"/>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3"/>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932" name="Google Shape;932;p43"/>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Pillar 1: Career-Readiness</a:t>
            </a:r>
            <a:endParaRPr b="0" i="0" sz="1300" u="none" cap="none" strike="noStrike">
              <a:solidFill>
                <a:schemeClr val="dk1"/>
              </a:solidFill>
              <a:latin typeface="Calibri"/>
              <a:ea typeface="Calibri"/>
              <a:cs typeface="Calibri"/>
              <a:sym typeface="Calibri"/>
            </a:endParaRPr>
          </a:p>
        </p:txBody>
      </p:sp>
      <p:sp>
        <p:nvSpPr>
          <p:cNvPr id="933" name="Google Shape;933;p43"/>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Students lead real projects with measurable outcomes. Certificates stack into degrees. Employers get pre-vetted talent.</a:t>
            </a:r>
            <a:endParaRPr b="0" i="0" sz="1000" u="none" cap="none" strike="noStrike">
              <a:solidFill>
                <a:schemeClr val="dk1"/>
              </a:solidFill>
              <a:latin typeface="Calibri"/>
              <a:ea typeface="Calibri"/>
              <a:cs typeface="Calibri"/>
              <a:sym typeface="Calibri"/>
            </a:endParaRPr>
          </a:p>
        </p:txBody>
      </p:sp>
      <p:sp>
        <p:nvSpPr>
          <p:cNvPr id="934" name="Google Shape;934;p43"/>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3"/>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3"/>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43"/>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938" name="Google Shape;938;p43"/>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Pillar 2: Flexible Formats</a:t>
            </a:r>
            <a:endParaRPr b="0" i="0" sz="1300" u="none" cap="none" strike="noStrike">
              <a:solidFill>
                <a:schemeClr val="dk1"/>
              </a:solidFill>
              <a:latin typeface="Calibri"/>
              <a:ea typeface="Calibri"/>
              <a:cs typeface="Calibri"/>
              <a:sym typeface="Calibri"/>
            </a:endParaRPr>
          </a:p>
        </p:txBody>
      </p:sp>
      <p:sp>
        <p:nvSpPr>
          <p:cNvPr id="939" name="Google Shape;939;p43"/>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Online self-paced modules under 60 min. In-person leadership workshops. Pause and resume anytime.</a:t>
            </a:r>
            <a:endParaRPr b="0" i="0" sz="1000" u="none" cap="none" strike="noStrike">
              <a:solidFill>
                <a:schemeClr val="dk1"/>
              </a:solidFill>
              <a:latin typeface="Calibri"/>
              <a:ea typeface="Calibri"/>
              <a:cs typeface="Calibri"/>
              <a:sym typeface="Calibri"/>
            </a:endParaRPr>
          </a:p>
        </p:txBody>
      </p:sp>
      <p:sp>
        <p:nvSpPr>
          <p:cNvPr id="940" name="Google Shape;940;p43"/>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3"/>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3"/>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43"/>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944" name="Google Shape;944;p43"/>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Pillar 3: Employer Pipeline</a:t>
            </a:r>
            <a:endParaRPr b="0" i="0" sz="1300" u="none" cap="none" strike="noStrike">
              <a:solidFill>
                <a:schemeClr val="dk1"/>
              </a:solidFill>
              <a:latin typeface="Calibri"/>
              <a:ea typeface="Calibri"/>
              <a:cs typeface="Calibri"/>
              <a:sym typeface="Calibri"/>
            </a:endParaRPr>
          </a:p>
        </p:txBody>
      </p:sp>
      <p:sp>
        <p:nvSpPr>
          <p:cNvPr id="945" name="Google Shape;945;p43"/>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Career fairs, mixers, bundled training. Connect employers to vetted COBE talent and upskilling options.</a:t>
            </a:r>
            <a:endParaRPr b="0" i="0" sz="1000" u="none" cap="none" strike="noStrike">
              <a:solidFill>
                <a:schemeClr val="dk1"/>
              </a:solidFill>
              <a:latin typeface="Calibri"/>
              <a:ea typeface="Calibri"/>
              <a:cs typeface="Calibri"/>
              <a:sym typeface="Calibri"/>
            </a:endParaRPr>
          </a:p>
        </p:txBody>
      </p:sp>
      <p:sp>
        <p:nvSpPr>
          <p:cNvPr id="946" name="Google Shape;946;p43"/>
          <p:cNvSpPr/>
          <p:nvPr/>
        </p:nvSpPr>
        <p:spPr>
          <a:xfrm>
            <a:off x="457200" y="356616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43"/>
          <p:cNvSpPr/>
          <p:nvPr/>
        </p:nvSpPr>
        <p:spPr>
          <a:xfrm>
            <a:off x="457200" y="3566160"/>
            <a:ext cx="54864" cy="64008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3"/>
          <p:cNvSpPr/>
          <p:nvPr/>
        </p:nvSpPr>
        <p:spPr>
          <a:xfrm>
            <a:off x="640080" y="3675888"/>
            <a:ext cx="411480" cy="41148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3"/>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950" name="Google Shape;950;p43"/>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Offer Framing</a:t>
            </a:r>
            <a:endParaRPr b="0" i="0" sz="1300" u="none" cap="none" strike="noStrike">
              <a:solidFill>
                <a:schemeClr val="dk1"/>
              </a:solidFill>
              <a:latin typeface="Calibri"/>
              <a:ea typeface="Calibri"/>
              <a:cs typeface="Calibri"/>
              <a:sym typeface="Calibri"/>
            </a:endParaRPr>
          </a:p>
        </p:txBody>
      </p:sp>
      <p:sp>
        <p:nvSpPr>
          <p:cNvPr id="951" name="Google Shape;951;p43"/>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Free certificate info + career fair access. Low barrier to entry. All CTAs drive to one landing page.</a:t>
            </a:r>
            <a:endParaRPr b="0" i="0" sz="1000" u="none" cap="none" strike="noStrike">
              <a:solidFill>
                <a:schemeClr val="dk1"/>
              </a:solidFill>
              <a:latin typeface="Calibri"/>
              <a:ea typeface="Calibri"/>
              <a:cs typeface="Calibri"/>
              <a:sym typeface="Calibri"/>
            </a:endParaRPr>
          </a:p>
        </p:txBody>
      </p:sp>
      <p:sp>
        <p:nvSpPr>
          <p:cNvPr id="952" name="Google Shape;952;p43"/>
          <p:cNvSpPr/>
          <p:nvPr/>
        </p:nvSpPr>
        <p:spPr>
          <a:xfrm>
            <a:off x="457200" y="429768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3"/>
          <p:cNvSpPr/>
          <p:nvPr/>
        </p:nvSpPr>
        <p:spPr>
          <a:xfrm>
            <a:off x="457200" y="4297680"/>
            <a:ext cx="54864" cy="640080"/>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3"/>
          <p:cNvSpPr/>
          <p:nvPr/>
        </p:nvSpPr>
        <p:spPr>
          <a:xfrm>
            <a:off x="640080" y="4407408"/>
            <a:ext cx="411480" cy="411480"/>
          </a:xfrm>
          <a:prstGeom prst="ellipse">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3"/>
          <p:cNvSpPr/>
          <p:nvPr/>
        </p:nvSpPr>
        <p:spPr>
          <a:xfrm>
            <a:off x="640080" y="440740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a:t>
            </a:r>
            <a:endParaRPr b="0" i="0" sz="1600" u="none" cap="none" strike="noStrike">
              <a:solidFill>
                <a:schemeClr val="dk1"/>
              </a:solidFill>
              <a:latin typeface="Calibri"/>
              <a:ea typeface="Calibri"/>
              <a:cs typeface="Calibri"/>
              <a:sym typeface="Calibri"/>
            </a:endParaRPr>
          </a:p>
        </p:txBody>
      </p:sp>
      <p:sp>
        <p:nvSpPr>
          <p:cNvPr id="956" name="Google Shape;956;p43"/>
          <p:cNvSpPr/>
          <p:nvPr/>
        </p:nvSpPr>
        <p:spPr>
          <a:xfrm>
            <a:off x="1234440" y="43434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Funnel: Awareness to Action</a:t>
            </a:r>
            <a:endParaRPr b="0" i="0" sz="1300" u="none" cap="none" strike="noStrike">
              <a:solidFill>
                <a:schemeClr val="dk1"/>
              </a:solidFill>
              <a:latin typeface="Calibri"/>
              <a:ea typeface="Calibri"/>
              <a:cs typeface="Calibri"/>
              <a:sym typeface="Calibri"/>
            </a:endParaRPr>
          </a:p>
        </p:txBody>
      </p:sp>
      <p:sp>
        <p:nvSpPr>
          <p:cNvPr id="957" name="Google Shape;957;p43"/>
          <p:cNvSpPr/>
          <p:nvPr/>
        </p:nvSpPr>
        <p:spPr>
          <a:xfrm>
            <a:off x="1234440" y="459943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Awareness (social, screens, posters) to Interest (landing page, newsletter) to Action (registration, application, inquiry form).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61" name="Shape 961"/>
        <p:cNvGrpSpPr/>
        <p:nvPr/>
      </p:nvGrpSpPr>
      <p:grpSpPr>
        <a:xfrm>
          <a:off x="0" y="0"/>
          <a:ext cx="0" cy="0"/>
          <a:chOff x="0" y="0"/>
          <a:chExt cx="0" cy="0"/>
        </a:xfrm>
      </p:grpSpPr>
      <p:sp>
        <p:nvSpPr>
          <p:cNvPr id="962" name="Google Shape;962;p44"/>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964" name="Google Shape;964;p4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965" name="Google Shape;965;p4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39</a:t>
            </a:r>
            <a:endParaRPr b="0" i="0" sz="1000" u="none" cap="none" strike="noStrike">
              <a:solidFill>
                <a:schemeClr val="dk1"/>
              </a:solidFill>
              <a:latin typeface="Calibri"/>
              <a:ea typeface="Calibri"/>
              <a:cs typeface="Calibri"/>
              <a:sym typeface="Calibri"/>
            </a:endParaRPr>
          </a:p>
        </p:txBody>
      </p:sp>
      <p:sp>
        <p:nvSpPr>
          <p:cNvPr id="966" name="Google Shape;966;p44"/>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What We Created (Asset Inventory)</a:t>
            </a:r>
            <a:endParaRPr b="0" i="0" sz="2400" u="none" cap="none" strike="noStrike">
              <a:solidFill>
                <a:schemeClr val="dk1"/>
              </a:solidFill>
              <a:latin typeface="Calibri"/>
              <a:ea typeface="Calibri"/>
              <a:cs typeface="Calibri"/>
              <a:sym typeface="Calibri"/>
            </a:endParaRPr>
          </a:p>
        </p:txBody>
      </p:sp>
      <p:sp>
        <p:nvSpPr>
          <p:cNvPr id="967" name="Google Shape;967;p44"/>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Every asset RHM built for the Spring 2025 campaign, grouped by type.</a:t>
            </a:r>
            <a:endParaRPr b="0" i="0" sz="1400" u="none" cap="none" strike="noStrike">
              <a:solidFill>
                <a:schemeClr val="dk1"/>
              </a:solidFill>
              <a:latin typeface="Calibri"/>
              <a:ea typeface="Calibri"/>
              <a:cs typeface="Calibri"/>
              <a:sym typeface="Calibri"/>
            </a:endParaRPr>
          </a:p>
        </p:txBody>
      </p:sp>
      <p:sp>
        <p:nvSpPr>
          <p:cNvPr id="968" name="Google Shape;968;p44"/>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4"/>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6+</a:t>
            </a:r>
            <a:endParaRPr b="0" i="0" sz="2800" u="none" cap="none" strike="noStrike">
              <a:solidFill>
                <a:schemeClr val="dk1"/>
              </a:solidFill>
              <a:latin typeface="Calibri"/>
              <a:ea typeface="Calibri"/>
              <a:cs typeface="Calibri"/>
              <a:sym typeface="Calibri"/>
            </a:endParaRPr>
          </a:p>
        </p:txBody>
      </p:sp>
      <p:sp>
        <p:nvSpPr>
          <p:cNvPr id="970" name="Google Shape;970;p44"/>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Social Assets</a:t>
            </a:r>
            <a:endParaRPr b="0" i="0" sz="1100" u="none" cap="none" strike="noStrike">
              <a:solidFill>
                <a:schemeClr val="dk1"/>
              </a:solidFill>
              <a:latin typeface="Calibri"/>
              <a:ea typeface="Calibri"/>
              <a:cs typeface="Calibri"/>
              <a:sym typeface="Calibri"/>
            </a:endParaRPr>
          </a:p>
        </p:txBody>
      </p:sp>
      <p:sp>
        <p:nvSpPr>
          <p:cNvPr id="971" name="Google Shape;971;p44"/>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4"/>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3x</a:t>
            </a:r>
            <a:endParaRPr b="0" i="0" sz="2800" u="none" cap="none" strike="noStrike">
              <a:solidFill>
                <a:schemeClr val="dk1"/>
              </a:solidFill>
              <a:latin typeface="Calibri"/>
              <a:ea typeface="Calibri"/>
              <a:cs typeface="Calibri"/>
              <a:sym typeface="Calibri"/>
            </a:endParaRPr>
          </a:p>
        </p:txBody>
      </p:sp>
      <p:sp>
        <p:nvSpPr>
          <p:cNvPr id="973" name="Google Shape;973;p44"/>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Newsletter Features</a:t>
            </a:r>
            <a:endParaRPr b="0" i="0" sz="1100" u="none" cap="none" strike="noStrike">
              <a:solidFill>
                <a:schemeClr val="dk1"/>
              </a:solidFill>
              <a:latin typeface="Calibri"/>
              <a:ea typeface="Calibri"/>
              <a:cs typeface="Calibri"/>
              <a:sym typeface="Calibri"/>
            </a:endParaRPr>
          </a:p>
        </p:txBody>
      </p:sp>
      <p:sp>
        <p:nvSpPr>
          <p:cNvPr id="974" name="Google Shape;974;p44"/>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4"/>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10+</a:t>
            </a:r>
            <a:endParaRPr b="0" i="0" sz="2800" u="none" cap="none" strike="noStrike">
              <a:solidFill>
                <a:schemeClr val="dk1"/>
              </a:solidFill>
              <a:latin typeface="Calibri"/>
              <a:ea typeface="Calibri"/>
              <a:cs typeface="Calibri"/>
              <a:sym typeface="Calibri"/>
            </a:endParaRPr>
          </a:p>
        </p:txBody>
      </p:sp>
      <p:sp>
        <p:nvSpPr>
          <p:cNvPr id="976" name="Google Shape;976;p44"/>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Print Pieces</a:t>
            </a:r>
            <a:endParaRPr b="0" i="0" sz="1100" u="none" cap="none" strike="noStrike">
              <a:solidFill>
                <a:schemeClr val="dk1"/>
              </a:solidFill>
              <a:latin typeface="Calibri"/>
              <a:ea typeface="Calibri"/>
              <a:cs typeface="Calibri"/>
              <a:sym typeface="Calibri"/>
            </a:endParaRPr>
          </a:p>
        </p:txBody>
      </p:sp>
      <p:sp>
        <p:nvSpPr>
          <p:cNvPr id="977" name="Google Shape;977;p44"/>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4"/>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2</a:t>
            </a:r>
            <a:endParaRPr b="0" i="0" sz="2800" u="none" cap="none" strike="noStrike">
              <a:solidFill>
                <a:schemeClr val="dk1"/>
              </a:solidFill>
              <a:latin typeface="Calibri"/>
              <a:ea typeface="Calibri"/>
              <a:cs typeface="Calibri"/>
              <a:sym typeface="Calibri"/>
            </a:endParaRPr>
          </a:p>
        </p:txBody>
      </p:sp>
      <p:sp>
        <p:nvSpPr>
          <p:cNvPr id="979" name="Google Shape;979;p44"/>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Event Kits</a:t>
            </a:r>
            <a:endParaRPr b="0" i="0" sz="1100" u="none" cap="none" strike="noStrike">
              <a:solidFill>
                <a:schemeClr val="dk1"/>
              </a:solidFill>
              <a:latin typeface="Calibri"/>
              <a:ea typeface="Calibri"/>
              <a:cs typeface="Calibri"/>
              <a:sym typeface="Calibri"/>
            </a:endParaRPr>
          </a:p>
        </p:txBody>
      </p:sp>
      <p:sp>
        <p:nvSpPr>
          <p:cNvPr id="980" name="Google Shape;980;p44"/>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4"/>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4"/>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SOCIAL + DIGITAL ASSETS</a:t>
            </a:r>
            <a:endParaRPr b="0" i="0" sz="1200" u="none" cap="none" strike="noStrike">
              <a:solidFill>
                <a:schemeClr val="dk1"/>
              </a:solidFill>
              <a:latin typeface="Calibri"/>
              <a:ea typeface="Calibri"/>
              <a:cs typeface="Calibri"/>
              <a:sym typeface="Calibri"/>
            </a:endParaRPr>
          </a:p>
        </p:txBody>
      </p:sp>
      <p:sp>
        <p:nvSpPr>
          <p:cNvPr id="983" name="Google Shape;983;p44"/>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Instagram posts and stories (1080x1080, 1080x1920)</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LinkedIn banners and articles (1920x1080)</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screen graphics (1920x1080 JPG, dark bg)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Campus screen graphics (Library, SUB, Housing, Rec)</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Meta/Instagram ad creatives with targeting copy</a:t>
            </a:r>
            <a:endParaRPr b="0" i="0" sz="1000" u="none" cap="none" strike="noStrike">
              <a:solidFill>
                <a:schemeClr val="dk1"/>
              </a:solidFill>
              <a:latin typeface="Calibri"/>
              <a:ea typeface="Calibri"/>
              <a:cs typeface="Calibri"/>
              <a:sym typeface="Calibri"/>
            </a:endParaRPr>
          </a:p>
        </p:txBody>
      </p:sp>
      <p:sp>
        <p:nvSpPr>
          <p:cNvPr id="984" name="Google Shape;984;p44"/>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4"/>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4"/>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PRINT + EVENT ASSETS</a:t>
            </a:r>
            <a:endParaRPr b="0" i="0" sz="1200" u="none" cap="none" strike="noStrike">
              <a:solidFill>
                <a:schemeClr val="dk1"/>
              </a:solidFill>
              <a:latin typeface="Calibri"/>
              <a:ea typeface="Calibri"/>
              <a:cs typeface="Calibri"/>
              <a:sym typeface="Calibri"/>
            </a:endParaRPr>
          </a:p>
        </p:txBody>
      </p:sp>
      <p:sp>
        <p:nvSpPr>
          <p:cNvPr id="987" name="Google Shape;987;p44"/>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Shuttle stop posters (24x35) with unique Flowcode QR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Tabling handouts with QR codes and program blurbs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Career fair table signage and display materials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Class visit slide deck and leave-behind flyers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Blueprint Magazine half-page ad and Arbiter print ad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91" name="Shape 991"/>
        <p:cNvGrpSpPr/>
        <p:nvPr/>
      </p:nvGrpSpPr>
      <p:grpSpPr>
        <a:xfrm>
          <a:off x="0" y="0"/>
          <a:ext cx="0" cy="0"/>
          <a:chOff x="0" y="0"/>
          <a:chExt cx="0" cy="0"/>
        </a:xfrm>
      </p:grpSpPr>
      <p:sp>
        <p:nvSpPr>
          <p:cNvPr id="992" name="Google Shape;992;p45"/>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5"/>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994" name="Google Shape;994;p4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995" name="Google Shape;995;p4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40</a:t>
            </a:r>
            <a:endParaRPr b="0" i="0" sz="1000" u="none" cap="none" strike="noStrike">
              <a:solidFill>
                <a:schemeClr val="dk1"/>
              </a:solidFill>
              <a:latin typeface="Calibri"/>
              <a:ea typeface="Calibri"/>
              <a:cs typeface="Calibri"/>
              <a:sym typeface="Calibri"/>
            </a:endParaRPr>
          </a:p>
        </p:txBody>
      </p:sp>
      <p:sp>
        <p:nvSpPr>
          <p:cNvPr id="996" name="Google Shape;996;p45"/>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Our Posting Rhythm (RHM Example Week)</a:t>
            </a:r>
            <a:endParaRPr b="0" i="0" sz="2800" u="none" cap="none" strike="noStrike">
              <a:solidFill>
                <a:schemeClr val="dk1"/>
              </a:solidFill>
              <a:latin typeface="Calibri"/>
              <a:ea typeface="Calibri"/>
              <a:cs typeface="Calibri"/>
              <a:sym typeface="Calibri"/>
            </a:endParaRPr>
          </a:p>
        </p:txBody>
      </p:sp>
      <p:sp>
        <p:nvSpPr>
          <p:cNvPr id="997" name="Google Shape;997;p45"/>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100"/>
              <a:buFont typeface="Arial"/>
              <a:buNone/>
            </a:pPr>
            <a:r>
              <a:rPr b="0" i="1" lang="en-US" sz="1100" u="none" cap="none" strike="noStrike">
                <a:solidFill>
                  <a:srgbClr val="F97316"/>
                </a:solidFill>
                <a:latin typeface="Arial"/>
                <a:ea typeface="Arial"/>
                <a:cs typeface="Arial"/>
                <a:sym typeface="Arial"/>
              </a:rPr>
              <a:t>Based on RHM Spring 2025 calendar. All links drove to the certificate landing page with UTMs.</a:t>
            </a:r>
            <a:endParaRPr b="0" i="0" sz="1100" u="none" cap="none" strike="noStrike">
              <a:solidFill>
                <a:schemeClr val="dk1"/>
              </a:solidFill>
              <a:latin typeface="Calibri"/>
              <a:ea typeface="Calibri"/>
              <a:cs typeface="Calibri"/>
              <a:sym typeface="Calibri"/>
            </a:endParaRPr>
          </a:p>
        </p:txBody>
      </p:sp>
      <p:sp>
        <p:nvSpPr>
          <p:cNvPr id="998" name="Google Shape;998;p45"/>
          <p:cNvSpPr/>
          <p:nvPr/>
        </p:nvSpPr>
        <p:spPr>
          <a:xfrm>
            <a:off x="45720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5"/>
          <p:cNvSpPr/>
          <p:nvPr/>
        </p:nvSpPr>
        <p:spPr>
          <a:xfrm>
            <a:off x="457200" y="1280160"/>
            <a:ext cx="54864" cy="210312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5"/>
          <p:cNvSpPr/>
          <p:nvPr/>
        </p:nvSpPr>
        <p:spPr>
          <a:xfrm>
            <a:off x="68580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EXAMPLE WEEKLY CADENCE</a:t>
            </a:r>
            <a:endParaRPr b="0" i="0" sz="1200" u="none" cap="none" strike="noStrike">
              <a:solidFill>
                <a:schemeClr val="dk1"/>
              </a:solidFill>
              <a:latin typeface="Calibri"/>
              <a:ea typeface="Calibri"/>
              <a:cs typeface="Calibri"/>
              <a:sym typeface="Calibri"/>
            </a:endParaRPr>
          </a:p>
        </p:txBody>
      </p:sp>
      <p:sp>
        <p:nvSpPr>
          <p:cNvPr id="1001" name="Google Shape;1001;p45"/>
          <p:cNvSpPr/>
          <p:nvPr/>
        </p:nvSpPr>
        <p:spPr>
          <a:xfrm>
            <a:off x="68580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Monday: Instagram grid post (program highlight)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Tuesday: LinkedIn article or employer spotlight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Wednesday: Instagram story (event countdown or tip)</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Thursday: Newsletter feature (if scheduled that week)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Friday: LinkedIn post (student success or partner tag)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Ongoing: MBEB screens, campus screens, shuttle posters (static)</a:t>
            </a:r>
            <a:endParaRPr b="0" i="0" sz="1000" u="none" cap="none" strike="noStrike">
              <a:solidFill>
                <a:schemeClr val="dk1"/>
              </a:solidFill>
              <a:latin typeface="Calibri"/>
              <a:ea typeface="Calibri"/>
              <a:cs typeface="Calibri"/>
              <a:sym typeface="Calibri"/>
            </a:endParaRPr>
          </a:p>
        </p:txBody>
      </p:sp>
      <p:sp>
        <p:nvSpPr>
          <p:cNvPr id="1002" name="Google Shape;1002;p45"/>
          <p:cNvSpPr/>
          <p:nvPr/>
        </p:nvSpPr>
        <p:spPr>
          <a:xfrm>
            <a:off x="484632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5"/>
          <p:cNvSpPr/>
          <p:nvPr/>
        </p:nvSpPr>
        <p:spPr>
          <a:xfrm>
            <a:off x="4846320" y="1280160"/>
            <a:ext cx="54864" cy="210312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5"/>
          <p:cNvSpPr/>
          <p:nvPr/>
        </p:nvSpPr>
        <p:spPr>
          <a:xfrm>
            <a:off x="507492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RAMP-UP STRATEGY</a:t>
            </a:r>
            <a:endParaRPr b="0" i="0" sz="1200" u="none" cap="none" strike="noStrike">
              <a:solidFill>
                <a:schemeClr val="dk1"/>
              </a:solidFill>
              <a:latin typeface="Calibri"/>
              <a:ea typeface="Calibri"/>
              <a:cs typeface="Calibri"/>
              <a:sym typeface="Calibri"/>
            </a:endParaRPr>
          </a:p>
        </p:txBody>
      </p:sp>
      <p:sp>
        <p:nvSpPr>
          <p:cNvPr id="1005" name="Google Shape;1005;p45"/>
          <p:cNvSpPr/>
          <p:nvPr/>
        </p:nvSpPr>
        <p:spPr>
          <a:xfrm>
            <a:off x="507492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Weeks 1-2: Soft launch (1-2 posts/week, screens go live)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Weeks 3-4: Build momentum (3-4 posts/week, newsletter)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Weeks 5-6: Peak push (daily stories, paid ads, tabling)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Event week: All channels active, reminders, live stories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Post-event: Recap posts, thank-yous, metrics review</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Key rule: Every link includes UTMs pointing to landing page</a:t>
            </a:r>
            <a:endParaRPr b="0" i="0" sz="1000" u="none" cap="none" strike="noStrike">
              <a:solidFill>
                <a:schemeClr val="dk1"/>
              </a:solidFill>
              <a:latin typeface="Calibri"/>
              <a:ea typeface="Calibri"/>
              <a:cs typeface="Calibri"/>
              <a:sym typeface="Calibri"/>
            </a:endParaRPr>
          </a:p>
        </p:txBody>
      </p:sp>
      <p:sp>
        <p:nvSpPr>
          <p:cNvPr id="1006" name="Google Shape;1006;p45"/>
          <p:cNvSpPr/>
          <p:nvPr/>
        </p:nvSpPr>
        <p:spPr>
          <a:xfrm>
            <a:off x="457200" y="356616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ASSET SPECIFICATIONS</a:t>
            </a:r>
            <a:endParaRPr b="0" i="0" sz="1200" u="none" cap="none" strike="noStrike">
              <a:solidFill>
                <a:schemeClr val="dk1"/>
              </a:solidFill>
              <a:latin typeface="Calibri"/>
              <a:ea typeface="Calibri"/>
              <a:cs typeface="Calibri"/>
              <a:sym typeface="Calibri"/>
            </a:endParaRPr>
          </a:p>
        </p:txBody>
      </p:sp>
      <p:graphicFrame>
        <p:nvGraphicFramePr>
          <p:cNvPr id="1007" name="Google Shape;1007;p45"/>
          <p:cNvGraphicFramePr/>
          <p:nvPr/>
        </p:nvGraphicFramePr>
        <p:xfrm>
          <a:off x="457200" y="3840480"/>
          <a:ext cx="3000000" cy="3000000"/>
        </p:xfrm>
        <a:graphic>
          <a:graphicData uri="http://schemas.openxmlformats.org/drawingml/2006/table">
            <a:tbl>
              <a:tblPr>
                <a:noFill/>
                <a:tableStyleId>{AD4631F1-437D-4764-92B6-2A4562E18BC6}</a:tableStyleId>
              </a:tblPr>
              <a:tblGrid>
                <a:gridCol w="1645925"/>
                <a:gridCol w="1645925"/>
                <a:gridCol w="1371600"/>
                <a:gridCol w="3566150"/>
              </a:tblGrid>
              <a:tr h="18287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Asset Type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Size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Format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Used For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Square post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 grid, Facebook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Story / Reel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1920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JPG/PNG/MP4</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Instagram/Facebook stories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Banner / Screen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1920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LinkedIn, MBEB screens, classroom slides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SUB Dining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768 x 1366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Student Union dining area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Library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1280 x 720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Albertsons Library digital displays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11" name="Shape 1011"/>
        <p:cNvGrpSpPr/>
        <p:nvPr/>
      </p:nvGrpSpPr>
      <p:grpSpPr>
        <a:xfrm>
          <a:off x="0" y="0"/>
          <a:ext cx="0" cy="0"/>
          <a:chOff x="0" y="0"/>
          <a:chExt cx="0" cy="0"/>
        </a:xfrm>
      </p:grpSpPr>
      <p:sp>
        <p:nvSpPr>
          <p:cNvPr id="1012" name="Google Shape;1012;p46"/>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6"/>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14" name="Google Shape;1014;p4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15" name="Google Shape;1015;p4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41</a:t>
            </a:r>
            <a:endParaRPr b="0" i="0" sz="1000" u="none" cap="none" strike="noStrike">
              <a:solidFill>
                <a:schemeClr val="dk1"/>
              </a:solidFill>
              <a:latin typeface="Calibri"/>
              <a:ea typeface="Calibri"/>
              <a:cs typeface="Calibri"/>
              <a:sym typeface="Calibri"/>
            </a:endParaRPr>
          </a:p>
        </p:txBody>
      </p:sp>
      <p:sp>
        <p:nvSpPr>
          <p:cNvPr id="1016" name="Google Shape;1016;p46"/>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Single Source of Truth: Landing Page (RHM)</a:t>
            </a:r>
            <a:endParaRPr b="0" i="0" sz="2600" u="none" cap="none" strike="noStrike">
              <a:solidFill>
                <a:schemeClr val="dk1"/>
              </a:solidFill>
              <a:latin typeface="Calibri"/>
              <a:ea typeface="Calibri"/>
              <a:cs typeface="Calibri"/>
              <a:sym typeface="Calibri"/>
            </a:endParaRPr>
          </a:p>
        </p:txBody>
      </p:sp>
      <p:sp>
        <p:nvSpPr>
          <p:cNvPr id="1017" name="Google Shape;1017;p46"/>
          <p:cNvSpPr/>
          <p:nvPr/>
        </p:nvSpPr>
        <p:spPr>
          <a:xfrm>
            <a:off x="45720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6"/>
          <p:cNvSpPr/>
          <p:nvPr/>
        </p:nvSpPr>
        <p:spPr>
          <a:xfrm>
            <a:off x="457200" y="1005840"/>
            <a:ext cx="54864" cy="22860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46"/>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100"/>
              <a:buFont typeface="Arial"/>
              <a:buNone/>
            </a:pPr>
            <a:r>
              <a:rPr b="1" i="0" lang="en-US" sz="1100" u="none" cap="none" strike="noStrike">
                <a:solidFill>
                  <a:srgbClr val="F97316"/>
                </a:solidFill>
                <a:latin typeface="Arial"/>
                <a:ea typeface="Arial"/>
                <a:cs typeface="Arial"/>
                <a:sym typeface="Arial"/>
              </a:rPr>
              <a:t>WHAT WE BUILT</a:t>
            </a:r>
            <a:endParaRPr b="0" i="0" sz="1100" u="none" cap="none" strike="noStrike">
              <a:solidFill>
                <a:schemeClr val="dk1"/>
              </a:solidFill>
              <a:latin typeface="Calibri"/>
              <a:ea typeface="Calibri"/>
              <a:cs typeface="Calibri"/>
              <a:sym typeface="Calibri"/>
            </a:endParaRPr>
          </a:p>
        </p:txBody>
      </p:sp>
      <p:sp>
        <p:nvSpPr>
          <p:cNvPr id="1020" name="Google Shape;1020;p46"/>
          <p:cNvSpPr/>
          <p:nvPr/>
        </p:nvSpPr>
        <p:spPr>
          <a:xfrm>
            <a:off x="68580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Platform: Google Sites (quick launch while WordPress access was pending)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Sections: Program overview, certificate details, value props, career outcomes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CTA: Interest form + direct link to Boise State application page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Iteration: Updated copy and CTAs monthly based on analytics data</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Email: Requested program-specific email alias from Boise State IT for inquiries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1021" name="Google Shape;1021;p46"/>
          <p:cNvSpPr/>
          <p:nvPr/>
        </p:nvSpPr>
        <p:spPr>
          <a:xfrm>
            <a:off x="484632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6"/>
          <p:cNvSpPr/>
          <p:nvPr/>
        </p:nvSpPr>
        <p:spPr>
          <a:xfrm>
            <a:off x="4846320" y="1005840"/>
            <a:ext cx="54864" cy="22860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46"/>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100"/>
              <a:buFont typeface="Arial"/>
              <a:buNone/>
            </a:pPr>
            <a:r>
              <a:rPr b="1" i="0" lang="en-US" sz="1100" u="none" cap="none" strike="noStrike">
                <a:solidFill>
                  <a:srgbClr val="EF4444"/>
                </a:solidFill>
                <a:latin typeface="Arial"/>
                <a:ea typeface="Arial"/>
                <a:cs typeface="Arial"/>
                <a:sym typeface="Arial"/>
              </a:rPr>
              <a:t>WHY A SINGLE LANDING PAGE MATTERS</a:t>
            </a:r>
            <a:endParaRPr b="0" i="0" sz="1100" u="none" cap="none" strike="noStrike">
              <a:solidFill>
                <a:schemeClr val="dk1"/>
              </a:solidFill>
              <a:latin typeface="Calibri"/>
              <a:ea typeface="Calibri"/>
              <a:cs typeface="Calibri"/>
              <a:sym typeface="Calibri"/>
            </a:endParaRPr>
          </a:p>
        </p:txBody>
      </p:sp>
      <p:sp>
        <p:nvSpPr>
          <p:cNvPr id="1024" name="Google Shape;1024;p46"/>
          <p:cNvSpPr/>
          <p:nvPr/>
        </p:nvSpPr>
        <p:spPr>
          <a:xfrm>
            <a:off x="507492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Every channel (social, email, print, screens) drives to one URL</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Clean attribution: UTMs show which channel drove each visit</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QR codes on physical materials point to the same page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One page to update means consistent messaging across all touchpoints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Looker Studio dashboard tracks all traffic to this single destination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1025" name="Google Shape;1025;p46"/>
          <p:cNvSpPr/>
          <p:nvPr/>
        </p:nvSpPr>
        <p:spPr>
          <a:xfrm>
            <a:off x="457200" y="3474720"/>
            <a:ext cx="8229600" cy="128016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6"/>
          <p:cNvSpPr/>
          <p:nvPr/>
        </p:nvSpPr>
        <p:spPr>
          <a:xfrm>
            <a:off x="457200" y="3474720"/>
            <a:ext cx="54864" cy="128016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6"/>
          <p:cNvSpPr/>
          <p:nvPr/>
        </p:nvSpPr>
        <p:spPr>
          <a:xfrm>
            <a:off x="685800" y="356616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100"/>
              <a:buFont typeface="Arial"/>
              <a:buNone/>
            </a:pPr>
            <a:r>
              <a:rPr b="1" i="0" lang="en-US" sz="1100" u="none" cap="none" strike="noStrike">
                <a:solidFill>
                  <a:srgbClr val="0033A0"/>
                </a:solidFill>
                <a:latin typeface="Arial"/>
                <a:ea typeface="Arial"/>
                <a:cs typeface="Arial"/>
                <a:sym typeface="Arial"/>
              </a:rPr>
              <a:t>LESSON LEARNED</a:t>
            </a:r>
            <a:endParaRPr b="0" i="0" sz="1100" u="none" cap="none" strike="noStrike">
              <a:solidFill>
                <a:schemeClr val="dk1"/>
              </a:solidFill>
              <a:latin typeface="Calibri"/>
              <a:ea typeface="Calibri"/>
              <a:cs typeface="Calibri"/>
              <a:sym typeface="Calibri"/>
            </a:endParaRPr>
          </a:p>
        </p:txBody>
      </p:sp>
      <p:sp>
        <p:nvSpPr>
          <p:cNvPr id="1028" name="Google Shape;1028;p46"/>
          <p:cNvSpPr/>
          <p:nvPr/>
        </p:nvSpPr>
        <p:spPr>
          <a:xfrm>
            <a:off x="685800" y="3840480"/>
            <a:ext cx="7772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Start with Google Sites if you need speed. Migrate to WordPress once you have access and accessibility training complete. The landing page should be live BEFORE your first post.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32" name="Shape 1032"/>
        <p:cNvGrpSpPr/>
        <p:nvPr/>
      </p:nvGrpSpPr>
      <p:grpSpPr>
        <a:xfrm>
          <a:off x="0" y="0"/>
          <a:ext cx="0" cy="0"/>
          <a:chOff x="0" y="0"/>
          <a:chExt cx="0" cy="0"/>
        </a:xfrm>
      </p:grpSpPr>
      <p:sp>
        <p:nvSpPr>
          <p:cNvPr id="1033" name="Google Shape;1033;p47"/>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35" name="Google Shape;1035;p4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36" name="Google Shape;1036;p4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42</a:t>
            </a:r>
            <a:endParaRPr b="0" i="0" sz="1000" u="none" cap="none" strike="noStrike">
              <a:solidFill>
                <a:schemeClr val="dk1"/>
              </a:solidFill>
              <a:latin typeface="Calibri"/>
              <a:ea typeface="Calibri"/>
              <a:cs typeface="Calibri"/>
              <a:sym typeface="Calibri"/>
            </a:endParaRPr>
          </a:p>
        </p:txBody>
      </p:sp>
      <p:sp>
        <p:nvSpPr>
          <p:cNvPr id="1037" name="Google Shape;1037;p47"/>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Tracking Architecture (RHM Example)</a:t>
            </a:r>
            <a:endParaRPr b="0" i="0" sz="2800" u="none" cap="none" strike="noStrike">
              <a:solidFill>
                <a:schemeClr val="dk1"/>
              </a:solidFill>
              <a:latin typeface="Calibri"/>
              <a:ea typeface="Calibri"/>
              <a:cs typeface="Calibri"/>
              <a:sym typeface="Calibri"/>
            </a:endParaRPr>
          </a:p>
        </p:txBody>
      </p:sp>
      <p:sp>
        <p:nvSpPr>
          <p:cNvPr id="1038" name="Google Shape;1038;p47"/>
          <p:cNvSpPr/>
          <p:nvPr/>
        </p:nvSpPr>
        <p:spPr>
          <a:xfrm>
            <a:off x="45720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47"/>
          <p:cNvSpPr/>
          <p:nvPr/>
        </p:nvSpPr>
        <p:spPr>
          <a:xfrm>
            <a:off x="457200" y="1005840"/>
            <a:ext cx="54864" cy="27432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47"/>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US" sz="1200" u="none" cap="none" strike="noStrike">
                <a:solidFill>
                  <a:srgbClr val="7C3AED"/>
                </a:solidFill>
                <a:latin typeface="Arial"/>
                <a:ea typeface="Arial"/>
                <a:cs typeface="Arial"/>
                <a:sym typeface="Arial"/>
              </a:rPr>
              <a:t>FLOWCODE QR STRATEGY</a:t>
            </a:r>
            <a:endParaRPr b="0" i="0" sz="1200" u="none" cap="none" strike="noStrike">
              <a:solidFill>
                <a:schemeClr val="dk1"/>
              </a:solidFill>
              <a:latin typeface="Calibri"/>
              <a:ea typeface="Calibri"/>
              <a:cs typeface="Calibri"/>
              <a:sym typeface="Calibri"/>
            </a:endParaRPr>
          </a:p>
        </p:txBody>
      </p:sp>
      <p:sp>
        <p:nvSpPr>
          <p:cNvPr id="1041" name="Google Shape;1041;p47"/>
          <p:cNvSpPr/>
          <p:nvPr/>
        </p:nvSpPr>
        <p:spPr>
          <a:xfrm>
            <a:off x="68580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Unique Flowcode per physical placement: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RHM_Shuttle_SP25 (shuttle stop posters)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RHM_Tabling_SP25 (tabling handouts)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RHM_ClassVisit_SP25 (class visit flyers)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RHM_CareerFair_SP25 (career fair signage)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RHM_MBEB_SP25 (MBEB poster)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Each QR points to the same landing page with unique UTM source</a:t>
            </a:r>
            <a:endParaRPr b="0" i="0" sz="1000" u="none" cap="none" strike="noStrike">
              <a:solidFill>
                <a:schemeClr val="dk1"/>
              </a:solidFill>
              <a:latin typeface="Calibri"/>
              <a:ea typeface="Calibri"/>
              <a:cs typeface="Calibri"/>
              <a:sym typeface="Calibri"/>
            </a:endParaRPr>
          </a:p>
        </p:txBody>
      </p:sp>
      <p:sp>
        <p:nvSpPr>
          <p:cNvPr id="1042" name="Google Shape;1042;p47"/>
          <p:cNvSpPr/>
          <p:nvPr/>
        </p:nvSpPr>
        <p:spPr>
          <a:xfrm>
            <a:off x="484632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47"/>
          <p:cNvSpPr/>
          <p:nvPr/>
        </p:nvSpPr>
        <p:spPr>
          <a:xfrm>
            <a:off x="4846320" y="1005840"/>
            <a:ext cx="54864" cy="2743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47"/>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Arial"/>
              <a:buNone/>
            </a:pPr>
            <a:r>
              <a:rPr b="1" i="0" lang="en-US" sz="1200" u="none" cap="none" strike="noStrike">
                <a:solidFill>
                  <a:srgbClr val="0D9488"/>
                </a:solidFill>
                <a:latin typeface="Arial"/>
                <a:ea typeface="Arial"/>
                <a:cs typeface="Arial"/>
                <a:sym typeface="Arial"/>
              </a:rPr>
              <a:t>UTM CONVENTIONS</a:t>
            </a:r>
            <a:endParaRPr b="0" i="0" sz="1200" u="none" cap="none" strike="noStrike">
              <a:solidFill>
                <a:schemeClr val="dk1"/>
              </a:solidFill>
              <a:latin typeface="Calibri"/>
              <a:ea typeface="Calibri"/>
              <a:cs typeface="Calibri"/>
              <a:sym typeface="Calibri"/>
            </a:endParaRPr>
          </a:p>
        </p:txBody>
      </p:sp>
      <p:sp>
        <p:nvSpPr>
          <p:cNvPr id="1045" name="Google Shape;1045;p47"/>
          <p:cNvSpPr/>
          <p:nvPr/>
        </p:nvSpPr>
        <p:spPr>
          <a:xfrm>
            <a:off x="507492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utm_source = channel (shuttle, tabling, classvisit, instagram, newsletter)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utm_medium = type (print, social, email, screen, event)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utm_campaign = rhm_sp25 (consistent across all links)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Example: ?utm_source=shuttle&amp;utm_medium=print&amp;utm_campaign=rhm_sp25</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1046" name="Google Shape;1046;p47"/>
          <p:cNvSpPr/>
          <p:nvPr/>
        </p:nvSpPr>
        <p:spPr>
          <a:xfrm>
            <a:off x="457200" y="3931920"/>
            <a:ext cx="8229600" cy="822960"/>
          </a:xfrm>
          <a:prstGeom prst="rect">
            <a:avLst/>
          </a:prstGeom>
          <a:solidFill>
            <a:srgbClr val="F5F3FF"/>
          </a:solidFill>
          <a:ln cap="flat" cmpd="sng" w="12700">
            <a:solidFill>
              <a:srgbClr val="7C3AED"/>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7"/>
          <p:cNvSpPr/>
          <p:nvPr/>
        </p:nvSpPr>
        <p:spPr>
          <a:xfrm>
            <a:off x="685800" y="3977640"/>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Arial"/>
              <a:buNone/>
            </a:pPr>
            <a:r>
              <a:rPr b="1" i="0" lang="en-US" sz="1000" u="none" cap="none" strike="noStrike">
                <a:solidFill>
                  <a:srgbClr val="7C3AED"/>
                </a:solidFill>
                <a:latin typeface="Arial"/>
                <a:ea typeface="Arial"/>
                <a:cs typeface="Arial"/>
                <a:sym typeface="Arial"/>
              </a:rPr>
              <a:t>LOOKER STUDIO DASHBOARD</a:t>
            </a:r>
            <a:endParaRPr b="0" i="0" sz="1000" u="none" cap="none" strike="noStrike">
              <a:solidFill>
                <a:schemeClr val="dk1"/>
              </a:solidFill>
              <a:latin typeface="Calibri"/>
              <a:ea typeface="Calibri"/>
              <a:cs typeface="Calibri"/>
              <a:sym typeface="Calibri"/>
            </a:endParaRPr>
          </a:p>
        </p:txBody>
      </p:sp>
      <p:sp>
        <p:nvSpPr>
          <p:cNvPr id="1048" name="Google Shape;1048;p47"/>
          <p:cNvSpPr/>
          <p:nvPr/>
        </p:nvSpPr>
        <p:spPr>
          <a:xfrm>
            <a:off x="685800" y="425196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Dashboard Name: RHM_SP25_Performance. Views: Traffic by source/medium, QR scan volume by placement, landing page conversion rate, weekly trend lines. This let us see which physical placements drove the most traffic and compare paid vs free channels side-by-side.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53" name="Shape 1053"/>
        <p:cNvGrpSpPr/>
        <p:nvPr/>
      </p:nvGrpSpPr>
      <p:grpSpPr>
        <a:xfrm>
          <a:off x="0" y="0"/>
          <a:ext cx="0" cy="0"/>
          <a:chOff x="0" y="0"/>
          <a:chExt cx="0" cy="0"/>
        </a:xfrm>
      </p:grpSpPr>
      <p:sp>
        <p:nvSpPr>
          <p:cNvPr id="1054" name="Google Shape;1054;p48"/>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56" name="Google Shape;1056;p4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57" name="Google Shape;1057;p4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43</a:t>
            </a:r>
            <a:endParaRPr b="0" i="0" sz="1000" u="none" cap="none" strike="noStrike">
              <a:solidFill>
                <a:schemeClr val="dk1"/>
              </a:solidFill>
              <a:latin typeface="Calibri"/>
              <a:ea typeface="Calibri"/>
              <a:cs typeface="Calibri"/>
              <a:sym typeface="Calibri"/>
            </a:endParaRPr>
          </a:p>
        </p:txBody>
      </p:sp>
      <p:sp>
        <p:nvSpPr>
          <p:cNvPr id="1058" name="Google Shape;1058;p48"/>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Budget &amp; Requests (RHM Example)</a:t>
            </a:r>
            <a:endParaRPr b="0" i="0" sz="2400" u="none" cap="none" strike="noStrike">
              <a:solidFill>
                <a:schemeClr val="dk1"/>
              </a:solidFill>
              <a:latin typeface="Calibri"/>
              <a:ea typeface="Calibri"/>
              <a:cs typeface="Calibri"/>
              <a:sym typeface="Calibri"/>
            </a:endParaRPr>
          </a:p>
        </p:txBody>
      </p:sp>
      <p:graphicFrame>
        <p:nvGraphicFramePr>
          <p:cNvPr id="1059" name="Google Shape;1059;p48"/>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828800"/>
                <a:gridCol w="731525"/>
                <a:gridCol w="822950"/>
                <a:gridCol w="1371600"/>
                <a:gridCol w="1097275"/>
                <a:gridCol w="1097275"/>
              </a:tblGrid>
              <a:tr h="2954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Channel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Type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Cost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Est. Impressions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CPM</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ROAS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295425">
                <a:tc gridSpan="6">
                  <a:txBody>
                    <a:bodyPr/>
                    <a:lstStyle/>
                    <a:p>
                      <a:pPr indent="0" lvl="0" marL="0" marR="0" rtl="0" algn="l">
                        <a:spcBef>
                          <a:spcPts val="0"/>
                        </a:spcBef>
                        <a:spcAft>
                          <a:spcPts val="0"/>
                        </a:spcAft>
                        <a:buClr>
                          <a:srgbClr val="D64309"/>
                        </a:buClr>
                        <a:buSzPts val="900"/>
                        <a:buFont typeface="Calibri"/>
                        <a:buNone/>
                      </a:pPr>
                      <a:r>
                        <a:rPr b="1" lang="en-US" sz="900" u="none" cap="none" strike="noStrike">
                          <a:solidFill>
                            <a:srgbClr val="D64309"/>
                          </a:solidFill>
                        </a:rPr>
                        <a:t>PAID CHANNELS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Blueprint Magazine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Print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$450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9,000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Arbiter Web Banner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Digital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Arbiter Print Ad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Print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6,000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$66.67</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Shuttle Stop Posters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Print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$280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12,000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$23.33</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Meta/Instagram Ads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Digital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$560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105,000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$5.33</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gridSpan="6">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 COBE CHANNELS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 + LinkedIn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17,000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Newsletters (2)</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Email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7,000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MBEB/Campus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Digital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Tabling + Class Visits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Event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TOTAL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$2,090</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237,000+</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$8.82</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63" name="Shape 1063"/>
        <p:cNvGrpSpPr/>
        <p:nvPr/>
      </p:nvGrpSpPr>
      <p:grpSpPr>
        <a:xfrm>
          <a:off x="0" y="0"/>
          <a:ext cx="0" cy="0"/>
          <a:chOff x="0" y="0"/>
          <a:chExt cx="0" cy="0"/>
        </a:xfrm>
      </p:grpSpPr>
      <p:sp>
        <p:nvSpPr>
          <p:cNvPr id="1064" name="Google Shape;1064;p49"/>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49"/>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66" name="Google Shape;1066;p4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67" name="Google Shape;1067;p4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44</a:t>
            </a:r>
            <a:endParaRPr b="0" i="0" sz="1000" u="none" cap="none" strike="noStrike">
              <a:solidFill>
                <a:schemeClr val="dk1"/>
              </a:solidFill>
              <a:latin typeface="Calibri"/>
              <a:ea typeface="Calibri"/>
              <a:cs typeface="Calibri"/>
              <a:sym typeface="Calibri"/>
            </a:endParaRPr>
          </a:p>
        </p:txBody>
      </p:sp>
      <p:sp>
        <p:nvSpPr>
          <p:cNvPr id="1068" name="Google Shape;1068;p49"/>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Channel Highlights (RHM)</a:t>
            </a:r>
            <a:endParaRPr b="0" i="0" sz="3000" u="none" cap="none" strike="noStrike">
              <a:solidFill>
                <a:schemeClr val="dk1"/>
              </a:solidFill>
              <a:latin typeface="Calibri"/>
              <a:ea typeface="Calibri"/>
              <a:cs typeface="Calibri"/>
              <a:sym typeface="Calibri"/>
            </a:endParaRPr>
          </a:p>
        </p:txBody>
      </p:sp>
      <p:sp>
        <p:nvSpPr>
          <p:cNvPr id="1069" name="Google Shape;1069;p49"/>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What we executed on each channel and what worked best.</a:t>
            </a:r>
            <a:endParaRPr b="0" i="0" sz="1400" u="none" cap="none" strike="noStrike">
              <a:solidFill>
                <a:schemeClr val="dk1"/>
              </a:solidFill>
              <a:latin typeface="Calibri"/>
              <a:ea typeface="Calibri"/>
              <a:cs typeface="Calibri"/>
              <a:sym typeface="Calibri"/>
            </a:endParaRPr>
          </a:p>
        </p:txBody>
      </p:sp>
      <p:sp>
        <p:nvSpPr>
          <p:cNvPr id="1070" name="Google Shape;1070;p49"/>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49"/>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9"/>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9"/>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1074" name="Google Shape;1074;p49"/>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Best CPM: Meta/Instagram Ads</a:t>
            </a:r>
            <a:endParaRPr b="0" i="0" sz="1300" u="none" cap="none" strike="noStrike">
              <a:solidFill>
                <a:schemeClr val="dk1"/>
              </a:solidFill>
              <a:latin typeface="Calibri"/>
              <a:ea typeface="Calibri"/>
              <a:cs typeface="Calibri"/>
              <a:sym typeface="Calibri"/>
            </a:endParaRPr>
          </a:p>
        </p:txBody>
      </p:sp>
      <p:sp>
        <p:nvSpPr>
          <p:cNvPr id="1075" name="Google Shape;1075;p49"/>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$5.33 per 1,000 impressions with precise demographic targeting. $5/day budget is manageable for any program.</a:t>
            </a:r>
            <a:endParaRPr b="0" i="0" sz="1000" u="none" cap="none" strike="noStrike">
              <a:solidFill>
                <a:schemeClr val="dk1"/>
              </a:solidFill>
              <a:latin typeface="Calibri"/>
              <a:ea typeface="Calibri"/>
              <a:cs typeface="Calibri"/>
              <a:sym typeface="Calibri"/>
            </a:endParaRPr>
          </a:p>
        </p:txBody>
      </p:sp>
      <p:sp>
        <p:nvSpPr>
          <p:cNvPr id="1076" name="Google Shape;1076;p49"/>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49"/>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49"/>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9"/>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1080" name="Google Shape;1080;p49"/>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Best Quality: Tabling &amp; Class Visits</a:t>
            </a:r>
            <a:endParaRPr b="0" i="0" sz="1300" u="none" cap="none" strike="noStrike">
              <a:solidFill>
                <a:schemeClr val="dk1"/>
              </a:solidFill>
              <a:latin typeface="Calibri"/>
              <a:ea typeface="Calibri"/>
              <a:cs typeface="Calibri"/>
              <a:sym typeface="Calibri"/>
            </a:endParaRPr>
          </a:p>
        </p:txBody>
      </p:sp>
      <p:sp>
        <p:nvSpPr>
          <p:cNvPr id="1081" name="Google Shape;1081;p49"/>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Highest-quality direct engagement. QR-coded handouts drive traffic with trackable attribution.</a:t>
            </a:r>
            <a:endParaRPr b="0" i="0" sz="1000" u="none" cap="none" strike="noStrike">
              <a:solidFill>
                <a:schemeClr val="dk1"/>
              </a:solidFill>
              <a:latin typeface="Calibri"/>
              <a:ea typeface="Calibri"/>
              <a:cs typeface="Calibri"/>
              <a:sym typeface="Calibri"/>
            </a:endParaRPr>
          </a:p>
        </p:txBody>
      </p:sp>
      <p:sp>
        <p:nvSpPr>
          <p:cNvPr id="1082" name="Google Shape;1082;p49"/>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49"/>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9"/>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49"/>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1086" name="Google Shape;1086;p49"/>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Free Channel Value: 45K Impressions</a:t>
            </a:r>
            <a:endParaRPr b="0" i="0" sz="1300" u="none" cap="none" strike="noStrike">
              <a:solidFill>
                <a:schemeClr val="dk1"/>
              </a:solidFill>
              <a:latin typeface="Calibri"/>
              <a:ea typeface="Calibri"/>
              <a:cs typeface="Calibri"/>
              <a:sym typeface="Calibri"/>
            </a:endParaRPr>
          </a:p>
        </p:txBody>
      </p:sp>
      <p:sp>
        <p:nvSpPr>
          <p:cNvPr id="1087" name="Google Shape;1087;p49"/>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COBE internal channels deliver ~19% of total reach at zero cost. Always activate these first.</a:t>
            </a:r>
            <a:endParaRPr b="0" i="0" sz="1000" u="none" cap="none" strike="noStrike">
              <a:solidFill>
                <a:schemeClr val="dk1"/>
              </a:solidFill>
              <a:latin typeface="Calibri"/>
              <a:ea typeface="Calibri"/>
              <a:cs typeface="Calibri"/>
              <a:sym typeface="Calibri"/>
            </a:endParaRPr>
          </a:p>
        </p:txBody>
      </p:sp>
      <p:sp>
        <p:nvSpPr>
          <p:cNvPr id="1088" name="Google Shape;1088;p49"/>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1089" name="Google Shape;1089;p49"/>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Newsletter Strategy Matters</a:t>
            </a:r>
            <a:endParaRPr b="0" i="0" sz="1300" u="none" cap="none" strike="noStrike">
              <a:solidFill>
                <a:schemeClr val="dk1"/>
              </a:solidFill>
              <a:latin typeface="Calibri"/>
              <a:ea typeface="Calibri"/>
              <a:cs typeface="Calibri"/>
              <a:sym typeface="Calibri"/>
            </a:endParaRPr>
          </a:p>
        </p:txBody>
      </p:sp>
      <p:sp>
        <p:nvSpPr>
          <p:cNvPr id="1090" name="Google Shape;1090;p49"/>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Feature programs every few months with varied messaging. Don’t appear in every email — subscribers tune out.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94" name="Shape 1094"/>
        <p:cNvGrpSpPr/>
        <p:nvPr/>
      </p:nvGrpSpPr>
      <p:grpSpPr>
        <a:xfrm>
          <a:off x="0" y="0"/>
          <a:ext cx="0" cy="0"/>
          <a:chOff x="0" y="0"/>
          <a:chExt cx="0" cy="0"/>
        </a:xfrm>
      </p:grpSpPr>
      <p:sp>
        <p:nvSpPr>
          <p:cNvPr id="1095" name="Google Shape;1095;p50"/>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0"/>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97" name="Google Shape;1097;p5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98" name="Google Shape;1098;p5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45</a:t>
            </a:r>
            <a:endParaRPr b="0" i="0" sz="1000" u="none" cap="none" strike="noStrike">
              <a:solidFill>
                <a:schemeClr val="dk1"/>
              </a:solidFill>
              <a:latin typeface="Calibri"/>
              <a:ea typeface="Calibri"/>
              <a:cs typeface="Calibri"/>
              <a:sym typeface="Calibri"/>
            </a:endParaRPr>
          </a:p>
        </p:txBody>
      </p:sp>
      <p:sp>
        <p:nvSpPr>
          <p:cNvPr id="1099" name="Google Shape;1099;p50"/>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Where COBE Marketing Plugged In</a:t>
            </a:r>
            <a:endParaRPr b="0" i="0" sz="2400" u="none" cap="none" strike="noStrike">
              <a:solidFill>
                <a:schemeClr val="dk1"/>
              </a:solidFill>
              <a:latin typeface="Calibri"/>
              <a:ea typeface="Calibri"/>
              <a:cs typeface="Calibri"/>
              <a:sym typeface="Calibri"/>
            </a:endParaRPr>
          </a:p>
        </p:txBody>
      </p:sp>
      <p:sp>
        <p:nvSpPr>
          <p:cNvPr id="1100" name="Google Shape;1100;p50"/>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The specific touchpoints where COBE Marketing supported the RHM campaign.</a:t>
            </a:r>
            <a:endParaRPr b="0" i="0" sz="1400" u="none" cap="none" strike="noStrike">
              <a:solidFill>
                <a:schemeClr val="dk1"/>
              </a:solidFill>
              <a:latin typeface="Calibri"/>
              <a:ea typeface="Calibri"/>
              <a:cs typeface="Calibri"/>
              <a:sym typeface="Calibri"/>
            </a:endParaRPr>
          </a:p>
        </p:txBody>
      </p:sp>
      <p:sp>
        <p:nvSpPr>
          <p:cNvPr id="1101" name="Google Shape;1101;p50"/>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0"/>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REVIEW</a:t>
            </a:r>
            <a:endParaRPr b="0" i="0" sz="2800" u="none" cap="none" strike="noStrike">
              <a:solidFill>
                <a:schemeClr val="dk1"/>
              </a:solidFill>
              <a:latin typeface="Calibri"/>
              <a:ea typeface="Calibri"/>
              <a:cs typeface="Calibri"/>
              <a:sym typeface="Calibri"/>
            </a:endParaRPr>
          </a:p>
        </p:txBody>
      </p:sp>
      <p:sp>
        <p:nvSpPr>
          <p:cNvPr id="1103" name="Google Shape;1103;p50"/>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Brand Check</a:t>
            </a:r>
            <a:endParaRPr b="0" i="0" sz="1100" u="none" cap="none" strike="noStrike">
              <a:solidFill>
                <a:schemeClr val="dk1"/>
              </a:solidFill>
              <a:latin typeface="Calibri"/>
              <a:ea typeface="Calibri"/>
              <a:cs typeface="Calibri"/>
              <a:sym typeface="Calibri"/>
            </a:endParaRPr>
          </a:p>
        </p:txBody>
      </p:sp>
      <p:sp>
        <p:nvSpPr>
          <p:cNvPr id="1104" name="Google Shape;1104;p50"/>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0"/>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PUBLISH</a:t>
            </a:r>
            <a:endParaRPr b="0" i="0" sz="2800" u="none" cap="none" strike="noStrike">
              <a:solidFill>
                <a:schemeClr val="dk1"/>
              </a:solidFill>
              <a:latin typeface="Calibri"/>
              <a:ea typeface="Calibri"/>
              <a:cs typeface="Calibri"/>
              <a:sym typeface="Calibri"/>
            </a:endParaRPr>
          </a:p>
        </p:txBody>
      </p:sp>
      <p:sp>
        <p:nvSpPr>
          <p:cNvPr id="1106" name="Google Shape;1106;p50"/>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Scheduling</a:t>
            </a:r>
            <a:endParaRPr b="0" i="0" sz="1100" u="none" cap="none" strike="noStrike">
              <a:solidFill>
                <a:schemeClr val="dk1"/>
              </a:solidFill>
              <a:latin typeface="Calibri"/>
              <a:ea typeface="Calibri"/>
              <a:cs typeface="Calibri"/>
              <a:sym typeface="Calibri"/>
            </a:endParaRPr>
          </a:p>
        </p:txBody>
      </p:sp>
      <p:sp>
        <p:nvSpPr>
          <p:cNvPr id="1107" name="Google Shape;1107;p50"/>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50"/>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AMPLIFY</a:t>
            </a:r>
            <a:endParaRPr b="0" i="0" sz="2800" u="none" cap="none" strike="noStrike">
              <a:solidFill>
                <a:schemeClr val="dk1"/>
              </a:solidFill>
              <a:latin typeface="Calibri"/>
              <a:ea typeface="Calibri"/>
              <a:cs typeface="Calibri"/>
              <a:sym typeface="Calibri"/>
            </a:endParaRPr>
          </a:p>
        </p:txBody>
      </p:sp>
      <p:sp>
        <p:nvSpPr>
          <p:cNvPr id="1109" name="Google Shape;1109;p50"/>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Newsletter + Social</a:t>
            </a:r>
            <a:endParaRPr b="0" i="0" sz="1100" u="none" cap="none" strike="noStrike">
              <a:solidFill>
                <a:schemeClr val="dk1"/>
              </a:solidFill>
              <a:latin typeface="Calibri"/>
              <a:ea typeface="Calibri"/>
              <a:cs typeface="Calibri"/>
              <a:sym typeface="Calibri"/>
            </a:endParaRPr>
          </a:p>
        </p:txBody>
      </p:sp>
      <p:sp>
        <p:nvSpPr>
          <p:cNvPr id="1110" name="Google Shape;1110;p50"/>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0"/>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FEEDBACK</a:t>
            </a:r>
            <a:endParaRPr b="0" i="0" sz="2800" u="none" cap="none" strike="noStrike">
              <a:solidFill>
                <a:schemeClr val="dk1"/>
              </a:solidFill>
              <a:latin typeface="Calibri"/>
              <a:ea typeface="Calibri"/>
              <a:cs typeface="Calibri"/>
              <a:sym typeface="Calibri"/>
            </a:endParaRPr>
          </a:p>
        </p:txBody>
      </p:sp>
      <p:sp>
        <p:nvSpPr>
          <p:cNvPr id="1112" name="Google Shape;1112;p50"/>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Iterate</a:t>
            </a:r>
            <a:endParaRPr b="0" i="0" sz="1100" u="none" cap="none" strike="noStrike">
              <a:solidFill>
                <a:schemeClr val="dk1"/>
              </a:solidFill>
              <a:latin typeface="Calibri"/>
              <a:ea typeface="Calibri"/>
              <a:cs typeface="Calibri"/>
              <a:sym typeface="Calibri"/>
            </a:endParaRPr>
          </a:p>
        </p:txBody>
      </p:sp>
      <p:sp>
        <p:nvSpPr>
          <p:cNvPr id="1113" name="Google Shape;1113;p50"/>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50"/>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50"/>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WHAT WE SENT COBE (CHECKLIST)</a:t>
            </a:r>
            <a:endParaRPr b="0" i="0" sz="1200" u="none" cap="none" strike="noStrike">
              <a:solidFill>
                <a:schemeClr val="dk1"/>
              </a:solidFill>
              <a:latin typeface="Calibri"/>
              <a:ea typeface="Calibri"/>
              <a:cs typeface="Calibri"/>
              <a:sym typeface="Calibri"/>
            </a:endParaRPr>
          </a:p>
        </p:txBody>
      </p:sp>
      <p:sp>
        <p:nvSpPr>
          <p:cNvPr id="1116" name="Google Shape;1116;p50"/>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Final graphics in all required specs per channel</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Approved copy with CTAs and UTM-tagged links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Posting dates and schedule from content calendar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Flowcode QR files for physical placements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Tracking plan showing dashboard and naming conventions</a:t>
            </a:r>
            <a:endParaRPr b="0" i="0" sz="1000" u="none" cap="none" strike="noStrike">
              <a:solidFill>
                <a:schemeClr val="dk1"/>
              </a:solidFill>
              <a:latin typeface="Calibri"/>
              <a:ea typeface="Calibri"/>
              <a:cs typeface="Calibri"/>
              <a:sym typeface="Calibri"/>
            </a:endParaRPr>
          </a:p>
        </p:txBody>
      </p:sp>
      <p:sp>
        <p:nvSpPr>
          <p:cNvPr id="1117" name="Google Shape;1117;p50"/>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50"/>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50"/>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HOW COBE RESPONDED</a:t>
            </a:r>
            <a:endParaRPr b="0" i="0" sz="1200" u="none" cap="none" strike="noStrike">
              <a:solidFill>
                <a:schemeClr val="dk1"/>
              </a:solidFill>
              <a:latin typeface="Calibri"/>
              <a:ea typeface="Calibri"/>
              <a:cs typeface="Calibri"/>
              <a:sym typeface="Calibri"/>
            </a:endParaRPr>
          </a:p>
        </p:txBody>
      </p:sp>
      <p:sp>
        <p:nvSpPr>
          <p:cNvPr id="1120" name="Google Shape;1120;p50"/>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Brand compliance check within 2-3 business days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placement in next available send</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screen upload on requested dates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Social posts published to @boisestatecobe accounts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Alignment feedback when messaging needed adjustment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24" name="Shape 1124"/>
        <p:cNvGrpSpPr/>
        <p:nvPr/>
      </p:nvGrpSpPr>
      <p:grpSpPr>
        <a:xfrm>
          <a:off x="0" y="0"/>
          <a:ext cx="0" cy="0"/>
          <a:chOff x="0" y="0"/>
          <a:chExt cx="0" cy="0"/>
        </a:xfrm>
      </p:grpSpPr>
      <p:sp>
        <p:nvSpPr>
          <p:cNvPr id="1125" name="Google Shape;1125;p51"/>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1"/>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127" name="Google Shape;1127;p5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128" name="Google Shape;1128;p5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46</a:t>
            </a:r>
            <a:endParaRPr b="0" i="0" sz="1000" u="none" cap="none" strike="noStrike">
              <a:solidFill>
                <a:schemeClr val="dk1"/>
              </a:solidFill>
              <a:latin typeface="Calibri"/>
              <a:ea typeface="Calibri"/>
              <a:cs typeface="Calibri"/>
              <a:sym typeface="Calibri"/>
            </a:endParaRPr>
          </a:p>
        </p:txBody>
      </p:sp>
      <p:sp>
        <p:nvSpPr>
          <p:cNvPr id="1129" name="Google Shape;1129;p51"/>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Results: What We Saw (RHM Spring 2025)</a:t>
            </a:r>
            <a:endParaRPr b="0" i="0" sz="2400" u="none" cap="none" strike="noStrike">
              <a:solidFill>
                <a:schemeClr val="dk1"/>
              </a:solidFill>
              <a:latin typeface="Calibri"/>
              <a:ea typeface="Calibri"/>
              <a:cs typeface="Calibri"/>
              <a:sym typeface="Calibri"/>
            </a:endParaRPr>
          </a:p>
        </p:txBody>
      </p:sp>
      <p:graphicFrame>
        <p:nvGraphicFramePr>
          <p:cNvPr id="1130" name="Google Shape;1130;p51"/>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828800"/>
                <a:gridCol w="731525"/>
                <a:gridCol w="822950"/>
                <a:gridCol w="1371600"/>
                <a:gridCol w="1097275"/>
                <a:gridCol w="1097275"/>
              </a:tblGrid>
              <a:tr h="2954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Metric</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Target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Actual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Notes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Trend</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Rating</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295425">
                <a:tc gridSpan="6">
                  <a:txBody>
                    <a:bodyPr/>
                    <a:lstStyle/>
                    <a:p>
                      <a:pPr indent="0" lvl="0" marL="0" marR="0" rtl="0" algn="l">
                        <a:spcBef>
                          <a:spcPts val="0"/>
                        </a:spcBef>
                        <a:spcAft>
                          <a:spcPts val="0"/>
                        </a:spcAft>
                        <a:buClr>
                          <a:srgbClr val="D64309"/>
                        </a:buClr>
                        <a:buSzPts val="900"/>
                        <a:buFont typeface="Calibri"/>
                        <a:buNone/>
                      </a:pPr>
                      <a:r>
                        <a:rPr b="1" lang="en-US" sz="900" u="none" cap="none" strike="noStrike">
                          <a:solidFill>
                            <a:srgbClr val="D64309"/>
                          </a:solidFill>
                        </a:rPr>
                        <a:t>AWARENESS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Total Impressions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237K+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Exceeded target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Up</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Free Channel Impressions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30K+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45K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 of total reach at $0 cost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Up</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Best CPM Channel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&lt;$15 CPM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$5.33 (Meta/IG)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Lowest cost per 1K impressions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QR Scan Attribution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Baseline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 placements tracked via Flowcode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New</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Landing Page Visits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Baseline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10+ channels driving to single URL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New</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gridSpan="6">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CONVERSION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Event RSVPs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Increase YoY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Career panel + fair tracked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Certificate Inquiries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Establish pipeline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Interest form live on landing page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Employer Leads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 new contacts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Fair + training package promoted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SURPRISE INSIGHT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QR codes enabled physical-to-digital attribution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BLENDED CPM</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$2,090 total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237K+ impressions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$8.82 blended</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34" name="Shape 1134"/>
        <p:cNvGrpSpPr/>
        <p:nvPr/>
      </p:nvGrpSpPr>
      <p:grpSpPr>
        <a:xfrm>
          <a:off x="0" y="0"/>
          <a:ext cx="0" cy="0"/>
          <a:chOff x="0" y="0"/>
          <a:chExt cx="0" cy="0"/>
        </a:xfrm>
      </p:grpSpPr>
      <p:sp>
        <p:nvSpPr>
          <p:cNvPr id="1135" name="Google Shape;1135;p52"/>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137" name="Google Shape;1137;p5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138" name="Google Shape;1138;p5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47</a:t>
            </a:r>
            <a:endParaRPr b="0" i="0" sz="1000" u="none" cap="none" strike="noStrike">
              <a:solidFill>
                <a:schemeClr val="dk1"/>
              </a:solidFill>
              <a:latin typeface="Calibri"/>
              <a:ea typeface="Calibri"/>
              <a:cs typeface="Calibri"/>
              <a:sym typeface="Calibri"/>
            </a:endParaRPr>
          </a:p>
        </p:txBody>
      </p:sp>
      <p:sp>
        <p:nvSpPr>
          <p:cNvPr id="1139" name="Google Shape;1139;p52"/>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Lessons Learned (RHM)</a:t>
            </a:r>
            <a:endParaRPr b="0" i="0" sz="3000" u="none" cap="none" strike="noStrike">
              <a:solidFill>
                <a:schemeClr val="dk1"/>
              </a:solidFill>
              <a:latin typeface="Calibri"/>
              <a:ea typeface="Calibri"/>
              <a:cs typeface="Calibri"/>
              <a:sym typeface="Calibri"/>
            </a:endParaRPr>
          </a:p>
        </p:txBody>
      </p:sp>
      <p:sp>
        <p:nvSpPr>
          <p:cNvPr id="1140" name="Google Shape;1140;p52"/>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What to repeat and what to improve for next time.</a:t>
            </a:r>
            <a:endParaRPr b="0" i="0" sz="1400" u="none" cap="none" strike="noStrike">
              <a:solidFill>
                <a:schemeClr val="dk1"/>
              </a:solidFill>
              <a:latin typeface="Calibri"/>
              <a:ea typeface="Calibri"/>
              <a:cs typeface="Calibri"/>
              <a:sym typeface="Calibri"/>
            </a:endParaRPr>
          </a:p>
        </p:txBody>
      </p:sp>
      <p:sp>
        <p:nvSpPr>
          <p:cNvPr id="1141" name="Google Shape;1141;p52"/>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52"/>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2"/>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2"/>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1145" name="Google Shape;1145;p52"/>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REPEAT: Free channels first</a:t>
            </a:r>
            <a:endParaRPr b="0" i="0" sz="1300" u="none" cap="none" strike="noStrike">
              <a:solidFill>
                <a:schemeClr val="dk1"/>
              </a:solidFill>
              <a:latin typeface="Calibri"/>
              <a:ea typeface="Calibri"/>
              <a:cs typeface="Calibri"/>
              <a:sym typeface="Calibri"/>
            </a:endParaRPr>
          </a:p>
        </p:txBody>
      </p:sp>
      <p:sp>
        <p:nvSpPr>
          <p:cNvPr id="1146" name="Google Shape;1146;p52"/>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45K impressions at zero cost. Always activate MBEB screens, newsletters, tabling, and class visits before spending on paid.</a:t>
            </a:r>
            <a:endParaRPr b="0" i="0" sz="1000" u="none" cap="none" strike="noStrike">
              <a:solidFill>
                <a:schemeClr val="dk1"/>
              </a:solidFill>
              <a:latin typeface="Calibri"/>
              <a:ea typeface="Calibri"/>
              <a:cs typeface="Calibri"/>
              <a:sym typeface="Calibri"/>
            </a:endParaRPr>
          </a:p>
        </p:txBody>
      </p:sp>
      <p:sp>
        <p:nvSpPr>
          <p:cNvPr id="1147" name="Google Shape;1147;p52"/>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2"/>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2"/>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52"/>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1151" name="Google Shape;1151;p52"/>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REPEAT: Single landing page</a:t>
            </a:r>
            <a:endParaRPr b="0" i="0" sz="1300" u="none" cap="none" strike="noStrike">
              <a:solidFill>
                <a:schemeClr val="dk1"/>
              </a:solidFill>
              <a:latin typeface="Calibri"/>
              <a:ea typeface="Calibri"/>
              <a:cs typeface="Calibri"/>
              <a:sym typeface="Calibri"/>
            </a:endParaRPr>
          </a:p>
        </p:txBody>
      </p:sp>
      <p:sp>
        <p:nvSpPr>
          <p:cNvPr id="1152" name="Google Shape;1152;p52"/>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One URL for all channels made tracking clean and messaging consistent. Update one page instead of many.</a:t>
            </a:r>
            <a:endParaRPr b="0" i="0" sz="1000" u="none" cap="none" strike="noStrike">
              <a:solidFill>
                <a:schemeClr val="dk1"/>
              </a:solidFill>
              <a:latin typeface="Calibri"/>
              <a:ea typeface="Calibri"/>
              <a:cs typeface="Calibri"/>
              <a:sym typeface="Calibri"/>
            </a:endParaRPr>
          </a:p>
        </p:txBody>
      </p:sp>
      <p:sp>
        <p:nvSpPr>
          <p:cNvPr id="1153" name="Google Shape;1153;p52"/>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2"/>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2"/>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2"/>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1157" name="Google Shape;1157;p52"/>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IMPROVE: Start tracking earlier</a:t>
            </a:r>
            <a:endParaRPr b="0" i="0" sz="1300" u="none" cap="none" strike="noStrike">
              <a:solidFill>
                <a:schemeClr val="dk1"/>
              </a:solidFill>
              <a:latin typeface="Calibri"/>
              <a:ea typeface="Calibri"/>
              <a:cs typeface="Calibri"/>
              <a:sym typeface="Calibri"/>
            </a:endParaRPr>
          </a:p>
        </p:txBody>
      </p:sp>
      <p:sp>
        <p:nvSpPr>
          <p:cNvPr id="1158" name="Google Shape;1158;p52"/>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Set up Flowcode, UTMs, and Looker Studio dashboard BEFORE the first post. We lost early data by launching tracking mid-campaign.</a:t>
            </a:r>
            <a:endParaRPr b="0" i="0" sz="1000" u="none" cap="none" strike="noStrike">
              <a:solidFill>
                <a:schemeClr val="dk1"/>
              </a:solidFill>
              <a:latin typeface="Calibri"/>
              <a:ea typeface="Calibri"/>
              <a:cs typeface="Calibri"/>
              <a:sym typeface="Calibri"/>
            </a:endParaRPr>
          </a:p>
        </p:txBody>
      </p:sp>
      <p:sp>
        <p:nvSpPr>
          <p:cNvPr id="1159" name="Google Shape;1159;p52"/>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1160" name="Google Shape;1160;p52"/>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IMPROVE: Vary newsletter messaging</a:t>
            </a:r>
            <a:endParaRPr b="0" i="0" sz="1300" u="none" cap="none" strike="noStrike">
              <a:solidFill>
                <a:schemeClr val="dk1"/>
              </a:solidFill>
              <a:latin typeface="Calibri"/>
              <a:ea typeface="Calibri"/>
              <a:cs typeface="Calibri"/>
              <a:sym typeface="Calibri"/>
            </a:endParaRPr>
          </a:p>
        </p:txBody>
      </p:sp>
      <p:sp>
        <p:nvSpPr>
          <p:cNvPr id="1161" name="Google Shape;1161;p52"/>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Feature certificates every few months with fresh angles. Same blurb repeated causes subscriber tune-out — Rotate value props each appearance.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66" name="Shape 1166"/>
        <p:cNvGrpSpPr/>
        <p:nvPr/>
      </p:nvGrpSpPr>
      <p:grpSpPr>
        <a:xfrm>
          <a:off x="0" y="0"/>
          <a:ext cx="0" cy="0"/>
          <a:chOff x="0" y="0"/>
          <a:chExt cx="0" cy="0"/>
        </a:xfrm>
      </p:grpSpPr>
      <p:sp>
        <p:nvSpPr>
          <p:cNvPr id="1167" name="Google Shape;1167;p53"/>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169" name="Google Shape;1169;p5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170" name="Google Shape;1170;p5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48</a:t>
            </a:r>
            <a:endParaRPr b="0" i="0" sz="1000" u="none" cap="none" strike="noStrike">
              <a:solidFill>
                <a:schemeClr val="dk1"/>
              </a:solidFill>
              <a:latin typeface="Calibri"/>
              <a:ea typeface="Calibri"/>
              <a:cs typeface="Calibri"/>
              <a:sym typeface="Calibri"/>
            </a:endParaRPr>
          </a:p>
        </p:txBody>
      </p:sp>
      <p:sp>
        <p:nvSpPr>
          <p:cNvPr id="1171" name="Google Shape;1171;p5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Use This Blueprint</a:t>
            </a:r>
            <a:endParaRPr b="0" i="0" sz="3000" u="none" cap="none" strike="noStrike">
              <a:solidFill>
                <a:schemeClr val="dk1"/>
              </a:solidFill>
              <a:latin typeface="Calibri"/>
              <a:ea typeface="Calibri"/>
              <a:cs typeface="Calibri"/>
              <a:sym typeface="Calibri"/>
            </a:endParaRPr>
          </a:p>
        </p:txBody>
      </p:sp>
      <p:sp>
        <p:nvSpPr>
          <p:cNvPr id="1172" name="Google Shape;1172;p53"/>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Any program can replicate the RHM approach. Follow these steps.</a:t>
            </a:r>
            <a:endParaRPr b="0" i="0" sz="1400" u="none" cap="none" strike="noStrike">
              <a:solidFill>
                <a:schemeClr val="dk1"/>
              </a:solidFill>
              <a:latin typeface="Calibri"/>
              <a:ea typeface="Calibri"/>
              <a:cs typeface="Calibri"/>
              <a:sym typeface="Calibri"/>
            </a:endParaRPr>
          </a:p>
        </p:txBody>
      </p:sp>
      <p:sp>
        <p:nvSpPr>
          <p:cNvPr id="1173" name="Google Shape;1173;p53"/>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3"/>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3"/>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53"/>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1177" name="Google Shape;1177;p53"/>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Start with FREE channels</a:t>
            </a:r>
            <a:endParaRPr b="0" i="0" sz="1300" u="none" cap="none" strike="noStrike">
              <a:solidFill>
                <a:schemeClr val="dk1"/>
              </a:solidFill>
              <a:latin typeface="Calibri"/>
              <a:ea typeface="Calibri"/>
              <a:cs typeface="Calibri"/>
              <a:sym typeface="Calibri"/>
            </a:endParaRPr>
          </a:p>
        </p:txBody>
      </p:sp>
      <p:sp>
        <p:nvSpPr>
          <p:cNvPr id="1178" name="Google Shape;1178;p53"/>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MBEB screens, Instagram, LinkedIn, newsletters, Localist, tabling, class visits. These deliver ~45,000 impressions at zero cost.</a:t>
            </a:r>
            <a:endParaRPr b="0" i="0" sz="1000" u="none" cap="none" strike="noStrike">
              <a:solidFill>
                <a:schemeClr val="dk1"/>
              </a:solidFill>
              <a:latin typeface="Calibri"/>
              <a:ea typeface="Calibri"/>
              <a:cs typeface="Calibri"/>
              <a:sym typeface="Calibri"/>
            </a:endParaRPr>
          </a:p>
        </p:txBody>
      </p:sp>
      <p:sp>
        <p:nvSpPr>
          <p:cNvPr id="1179" name="Google Shape;1179;p53"/>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53"/>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3"/>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3"/>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1183" name="Google Shape;1183;p53"/>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Add PAID ads for reach</a:t>
            </a:r>
            <a:endParaRPr b="0" i="0" sz="1300" u="none" cap="none" strike="noStrike">
              <a:solidFill>
                <a:schemeClr val="dk1"/>
              </a:solidFill>
              <a:latin typeface="Calibri"/>
              <a:ea typeface="Calibri"/>
              <a:cs typeface="Calibri"/>
              <a:sym typeface="Calibri"/>
            </a:endParaRPr>
          </a:p>
        </p:txBody>
      </p:sp>
      <p:sp>
        <p:nvSpPr>
          <p:cNvPr id="1184" name="Google Shape;1184;p53"/>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Meta/IG ads ($5/day) give the best CPM. Shuttle stops hit captive bus riders. Blueprint reaches grads and new students.</a:t>
            </a:r>
            <a:endParaRPr b="0" i="0" sz="1000" u="none" cap="none" strike="noStrike">
              <a:solidFill>
                <a:schemeClr val="dk1"/>
              </a:solidFill>
              <a:latin typeface="Calibri"/>
              <a:ea typeface="Calibri"/>
              <a:cs typeface="Calibri"/>
              <a:sym typeface="Calibri"/>
            </a:endParaRPr>
          </a:p>
        </p:txBody>
      </p:sp>
      <p:sp>
        <p:nvSpPr>
          <p:cNvPr id="1185" name="Google Shape;1185;p53"/>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3"/>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53"/>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53"/>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1189" name="Google Shape;1189;p53"/>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Drive to ONE landing page</a:t>
            </a:r>
            <a:endParaRPr b="0" i="0" sz="1300" u="none" cap="none" strike="noStrike">
              <a:solidFill>
                <a:schemeClr val="dk1"/>
              </a:solidFill>
              <a:latin typeface="Calibri"/>
              <a:ea typeface="Calibri"/>
              <a:cs typeface="Calibri"/>
              <a:sym typeface="Calibri"/>
            </a:endParaRPr>
          </a:p>
        </p:txBody>
      </p:sp>
      <p:sp>
        <p:nvSpPr>
          <p:cNvPr id="1190" name="Google Shape;1190;p53"/>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All channels point to the same certificate landing page or Handshake event. One destination = clean tracking.</a:t>
            </a:r>
            <a:endParaRPr b="0" i="0" sz="1000" u="none" cap="none" strike="noStrike">
              <a:solidFill>
                <a:schemeClr val="dk1"/>
              </a:solidFill>
              <a:latin typeface="Calibri"/>
              <a:ea typeface="Calibri"/>
              <a:cs typeface="Calibri"/>
              <a:sym typeface="Calibri"/>
            </a:endParaRPr>
          </a:p>
        </p:txBody>
      </p:sp>
      <p:sp>
        <p:nvSpPr>
          <p:cNvPr id="1191" name="Google Shape;1191;p53"/>
          <p:cNvSpPr/>
          <p:nvPr/>
        </p:nvSpPr>
        <p:spPr>
          <a:xfrm>
            <a:off x="457200" y="356616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53"/>
          <p:cNvSpPr/>
          <p:nvPr/>
        </p:nvSpPr>
        <p:spPr>
          <a:xfrm>
            <a:off x="457200" y="3566160"/>
            <a:ext cx="54864" cy="64008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53"/>
          <p:cNvSpPr/>
          <p:nvPr/>
        </p:nvSpPr>
        <p:spPr>
          <a:xfrm>
            <a:off x="640080" y="3675888"/>
            <a:ext cx="411480" cy="41148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3"/>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1195" name="Google Shape;1195;p53"/>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Track with Flowcode + UTMs + Looker Studio</a:t>
            </a:r>
            <a:endParaRPr b="0" i="0" sz="1300" u="none" cap="none" strike="noStrike">
              <a:solidFill>
                <a:schemeClr val="dk1"/>
              </a:solidFill>
              <a:latin typeface="Calibri"/>
              <a:ea typeface="Calibri"/>
              <a:cs typeface="Calibri"/>
              <a:sym typeface="Calibri"/>
            </a:endParaRPr>
          </a:p>
        </p:txBody>
      </p:sp>
      <p:sp>
        <p:nvSpPr>
          <p:cNvPr id="1196" name="Google Shape;1196;p53"/>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Flowcode QR per physical placement. UTM parameters on every digital link. Looker Studio dashboard compares channels side-by-side.</a:t>
            </a:r>
            <a:endParaRPr b="0" i="0" sz="1000" u="none" cap="none" strike="noStrike">
              <a:solidFill>
                <a:schemeClr val="dk1"/>
              </a:solidFill>
              <a:latin typeface="Calibri"/>
              <a:ea typeface="Calibri"/>
              <a:cs typeface="Calibri"/>
              <a:sym typeface="Calibri"/>
            </a:endParaRPr>
          </a:p>
        </p:txBody>
      </p:sp>
      <p:sp>
        <p:nvSpPr>
          <p:cNvPr id="1197" name="Google Shape;1197;p53"/>
          <p:cNvSpPr/>
          <p:nvPr/>
        </p:nvSpPr>
        <p:spPr>
          <a:xfrm>
            <a:off x="457200" y="429768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3"/>
          <p:cNvSpPr/>
          <p:nvPr/>
        </p:nvSpPr>
        <p:spPr>
          <a:xfrm>
            <a:off x="457200" y="4297680"/>
            <a:ext cx="54864" cy="640080"/>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53"/>
          <p:cNvSpPr/>
          <p:nvPr/>
        </p:nvSpPr>
        <p:spPr>
          <a:xfrm>
            <a:off x="640080" y="4407408"/>
            <a:ext cx="411480" cy="411480"/>
          </a:xfrm>
          <a:prstGeom prst="ellipse">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53"/>
          <p:cNvSpPr/>
          <p:nvPr/>
        </p:nvSpPr>
        <p:spPr>
          <a:xfrm>
            <a:off x="640080" y="440740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a:t>
            </a:r>
            <a:endParaRPr b="0" i="0" sz="1600" u="none" cap="none" strike="noStrike">
              <a:solidFill>
                <a:schemeClr val="dk1"/>
              </a:solidFill>
              <a:latin typeface="Calibri"/>
              <a:ea typeface="Calibri"/>
              <a:cs typeface="Calibri"/>
              <a:sym typeface="Calibri"/>
            </a:endParaRPr>
          </a:p>
        </p:txBody>
      </p:sp>
      <p:sp>
        <p:nvSpPr>
          <p:cNvPr id="1201" name="Google Shape;1201;p53"/>
          <p:cNvSpPr/>
          <p:nvPr/>
        </p:nvSpPr>
        <p:spPr>
          <a:xfrm>
            <a:off x="1234440" y="43434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Report and optimize</a:t>
            </a:r>
            <a:endParaRPr b="0" i="0" sz="1300" u="none" cap="none" strike="noStrike">
              <a:solidFill>
                <a:schemeClr val="dk1"/>
              </a:solidFill>
              <a:latin typeface="Calibri"/>
              <a:ea typeface="Calibri"/>
              <a:cs typeface="Calibri"/>
              <a:sym typeface="Calibri"/>
            </a:endParaRPr>
          </a:p>
        </p:txBody>
      </p:sp>
      <p:sp>
        <p:nvSpPr>
          <p:cNvPr id="1202" name="Google Shape;1202;p53"/>
          <p:cNvSpPr/>
          <p:nvPr/>
        </p:nvSpPr>
        <p:spPr>
          <a:xfrm>
            <a:off x="1234440" y="459943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Monthly check-ins on impressions, clicks, RSVPs. Double down on what works; pause what doesn't.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06" name="Shape 1206"/>
        <p:cNvGrpSpPr/>
        <p:nvPr/>
      </p:nvGrpSpPr>
      <p:grpSpPr>
        <a:xfrm>
          <a:off x="0" y="0"/>
          <a:ext cx="0" cy="0"/>
          <a:chOff x="0" y="0"/>
          <a:chExt cx="0" cy="0"/>
        </a:xfrm>
      </p:grpSpPr>
      <p:sp>
        <p:nvSpPr>
          <p:cNvPr id="1207" name="Google Shape;1207;p5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08" name="Google Shape;1208;p5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49</a:t>
            </a:r>
            <a:endParaRPr b="0" i="0" sz="1000" u="none" cap="none" strike="noStrike">
              <a:solidFill>
                <a:schemeClr val="dk1"/>
              </a:solidFill>
              <a:latin typeface="Calibri"/>
              <a:ea typeface="Calibri"/>
              <a:cs typeface="Calibri"/>
              <a:sym typeface="Calibri"/>
            </a:endParaRPr>
          </a:p>
        </p:txBody>
      </p:sp>
      <p:sp>
        <p:nvSpPr>
          <p:cNvPr id="1209" name="Google Shape;1209;p5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RHM Templates (Examples You Can Reuse)</a:t>
            </a:r>
            <a:endParaRPr b="0" i="0" sz="2800" u="none" cap="none" strike="noStrike">
              <a:solidFill>
                <a:schemeClr val="dk1"/>
              </a:solidFill>
              <a:latin typeface="Calibri"/>
              <a:ea typeface="Calibri"/>
              <a:cs typeface="Calibri"/>
              <a:sym typeface="Calibri"/>
            </a:endParaRPr>
          </a:p>
        </p:txBody>
      </p:sp>
      <p:graphicFrame>
        <p:nvGraphicFramePr>
          <p:cNvPr id="1210" name="Google Shape;1210;p54"/>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2286000"/>
                <a:gridCol w="2926075"/>
                <a:gridCol w="3017525"/>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Resource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Purpose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Location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Weekly/monthly posting plan with channel codes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Template.xlsx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Completed example calendar to model structure and pacing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Example.xlsx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Landing Page Outline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Sections: headline, value props, CTA, contact, interest form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Google Sites or WordPress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RHM Marketing Budget 2025</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5-sheet budget model: summary, channels, calendar, ROAS, contacts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RHM Marketing Budget 2025.xlsx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Reporting Snapshot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Monthly channel roll-up template: impressions, CTR, conversions, CPM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Looker Studio dashboard example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Request Email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Copy-paste format for cobe-info submissions with all required fields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See Sample Request Email slide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Asset Folder Structure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Organized folder template: Copy, Graphics, Links, Schedule, Budget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See Asset Pack Folder Structure slide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File Naming Convention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Pattern: Topic_StartDate_Size.ext for consistent organization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See Brand Quick Reference slide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15" name="Shape 1215"/>
        <p:cNvGrpSpPr/>
        <p:nvPr/>
      </p:nvGrpSpPr>
      <p:grpSpPr>
        <a:xfrm>
          <a:off x="0" y="0"/>
          <a:ext cx="0" cy="0"/>
          <a:chOff x="0" y="0"/>
          <a:chExt cx="0" cy="0"/>
        </a:xfrm>
      </p:grpSpPr>
      <p:sp>
        <p:nvSpPr>
          <p:cNvPr id="1216" name="Google Shape;1216;p55"/>
          <p:cNvSpPr/>
          <p:nvPr/>
        </p:nvSpPr>
        <p:spPr>
          <a:xfrm>
            <a:off x="0" y="0"/>
            <a:ext cx="9144000" cy="5143500"/>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5"/>
          <p:cNvSpPr/>
          <p:nvPr/>
        </p:nvSpPr>
        <p:spPr>
          <a:xfrm>
            <a:off x="0" y="0"/>
            <a:ext cx="109800" cy="514350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55"/>
          <p:cNvSpPr/>
          <p:nvPr/>
        </p:nvSpPr>
        <p:spPr>
          <a:xfrm>
            <a:off x="548640" y="1336390"/>
            <a:ext cx="7315200" cy="109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4800"/>
              <a:buFont typeface="Georgia"/>
              <a:buNone/>
            </a:pPr>
            <a:r>
              <a:rPr b="1" lang="en-US" sz="4800">
                <a:solidFill>
                  <a:schemeClr val="lt1"/>
                </a:solidFill>
                <a:latin typeface="Georgia"/>
                <a:ea typeface="Georgia"/>
                <a:cs typeface="Georgia"/>
                <a:sym typeface="Georgia"/>
              </a:rPr>
              <a:t>TRACKING &amp;</a:t>
            </a:r>
            <a:br>
              <a:rPr b="1" lang="en-US" sz="4800">
                <a:solidFill>
                  <a:schemeClr val="lt1"/>
                </a:solidFill>
                <a:latin typeface="Georgia"/>
                <a:ea typeface="Georgia"/>
                <a:cs typeface="Georgia"/>
                <a:sym typeface="Georgia"/>
              </a:rPr>
            </a:br>
            <a:r>
              <a:rPr b="1" lang="en-US" sz="4800">
                <a:solidFill>
                  <a:schemeClr val="lt1"/>
                </a:solidFill>
                <a:latin typeface="Georgia"/>
                <a:ea typeface="Georgia"/>
                <a:cs typeface="Georgia"/>
                <a:sym typeface="Georgia"/>
              </a:rPr>
              <a:t>ANALYTICS</a:t>
            </a:r>
            <a:endParaRPr b="0" i="0" sz="4800" u="none" cap="none" strike="noStrike">
              <a:solidFill>
                <a:schemeClr val="dk1"/>
              </a:solidFill>
              <a:latin typeface="Calibri"/>
              <a:ea typeface="Calibri"/>
              <a:cs typeface="Calibri"/>
              <a:sym typeface="Calibri"/>
            </a:endParaRPr>
          </a:p>
        </p:txBody>
      </p:sp>
      <p:sp>
        <p:nvSpPr>
          <p:cNvPr id="1219" name="Google Shape;1219;p55"/>
          <p:cNvSpPr/>
          <p:nvPr/>
        </p:nvSpPr>
        <p:spPr>
          <a:xfrm>
            <a:off x="548640" y="2777820"/>
            <a:ext cx="7315200" cy="54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BD5E1"/>
              </a:buClr>
              <a:buSzPts val="2200"/>
              <a:buFont typeface="Arial"/>
              <a:buNone/>
            </a:pPr>
            <a:r>
              <a:rPr lang="en-US" sz="2200">
                <a:solidFill>
                  <a:srgbClr val="CBD5E1"/>
                </a:solidFill>
              </a:rPr>
              <a:t>QR Codes • UTM Parameters • Performance Measurement</a:t>
            </a:r>
            <a:endParaRPr b="0" i="0" sz="2200" u="none" cap="none" strike="noStrike">
              <a:solidFill>
                <a:schemeClr val="dk1"/>
              </a:solidFill>
              <a:latin typeface="Calibri"/>
              <a:ea typeface="Calibri"/>
              <a:cs typeface="Calibri"/>
              <a:sym typeface="Calibri"/>
            </a:endParaRPr>
          </a:p>
        </p:txBody>
      </p:sp>
      <p:sp>
        <p:nvSpPr>
          <p:cNvPr id="1220" name="Google Shape;1220;p55"/>
          <p:cNvSpPr txBox="1"/>
          <p:nvPr/>
        </p:nvSpPr>
        <p:spPr>
          <a:xfrm>
            <a:off x="439900" y="3670550"/>
            <a:ext cx="6837900" cy="548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rgbClr val="CBD5E1"/>
              </a:buClr>
              <a:buSzPts val="1400"/>
              <a:buFont typeface="Arial"/>
              <a:buNone/>
            </a:pPr>
            <a:r>
              <a:rPr lang="en-US">
                <a:solidFill>
                  <a:srgbClr val="CBD5E1"/>
                </a:solidFill>
              </a:rPr>
              <a:t>Understand what to measure and how to connect metrics back to program goals.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24" name="Shape 1224"/>
        <p:cNvGrpSpPr/>
        <p:nvPr/>
      </p:nvGrpSpPr>
      <p:grpSpPr>
        <a:xfrm>
          <a:off x="0" y="0"/>
          <a:ext cx="0" cy="0"/>
          <a:chOff x="0" y="0"/>
          <a:chExt cx="0" cy="0"/>
        </a:xfrm>
      </p:grpSpPr>
      <p:sp>
        <p:nvSpPr>
          <p:cNvPr id="1225" name="Google Shape;1225;p5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26" name="Google Shape;1226;p5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51</a:t>
            </a:r>
            <a:endParaRPr b="0" i="0" sz="1000" u="none" cap="none" strike="noStrike">
              <a:solidFill>
                <a:schemeClr val="dk1"/>
              </a:solidFill>
              <a:latin typeface="Calibri"/>
              <a:ea typeface="Calibri"/>
              <a:cs typeface="Calibri"/>
              <a:sym typeface="Calibri"/>
            </a:endParaRPr>
          </a:p>
        </p:txBody>
      </p:sp>
      <p:sp>
        <p:nvSpPr>
          <p:cNvPr id="1227" name="Google Shape;1227;p56"/>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Metrics That Matter</a:t>
            </a:r>
            <a:endParaRPr b="0" i="0" sz="3600" u="none" cap="none" strike="noStrike">
              <a:solidFill>
                <a:schemeClr val="dk1"/>
              </a:solidFill>
              <a:latin typeface="Calibri"/>
              <a:ea typeface="Calibri"/>
              <a:cs typeface="Calibri"/>
              <a:sym typeface="Calibri"/>
            </a:endParaRPr>
          </a:p>
        </p:txBody>
      </p:sp>
      <p:sp>
        <p:nvSpPr>
          <p:cNvPr id="1228" name="Google Shape;1228;p56"/>
          <p:cNvSpPr/>
          <p:nvPr/>
        </p:nvSpPr>
        <p:spPr>
          <a:xfrm>
            <a:off x="457200" y="10058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500"/>
              <a:buFont typeface="Arial"/>
              <a:buNone/>
            </a:pPr>
            <a:r>
              <a:rPr b="0" i="0" lang="en-US" sz="1500" u="none" cap="none" strike="noStrike">
                <a:solidFill>
                  <a:srgbClr val="334155"/>
                </a:solidFill>
                <a:latin typeface="Arial"/>
                <a:ea typeface="Arial"/>
                <a:cs typeface="Arial"/>
                <a:sym typeface="Arial"/>
              </a:rPr>
              <a:t>Understanding what to measure and what it actually means.</a:t>
            </a:r>
            <a:endParaRPr b="0" i="0" sz="1500" u="none" cap="none" strike="noStrike">
              <a:solidFill>
                <a:schemeClr val="dk1"/>
              </a:solidFill>
              <a:latin typeface="Calibri"/>
              <a:ea typeface="Calibri"/>
              <a:cs typeface="Calibri"/>
              <a:sym typeface="Calibri"/>
            </a:endParaRPr>
          </a:p>
        </p:txBody>
      </p:sp>
      <p:sp>
        <p:nvSpPr>
          <p:cNvPr id="1229" name="Google Shape;1229;p56"/>
          <p:cNvSpPr/>
          <p:nvPr/>
        </p:nvSpPr>
        <p:spPr>
          <a:xfrm>
            <a:off x="457200" y="160020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6"/>
          <p:cNvSpPr/>
          <p:nvPr/>
        </p:nvSpPr>
        <p:spPr>
          <a:xfrm>
            <a:off x="457200" y="1600200"/>
            <a:ext cx="54864"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6"/>
          <p:cNvSpPr/>
          <p:nvPr/>
        </p:nvSpPr>
        <p:spPr>
          <a:xfrm>
            <a:off x="640080" y="184708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6"/>
          <p:cNvSpPr/>
          <p:nvPr/>
        </p:nvSpPr>
        <p:spPr>
          <a:xfrm>
            <a:off x="640080" y="18470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233" name="Google Shape;1233;p56"/>
          <p:cNvSpPr/>
          <p:nvPr/>
        </p:nvSpPr>
        <p:spPr>
          <a:xfrm>
            <a:off x="1234440" y="170992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Reach</a:t>
            </a:r>
            <a:endParaRPr b="0" i="0" sz="1500" u="none" cap="none" strike="noStrike">
              <a:solidFill>
                <a:schemeClr val="dk1"/>
              </a:solidFill>
              <a:latin typeface="Calibri"/>
              <a:ea typeface="Calibri"/>
              <a:cs typeface="Calibri"/>
              <a:sym typeface="Calibri"/>
            </a:endParaRPr>
          </a:p>
        </p:txBody>
      </p:sp>
      <p:sp>
        <p:nvSpPr>
          <p:cNvPr id="1234" name="Google Shape;1234;p56"/>
          <p:cNvSpPr/>
          <p:nvPr/>
        </p:nvSpPr>
        <p:spPr>
          <a:xfrm>
            <a:off x="1234440" y="2029968"/>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How many people saw it? Track via Instagram Insights, LinkedIn Analytics, email open counts.</a:t>
            </a:r>
            <a:endParaRPr b="0" i="0" sz="1200" u="none" cap="none" strike="noStrike">
              <a:solidFill>
                <a:schemeClr val="dk1"/>
              </a:solidFill>
              <a:latin typeface="Calibri"/>
              <a:ea typeface="Calibri"/>
              <a:cs typeface="Calibri"/>
              <a:sym typeface="Calibri"/>
            </a:endParaRPr>
          </a:p>
        </p:txBody>
      </p:sp>
      <p:sp>
        <p:nvSpPr>
          <p:cNvPr id="1235" name="Google Shape;1235;p56"/>
          <p:cNvSpPr/>
          <p:nvPr/>
        </p:nvSpPr>
        <p:spPr>
          <a:xfrm>
            <a:off x="457200" y="265176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6"/>
          <p:cNvSpPr/>
          <p:nvPr/>
        </p:nvSpPr>
        <p:spPr>
          <a:xfrm>
            <a:off x="457200" y="2651760"/>
            <a:ext cx="54864"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56"/>
          <p:cNvSpPr/>
          <p:nvPr/>
        </p:nvSpPr>
        <p:spPr>
          <a:xfrm>
            <a:off x="640080" y="289864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56"/>
          <p:cNvSpPr/>
          <p:nvPr/>
        </p:nvSpPr>
        <p:spPr>
          <a:xfrm>
            <a:off x="640080" y="28986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239" name="Google Shape;1239;p56"/>
          <p:cNvSpPr/>
          <p:nvPr/>
        </p:nvSpPr>
        <p:spPr>
          <a:xfrm>
            <a:off x="1234440" y="276148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Engagement</a:t>
            </a:r>
            <a:endParaRPr b="0" i="0" sz="1500" u="none" cap="none" strike="noStrike">
              <a:solidFill>
                <a:schemeClr val="dk1"/>
              </a:solidFill>
              <a:latin typeface="Calibri"/>
              <a:ea typeface="Calibri"/>
              <a:cs typeface="Calibri"/>
              <a:sym typeface="Calibri"/>
            </a:endParaRPr>
          </a:p>
        </p:txBody>
      </p:sp>
      <p:sp>
        <p:nvSpPr>
          <p:cNvPr id="1240" name="Google Shape;1240;p56"/>
          <p:cNvSpPr/>
          <p:nvPr/>
        </p:nvSpPr>
        <p:spPr>
          <a:xfrm>
            <a:off x="1234440" y="3081528"/>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Did they interact? (Reactions + Comments + Shares) / Impressions. Measures content quality.</a:t>
            </a:r>
            <a:endParaRPr b="0" i="0" sz="1200" u="none" cap="none" strike="noStrike">
              <a:solidFill>
                <a:schemeClr val="dk1"/>
              </a:solidFill>
              <a:latin typeface="Calibri"/>
              <a:ea typeface="Calibri"/>
              <a:cs typeface="Calibri"/>
              <a:sym typeface="Calibri"/>
            </a:endParaRPr>
          </a:p>
        </p:txBody>
      </p:sp>
      <p:sp>
        <p:nvSpPr>
          <p:cNvPr id="1241" name="Google Shape;1241;p56"/>
          <p:cNvSpPr/>
          <p:nvPr/>
        </p:nvSpPr>
        <p:spPr>
          <a:xfrm>
            <a:off x="457200" y="370332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6"/>
          <p:cNvSpPr/>
          <p:nvPr/>
        </p:nvSpPr>
        <p:spPr>
          <a:xfrm>
            <a:off x="457200" y="3703320"/>
            <a:ext cx="54864"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56"/>
          <p:cNvSpPr/>
          <p:nvPr/>
        </p:nvSpPr>
        <p:spPr>
          <a:xfrm>
            <a:off x="640080" y="395020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56"/>
          <p:cNvSpPr/>
          <p:nvPr/>
        </p:nvSpPr>
        <p:spPr>
          <a:xfrm>
            <a:off x="640080" y="395020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X</a:t>
            </a:r>
            <a:endParaRPr b="0" i="0" sz="1600" u="none" cap="none" strike="noStrike">
              <a:solidFill>
                <a:schemeClr val="dk1"/>
              </a:solidFill>
              <a:latin typeface="Calibri"/>
              <a:ea typeface="Calibri"/>
              <a:cs typeface="Calibri"/>
              <a:sym typeface="Calibri"/>
            </a:endParaRPr>
          </a:p>
        </p:txBody>
      </p:sp>
      <p:sp>
        <p:nvSpPr>
          <p:cNvPr id="1245" name="Google Shape;1245;p56"/>
          <p:cNvSpPr/>
          <p:nvPr/>
        </p:nvSpPr>
        <p:spPr>
          <a:xfrm>
            <a:off x="1234440" y="381304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Conversion</a:t>
            </a:r>
            <a:endParaRPr b="0" i="0" sz="1500" u="none" cap="none" strike="noStrike">
              <a:solidFill>
                <a:schemeClr val="dk1"/>
              </a:solidFill>
              <a:latin typeface="Calibri"/>
              <a:ea typeface="Calibri"/>
              <a:cs typeface="Calibri"/>
              <a:sym typeface="Calibri"/>
            </a:endParaRPr>
          </a:p>
        </p:txBody>
      </p:sp>
      <p:sp>
        <p:nvSpPr>
          <p:cNvPr id="1246" name="Google Shape;1246;p56"/>
          <p:cNvSpPr/>
          <p:nvPr/>
        </p:nvSpPr>
        <p:spPr>
          <a:xfrm>
            <a:off x="1234440" y="4133088"/>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Did they take action? RSVPs, applications, registrations. This is the metric that matters most.</a:t>
            </a:r>
            <a:endParaRPr b="0" i="0" sz="1200" u="none" cap="none" strike="noStrike">
              <a:solidFill>
                <a:schemeClr val="dk1"/>
              </a:solidFill>
              <a:latin typeface="Calibri"/>
              <a:ea typeface="Calibri"/>
              <a:cs typeface="Calibri"/>
              <a:sym typeface="Calibri"/>
            </a:endParaRPr>
          </a:p>
        </p:txBody>
      </p:sp>
      <p:sp>
        <p:nvSpPr>
          <p:cNvPr id="1247" name="Google Shape;1247;p56"/>
          <p:cNvSpPr/>
          <p:nvPr/>
        </p:nvSpPr>
        <p:spPr>
          <a:xfrm>
            <a:off x="457200" y="438912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33A0"/>
              </a:buClr>
              <a:buSzPts val="1400"/>
              <a:buFont typeface="Arial"/>
              <a:buNone/>
            </a:pPr>
            <a:r>
              <a:rPr b="1" i="0" lang="en-US" sz="1400" u="none" cap="none" strike="noStrike">
                <a:solidFill>
                  <a:srgbClr val="0033A0"/>
                </a:solidFill>
                <a:latin typeface="Arial"/>
                <a:ea typeface="Arial"/>
                <a:cs typeface="Arial"/>
                <a:sym typeface="Arial"/>
              </a:rPr>
              <a:t>Reach without conversion is vanity. Always connect metrics back to program goals.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51" name="Shape 1251"/>
        <p:cNvGrpSpPr/>
        <p:nvPr/>
      </p:nvGrpSpPr>
      <p:grpSpPr>
        <a:xfrm>
          <a:off x="0" y="0"/>
          <a:ext cx="0" cy="0"/>
          <a:chOff x="0" y="0"/>
          <a:chExt cx="0" cy="0"/>
        </a:xfrm>
      </p:grpSpPr>
      <p:sp>
        <p:nvSpPr>
          <p:cNvPr id="1252" name="Google Shape;1252;p57"/>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TRACKING</a:t>
            </a:r>
            <a:endParaRPr b="0" i="0" sz="1100" u="none" cap="none" strike="noStrike">
              <a:solidFill>
                <a:schemeClr val="dk1"/>
              </a:solidFill>
              <a:latin typeface="Calibri"/>
              <a:ea typeface="Calibri"/>
              <a:cs typeface="Calibri"/>
              <a:sym typeface="Calibri"/>
            </a:endParaRPr>
          </a:p>
        </p:txBody>
      </p:sp>
      <p:sp>
        <p:nvSpPr>
          <p:cNvPr id="1254" name="Google Shape;1254;p5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55" name="Google Shape;1255;p5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52</a:t>
            </a:r>
            <a:endParaRPr b="0" i="0" sz="1000" u="none" cap="none" strike="noStrike">
              <a:solidFill>
                <a:schemeClr val="dk1"/>
              </a:solidFill>
              <a:latin typeface="Calibri"/>
              <a:ea typeface="Calibri"/>
              <a:cs typeface="Calibri"/>
              <a:sym typeface="Calibri"/>
            </a:endParaRPr>
          </a:p>
        </p:txBody>
      </p:sp>
      <p:sp>
        <p:nvSpPr>
          <p:cNvPr id="1256" name="Google Shape;1256;p57"/>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CPM Benchmarks by Channel</a:t>
            </a:r>
            <a:endParaRPr b="0" i="0" sz="2400" u="none" cap="none" strike="noStrike">
              <a:solidFill>
                <a:schemeClr val="dk1"/>
              </a:solidFill>
              <a:latin typeface="Calibri"/>
              <a:ea typeface="Calibri"/>
              <a:cs typeface="Calibri"/>
              <a:sym typeface="Calibri"/>
            </a:endParaRPr>
          </a:p>
        </p:txBody>
      </p:sp>
      <p:sp>
        <p:nvSpPr>
          <p:cNvPr id="1257" name="Google Shape;1257;p57"/>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Cost Per Thousand Impressions — Lower is better for awareness campaigns.</a:t>
            </a:r>
            <a:endParaRPr b="0" i="0" sz="1400" u="none" cap="none" strike="noStrike">
              <a:solidFill>
                <a:schemeClr val="dk1"/>
              </a:solidFill>
              <a:latin typeface="Calibri"/>
              <a:ea typeface="Calibri"/>
              <a:cs typeface="Calibri"/>
              <a:sym typeface="Calibri"/>
            </a:endParaRPr>
          </a:p>
        </p:txBody>
      </p:sp>
      <p:sp>
        <p:nvSpPr>
          <p:cNvPr id="1258" name="Google Shape;1258;p57"/>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7"/>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$0</a:t>
            </a:r>
            <a:endParaRPr b="0" i="0" sz="2800" u="none" cap="none" strike="noStrike">
              <a:solidFill>
                <a:schemeClr val="dk1"/>
              </a:solidFill>
              <a:latin typeface="Calibri"/>
              <a:ea typeface="Calibri"/>
              <a:cs typeface="Calibri"/>
              <a:sym typeface="Calibri"/>
            </a:endParaRPr>
          </a:p>
        </p:txBody>
      </p:sp>
      <p:sp>
        <p:nvSpPr>
          <p:cNvPr id="1260" name="Google Shape;1260;p57"/>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Free Channels</a:t>
            </a:r>
            <a:endParaRPr b="0" i="0" sz="1100" u="none" cap="none" strike="noStrike">
              <a:solidFill>
                <a:schemeClr val="dk1"/>
              </a:solidFill>
              <a:latin typeface="Calibri"/>
              <a:ea typeface="Calibri"/>
              <a:cs typeface="Calibri"/>
              <a:sym typeface="Calibri"/>
            </a:endParaRPr>
          </a:p>
        </p:txBody>
      </p:sp>
      <p:sp>
        <p:nvSpPr>
          <p:cNvPr id="1261" name="Google Shape;1261;p57"/>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7"/>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$5.33</a:t>
            </a:r>
            <a:endParaRPr b="0" i="0" sz="2800" u="none" cap="none" strike="noStrike">
              <a:solidFill>
                <a:schemeClr val="dk1"/>
              </a:solidFill>
              <a:latin typeface="Calibri"/>
              <a:ea typeface="Calibri"/>
              <a:cs typeface="Calibri"/>
              <a:sym typeface="Calibri"/>
            </a:endParaRPr>
          </a:p>
        </p:txBody>
      </p:sp>
      <p:sp>
        <p:nvSpPr>
          <p:cNvPr id="1263" name="Google Shape;1263;p57"/>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Meta/IG Ads</a:t>
            </a:r>
            <a:endParaRPr b="0" i="0" sz="1100" u="none" cap="none" strike="noStrike">
              <a:solidFill>
                <a:schemeClr val="dk1"/>
              </a:solidFill>
              <a:latin typeface="Calibri"/>
              <a:ea typeface="Calibri"/>
              <a:cs typeface="Calibri"/>
              <a:sym typeface="Calibri"/>
            </a:endParaRPr>
          </a:p>
        </p:txBody>
      </p:sp>
      <p:sp>
        <p:nvSpPr>
          <p:cNvPr id="1264" name="Google Shape;1264;p57"/>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7"/>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$23</a:t>
            </a:r>
            <a:endParaRPr b="0" i="0" sz="2800" u="none" cap="none" strike="noStrike">
              <a:solidFill>
                <a:schemeClr val="dk1"/>
              </a:solidFill>
              <a:latin typeface="Calibri"/>
              <a:ea typeface="Calibri"/>
              <a:cs typeface="Calibri"/>
              <a:sym typeface="Calibri"/>
            </a:endParaRPr>
          </a:p>
        </p:txBody>
      </p:sp>
      <p:sp>
        <p:nvSpPr>
          <p:cNvPr id="1266" name="Google Shape;1266;p57"/>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Shuttle Stops</a:t>
            </a:r>
            <a:endParaRPr b="0" i="0" sz="1100" u="none" cap="none" strike="noStrike">
              <a:solidFill>
                <a:schemeClr val="dk1"/>
              </a:solidFill>
              <a:latin typeface="Calibri"/>
              <a:ea typeface="Calibri"/>
              <a:cs typeface="Calibri"/>
              <a:sym typeface="Calibri"/>
            </a:endParaRPr>
          </a:p>
        </p:txBody>
      </p:sp>
      <p:sp>
        <p:nvSpPr>
          <p:cNvPr id="1267" name="Google Shape;1267;p57"/>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7"/>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$50</a:t>
            </a:r>
            <a:endParaRPr b="0" i="0" sz="2800" u="none" cap="none" strike="noStrike">
              <a:solidFill>
                <a:schemeClr val="dk1"/>
              </a:solidFill>
              <a:latin typeface="Calibri"/>
              <a:ea typeface="Calibri"/>
              <a:cs typeface="Calibri"/>
              <a:sym typeface="Calibri"/>
            </a:endParaRPr>
          </a:p>
        </p:txBody>
      </p:sp>
      <p:sp>
        <p:nvSpPr>
          <p:cNvPr id="1269" name="Google Shape;1269;p57"/>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Blueprint Mag</a:t>
            </a:r>
            <a:endParaRPr b="0" i="0" sz="1100" u="none" cap="none" strike="noStrike">
              <a:solidFill>
                <a:schemeClr val="dk1"/>
              </a:solidFill>
              <a:latin typeface="Calibri"/>
              <a:ea typeface="Calibri"/>
              <a:cs typeface="Calibri"/>
              <a:sym typeface="Calibri"/>
            </a:endParaRPr>
          </a:p>
        </p:txBody>
      </p:sp>
      <p:sp>
        <p:nvSpPr>
          <p:cNvPr id="1270" name="Google Shape;1270;p57"/>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7"/>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7"/>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FREE COBE CHANNELS (ALL $0 CPM)</a:t>
            </a:r>
            <a:endParaRPr b="0" i="0" sz="1200" u="none" cap="none" strike="noStrike">
              <a:solidFill>
                <a:schemeClr val="dk1"/>
              </a:solidFill>
              <a:latin typeface="Calibri"/>
              <a:ea typeface="Calibri"/>
              <a:cs typeface="Calibri"/>
              <a:sym typeface="Calibri"/>
            </a:endParaRPr>
          </a:p>
        </p:txBody>
      </p:sp>
      <p:sp>
        <p:nvSpPr>
          <p:cNvPr id="1273" name="Google Shape;1273;p57"/>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COBE Social (organic) — limited to followers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Email Newsletter — 5,000+ subscribers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Digital Screens — daily rotation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Tabling &amp; Class Visits — highest quality</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Other campus screens</a:t>
            </a:r>
            <a:endParaRPr b="0" i="0" sz="1000" u="none" cap="none" strike="noStrike">
              <a:solidFill>
                <a:schemeClr val="dk1"/>
              </a:solidFill>
              <a:latin typeface="Calibri"/>
              <a:ea typeface="Calibri"/>
              <a:cs typeface="Calibri"/>
              <a:sym typeface="Calibri"/>
            </a:endParaRPr>
          </a:p>
        </p:txBody>
      </p:sp>
      <p:sp>
        <p:nvSpPr>
          <p:cNvPr id="1274" name="Google Shape;1274;p57"/>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7"/>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7"/>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KEY INSIGHT</a:t>
            </a:r>
            <a:endParaRPr b="0" i="0" sz="1200" u="none" cap="none" strike="noStrike">
              <a:solidFill>
                <a:schemeClr val="dk1"/>
              </a:solidFill>
              <a:latin typeface="Calibri"/>
              <a:ea typeface="Calibri"/>
              <a:cs typeface="Calibri"/>
              <a:sym typeface="Calibri"/>
            </a:endParaRPr>
          </a:p>
        </p:txBody>
      </p:sp>
      <p:sp>
        <p:nvSpPr>
          <p:cNvPr id="1277" name="Google Shape;1277;p57"/>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COBE internal channels deliver ~45,000</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impressions at zero cost — that’s 19%</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of total reach in the RHM campaign.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Always activate free channels first,</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then add paid strategically.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82" name="Shape 1282"/>
        <p:cNvGrpSpPr/>
        <p:nvPr/>
      </p:nvGrpSpPr>
      <p:grpSpPr>
        <a:xfrm>
          <a:off x="0" y="0"/>
          <a:ext cx="0" cy="0"/>
          <a:chOff x="0" y="0"/>
          <a:chExt cx="0" cy="0"/>
        </a:xfrm>
      </p:grpSpPr>
      <p:sp>
        <p:nvSpPr>
          <p:cNvPr id="1283" name="Google Shape;1283;p58"/>
          <p:cNvSpPr/>
          <p:nvPr/>
        </p:nvSpPr>
        <p:spPr>
          <a:xfrm>
            <a:off x="0" y="0"/>
            <a:ext cx="9144000" cy="5143500"/>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8"/>
          <p:cNvSpPr/>
          <p:nvPr/>
        </p:nvSpPr>
        <p:spPr>
          <a:xfrm>
            <a:off x="0" y="0"/>
            <a:ext cx="109728" cy="514350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8"/>
          <p:cNvSpPr/>
          <p:nvPr/>
        </p:nvSpPr>
        <p:spPr>
          <a:xfrm>
            <a:off x="548640" y="1463040"/>
            <a:ext cx="7315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APPENDIX</a:t>
            </a:r>
            <a:endParaRPr b="0" i="0" sz="4800" u="none" cap="none" strike="noStrike">
              <a:solidFill>
                <a:schemeClr val="dk1"/>
              </a:solidFill>
              <a:latin typeface="Calibri"/>
              <a:ea typeface="Calibri"/>
              <a:cs typeface="Calibri"/>
              <a:sym typeface="Calibri"/>
            </a:endParaRPr>
          </a:p>
        </p:txBody>
      </p:sp>
      <p:sp>
        <p:nvSpPr>
          <p:cNvPr id="1286" name="Google Shape;1286;p58"/>
          <p:cNvSpPr/>
          <p:nvPr/>
        </p:nvSpPr>
        <p:spPr>
          <a:xfrm>
            <a:off x="548640" y="256032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Contacts, Resources &amp; Brand Guidelines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91" name="Shape 1291"/>
        <p:cNvGrpSpPr/>
        <p:nvPr/>
      </p:nvGrpSpPr>
      <p:grpSpPr>
        <a:xfrm>
          <a:off x="0" y="0"/>
          <a:ext cx="0" cy="0"/>
          <a:chOff x="0" y="0"/>
          <a:chExt cx="0" cy="0"/>
        </a:xfrm>
      </p:grpSpPr>
      <p:sp>
        <p:nvSpPr>
          <p:cNvPr id="1292" name="Google Shape;1292;p5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93" name="Google Shape;1293;p5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54</a:t>
            </a:r>
            <a:endParaRPr b="0" i="0" sz="1000" u="none" cap="none" strike="noStrike">
              <a:solidFill>
                <a:schemeClr val="dk1"/>
              </a:solidFill>
              <a:latin typeface="Calibri"/>
              <a:ea typeface="Calibri"/>
              <a:cs typeface="Calibri"/>
              <a:sym typeface="Calibri"/>
            </a:endParaRPr>
          </a:p>
        </p:txBody>
      </p:sp>
      <p:sp>
        <p:nvSpPr>
          <p:cNvPr id="1294" name="Google Shape;1294;p59"/>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COBE Marketing Team Contacts</a:t>
            </a:r>
            <a:endParaRPr b="0" i="0" sz="2800" u="none" cap="none" strike="noStrike">
              <a:solidFill>
                <a:schemeClr val="dk1"/>
              </a:solidFill>
              <a:latin typeface="Calibri"/>
              <a:ea typeface="Calibri"/>
              <a:cs typeface="Calibri"/>
              <a:sym typeface="Calibri"/>
            </a:endParaRPr>
          </a:p>
        </p:txBody>
      </p:sp>
      <p:graphicFrame>
        <p:nvGraphicFramePr>
          <p:cNvPr id="1295" name="Google Shape;1295;p59"/>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645925"/>
                <a:gridCol w="1371600"/>
                <a:gridCol w="2926075"/>
                <a:gridCol w="2286000"/>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Role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Name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Responsibility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Contact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Director / Mktg Manager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Kate Watson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Strategy, approvals, crisis response, newsletter coordination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katewatson@boisestate.edu</a:t>
                      </a:r>
                      <a:endParaRPr sz="900" u="none" cap="none" strike="noStrike"/>
                    </a:p>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(208) 426-6134</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Management Assistant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Kim Presnell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scheduling, posting logistics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cobe-info@boisestate.edu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Multimedia</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Joe Morgan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Video production, event photography, reels, COBECAST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cobe-info@boisestate.edu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Graphic Design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McKenna Howard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Visual assets, layout design, Hands-Off creative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cobe-info@boisestate.edu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Graphic Design (Central)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Ann Hottinger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Creative support, template design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annhottinger@boisestate.edu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RHM Program Lead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Ashley Walter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Program marketing inputs, employer outreach, internships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ashleywalter@boisestate.edu</a:t>
                      </a:r>
                      <a:endParaRPr sz="900" u="none" cap="none" strike="noStrike"/>
                    </a:p>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(208) 918-0885</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RHM Contact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Kent Neupert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Program information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kneupert@boisestate.edu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Career Services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Laura Chiuppi</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External engagement, COBECAST coordination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laurachiuppi@boisestate.edu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00" name="Shape 1300"/>
        <p:cNvGrpSpPr/>
        <p:nvPr/>
      </p:nvGrpSpPr>
      <p:grpSpPr>
        <a:xfrm>
          <a:off x="0" y="0"/>
          <a:ext cx="0" cy="0"/>
          <a:chOff x="0" y="0"/>
          <a:chExt cx="0" cy="0"/>
        </a:xfrm>
      </p:grpSpPr>
      <p:sp>
        <p:nvSpPr>
          <p:cNvPr id="1301" name="Google Shape;1301;p6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02" name="Google Shape;1302;p6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55</a:t>
            </a:r>
            <a:endParaRPr b="0" i="0" sz="1000" u="none" cap="none" strike="noStrike">
              <a:solidFill>
                <a:schemeClr val="dk1"/>
              </a:solidFill>
              <a:latin typeface="Calibri"/>
              <a:ea typeface="Calibri"/>
              <a:cs typeface="Calibri"/>
              <a:sym typeface="Calibri"/>
            </a:endParaRPr>
          </a:p>
        </p:txBody>
      </p:sp>
      <p:sp>
        <p:nvSpPr>
          <p:cNvPr id="1303" name="Google Shape;1303;p60"/>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Brand Quick Reference</a:t>
            </a:r>
            <a:endParaRPr b="0" i="0" sz="2800" u="none" cap="none" strike="noStrike">
              <a:solidFill>
                <a:schemeClr val="dk1"/>
              </a:solidFill>
              <a:latin typeface="Calibri"/>
              <a:ea typeface="Calibri"/>
              <a:cs typeface="Calibri"/>
              <a:sym typeface="Calibri"/>
            </a:endParaRPr>
          </a:p>
        </p:txBody>
      </p:sp>
      <p:sp>
        <p:nvSpPr>
          <p:cNvPr id="1304" name="Google Shape;1304;p60"/>
          <p:cNvSpPr/>
          <p:nvPr/>
        </p:nvSpPr>
        <p:spPr>
          <a:xfrm>
            <a:off x="457200" y="10058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BOISE STATE COLORS</a:t>
            </a:r>
            <a:endParaRPr b="0" i="0" sz="1200" u="none" cap="none" strike="noStrike">
              <a:solidFill>
                <a:schemeClr val="dk1"/>
              </a:solidFill>
              <a:latin typeface="Calibri"/>
              <a:ea typeface="Calibri"/>
              <a:cs typeface="Calibri"/>
              <a:sym typeface="Calibri"/>
            </a:endParaRPr>
          </a:p>
        </p:txBody>
      </p:sp>
      <p:sp>
        <p:nvSpPr>
          <p:cNvPr id="1305" name="Google Shape;1305;p60"/>
          <p:cNvSpPr/>
          <p:nvPr/>
        </p:nvSpPr>
        <p:spPr>
          <a:xfrm>
            <a:off x="457200" y="1371600"/>
            <a:ext cx="1828800" cy="731520"/>
          </a:xfrm>
          <a:prstGeom prst="rect">
            <a:avLst/>
          </a:prstGeom>
          <a:solidFill>
            <a:srgbClr val="0033A0"/>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60"/>
          <p:cNvSpPr/>
          <p:nvPr/>
        </p:nvSpPr>
        <p:spPr>
          <a:xfrm>
            <a:off x="45720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Blue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#0033A0</a:t>
            </a:r>
            <a:endParaRPr b="0" i="0" sz="1000" u="none" cap="none" strike="noStrike">
              <a:solidFill>
                <a:schemeClr val="dk1"/>
              </a:solidFill>
              <a:latin typeface="Calibri"/>
              <a:ea typeface="Calibri"/>
              <a:cs typeface="Calibri"/>
              <a:sym typeface="Calibri"/>
            </a:endParaRPr>
          </a:p>
        </p:txBody>
      </p:sp>
      <p:sp>
        <p:nvSpPr>
          <p:cNvPr id="1307" name="Google Shape;1307;p60"/>
          <p:cNvSpPr/>
          <p:nvPr/>
        </p:nvSpPr>
        <p:spPr>
          <a:xfrm>
            <a:off x="2560320" y="1371600"/>
            <a:ext cx="1828800" cy="731520"/>
          </a:xfrm>
          <a:prstGeom prst="rect">
            <a:avLst/>
          </a:prstGeom>
          <a:solidFill>
            <a:srgbClr val="D64309"/>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60"/>
          <p:cNvSpPr/>
          <p:nvPr/>
        </p:nvSpPr>
        <p:spPr>
          <a:xfrm>
            <a:off x="256032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Orange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#D64309</a:t>
            </a:r>
            <a:endParaRPr b="0" i="0" sz="1000" u="none" cap="none" strike="noStrike">
              <a:solidFill>
                <a:schemeClr val="dk1"/>
              </a:solidFill>
              <a:latin typeface="Calibri"/>
              <a:ea typeface="Calibri"/>
              <a:cs typeface="Calibri"/>
              <a:sym typeface="Calibri"/>
            </a:endParaRPr>
          </a:p>
        </p:txBody>
      </p:sp>
      <p:sp>
        <p:nvSpPr>
          <p:cNvPr id="1309" name="Google Shape;1309;p60"/>
          <p:cNvSpPr/>
          <p:nvPr/>
        </p:nvSpPr>
        <p:spPr>
          <a:xfrm>
            <a:off x="4663440" y="1371600"/>
            <a:ext cx="1828800" cy="731520"/>
          </a:xfrm>
          <a:prstGeom prst="rect">
            <a:avLst/>
          </a:prstGeom>
          <a:solidFill>
            <a:srgbClr val="0B1220"/>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60"/>
          <p:cNvSpPr/>
          <p:nvPr/>
        </p:nvSpPr>
        <p:spPr>
          <a:xfrm>
            <a:off x="466344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Dark</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#0B1220</a:t>
            </a:r>
            <a:endParaRPr b="0" i="0" sz="1000" u="none" cap="none" strike="noStrike">
              <a:solidFill>
                <a:schemeClr val="dk1"/>
              </a:solidFill>
              <a:latin typeface="Calibri"/>
              <a:ea typeface="Calibri"/>
              <a:cs typeface="Calibri"/>
              <a:sym typeface="Calibri"/>
            </a:endParaRPr>
          </a:p>
        </p:txBody>
      </p:sp>
      <p:sp>
        <p:nvSpPr>
          <p:cNvPr id="1311" name="Google Shape;1311;p60"/>
          <p:cNvSpPr/>
          <p:nvPr/>
        </p:nvSpPr>
        <p:spPr>
          <a:xfrm>
            <a:off x="6766560" y="1371600"/>
            <a:ext cx="1828800" cy="731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60"/>
          <p:cNvSpPr/>
          <p:nvPr/>
        </p:nvSpPr>
        <p:spPr>
          <a:xfrm>
            <a:off x="676656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White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#FFFFFF</a:t>
            </a:r>
            <a:endParaRPr b="0" i="0" sz="1000" u="none" cap="none" strike="noStrike">
              <a:solidFill>
                <a:schemeClr val="dk1"/>
              </a:solidFill>
              <a:latin typeface="Calibri"/>
              <a:ea typeface="Calibri"/>
              <a:cs typeface="Calibri"/>
              <a:sym typeface="Calibri"/>
            </a:endParaRPr>
          </a:p>
        </p:txBody>
      </p:sp>
      <p:sp>
        <p:nvSpPr>
          <p:cNvPr id="1313" name="Google Shape;1313;p60"/>
          <p:cNvSpPr/>
          <p:nvPr/>
        </p:nvSpPr>
        <p:spPr>
          <a:xfrm>
            <a:off x="457200" y="27432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KEY GUIDELINES</a:t>
            </a:r>
            <a:endParaRPr b="0" i="0" sz="1200" u="none" cap="none" strike="noStrike">
              <a:solidFill>
                <a:schemeClr val="dk1"/>
              </a:solidFill>
              <a:latin typeface="Calibri"/>
              <a:ea typeface="Calibri"/>
              <a:cs typeface="Calibri"/>
              <a:sym typeface="Calibri"/>
            </a:endParaRPr>
          </a:p>
        </p:txBody>
      </p:sp>
      <p:sp>
        <p:nvSpPr>
          <p:cNvPr id="1314" name="Google Shape;1314;p60"/>
          <p:cNvSpPr/>
          <p:nvPr/>
        </p:nvSpPr>
        <p:spPr>
          <a:xfrm>
            <a:off x="457200" y="3063240"/>
            <a:ext cx="822960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Typography: Garamond (body), Gotham/Oswald (headlines). Web: Oswald + Lato.</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High-Res Only: Blurry images damage brand perception. Min 1080px for social, 1920px for screens.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Accessibility Required: Alt text on all images, descriptive links, proper heading structure.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Headlines under 60 characters; prioritize action verbs and clarity over cleverness.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Include clear CTAs: "Register," "Apply," "Join the info session," "Request 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When featuring students/partners, secure approval and double-check name/title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File naming convention: Topic_StartDate-EndDate_Size (e.g., CareerFair_2025-10-01_1920x1080.jpg)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18" name="Shape 1318"/>
        <p:cNvGrpSpPr/>
        <p:nvPr/>
      </p:nvGrpSpPr>
      <p:grpSpPr>
        <a:xfrm>
          <a:off x="0" y="0"/>
          <a:ext cx="0" cy="0"/>
          <a:chOff x="0" y="0"/>
          <a:chExt cx="0" cy="0"/>
        </a:xfrm>
      </p:grpSpPr>
      <p:sp>
        <p:nvSpPr>
          <p:cNvPr id="1319" name="Google Shape;1319;p6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20" name="Google Shape;1320;p61"/>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When Things Go Wrong</a:t>
            </a:r>
            <a:endParaRPr b="0" i="0" sz="3000" u="none" cap="none" strike="noStrike">
              <a:solidFill>
                <a:schemeClr val="dk1"/>
              </a:solidFill>
              <a:latin typeface="Calibri"/>
              <a:ea typeface="Calibri"/>
              <a:cs typeface="Calibri"/>
              <a:sym typeface="Calibri"/>
            </a:endParaRPr>
          </a:p>
        </p:txBody>
      </p:sp>
      <p:sp>
        <p:nvSpPr>
          <p:cNvPr id="1321" name="Google Shape;1321;p61"/>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Negative comments, errors, or controversial content require immediate action.</a:t>
            </a:r>
            <a:endParaRPr b="0" i="0" sz="1400" u="none" cap="none" strike="noStrike">
              <a:solidFill>
                <a:schemeClr val="dk1"/>
              </a:solidFill>
              <a:latin typeface="Calibri"/>
              <a:ea typeface="Calibri"/>
              <a:cs typeface="Calibri"/>
              <a:sym typeface="Calibri"/>
            </a:endParaRPr>
          </a:p>
        </p:txBody>
      </p:sp>
      <p:sp>
        <p:nvSpPr>
          <p:cNvPr id="1322" name="Google Shape;1322;p61"/>
          <p:cNvSpPr/>
          <p:nvPr/>
        </p:nvSpPr>
        <p:spPr>
          <a:xfrm>
            <a:off x="457200" y="13533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1"/>
          <p:cNvSpPr/>
          <p:nvPr/>
        </p:nvSpPr>
        <p:spPr>
          <a:xfrm>
            <a:off x="457200" y="13533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1324" name="Google Shape;1324;p61"/>
          <p:cNvSpPr/>
          <p:nvPr/>
        </p:nvSpPr>
        <p:spPr>
          <a:xfrm>
            <a:off x="1005840" y="12801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PAUSE IMMEDIATELY</a:t>
            </a:r>
            <a:endParaRPr b="0" i="0" sz="1300" u="none" cap="none" strike="noStrike">
              <a:solidFill>
                <a:schemeClr val="dk1"/>
              </a:solidFill>
              <a:latin typeface="Calibri"/>
              <a:ea typeface="Calibri"/>
              <a:cs typeface="Calibri"/>
              <a:sym typeface="Calibri"/>
            </a:endParaRPr>
          </a:p>
        </p:txBody>
      </p:sp>
      <p:sp>
        <p:nvSpPr>
          <p:cNvPr id="1325" name="Google Shape;1325;p61"/>
          <p:cNvSpPr/>
          <p:nvPr/>
        </p:nvSpPr>
        <p:spPr>
          <a:xfrm>
            <a:off x="1005840" y="15544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Stop all scheduled publishing. Do not respond to negative comments yet. Take a breath.</a:t>
            </a:r>
            <a:endParaRPr b="0" i="0" sz="1000" u="none" cap="none" strike="noStrike">
              <a:solidFill>
                <a:schemeClr val="dk1"/>
              </a:solidFill>
              <a:latin typeface="Calibri"/>
              <a:ea typeface="Calibri"/>
              <a:cs typeface="Calibri"/>
              <a:sym typeface="Calibri"/>
            </a:endParaRPr>
          </a:p>
        </p:txBody>
      </p:sp>
      <p:sp>
        <p:nvSpPr>
          <p:cNvPr id="1326" name="Google Shape;1326;p61"/>
          <p:cNvSpPr/>
          <p:nvPr/>
        </p:nvSpPr>
        <p:spPr>
          <a:xfrm>
            <a:off x="457200" y="22677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1"/>
          <p:cNvSpPr/>
          <p:nvPr/>
        </p:nvSpPr>
        <p:spPr>
          <a:xfrm>
            <a:off x="457200" y="2267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1328" name="Google Shape;1328;p61"/>
          <p:cNvSpPr/>
          <p:nvPr/>
        </p:nvSpPr>
        <p:spPr>
          <a:xfrm>
            <a:off x="1005840" y="2194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NOTIFY KATE WATSON</a:t>
            </a:r>
            <a:endParaRPr b="0" i="0" sz="1300" u="none" cap="none" strike="noStrike">
              <a:solidFill>
                <a:schemeClr val="dk1"/>
              </a:solidFill>
              <a:latin typeface="Calibri"/>
              <a:ea typeface="Calibri"/>
              <a:cs typeface="Calibri"/>
              <a:sym typeface="Calibri"/>
            </a:endParaRPr>
          </a:p>
        </p:txBody>
      </p:sp>
      <p:sp>
        <p:nvSpPr>
          <p:cNvPr id="1329" name="Google Shape;1329;p61"/>
          <p:cNvSpPr/>
          <p:nvPr/>
        </p:nvSpPr>
        <p:spPr>
          <a:xfrm>
            <a:off x="1005840" y="24688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Contact Kate Watson, Director, immediately. She will coordinate the response strategy.</a:t>
            </a:r>
            <a:endParaRPr b="0" i="0" sz="1000" u="none" cap="none" strike="noStrike">
              <a:solidFill>
                <a:schemeClr val="dk1"/>
              </a:solidFill>
              <a:latin typeface="Calibri"/>
              <a:ea typeface="Calibri"/>
              <a:cs typeface="Calibri"/>
              <a:sym typeface="Calibri"/>
            </a:endParaRPr>
          </a:p>
        </p:txBody>
      </p:sp>
      <p:sp>
        <p:nvSpPr>
          <p:cNvPr id="1330" name="Google Shape;1330;p61"/>
          <p:cNvSpPr/>
          <p:nvPr/>
        </p:nvSpPr>
        <p:spPr>
          <a:xfrm>
            <a:off x="457200" y="31821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61"/>
          <p:cNvSpPr/>
          <p:nvPr/>
        </p:nvSpPr>
        <p:spPr>
          <a:xfrm>
            <a:off x="457200" y="31821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1332" name="Google Shape;1332;p61"/>
          <p:cNvSpPr/>
          <p:nvPr/>
        </p:nvSpPr>
        <p:spPr>
          <a:xfrm>
            <a:off x="100584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CORRECT &amp; DOCUMENT</a:t>
            </a:r>
            <a:endParaRPr b="0" i="0" sz="1300" u="none" cap="none" strike="noStrike">
              <a:solidFill>
                <a:schemeClr val="dk1"/>
              </a:solidFill>
              <a:latin typeface="Calibri"/>
              <a:ea typeface="Calibri"/>
              <a:cs typeface="Calibri"/>
              <a:sym typeface="Calibri"/>
            </a:endParaRPr>
          </a:p>
        </p:txBody>
      </p:sp>
      <p:sp>
        <p:nvSpPr>
          <p:cNvPr id="1333" name="Google Shape;1333;p61"/>
          <p:cNvSpPr/>
          <p:nvPr/>
        </p:nvSpPr>
        <p:spPr>
          <a:xfrm>
            <a:off x="1005840" y="33832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Once approved, correct the issue. Document what happened and the response for future reference.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37" name="Shape 1337"/>
        <p:cNvGrpSpPr/>
        <p:nvPr/>
      </p:nvGrpSpPr>
      <p:grpSpPr>
        <a:xfrm>
          <a:off x="0" y="0"/>
          <a:ext cx="0" cy="0"/>
          <a:chOff x="0" y="0"/>
          <a:chExt cx="0" cy="0"/>
        </a:xfrm>
      </p:grpSpPr>
      <p:sp>
        <p:nvSpPr>
          <p:cNvPr id="1338" name="Google Shape;1338;p62"/>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6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APPENDIX</a:t>
            </a:r>
            <a:endParaRPr b="0" i="0" sz="1100" u="none" cap="none" strike="noStrike">
              <a:solidFill>
                <a:schemeClr val="dk1"/>
              </a:solidFill>
              <a:latin typeface="Calibri"/>
              <a:ea typeface="Calibri"/>
              <a:cs typeface="Calibri"/>
              <a:sym typeface="Calibri"/>
            </a:endParaRPr>
          </a:p>
        </p:txBody>
      </p:sp>
      <p:sp>
        <p:nvSpPr>
          <p:cNvPr id="1340" name="Google Shape;1340;p6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41" name="Google Shape;1341;p6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57</a:t>
            </a:r>
            <a:endParaRPr b="0" i="0" sz="1000" u="none" cap="none" strike="noStrike">
              <a:solidFill>
                <a:schemeClr val="dk1"/>
              </a:solidFill>
              <a:latin typeface="Calibri"/>
              <a:ea typeface="Calibri"/>
              <a:cs typeface="Calibri"/>
              <a:sym typeface="Calibri"/>
            </a:endParaRPr>
          </a:p>
        </p:txBody>
      </p:sp>
      <p:sp>
        <p:nvSpPr>
          <p:cNvPr id="1342" name="Google Shape;1342;p62"/>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Frequently Asked Questions</a:t>
            </a:r>
            <a:endParaRPr b="0" i="0" sz="3200" u="none" cap="none" strike="noStrike">
              <a:solidFill>
                <a:schemeClr val="dk1"/>
              </a:solidFill>
              <a:latin typeface="Calibri"/>
              <a:ea typeface="Calibri"/>
              <a:cs typeface="Calibri"/>
              <a:sym typeface="Calibri"/>
            </a:endParaRPr>
          </a:p>
        </p:txBody>
      </p:sp>
      <p:sp>
        <p:nvSpPr>
          <p:cNvPr id="1343" name="Google Shape;1343;p62"/>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44" name="Google Shape;1344;p62"/>
          <p:cNvSpPr/>
          <p:nvPr/>
        </p:nvSpPr>
        <p:spPr>
          <a:xfrm>
            <a:off x="45720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62"/>
          <p:cNvSpPr/>
          <p:nvPr/>
        </p:nvSpPr>
        <p:spPr>
          <a:xfrm>
            <a:off x="457200" y="1371600"/>
            <a:ext cx="54864" cy="24688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62"/>
          <p:cNvSpPr/>
          <p:nvPr/>
        </p:nvSpPr>
        <p:spPr>
          <a:xfrm>
            <a:off x="68580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300"/>
              <a:buFont typeface="Arial"/>
              <a:buNone/>
            </a:pPr>
            <a:r>
              <a:rPr b="1" i="0" lang="en-US" sz="1300" u="none" cap="none" strike="noStrike">
                <a:solidFill>
                  <a:srgbClr val="0EA5E9"/>
                </a:solidFill>
                <a:latin typeface="Arial"/>
                <a:ea typeface="Arial"/>
                <a:cs typeface="Arial"/>
                <a:sym typeface="Arial"/>
              </a:rPr>
              <a:t>COMMON QUESTIONS</a:t>
            </a:r>
            <a:endParaRPr b="0" i="0" sz="1300" u="none" cap="none" strike="noStrike">
              <a:solidFill>
                <a:schemeClr val="dk1"/>
              </a:solidFill>
              <a:latin typeface="Calibri"/>
              <a:ea typeface="Calibri"/>
              <a:cs typeface="Calibri"/>
              <a:sym typeface="Calibri"/>
            </a:endParaRPr>
          </a:p>
        </p:txBody>
      </p:sp>
      <p:sp>
        <p:nvSpPr>
          <p:cNvPr id="1347" name="Google Shape;1347;p62"/>
          <p:cNvSpPr/>
          <p:nvPr/>
        </p:nvSpPr>
        <p:spPr>
          <a:xfrm>
            <a:off x="68580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Can I post directly to COBE social?</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No. All content goes through cobe-info for review.</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How fast can COBE turn this around?</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Standard is 10 business days. Rush = director approval.</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Do I need to provide graphics?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1348" name="Google Shape;1348;p62"/>
          <p:cNvSpPr/>
          <p:nvPr/>
        </p:nvSpPr>
        <p:spPr>
          <a:xfrm>
            <a:off x="484632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62"/>
          <p:cNvSpPr/>
          <p:nvPr/>
        </p:nvSpPr>
        <p:spPr>
          <a:xfrm>
            <a:off x="4846320" y="1371600"/>
            <a:ext cx="54864" cy="24688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62"/>
          <p:cNvSpPr/>
          <p:nvPr/>
        </p:nvSpPr>
        <p:spPr>
          <a:xfrm>
            <a:off x="507492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MORE QUESTIONS</a:t>
            </a:r>
            <a:endParaRPr b="0" i="0" sz="1300" u="none" cap="none" strike="noStrike">
              <a:solidFill>
                <a:schemeClr val="dk1"/>
              </a:solidFill>
              <a:latin typeface="Calibri"/>
              <a:ea typeface="Calibri"/>
              <a:cs typeface="Calibri"/>
              <a:sym typeface="Calibri"/>
            </a:endParaRPr>
          </a:p>
        </p:txBody>
      </p:sp>
      <p:sp>
        <p:nvSpPr>
          <p:cNvPr id="1351" name="Google Shape;1351;p62"/>
          <p:cNvSpPr/>
          <p:nvPr/>
        </p:nvSpPr>
        <p:spPr>
          <a:xfrm>
            <a:off x="507492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Hands-Off: COBE creates them. Hands-On: use templates.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Can you promote my student org event?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Yes! Email cobe-info, subject: STUDENT ORG REQUEST.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Where do I find the templates?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See the Resource Library slide or the playbook repository.</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1352" name="Google Shape;1352;p62"/>
          <p:cNvSpPr/>
          <p:nvPr/>
        </p:nvSpPr>
        <p:spPr>
          <a:xfrm>
            <a:off x="457200" y="4023360"/>
            <a:ext cx="8229600" cy="502920"/>
          </a:xfrm>
          <a:prstGeom prst="rect">
            <a:avLst/>
          </a:prstGeom>
          <a:solidFill>
            <a:srgbClr val="FFF7ED"/>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62"/>
          <p:cNvSpPr/>
          <p:nvPr/>
        </p:nvSpPr>
        <p:spPr>
          <a:xfrm>
            <a:off x="640080" y="4069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Contact Kate Watson directly for urgent changes or crisis situations.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58" name="Shape 1358"/>
        <p:cNvGrpSpPr/>
        <p:nvPr/>
      </p:nvGrpSpPr>
      <p:grpSpPr>
        <a:xfrm>
          <a:off x="0" y="0"/>
          <a:ext cx="0" cy="0"/>
          <a:chOff x="0" y="0"/>
          <a:chExt cx="0" cy="0"/>
        </a:xfrm>
      </p:grpSpPr>
      <p:sp>
        <p:nvSpPr>
          <p:cNvPr id="1359" name="Google Shape;1359;p6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60" name="Google Shape;1360;p6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58</a:t>
            </a:r>
            <a:endParaRPr b="0" i="0" sz="1000" u="none" cap="none" strike="noStrike">
              <a:solidFill>
                <a:schemeClr val="dk1"/>
              </a:solidFill>
              <a:latin typeface="Calibri"/>
              <a:ea typeface="Calibri"/>
              <a:cs typeface="Calibri"/>
              <a:sym typeface="Calibri"/>
            </a:endParaRPr>
          </a:p>
        </p:txBody>
      </p:sp>
      <p:sp>
        <p:nvSpPr>
          <p:cNvPr id="1361" name="Google Shape;1361;p6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Resource Library</a:t>
            </a:r>
            <a:endParaRPr b="0" i="0" sz="2800" u="none" cap="none" strike="noStrike">
              <a:solidFill>
                <a:schemeClr val="dk1"/>
              </a:solidFill>
              <a:latin typeface="Calibri"/>
              <a:ea typeface="Calibri"/>
              <a:cs typeface="Calibri"/>
              <a:sym typeface="Calibri"/>
            </a:endParaRPr>
          </a:p>
        </p:txBody>
      </p:sp>
      <p:graphicFrame>
        <p:nvGraphicFramePr>
          <p:cNvPr id="1362" name="Google Shape;1362;p63"/>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2286000"/>
                <a:gridCol w="2926075"/>
                <a:gridCol w="3017525"/>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Resource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Purpose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Location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COBE Marketing Playbook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Complete guide — this document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Shared Team Drive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Plan weekly/monthly posts and schedule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Template.xlsx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 Example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Completed example to model structure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Example.xlsx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RHM Marketing Budget 2025</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Budget proposal model (5 sheets)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RHM Marketing Budget 2025.xlsx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2025-2026 RHM Overview</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Program messaging inputs for fairs, trainings, internships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2025-2026 RHM Overview.docx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Promotion Resources Guide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Lead times, specs, contacts for all COBE promotions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Promotion Resources.docx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WordPress Access Training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Required accessibility training for web editing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boisestate.edu/webguide/wordpress-accessibility-compliance-training/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Localist Event Calendar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Post events to university-wide calendar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events.boisestate.edu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66" name="Shape 1366"/>
        <p:cNvGrpSpPr/>
        <p:nvPr/>
      </p:nvGrpSpPr>
      <p:grpSpPr>
        <a:xfrm>
          <a:off x="0" y="0"/>
          <a:ext cx="0" cy="0"/>
          <a:chOff x="0" y="0"/>
          <a:chExt cx="0" cy="0"/>
        </a:xfrm>
      </p:grpSpPr>
      <p:sp>
        <p:nvSpPr>
          <p:cNvPr id="1367" name="Google Shape;1367;p6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68" name="Google Shape;1368;p6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59</a:t>
            </a:r>
            <a:endParaRPr b="0" i="0" sz="1000" u="none" cap="none" strike="noStrike">
              <a:solidFill>
                <a:schemeClr val="dk1"/>
              </a:solidFill>
              <a:latin typeface="Calibri"/>
              <a:ea typeface="Calibri"/>
              <a:cs typeface="Calibri"/>
              <a:sym typeface="Calibri"/>
            </a:endParaRPr>
          </a:p>
        </p:txBody>
      </p:sp>
      <p:sp>
        <p:nvSpPr>
          <p:cNvPr id="1369" name="Google Shape;1369;p6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Changelog</a:t>
            </a:r>
            <a:endParaRPr b="0" i="0" sz="2800" u="none" cap="none" strike="noStrike">
              <a:solidFill>
                <a:schemeClr val="dk1"/>
              </a:solidFill>
              <a:latin typeface="Calibri"/>
              <a:ea typeface="Calibri"/>
              <a:cs typeface="Calibri"/>
              <a:sym typeface="Calibri"/>
            </a:endParaRPr>
          </a:p>
        </p:txBody>
      </p:sp>
      <p:graphicFrame>
        <p:nvGraphicFramePr>
          <p:cNvPr id="1370" name="Google Shape;1370;p64"/>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645925"/>
                <a:gridCol w="1371600"/>
                <a:gridCol w="2926075"/>
                <a:gridCol w="2286000"/>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Version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Date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Author</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Summary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v1.0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2025-06-09</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 Marketing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Initial consolidated playbook from source docs</a:t>
                      </a:r>
                      <a:endParaRPr sz="900" u="none" cap="none" strike="noStrike"/>
                    </a:p>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v1.1</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2025-06-09</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 Marketing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Professionalized structure, added lead times and intake checklist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v2.0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2026-02-03</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Ben Howerton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Expanded to 60 slides; RHM case study; COBECAST process; Hands-Off/Hands-On pathways; tracking architecture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v3.0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2026-02-07</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Ben Howerton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Final audit: corrected page numbers, fixed data tables, updated changelog, distribution-ready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375" name="Shape 1375"/>
        <p:cNvGrpSpPr/>
        <p:nvPr/>
      </p:nvGrpSpPr>
      <p:grpSpPr>
        <a:xfrm>
          <a:off x="0" y="0"/>
          <a:ext cx="0" cy="0"/>
          <a:chOff x="0" y="0"/>
          <a:chExt cx="0" cy="0"/>
        </a:xfrm>
      </p:grpSpPr>
      <p:sp>
        <p:nvSpPr>
          <p:cNvPr id="1376" name="Google Shape;1376;p65"/>
          <p:cNvSpPr/>
          <p:nvPr/>
        </p:nvSpPr>
        <p:spPr>
          <a:xfrm>
            <a:off x="0" y="0"/>
            <a:ext cx="9144000" cy="51435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65"/>
          <p:cNvSpPr/>
          <p:nvPr/>
        </p:nvSpPr>
        <p:spPr>
          <a:xfrm>
            <a:off x="0" y="0"/>
            <a:ext cx="9144000" cy="54864"/>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65"/>
          <p:cNvSpPr/>
          <p:nvPr/>
        </p:nvSpPr>
        <p:spPr>
          <a:xfrm>
            <a:off x="731520" y="1097280"/>
            <a:ext cx="73152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Ready to promote</a:t>
            </a:r>
            <a:endParaRPr b="0" i="0" sz="4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your program?</a:t>
            </a:r>
            <a:endParaRPr b="0" i="0" sz="4400" u="none" cap="none" strike="noStrike">
              <a:solidFill>
                <a:schemeClr val="dk1"/>
              </a:solidFill>
              <a:latin typeface="Calibri"/>
              <a:ea typeface="Calibri"/>
              <a:cs typeface="Calibri"/>
              <a:sym typeface="Calibri"/>
            </a:endParaRPr>
          </a:p>
        </p:txBody>
      </p:sp>
      <p:sp>
        <p:nvSpPr>
          <p:cNvPr id="1379" name="Google Shape;1379;p65"/>
          <p:cNvSpPr/>
          <p:nvPr/>
        </p:nvSpPr>
        <p:spPr>
          <a:xfrm>
            <a:off x="731520" y="2743200"/>
            <a:ext cx="1828800" cy="36576"/>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65"/>
          <p:cNvSpPr/>
          <p:nvPr/>
        </p:nvSpPr>
        <p:spPr>
          <a:xfrm>
            <a:off x="731520" y="301752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800"/>
              <a:buFont typeface="Arial"/>
              <a:buNone/>
            </a:pPr>
            <a:r>
              <a:rPr b="0" i="0" lang="en-US" sz="1800" u="none" cap="none" strike="noStrike">
                <a:solidFill>
                  <a:srgbClr val="CBD5E1"/>
                </a:solidFill>
                <a:latin typeface="Arial"/>
                <a:ea typeface="Arial"/>
                <a:cs typeface="Arial"/>
                <a:sym typeface="Arial"/>
              </a:rPr>
              <a:t>Start here:</a:t>
            </a:r>
            <a:endParaRPr b="0" i="0" sz="1800" u="none" cap="none" strike="noStrike">
              <a:solidFill>
                <a:schemeClr val="dk1"/>
              </a:solidFill>
              <a:latin typeface="Calibri"/>
              <a:ea typeface="Calibri"/>
              <a:cs typeface="Calibri"/>
              <a:sym typeface="Calibri"/>
            </a:endParaRPr>
          </a:p>
        </p:txBody>
      </p:sp>
      <p:sp>
        <p:nvSpPr>
          <p:cNvPr id="1381" name="Google Shape;1381;p65"/>
          <p:cNvSpPr/>
          <p:nvPr/>
        </p:nvSpPr>
        <p:spPr>
          <a:xfrm>
            <a:off x="731520" y="338328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cobe-info@boisestate.edu</a:t>
            </a:r>
            <a:endParaRPr b="0" i="0" sz="2800" u="none" cap="none" strike="noStrike">
              <a:solidFill>
                <a:schemeClr val="dk1"/>
              </a:solidFill>
              <a:latin typeface="Calibri"/>
              <a:ea typeface="Calibri"/>
              <a:cs typeface="Calibri"/>
              <a:sym typeface="Calibri"/>
            </a:endParaRPr>
          </a:p>
        </p:txBody>
      </p:sp>
      <p:sp>
        <p:nvSpPr>
          <p:cNvPr id="1382" name="Google Shape;1382;p65"/>
          <p:cNvSpPr/>
          <p:nvPr/>
        </p:nvSpPr>
        <p:spPr>
          <a:xfrm>
            <a:off x="731520" y="43891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Arial"/>
              <a:buNone/>
            </a:pPr>
            <a:r>
              <a:rPr b="0" i="0" lang="en-US" sz="1200" u="none" cap="none" strike="noStrike">
                <a:solidFill>
                  <a:srgbClr val="CBD5E1"/>
                </a:solidFill>
                <a:latin typeface="Arial"/>
                <a:ea typeface="Arial"/>
                <a:cs typeface="Arial"/>
                <a:sym typeface="Arial"/>
              </a:rPr>
              <a:t>College of Business and Economics  |  Boise State University  |  2025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