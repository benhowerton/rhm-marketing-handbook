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10.xml" ContentType="application/vnd.openxmlformats-officedocument.presentationml.comments+xml"/>
  <Override PartName="/ppt/comments/comment11.xml" ContentType="application/vnd.openxmlformats-officedocument.presentationml.comments+xml"/>
  <Override PartName="/ppt/comments/comment12.xml" ContentType="application/vnd.openxmlformats-officedocument.presentationml.comments+xml"/>
  <Override PartName="/ppt/comments/comment13.xml" ContentType="application/vnd.openxmlformats-officedocument.presentationml.comments+xml"/>
  <Override PartName="/ppt/comments/comment14.xml" ContentType="application/vnd.openxmlformats-officedocument.presentationml.comments+xml"/>
  <Override PartName="/ppt/comments/comment15.xml" ContentType="application/vnd.openxmlformats-officedocument.presentationml.comments+xml"/>
  <Override PartName="/ppt/comments/comment16.xml" ContentType="application/vnd.openxmlformats-officedocument.presentationml.comments+xml"/>
  <Override PartName="/ppt/comments/comment17.xml" ContentType="application/vnd.openxmlformats-officedocument.presentationml.comments+xml"/>
  <Override PartName="/ppt/comments/comment18.xml" ContentType="application/vnd.openxmlformats-officedocument.presentationml.comments+xml"/>
  <Override PartName="/ppt/comments/comment19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omments/comment9.xml" ContentType="application/vnd.openxmlformats-officedocument.presentationml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3" r:id="rId45"/>
    <p:sldId id="278" r:id="rId29"/>
    <p:sldId id="290" r:id="rId41"/>
    <p:sldId id="291" r:id="rId42"/>
    <p:sldId id="292" r:id="rId4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hHHAGToa69bCmx5HCedTbAJ05y7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29" name="Ashley Walter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1C61E8-C72F-49A2-BF68-AB6E260F276D}">
  <a:tblStyle styleId="{601C61E8-C72F-49A2-BF68-AB6E260F27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34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customschemas.google.com/relationships/presentationmetadata" Target="metadata"/><Relationship Id="rId45" Type="http://schemas.openxmlformats.org/officeDocument/2006/relationships/slide" Target="slides/slide3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2-03T17:12:26.109">
    <p:pos x="3225" y="2131"/>
    <p:text>Specify who "us" is. Send COBE Marketing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A"/>
      </p:ext>
    </p:extLst>
  </p:cm>
  <p:cm authorId="0" idx="2" dt="2026-02-03T17:11:12.786">
    <p:pos x="288" y="1267"/>
    <p:text>Reframe this to COBE Marketing manages a variety of different marketing channels that are FREE and reach many people.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e8"/>
      </p:ext>
    </p:extLst>
  </p:cm>
  <p:cm authorId="0" idx="3" dt="2026-02-03T17:10:01.083">
    <p:pos x="288" y="892"/>
    <p:text>This needs to be more relevant to the users of the playbook. 
ie: "I have a new class/or an event I want to promote - how can COBE Marketing help me/"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e4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2-03T17:29:32.472">
    <p:pos x="288" y="172"/>
    <p:text>I don't see these options following through out the deck. Lets chat how to make this more apparent within the options.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E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2-03T18:50:26.674">
    <p:pos x="6000" y="0"/>
    <p:text>A visual of the process would be beneficial here: 
1. Faculty understands marketing goal and target
2. etc. 
I think breaking it out in steps can be helpful to structure the playbook.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I"/>
      </p:ext>
    </p:extLst>
  </p:cm>
  <p:cm authorId="0" idx="6" dt="2026-02-03T18:50:26.674">
    <p:pos x="6000" y="0"/>
    <p:text>We might need a "how to use the slide deck" slide</p:text>
    <p:extLst>
      <p:ext uri="{C676402C-5697-4E1C-873F-D02D1690AC5C}">
        <p15:threadingInfo timeZoneBias="0">
          <p15:parentCm authorId="0" idx="5"/>
        </p15:threadingInfo>
      </p:ext>
      <p:ext uri="http://customooxmlschemas.google.com/">
        <go:slidesCustomData xmlns:go="http://customooxmlschemas.google.com/" commentPostId="AAAByzQ8Af4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7" dt="2026-02-03T17:31:29.401">
    <p:pos x="288" y="172"/>
    <p:text>For Example: Step 1: Who is your audience?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M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8" dt="2026-02-03T17:32:10.159">
    <p:pos x="288" y="172"/>
    <p:text>I like this - this needs to be embedded in a step... ie. pick your messaging that aligns with one of the core COBE Messaging Pillars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Q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9" dt="2026-02-03T17:34:12.454">
    <p:pos x="6000" y="0"/>
    <p:text>Needs more direction : ie - understanding the marketing funnel and your goal.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U"/>
      </p:ext>
    </p:extLst>
  </p:cm>
  <p:cm authorId="0" idx="10" dt="2026-02-03T17:34:52.585">
    <p:pos x="374" y="1785"/>
    <p:text>"Recommended Channels"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Y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1" dt="2026-02-03T18:49:50.258">
    <p:pos x="288" y="432"/>
    <p:text>Here is an idea of what it could look like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fg"/>
      </p:ext>
    </p:extLst>
  </p:cm>
  <p:cm authorId="0" idx="12" dt="2026-02-03T18:49:50.258">
    <p:pos x="288" y="432"/>
    <p:text>@benhowerton@boisestate.edu Hey Ben, I've added in some commentary into the playbook. I created a copy of the Instagram page because we need more instruction. I am not in love with the format, but I think this is the mandatory information that needs to be on each slide: 
1. How to activate hands on or hands off
2. screen shot of the placement
3. indicator of the marketing channel</p:text>
    <p:extLst>
      <p:ext uri="{C676402C-5697-4E1C-873F-D02D1690AC5C}">
        <p15:threadingInfo timeZoneBias="0">
          <p15:parentCm authorId="0" idx="11"/>
        </p15:threadingInfo>
      </p:ext>
      <p:ext uri="http://customooxmlschemas.google.com/">
        <go:slidesCustomData xmlns:go="http://customooxmlschemas.google.com/" commentPostId="AAAByzQ8Af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5" dt="2026-02-03T18:57:03.570">
    <p:pos x="288" y="432"/>
    <p:text>This needs to be clearer about what this is and what the output looks like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A"/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6" dt="2026-02-03T18:58:31.944">
    <p:pos x="374" y="1123"/>
    <p:text>Classroom visits?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I"/>
      </p:ext>
    </p:extLst>
  </p:cm>
  <p:cm authorId="0" idx="17" dt="2026-02-03T18:58:01.428">
    <p:pos x="288" y="432"/>
    <p:text>This might need a better name like Marketing in MBEB or something. One could say that 'internal channels' are all COBE marketing channels.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E"/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8" dt="2026-02-03T18:59:32.341">
    <p:pos x="403" y="1411"/>
    <p:text>Let's not use the verbiage from COBE's Career Fair mixer...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M"/>
      </p:ext>
    </p:extLst>
  </p:cm>
</p:cmLst>
</file>

<file path=ppt/comments/comment1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9" dt="2026-02-03T19:01:16.918">
    <p:pos x="2880" y="806"/>
    <p:text>We might want to make the deck follow the brand guidelines. Check fonts across the board.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Q"/>
      </p:ext>
    </p:extLst>
  </p:cm>
</p:cmLst>
</file>

<file path=ppt/comments/comment1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0" dt="2026-02-03T19:03:56.288">
    <p:pos x="6000" y="0"/>
    <p:text>This slide should be next to the other asset slide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U"/>
      </p:ext>
    </p:extLst>
  </p:cm>
</p:cmLst>
</file>

<file path=ppt/comments/comment1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1" dt="2026-02-03T19:06:57.451">
    <p:pos x="6000" y="0"/>
    <p:text>This is probably more suited in the appendix, essentially all this information should be going into the individual sections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c"/>
      </p:ext>
    </p:extLst>
  </p:cm>
  <p:cm authorId="0" idx="22" dt="2026-02-03T19:04:47.095">
    <p:pos x="288" y="2361"/>
    <p:text>How does this differ with the hands off/ hands on journey?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Y"/>
      </p:ext>
    </p:extLst>
  </p:cm>
</p:cmLst>
</file>

<file path=ppt/comments/comment1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3" dt="2026-02-03T19:07:50.494">
    <p:pos x="288" y="432"/>
    <p:text>In what context would this be? Since COBE Marketing is managing the channels, is this relevant for our audience?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g"/>
      </p:ext>
    </p:extLst>
  </p:cm>
</p:cmLst>
</file>

<file path=ppt/comments/comment1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4" dt="2026-02-03T19:10:02.008">
    <p:pos x="6000" y="0"/>
    <p:text>Let's connect if this is relevant. If COBE is managing the IG page, i dont think its relevant for the user of the playbook. 
There might be another section around Student Ads Media offerings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k"/>
      </p:ext>
    </p:extLst>
  </p:cm>
</p:cmLst>
</file>

<file path=ppt/comments/comment1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5" dt="2026-02-03T19:11:40.287">
    <p:pos x="288" y="2390"/>
    <p:text>Where does this go into? This would be the assumption they are building their own webpage, correct?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s"/>
      </p:ext>
    </p:extLst>
  </p:cm>
  <p:cm authorId="0" idx="26" dt="2026-02-03T19:11:05.852">
    <p:pos x="2995" y="806"/>
    <p:text>Will users have their own central landing page? Might need to adjust to the flyers/etc.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o"/>
      </p:ext>
    </p:extLst>
  </p:cm>
</p:cmLst>
</file>

<file path=ppt/comments/comment18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7" dt="2026-02-03T19:12:37.070">
    <p:pos x="374" y="1756"/>
    <p:text>Would the user need to ask COBE marketing for these insights?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0"/>
      </p:ext>
    </p:extLst>
  </p:cm>
  <p:cm authorId="0" idx="28" dt="2026-02-03T19:12:09.270">
    <p:pos x="6000" y="0"/>
    <p:text>This is great, I think it should follow the marketing goals slide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w"/>
      </p:ext>
    </p:extLst>
  </p:cm>
</p:cmLst>
</file>

<file path=ppt/comments/comment19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9" dt="2026-02-03T19:13:14.457">
    <p:pos x="288" y="2016"/>
    <p:text>Where are templates to be found?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yzQ8Ag4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3" name="Google Shape;33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7" name="Google Shape;437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5" name="Google Shape;44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9" name="Google Shape;49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8" name="Google Shape;53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1" name="Google Shape;551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0" name="Google Shape;56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2" name="Google Shape;582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1" name="Google Shape;611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9" name="Google Shape;619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1" name="Google Shape;641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1" name="Google Shape;671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0" name="Google Shape;690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omments" Target="../comments/commen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omments" Target="../comments/commen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omments" Target="../comments/commen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omments" Target="../comments/commen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omments" Target="../comments/commen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omments" Target="../comments/commen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omments" Target="../comments/commen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omments" Target="../comments/comment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omments" Target="../comments/comment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omments" Target="../comments/comment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omments" Target="../comments/comment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COLLEGE OF BUSINESS AND ECONOMICS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COBE Marketing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Your Action-Ready Guide to Brand-Consistent Marketing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For Events, Programs, and Partnerships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474720"/>
            <a:ext cx="1828800" cy="73152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457200" y="384048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January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42062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faculty, staff, and student organizations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57200" y="46634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COBE Marketing Team • Boise State University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The Bandwidth Problem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THE CHALLENGE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57200" y="1417320"/>
            <a:ext cx="3840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Arial"/>
              <a:buNone/>
            </a:pPr>
            <a:r>
              <a:rPr sz="1600" b="0">
                <a:solidFill>
                  <a:srgbClr val="333333"/>
                </a:solidFill>
                <a:latin typeface="Arial"/>
              </a:rPr>
              <a:t>I have an event, newsletter item, or announcement to promote—what’s the fastest way to get it out?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57200" y="2011680"/>
            <a:ext cx="38404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Faculty and staff are experts in their fields, not marketing. Learning brand guidelines, specs, and approval workflows takes time you don’t have.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>
                <a:solidFill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Student organizations face similar constraints with limited resources.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32004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THE SOLUTION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457200" y="352044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sz="1400" b="1">
                <a:solidFill>
                  <a:srgbClr val="333333"/>
                </a:solidFill>
                <a:latin typeface="Arial"/>
              </a:rPr>
              <a:t>COBE Marketing manages free channels reaching thousands of students, alumni, and employers.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029200" y="1097280"/>
            <a:ext cx="3657600" cy="16459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5212080" y="12344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1000" b="1">
                <a:solidFill>
                  <a:srgbClr val="FFFFFF"/>
                </a:solidFill>
                <a:latin typeface="Arial"/>
              </a:rPr>
              <a:t>COBE MARKETING FREE CHANNELS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212080" y="150876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1,436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212080" y="182880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Instagram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6583680" y="150876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1,700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583680" y="182880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5212080" y="214884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5,000+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212080" y="246888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Newsletter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583680" y="214884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Daily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583680" y="246888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MBEB Screens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5029200" y="2926080"/>
            <a:ext cx="173736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5120640" y="306324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Hands-Off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5120640" y="338328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sz="1000" b="0">
                <a:solidFill>
                  <a:srgbClr val="333333"/>
                </a:solidFill>
                <a:latin typeface="Arial"/>
              </a:rPr>
              <a:t>Email COBE Marketing the facts.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sz="1000" b="0">
                <a:solidFill>
                  <a:srgbClr val="333333"/>
                </a:solidFill>
                <a:latin typeface="Arial"/>
              </a:rPr>
              <a:t>COBE Marketing handles copy, design, scheduling, approvals.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120640" y="402336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Best for: Busy faculty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949440" y="2926080"/>
            <a:ext cx="173736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7040880" y="306324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Hands-On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7040880" y="338328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sz="1000" b="0">
                <a:solidFill>
                  <a:srgbClr val="333333"/>
                </a:solidFill>
                <a:latin typeface="Arial"/>
              </a:rPr>
              <a:t>Use COBE templates to draft assets.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sz="1000" b="0">
                <a:solidFill>
                  <a:srgbClr val="333333"/>
                </a:solidFill>
                <a:latin typeface="Arial"/>
              </a:rPr>
              <a:t>COBE Marketing reviews and approves.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040880" y="402336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Best for: Creative control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4023360"/>
            <a:ext cx="11887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57200" y="41148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457200" y="44805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business day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lead time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737360" y="4023360"/>
            <a:ext cx="11887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1737360" y="41148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737360" y="44805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email to start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any request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3017520" y="4023360"/>
            <a:ext cx="11887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3017520" y="41148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$0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3017520" y="44805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cost for most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 channels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Choose</a:t>
            </a: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 Your Path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457200" y="10972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CONCIERGE SERVICE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57200" y="1371600"/>
            <a:ext cx="39319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640080" y="150876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Hands-Off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40080" y="196596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For busy faculty who want to send basic facts and have COBE Marketing handle everything else.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0080" y="265176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YOU PROVIDE: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40080" y="28803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Who, What, When, Where, Photos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640080" y="329184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sz="1000" b="1">
                <a:solidFill>
                  <a:srgbClr val="D64309"/>
                </a:solidFill>
                <a:latin typeface="Arial"/>
              </a:rPr>
              <a:t>COBE MARKETING HANDLES: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Copy, Graphics, Scheduling, Approvals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DIY WITH SUPPORT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4754880" y="1371600"/>
            <a:ext cx="39319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4937760" y="150876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Hands-On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4937760" y="196596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For users who want creative control and will draft their own copy and graphics using COBE templates.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4937760" y="265176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YOU CREATE: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4937760" y="28803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Copy, Graphics using templates, Assets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937760" y="329184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sz="1000" b="1">
                <a:solidFill>
                  <a:srgbClr val="D64309"/>
                </a:solidFill>
                <a:latin typeface="Arial"/>
              </a:rPr>
              <a:t>COBE MARKETING PROVIDES: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4937760" y="35204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sz="1200" b="0">
                <a:solidFill>
                  <a:srgbClr val="333333"/>
                </a:solidFill>
                <a:latin typeface="Arial"/>
              </a:rPr>
              <a:t>Templates, Brand Review, Final Approval, Scheduling as Needed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THE GOLDEN RULE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All Requests Start Here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3" name="Google Shape;93;p4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cobe-info@boisestate.edu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sz="1400" b="0">
                <a:solidFill>
                  <a:srgbClr val="FFFFFF"/>
                </a:solidFill>
                <a:latin typeface="Arial"/>
              </a:rPr>
              <a:t>Whether going Hands-Off or Hands-On, every marketing request begins by emailing COBE Marketing at this address.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SUBJECT LINE FORMAT: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PROGRAM REQUEST - Channel - Date Range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Quick-Start: Which Channel?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3200400" y="1051560"/>
            <a:ext cx="27432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3200400" y="10515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What's your goal?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5"/>
          <p:cNvCxnSpPr/>
          <p:nvPr/>
        </p:nvCxnSpPr>
        <p:spPr>
          <a:xfrm>
            <a:off x="3200400" y="1508760"/>
            <a:ext cx="0" cy="36576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5"/>
          <p:cNvCxnSpPr/>
          <p:nvPr/>
        </p:nvCxnSpPr>
        <p:spPr>
          <a:xfrm>
            <a:off x="1600200" y="1874520"/>
            <a:ext cx="1600200" cy="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5"/>
          <p:cNvSpPr/>
          <p:nvPr/>
        </p:nvSpPr>
        <p:spPr>
          <a:xfrm>
            <a:off x="457200" y="1874520"/>
            <a:ext cx="22860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9" name="Google Shape;109;p5"/>
          <p:cNvSpPr/>
          <p:nvPr/>
        </p:nvSpPr>
        <p:spPr>
          <a:xfrm>
            <a:off x="457200" y="18745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Event Attendance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5"/>
          <p:cNvCxnSpPr/>
          <p:nvPr/>
        </p:nvCxnSpPr>
        <p:spPr>
          <a:xfrm>
            <a:off x="1600200" y="2331720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" name="Google Shape;111;p5"/>
          <p:cNvSpPr/>
          <p:nvPr/>
        </p:nvSpPr>
        <p:spPr>
          <a:xfrm>
            <a:off x="457200" y="2606040"/>
            <a:ext cx="22860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2" name="Google Shape;112;p5"/>
          <p:cNvSpPr/>
          <p:nvPr/>
        </p:nvSpPr>
        <p:spPr>
          <a:xfrm>
            <a:off x="457200" y="26060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Email Newsletter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Instagram Story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5"/>
          <p:cNvCxnSpPr/>
          <p:nvPr/>
        </p:nvCxnSpPr>
        <p:spPr>
          <a:xfrm>
            <a:off x="4572000" y="1508760"/>
            <a:ext cx="0" cy="36576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" name="Google Shape;114;p5"/>
          <p:cNvSpPr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5"/>
          <p:cNvCxnSpPr/>
          <p:nvPr/>
        </p:nvCxnSpPr>
        <p:spPr>
          <a:xfrm>
            <a:off x="4572000" y="2331720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5"/>
          <p:cNvSpPr/>
          <p:nvPr/>
        </p:nvSpPr>
        <p:spPr>
          <a:xfrm>
            <a:off x="3429000" y="2606040"/>
            <a:ext cx="22860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3429000" y="26060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Instagram Reels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MBEB Screens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9" name="Google Shape;119;p5"/>
          <p:cNvCxnSpPr/>
          <p:nvPr/>
        </p:nvCxnSpPr>
        <p:spPr>
          <a:xfrm>
            <a:off x="5943600" y="1508760"/>
            <a:ext cx="0" cy="36576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5"/>
          <p:cNvCxnSpPr/>
          <p:nvPr/>
        </p:nvCxnSpPr>
        <p:spPr>
          <a:xfrm>
            <a:off x="5943600" y="1874520"/>
            <a:ext cx="1600200" cy="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1" name="Google Shape;121;p5"/>
          <p:cNvSpPr/>
          <p:nvPr/>
        </p:nvSpPr>
        <p:spPr>
          <a:xfrm>
            <a:off x="6400800" y="1874520"/>
            <a:ext cx="22860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6400800" y="18745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Employer/Alumni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5"/>
          <p:cNvCxnSpPr/>
          <p:nvPr/>
        </p:nvCxnSpPr>
        <p:spPr>
          <a:xfrm>
            <a:off x="7543800" y="2331720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p5"/>
          <p:cNvSpPr/>
          <p:nvPr/>
        </p:nvSpPr>
        <p:spPr>
          <a:xfrm>
            <a:off x="6400800" y="2606040"/>
            <a:ext cx="22860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6400800" y="26060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Bronco Business News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457200" y="3657600"/>
            <a:ext cx="822960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7" name="Google Shape;127;p5"/>
          <p:cNvSpPr/>
          <p:nvPr/>
        </p:nvSpPr>
        <p:spPr>
          <a:xfrm>
            <a:off x="640080" y="37947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QUICK TIPS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40080" y="4069080"/>
            <a:ext cx="78638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Current students? </a:t>
            </a: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Instagram first (1,436 followers, highest engagement)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Professionals? </a:t>
            </a: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LinkedIn first (1,700 followers, employer networks)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Direct action needed? </a:t>
            </a: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newsletter (5,000+ subscribers, highest conversion)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Budget-conscious? </a:t>
            </a: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Start with free COBE channels before paid ads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100">
                <a:solidFill>
                  <a:srgbClr val="333333"/>
                </a:solidFill>
                <a:latin typeface="Arial"/>
              </a:rPr>
              <a:t>Match your goal → funnel stage → channel for best results (see Marketing Funnel, Slide 10)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Strategy and Foundations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Target Audiences • Messaging Pillars • Marketing Funnel • Brand Voice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4"/>
                  </a:ext>
                </a:extLst>
              </a:rPr>
              <a:t>Target</a:t>
            </a: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 Audiences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Know who you're talking to before you create content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57200" y="1280160"/>
            <a:ext cx="3931920" cy="1417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594360" y="13716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PROSPECTIVE STUDENTS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594360" y="16916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Seeking flexible credentials and career pathways.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94360" y="21488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 offers: Stackable certificates, industry exposure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4754880" y="1280160"/>
            <a:ext cx="3931920" cy="1417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4892040" y="13716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CURRENT STUDENTS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4892040" y="16916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Need advising on certificates, events, internships.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892040" y="21488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 offers: News, social posts, email updates with CTAs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457200" y="2880360"/>
            <a:ext cx="3931920" cy="1417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594360" y="29718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EMPLOYERS &amp; PARTNERS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594360" y="32918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Need talent pipelines and training solutions.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594360" y="37490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 offers: Career fairs, mixers, paid interns, training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754880" y="2880360"/>
            <a:ext cx="3931920" cy="1417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4892040" y="29718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ALUMNI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4892040" y="32918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Interested in professional development.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4892040" y="37490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 offers: Mixers, leadership modules, networking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Core </a:t>
            </a: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5"/>
                  </a:ext>
                </a:extLst>
              </a:rPr>
              <a:t>Messaging</a:t>
            </a: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 Pillars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Every piece of content should connect to at least one of these themes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57200" y="1280160"/>
            <a:ext cx="4572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457200" y="1280160"/>
            <a:ext cx="457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1051560" y="137160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Career-Readiness &amp; Leadership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1051560" y="169164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"Students lead real projects that deliver measurable value."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457200" y="2148840"/>
            <a:ext cx="4572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457200" y="2148840"/>
            <a:ext cx="457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051560" y="224028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Flexible Learning Formats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1051560" y="256032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"Complete modules in under 60 minutes; add in-person workshops."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457200" y="3017520"/>
            <a:ext cx="4572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457200" y="3017520"/>
            <a:ext cx="457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1051560" y="310896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Employer Partnership &amp; Pipeline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1051560" y="342900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"Meet COBE students at targeted mixers before major fairs."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457200" y="3886200"/>
            <a:ext cx="457200" cy="7315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457200" y="3886200"/>
            <a:ext cx="457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1051560" y="397764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Accessible Collaboration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1051560" y="4297680"/>
            <a:ext cx="7635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"Clear submission rules reduce friction for departments."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Channel Guide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Instagram • LinkedIn • Email • Internal Channels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The Marketing Funnel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0" name="Google Shape;200;p10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sz="1200" b="0">
                <a:solidFill>
                  <a:srgbClr val="666666"/>
                </a:solidFill>
                <a:latin typeface="Arial"/>
              </a:rPr>
              <a:t>Match your goal to the right funnel stage and channel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457200" y="1371600"/>
            <a:ext cx="27432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2" name="Google Shape;202;p10"/>
          <p:cNvSpPr/>
          <p:nvPr/>
        </p:nvSpPr>
        <p:spPr>
          <a:xfrm>
            <a:off x="457200" y="1371600"/>
            <a:ext cx="2743200" cy="7315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594360" y="155448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TOP OF FUNNEL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594360" y="178308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Awareness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594360" y="214884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Reach new audiences and build brand recognition.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594360" y="283464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900"/>
              <a:buFont typeface="Arial"/>
              <a:buNone/>
            </a:pPr>
            <a:r>
              <a:rPr sz="900" b="1">
                <a:solidFill>
                  <a:srgbClr val="0033A0"/>
                </a:solidFill>
                <a:latin typeface="Arial"/>
              </a:rPr>
              <a:t>RECOMMENDED CHANNELS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94360" y="3063240"/>
            <a:ext cx="2468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Instagram Reels &amp; Posts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Press Releases &amp; PR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MBEB Digital Signage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3291840" y="1371600"/>
            <a:ext cx="27432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9" name="Google Shape;209;p10"/>
          <p:cNvSpPr/>
          <p:nvPr/>
        </p:nvSpPr>
        <p:spPr>
          <a:xfrm>
            <a:off x="3291840" y="1371600"/>
            <a:ext cx="2743200" cy="73152"/>
          </a:xfrm>
          <a:prstGeom prst="rect">
            <a:avLst/>
          </a:prstGeom>
          <a:solidFill>
            <a:srgbClr val="1A5C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10" name="Google Shape;210;p10"/>
          <p:cNvSpPr/>
          <p:nvPr/>
        </p:nvSpPr>
        <p:spPr>
          <a:xfrm>
            <a:off x="3429000" y="155448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MID FUNNEL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3429000" y="178308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Consideration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3429000" y="214884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Provide depth for prospects exploring options.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3429000" y="283464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5CB0"/>
              </a:buClr>
              <a:buSzPts val="900"/>
              <a:buFont typeface="Arial"/>
              <a:buNone/>
            </a:pPr>
            <a:r>
              <a:rPr sz="900" b="1">
                <a:solidFill>
                  <a:srgbClr val="1A5CB0"/>
                </a:solidFill>
                <a:latin typeface="Arial"/>
              </a:rPr>
              <a:t>RECOMMENDED CHANNELS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3429000" y="3063240"/>
            <a:ext cx="2468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Website &amp; Landing Pages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Instagram Stories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LinkedIn Articles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6126480" y="1371600"/>
            <a:ext cx="27432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6126480" y="1371600"/>
            <a:ext cx="2743200" cy="73152"/>
          </a:xfrm>
          <a:prstGeom prst="rect">
            <a:avLst/>
          </a:prstGeom>
          <a:solidFill>
            <a:srgbClr val="3385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17" name="Google Shape;217;p10"/>
          <p:cNvSpPr/>
          <p:nvPr/>
        </p:nvSpPr>
        <p:spPr>
          <a:xfrm>
            <a:off x="6263640" y="155448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BOTTOM OF FUNNEL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6263640" y="178308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Conversion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6263640" y="214884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Drive action with targeted outreach.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6263640" y="283464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85D6"/>
              </a:buClr>
              <a:buSzPts val="900"/>
              <a:buFont typeface="Arial"/>
              <a:buNone/>
            </a:pPr>
            <a:r>
              <a:rPr sz="900" b="1">
                <a:solidFill>
                  <a:srgbClr val="3385D6"/>
                </a:solidFill>
                <a:latin typeface="Arial"/>
              </a:rPr>
              <a:t>RECOMMENDED CHANNELS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6263640" y="3063240"/>
            <a:ext cx="2468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Marketing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Direct Outreach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Event Registration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Rounded Rectangle 221"/>
          <p:cNvSpPr/>
          <p:nvPr/>
        </p:nvSpPr>
        <p:spPr>
          <a:xfrm>
            <a:off x="457200" y="4650000"/>
            <a:ext cx="8229600" cy="420000"/>
          </a:xfrm>
          <a:prstGeom prst="roundRect">
            <a:avLst>
              <a:gd name="adj" fmla="val 6000"/>
            </a:avLst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594360" y="4680000"/>
            <a:ext cx="795528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HOW TO USE THIS FUNNEL: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1. Define your goal (awareness / signups / attendance)     2. Choose the funnel stage     3. Go to the recommended channel page for activation details, specs, and lead times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1"/>
          <p:cNvSpPr/>
          <p:nvPr/>
        </p:nvSpPr>
        <p:spPr>
          <a:xfrm>
            <a:off x="457200" y="274320"/>
            <a:ext cx="1097280" cy="3200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CHANNEL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1"/>
          <p:cNvSpPr/>
          <p:nvPr/>
        </p:nvSpPr>
        <p:spPr>
          <a:xfrm>
            <a:off x="457200" y="68580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7"/>
                  </a:ext>
                </a:extLst>
              </a:rPr>
              <a:t>Instagram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457200" y="1188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Best for current students, prospective undergrads, and event awareness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1"/>
          <p:cNvSpPr/>
          <p:nvPr/>
        </p:nvSpPr>
        <p:spPr>
          <a:xfrm>
            <a:off x="5943600" y="274320"/>
            <a:ext cx="2743200" cy="11887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1" name="Google Shape;231;p11"/>
          <p:cNvSpPr/>
          <p:nvPr/>
        </p:nvSpPr>
        <p:spPr>
          <a:xfrm>
            <a:off x="6035040" y="3657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@boisestatecobe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6035040" y="64008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1,436 followers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Primary student channel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1"/>
          <p:cNvSpPr/>
          <p:nvPr/>
        </p:nvSpPr>
        <p:spPr>
          <a:xfrm>
            <a:off x="457200" y="1645920"/>
            <a:ext cx="73152" cy="5943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5" name="Google Shape;235;p11"/>
          <p:cNvSpPr/>
          <p:nvPr/>
        </p:nvSpPr>
        <p:spPr>
          <a:xfrm>
            <a:off x="640080" y="164592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Reels - For Growth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640080" y="19202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Short video for maximum reach. The #1 driver of new followers.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457200" y="2377440"/>
            <a:ext cx="73152" cy="5943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8" name="Google Shape;238;p11"/>
          <p:cNvSpPr/>
          <p:nvPr/>
        </p:nvSpPr>
        <p:spPr>
          <a:xfrm>
            <a:off x="640080" y="237744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Stories - For Urgent Info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640080" y="265176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Time-sensitive info, event reminders. Use Link Stickers for RSVPs.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457200" y="3108960"/>
            <a:ext cx="73152" cy="5943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41" name="Google Shape;241;p11"/>
          <p:cNvSpPr/>
          <p:nvPr/>
        </p:nvSpPr>
        <p:spPr>
          <a:xfrm>
            <a:off x="640080" y="3108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Grid Posts - Evergreen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640080" y="33832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Polished announcements, achievements. Square format 1080x1080.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5029200" y="1645920"/>
            <a:ext cx="3657600" cy="8800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44" name="Google Shape;244;p11"/>
          <p:cNvSpPr/>
          <p:nvPr/>
        </p:nvSpPr>
        <p:spPr>
          <a:xfrm>
            <a:off x="5212080" y="170000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SPECS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5212080" y="1870000"/>
            <a:ext cx="3291840" cy="6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Posts: 1080 x 1080px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Stories and Reels: 1080 x 1920px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Cadence: 3-4 posts per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Lead time: 10 business days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5029200" y="2580000"/>
            <a:ext cx="3657600" cy="600000"/>
          </a:xfrm>
          <a:prstGeom prst="rect">
            <a:avLst/>
          </a:prstGeom>
          <a:solidFill>
            <a:srgbClr val="F5F5F5"/>
          </a:solidFill>
          <a:ln cap="flat" cmpd="sng" w="25400">
            <a:solidFill>
              <a:srgbClr val="D64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47" name="Google Shape;247;p11"/>
          <p:cNvSpPr/>
          <p:nvPr/>
        </p:nvSpPr>
        <p:spPr>
          <a:xfrm>
            <a:off x="5212080" y="261000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PRO TIPS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5212080" y="2780000"/>
            <a:ext cx="3291840" cy="3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Always include a clear CTA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Use Link Stickers for RSVPs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Keep captions short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100">
                <a:solidFill>
                  <a:srgbClr val="333333"/>
                </a:solidFill>
                <a:latin typeface="Arial"/>
              </a:rPr>
              <a:t>Lead time: 10 business days</a:t>
            </a:r>
          </a:p>
        </p:txBody>
      </p:sp>
      <p:sp>
        <p:nvSpPr>
          <p:cNvPr id="249" name="Google Shape;249;p11"/>
          <p:cNvSpPr/>
          <p:nvPr/>
        </p:nvSpPr>
        <p:spPr>
          <a:xfrm>
            <a:off x="457200" y="4750000"/>
            <a:ext cx="8229600" cy="35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640080" y="4750000"/>
            <a:ext cx="7863840" cy="3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💡 Reels outperform static posts for reach. If you have video content, prioritize it!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Rounded Rectangle 250"/>
          <p:cNvSpPr/>
          <p:nvPr/>
        </p:nvSpPr>
        <p:spPr>
          <a:xfrm>
            <a:off x="5943600" y="274320"/>
            <a:ext cx="720000" cy="228600"/>
          </a:xfrm>
          <a:prstGeom prst="roundRect">
            <a:avLst>
              <a:gd name="adj" fmla="val 15000"/>
            </a:avLst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Awareness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6733600" y="274320"/>
            <a:ext cx="960000" cy="228600"/>
          </a:xfrm>
          <a:prstGeom prst="roundRect">
            <a:avLst>
              <a:gd name="adj" fmla="val 15000"/>
            </a:avLst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Consideration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5029200" y="3150000"/>
            <a:ext cx="36576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64309"/>
                </a:solidFill>
                <a:latin typeface="Arial"/>
              </a:rPr>
              <a:t>HOW TO ACTIVATE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5029200" y="3370000"/>
            <a:ext cx="3657600" cy="7000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9525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Hands-Off (Concierge)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Email COBE Marketing at cobe-info@boisestate.edu with: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Event/program details (who, what, when, where)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Photos (minimum 1080px resolution)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Registration or RSVP link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Goal/success metric (e.g., 50 RSVPs)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5029200" y="4140000"/>
            <a:ext cx="3657600" cy="700000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 w="9525">
            <a:solidFill>
              <a:srgbClr val="EDC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Hands-On (DIY w/ Support)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Draft using COBE templates → email cobe-info@boisestate.edu for review/approval: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Finished graphic (1080x1080 or 1080x1920)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Caption text with clear CTA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Relevant hashtags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457200" y="3850000"/>
            <a:ext cx="4400000" cy="800000"/>
          </a:xfrm>
          <a:prstGeom prst="rect">
            <a:avLst/>
          </a:prstGeom>
          <a:solidFill>
            <a:srgbClr val="F8F8F8"/>
          </a:solidFill>
          <a:ln w="19050">
            <a:solidFill>
              <a:srgbClr val="0033A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/>
            <a:r>
              <a:rPr sz="900" b="1">
                <a:solidFill>
                  <a:srgbClr val="0033A0"/>
                </a:solidFill>
                <a:latin typeface="Arial"/>
              </a:rPr>
              <a:t>INSERT SCREENSHOT</a:t>
            </a:r>
          </a:p>
          <a:p>
            <a:pPr algn="ctr"/>
            <a:r>
              <a:rPr sz="700" i="1">
                <a:solidFill>
                  <a:srgbClr val="666666"/>
                </a:solidFill>
                <a:latin typeface="Arial"/>
              </a:rPr>
              <a:t>Replace with Instagram feed or story example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"/>
          <p:cNvSpPr/>
          <p:nvPr/>
        </p:nvSpPr>
        <p:spPr>
          <a:xfrm>
            <a:off x="457200" y="274320"/>
            <a:ext cx="1097280" cy="3200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CHANNEL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2"/>
          <p:cNvSpPr/>
          <p:nvPr/>
        </p:nvSpPr>
        <p:spPr>
          <a:xfrm>
            <a:off x="457200" y="68580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457200" y="1188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Best for employers, alumni, graduate and continuing-ed prospects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2"/>
          <p:cNvSpPr/>
          <p:nvPr/>
        </p:nvSpPr>
        <p:spPr>
          <a:xfrm>
            <a:off x="5943600" y="274320"/>
            <a:ext cx="2743200" cy="11887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85" name="Google Shape;285;p12"/>
          <p:cNvSpPr/>
          <p:nvPr/>
        </p:nvSpPr>
        <p:spPr>
          <a:xfrm>
            <a:off x="6035040" y="3657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@boisestatecobe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6035040" y="64008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1,700 followers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Professional network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457200" y="1645920"/>
            <a:ext cx="73152" cy="5943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89" name="Google Shape;289;p12"/>
          <p:cNvSpPr/>
          <p:nvPr/>
        </p:nvSpPr>
        <p:spPr>
          <a:xfrm>
            <a:off x="640080" y="164592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Hero Stories - Flagship Content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2"/>
          <p:cNvSpPr/>
          <p:nvPr/>
        </p:nvSpPr>
        <p:spPr>
          <a:xfrm>
            <a:off x="640080" y="19202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Outcome-focused narratives. Student success, career placements, partnerships.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457200" y="2377440"/>
            <a:ext cx="73152" cy="5943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640080" y="237744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PDF Carousels - High Engagement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/>
          <p:nvPr/>
        </p:nvSpPr>
        <p:spPr>
          <a:xfrm>
            <a:off x="640080" y="265176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Multi-page PDFs for program overviews, training menus, data content.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457200" y="3108960"/>
            <a:ext cx="73152" cy="5943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95" name="Google Shape;295;p12"/>
          <p:cNvSpPr/>
          <p:nvPr/>
        </p:nvSpPr>
        <p:spPr>
          <a:xfrm>
            <a:off x="640080" y="3108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Event Posts - Fairs and Mixers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640080" y="33832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Career fairs, employer mixers, webinars with clear registration links.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2"/>
          <p:cNvSpPr/>
          <p:nvPr/>
        </p:nvSpPr>
        <p:spPr>
          <a:xfrm>
            <a:off x="5029200" y="1645920"/>
            <a:ext cx="3657600" cy="7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5212080" y="178308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KEY STRATEGY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5212080" y="201168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Always tag employer partners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5212080" y="2286000"/>
            <a:ext cx="3291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Extends reach to employer networks. Faculty reshares with personal commentary generate 3-5x more engagement than institutional posts alone.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5029200" y="2420000"/>
            <a:ext cx="3657600" cy="7000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2" name="Google Shape;302;p12"/>
          <p:cNvSpPr/>
          <p:nvPr/>
        </p:nvSpPr>
        <p:spPr>
          <a:xfrm>
            <a:off x="5212080" y="2450000"/>
            <a:ext cx="3291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SPECS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5212080" y="2600000"/>
            <a:ext cx="329184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Banners: 1920 x 1080px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Cadence: 2-3 posts per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Events: 3 weeks lead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100">
                <a:solidFill>
                  <a:srgbClr val="FFFFFF"/>
                </a:solidFill>
                <a:latin typeface="Arial"/>
              </a:rPr>
              <a:t>Lead time: 10 business days (events: 3 weeks)</a:t>
            </a:r>
          </a:p>
        </p:txBody>
      </p:sp>
      <p:sp>
        <p:nvSpPr>
          <p:cNvPr id="304" name="Google Shape;304;p12"/>
          <p:cNvSpPr/>
          <p:nvPr/>
        </p:nvSpPr>
        <p:spPr>
          <a:xfrm>
            <a:off x="457200" y="4750000"/>
            <a:ext cx="8229600" cy="35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5" name="Google Shape;305;p12"/>
          <p:cNvSpPr/>
          <p:nvPr/>
        </p:nvSpPr>
        <p:spPr>
          <a:xfrm>
            <a:off x="640080" y="4750000"/>
            <a:ext cx="7863840" cy="3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FACULTY ADVOCACY: When faculty reshare COBE posts on personal profiles, it reaches entirely new networks. Your voice carries more weight than a logo.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Rounded Rectangle 305"/>
          <p:cNvSpPr/>
          <p:nvPr/>
        </p:nvSpPr>
        <p:spPr>
          <a:xfrm>
            <a:off x="5943600" y="274320"/>
            <a:ext cx="960000" cy="228600"/>
          </a:xfrm>
          <a:prstGeom prst="roundRect">
            <a:avLst>
              <a:gd name="adj" fmla="val 15000"/>
            </a:avLst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Consideration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6973600" y="274320"/>
            <a:ext cx="780000" cy="228600"/>
          </a:xfrm>
          <a:prstGeom prst="roundRect">
            <a:avLst>
              <a:gd name="adj" fmla="val 15000"/>
            </a:avLst>
          </a:prstGeom>
          <a:solidFill>
            <a:srgbClr val="1B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Conversion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029200" y="3150000"/>
            <a:ext cx="36576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64309"/>
                </a:solidFill>
                <a:latin typeface="Arial"/>
              </a:rPr>
              <a:t>HOW TO ACTIVATE</a:t>
            </a:r>
          </a:p>
        </p:txBody>
      </p:sp>
      <p:sp>
        <p:nvSpPr>
          <p:cNvPr id="309" name="Rounded Rectangle 308"/>
          <p:cNvSpPr/>
          <p:nvPr/>
        </p:nvSpPr>
        <p:spPr>
          <a:xfrm>
            <a:off x="5029200" y="3370000"/>
            <a:ext cx="3657600" cy="7000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9525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Hands-Off (Concierge)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Email COBE Marketing at cobe-info@boisestate.edu with: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Story/achievement details + outcome data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Partner names to tag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Photos, headshots, or PDF carousel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Registration or event link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5029200" y="4140000"/>
            <a:ext cx="3657600" cy="700000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 w="9525">
            <a:solidFill>
              <a:srgbClr val="EDC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Hands-On (DIY w/ Support)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Draft using COBE templates → email cobe-info@boisestate.edu for review/approval: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Finished post copy + graphic (1920x1080)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Partner tags and relevant links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57200" y="3850000"/>
            <a:ext cx="4400000" cy="800000"/>
          </a:xfrm>
          <a:prstGeom prst="rect">
            <a:avLst/>
          </a:prstGeom>
          <a:solidFill>
            <a:srgbClr val="F8F8F8"/>
          </a:solidFill>
          <a:ln w="19050">
            <a:solidFill>
              <a:srgbClr val="0033A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/>
            <a:r>
              <a:rPr sz="900" b="1">
                <a:solidFill>
                  <a:srgbClr val="0033A0"/>
                </a:solidFill>
                <a:latin typeface="Arial"/>
              </a:rPr>
              <a:t>INSERT SCREENSHOT</a:t>
            </a:r>
          </a:p>
          <a:p>
            <a:pPr algn="ctr"/>
            <a:r>
              <a:rPr sz="700" i="1">
                <a:solidFill>
                  <a:srgbClr val="666666"/>
                </a:solidFill>
                <a:latin typeface="Arial"/>
              </a:rPr>
              <a:t>Replace with LinkedIn post or article example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3"/>
          <p:cNvSpPr/>
          <p:nvPr/>
        </p:nvSpPr>
        <p:spPr>
          <a:xfrm>
            <a:off x="457200" y="274320"/>
            <a:ext cx="1097280" cy="3200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CHANNEL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1645920" y="274320"/>
            <a:ext cx="1828800" cy="32004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HIGHEST CONVERSION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457200" y="68580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9"/>
                  </a:ext>
                </a:extLst>
              </a:rPr>
              <a:t>Email Marketing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457200" y="1188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Best for driving event attendance, applications, and direct action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457200" y="1645920"/>
            <a:ext cx="39319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59436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The Power of Email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594360" y="205740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Email has the highest conversion rate of all COBE channels. Direct inbox access means higher engagement for RSVPs, applications, and deadlines.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4754880" y="1645920"/>
            <a:ext cx="39319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9" name="Google Shape;319;p13"/>
          <p:cNvSpPr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The Burnout Risk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4892040" y="205740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Over-emailing causes unsubscribes. Only send when you have genuine value. Coordinate with COBE Marketing on frequency.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3"/>
          <p:cNvSpPr/>
          <p:nvPr/>
        </p:nvSpPr>
        <p:spPr>
          <a:xfrm>
            <a:off x="457200" y="310896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sz="1000" b="1">
                <a:solidFill>
                  <a:srgbClr val="D64309"/>
                </a:solidFill>
                <a:latin typeface="Arial"/>
              </a:rPr>
              <a:t>PRO TIPS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3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Segment Your Lists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457200" y="361188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Target: students, prospects, alumni, employers.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3200400" y="338328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Subject Lines ≤55 Characters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3"/>
          <p:cNvSpPr/>
          <p:nvPr/>
        </p:nvSpPr>
        <p:spPr>
          <a:xfrm>
            <a:off x="3200400" y="361188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Short, clear, action-oriented.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3"/>
          <p:cNvSpPr/>
          <p:nvPr/>
        </p:nvSpPr>
        <p:spPr>
          <a:xfrm>
            <a:off x="5943600" y="338328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Always Include Alt Text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5943600" y="361188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Images don't load for everyone.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3"/>
          <p:cNvSpPr/>
          <p:nvPr/>
        </p:nvSpPr>
        <p:spPr>
          <a:xfrm>
            <a:off x="457200" y="4023360"/>
            <a:ext cx="8229600" cy="86868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29" name="Google Shape;329;p13"/>
          <p:cNvSpPr/>
          <p:nvPr/>
        </p:nvSpPr>
        <p:spPr>
          <a:xfrm>
            <a:off x="640080" y="4114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sz="1000" b="1">
                <a:solidFill>
                  <a:srgbClr val="D64309"/>
                </a:solidFill>
                <a:latin typeface="Arial"/>
              </a:rPr>
              <a:t>SPECS &amp; LEAD TIME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640080" y="4343400"/>
            <a:ext cx="7863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sz="1100" b="0">
                <a:solidFill>
                  <a:srgbClr val="FFFFFF"/>
                </a:solidFill>
                <a:latin typeface="Arial"/>
              </a:rPr>
              <a:t>Lead time: 10–15 business days. Copy limit ~100 words per item. Include: final link/CTA, copy, images with alt text. Subscribers: 5,000+.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Rounded Rectangle 330"/>
          <p:cNvSpPr/>
          <p:nvPr/>
        </p:nvSpPr>
        <p:spPr>
          <a:xfrm>
            <a:off x="7400000" y="274320"/>
            <a:ext cx="780000" cy="228600"/>
          </a:xfrm>
          <a:prstGeom prst="roundRect">
            <a:avLst>
              <a:gd name="adj" fmla="val 15000"/>
            </a:avLst>
          </a:prstGeom>
          <a:solidFill>
            <a:srgbClr val="1B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Conversion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57200" y="3100000"/>
            <a:ext cx="3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64309"/>
                </a:solidFill>
                <a:latin typeface="Arial"/>
              </a:rPr>
              <a:t>HOW TO ACTIVATE</a:t>
            </a:r>
          </a:p>
        </p:txBody>
      </p:sp>
      <p:sp>
        <p:nvSpPr>
          <p:cNvPr id="333" name="Rounded Rectangle 332"/>
          <p:cNvSpPr/>
          <p:nvPr/>
        </p:nvSpPr>
        <p:spPr>
          <a:xfrm>
            <a:off x="457200" y="3320000"/>
            <a:ext cx="3800000" cy="7000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9525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Hands-Off (Concierge)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Email COBE Marketing at cobe-info@boisestate.edu with: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Event/program details + target audience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Copy (≤100 words per item), CTA, final link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Images with alt text descriptions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457200" y="4090000"/>
            <a:ext cx="3800000" cy="700000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 w="9525">
            <a:solidFill>
              <a:srgbClr val="EDC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Hands-On (DIY w/ Support)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Draft using COBE templates → email cobe-info@boisestate.edu for review/approval: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Full copy draft + images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Target segment (students / alumni / employers)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Subject line (≤55 characters)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754880" y="3100000"/>
            <a:ext cx="3931920" cy="780000"/>
          </a:xfrm>
          <a:prstGeom prst="rect">
            <a:avLst/>
          </a:prstGeom>
          <a:solidFill>
            <a:srgbClr val="F8F8F8"/>
          </a:solidFill>
          <a:ln w="19050">
            <a:solidFill>
              <a:srgbClr val="0033A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/>
            <a:r>
              <a:rPr sz="900" b="1">
                <a:solidFill>
                  <a:srgbClr val="0033A0"/>
                </a:solidFill>
                <a:latin typeface="Arial"/>
              </a:rPr>
              <a:t>INSERT SCREENSHOT</a:t>
            </a:r>
          </a:p>
          <a:p>
            <a:pPr algn="ctr"/>
            <a:r>
              <a:rPr sz="700" i="1">
                <a:solidFill>
                  <a:srgbClr val="666666"/>
                </a:solidFill>
                <a:latin typeface="Arial"/>
              </a:rPr>
              <a:t>Replace with newsletter section example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4"/>
          <p:cNvSpPr/>
          <p:nvPr/>
        </p:nvSpPr>
        <p:spPr>
          <a:xfrm>
            <a:off x="457200" y="274320"/>
            <a:ext cx="1097280" cy="3200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457200" y="6858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10"/>
                  </a:ext>
                </a:extLst>
              </a:rPr>
              <a:t>Internal Channels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457200" y="1188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Captive audience opportunities - reach students exactly where they are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457200" y="1645920"/>
            <a:ext cx="393192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40" name="Google Shape;340;p14"/>
          <p:cNvSpPr/>
          <p:nvPr/>
        </p:nvSpPr>
        <p:spPr>
          <a:xfrm>
            <a:off x="59436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The Classroom </a:t>
            </a: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Slide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594360" y="20116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3 Minutes Before Class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594360" y="2240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Those few minutes before class starts are prime real estate. Students are seated and paying attention to the screen.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594360" y="274320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BEST FOR: Event announcements with QR codes, Deadline reminders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45" name="Google Shape;345;p14"/>
          <p:cNvSpPr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MBEB Digital Signage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4"/>
          <p:cNvSpPr/>
          <p:nvPr/>
        </p:nvSpPr>
        <p:spPr>
          <a:xfrm>
            <a:off x="4892040" y="20116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Lobby and Hallway Screens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4"/>
          <p:cNvSpPr/>
          <p:nvPr/>
        </p:nvSpPr>
        <p:spPr>
          <a:xfrm>
            <a:off x="4892040" y="2240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High-traffic areas in the Micron Business Building. Students pass these screens multiple times daily.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/>
          <p:nvPr/>
        </p:nvSpPr>
        <p:spPr>
          <a:xfrm>
            <a:off x="4892040" y="274320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SPECS: 1920x1080px, Dark background, NO logo overlays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/>
          <p:nvPr/>
        </p:nvSpPr>
        <p:spPr>
          <a:xfrm>
            <a:off x="457200" y="3200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Other Campus Screens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0" name="Google Shape;350;p14"/>
          <p:cNvGraphicFramePr/>
          <p:nvPr/>
        </p:nvGraphicFramePr>
        <p:xfrm>
          <a:off x="457200" y="35204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{601C61E8-C72F-49A2-BF68-AB6E260F276D}</a:tableStyleId>
              </a:tblPr>
              <a:tblGrid>
                <a:gridCol w="2286000"/>
                <a:gridCol w="1828800"/>
                <a:gridCol w="4114800"/>
              </a:tblGrid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Location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Specs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Contact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 Dining Screens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768 x 1366px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subpromos@boisestate.edu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Albertsons Library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1280 x 720px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lib_communications@boisestate.edu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Campus Rec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1920 x 1080px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jaredcox@boisestate.edu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1" name="Rounded Rectangle 350"/>
          <p:cNvSpPr/>
          <p:nvPr/>
        </p:nvSpPr>
        <p:spPr>
          <a:xfrm>
            <a:off x="6300000" y="274320"/>
            <a:ext cx="720000" cy="228600"/>
          </a:xfrm>
          <a:prstGeom prst="roundRect">
            <a:avLst>
              <a:gd name="adj" fmla="val 15000"/>
            </a:avLst>
          </a:prstGeom>
          <a:solidFill>
            <a:srgbClr val="003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Awareness</a:t>
            </a:r>
          </a:p>
        </p:txBody>
      </p:sp>
      <p:sp>
        <p:nvSpPr>
          <p:cNvPr id="352" name="Rounded Rectangle 351"/>
          <p:cNvSpPr/>
          <p:nvPr/>
        </p:nvSpPr>
        <p:spPr>
          <a:xfrm>
            <a:off x="7090000" y="274320"/>
            <a:ext cx="780000" cy="228600"/>
          </a:xfrm>
          <a:prstGeom prst="roundRect">
            <a:avLst>
              <a:gd name="adj" fmla="val 15000"/>
            </a:avLst>
          </a:prstGeom>
          <a:solidFill>
            <a:srgbClr val="1B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Conversion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4754880" y="3200000"/>
            <a:ext cx="39319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64309"/>
                </a:solidFill>
                <a:latin typeface="Arial"/>
              </a:rPr>
              <a:t>HOW TO ACTIVATE</a:t>
            </a:r>
          </a:p>
        </p:txBody>
      </p:sp>
      <p:sp>
        <p:nvSpPr>
          <p:cNvPr id="354" name="Rounded Rectangle 353"/>
          <p:cNvSpPr/>
          <p:nvPr/>
        </p:nvSpPr>
        <p:spPr>
          <a:xfrm>
            <a:off x="4754880" y="3420000"/>
            <a:ext cx="3931920" cy="7000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9525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33A0"/>
                </a:solidFill>
                <a:latin typeface="Arial"/>
              </a:rPr>
              <a:t>Hands-Off (Concierge)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Email COBE Marketing at cobe-info@boisestate.edu with: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Event details, dates, QR code destination URL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Photos or graphics (if available)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Target audience and placement preference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4754880" y="4190000"/>
            <a:ext cx="3931920" cy="700000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 w="9525">
            <a:solidFill>
              <a:srgbClr val="EDC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38100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D64309"/>
                </a:solidFill>
                <a:latin typeface="Arial"/>
              </a:rPr>
              <a:t>Hands-On (DIY w/ Support)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Draft using COBE templates → email cobe-info@boisestate.edu for review/approval: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Finished slide (1920x1080, dark background, no logo)</a:t>
            </a:r>
          </a:p>
          <a:p>
            <a:pPr>
              <a:spcAft>
                <a:spcPts val="0"/>
              </a:spcAft>
            </a:pPr>
            <a:r>
              <a:rPr sz="750">
                <a:solidFill>
                  <a:srgbClr val="333333"/>
                </a:solidFill>
                <a:latin typeface="Arial"/>
              </a:rPr>
              <a:t>• QR code linking to registration/RSVP page</a:t>
            </a:r>
          </a:p>
        </p:txBody>
      </p:sp>
      <p:sp>
        <p:nvSpPr>
          <p:cNvPr id="356" name="Rounded Rectangle 355"/>
          <p:cNvSpPr/>
          <p:nvPr/>
        </p:nvSpPr>
        <p:spPr>
          <a:xfrm>
            <a:off x="457200" y="4600000"/>
            <a:ext cx="8229600" cy="3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94360" y="4620000"/>
            <a:ext cx="7955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64309"/>
                </a:solidFill>
                <a:latin typeface="Arial"/>
              </a:rPr>
              <a:t>LEAD TIME &amp; SPECS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Classroom slides: 5 business days   |   MBEB screens: 5 business days   |   1920x1080px, dark background, no logo overlays, large QR codes for scanning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4754880" y="2750000"/>
            <a:ext cx="3931920" cy="400000"/>
          </a:xfrm>
          <a:prstGeom prst="rect">
            <a:avLst/>
          </a:prstGeom>
          <a:solidFill>
            <a:srgbClr val="F8F8F8"/>
          </a:solidFill>
          <a:ln w="19050">
            <a:solidFill>
              <a:srgbClr val="0033A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/>
            <a:r>
              <a:rPr sz="900" b="1">
                <a:solidFill>
                  <a:srgbClr val="0033A0"/>
                </a:solidFill>
                <a:latin typeface="Arial"/>
              </a:rPr>
              <a:t>INSERT SCREENSHOT</a:t>
            </a:r>
          </a:p>
          <a:p>
            <a:pPr algn="ctr"/>
            <a:r>
              <a:rPr sz="700" i="1">
                <a:solidFill>
                  <a:srgbClr val="666666"/>
                </a:solidFill>
                <a:latin typeface="Arial"/>
              </a:rPr>
              <a:t>Replace with classroom slide or MBEB signage example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5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Asset Specs: Visual Reference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58" name="Google Shape;358;p15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Know your dimensions before you create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914400" y="1371600"/>
            <a:ext cx="2011680" cy="2011680"/>
          </a:xfrm>
          <a:prstGeom prst="rect">
            <a:avLst/>
          </a:prstGeom>
          <a:solidFill>
            <a:srgbClr val="F5F5F5"/>
          </a:solidFill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60" name="Google Shape;360;p15"/>
          <p:cNvSpPr/>
          <p:nvPr/>
        </p:nvSpPr>
        <p:spPr>
          <a:xfrm>
            <a:off x="914400" y="20116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914400" y="342900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1080 x 1080px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914400" y="365760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Instagram Grid Posts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657600" y="1371600"/>
            <a:ext cx="1371600" cy="2441448"/>
          </a:xfrm>
          <a:prstGeom prst="rect">
            <a:avLst/>
          </a:prstGeom>
          <a:solidFill>
            <a:srgbClr val="F5F5F5"/>
          </a:solidFill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64" name="Google Shape;364;p15"/>
          <p:cNvSpPr/>
          <p:nvPr/>
        </p:nvSpPr>
        <p:spPr>
          <a:xfrm>
            <a:off x="3657600" y="22860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9:16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3200400" y="38862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1080 x 1920px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3200400" y="41148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Stories &amp; Reels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5943600" y="1645920"/>
            <a:ext cx="2743200" cy="1545336"/>
          </a:xfrm>
          <a:prstGeom prst="rect">
            <a:avLst/>
          </a:prstGeom>
          <a:solidFill>
            <a:srgbClr val="F5F5F5"/>
          </a:solidFill>
          <a:ln cap="flat" cmpd="sng" w="25400">
            <a:solidFill>
              <a:srgbClr val="003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68" name="Google Shape;368;p15"/>
          <p:cNvSpPr/>
          <p:nvPr/>
        </p:nvSpPr>
        <p:spPr>
          <a:xfrm>
            <a:off x="5943600" y="21945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16:9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5943600" y="32461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1920 x 1080px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5486400" y="347472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MBEB Screens, LinkedIn, Presentations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72" name="Google Shape;372;p15"/>
          <p:cNvSpPr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 TIP: Always design at the exact dimensions. Resizing after the fact degrades quality.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TextBox 372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6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6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Promoting Events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6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Complete Event Promotion Workflow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7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Event Promotion Checklist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7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88" name="Google Shape;388;p17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Work backwards from your event date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7"/>
          <p:cNvSpPr/>
          <p:nvPr/>
        </p:nvSpPr>
        <p:spPr>
          <a:xfrm>
            <a:off x="457200" y="1280160"/>
            <a:ext cx="20574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90" name="Google Shape;390;p17"/>
          <p:cNvSpPr/>
          <p:nvPr/>
        </p:nvSpPr>
        <p:spPr>
          <a:xfrm>
            <a:off x="457200" y="1280160"/>
            <a:ext cx="20574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91" name="Google Shape;391;p17"/>
          <p:cNvSpPr/>
          <p:nvPr/>
        </p:nvSpPr>
        <p:spPr>
          <a:xfrm>
            <a:off x="457200" y="128016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 WEEKS OUT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7"/>
          <p:cNvSpPr/>
          <p:nvPr/>
        </p:nvSpPr>
        <p:spPr>
          <a:xfrm>
            <a:off x="548640" y="1828800"/>
            <a:ext cx="1874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Book room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Confirm speakers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Create registration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Contact Career Services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7"/>
          <p:cNvSpPr/>
          <p:nvPr/>
        </p:nvSpPr>
        <p:spPr>
          <a:xfrm>
            <a:off x="548640" y="3383280"/>
            <a:ext cx="1874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CONTACT: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/>
          <p:nvPr/>
        </p:nvSpPr>
        <p:spPr>
          <a:xfrm>
            <a:off x="548640" y="3566160"/>
            <a:ext cx="1874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cobecareers@boisestate.edu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7"/>
          <p:cNvSpPr/>
          <p:nvPr/>
        </p:nvSpPr>
        <p:spPr>
          <a:xfrm>
            <a:off x="2606040" y="1280160"/>
            <a:ext cx="20574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96" name="Google Shape;396;p17"/>
          <p:cNvSpPr/>
          <p:nvPr/>
        </p:nvSpPr>
        <p:spPr>
          <a:xfrm>
            <a:off x="2606040" y="1280160"/>
            <a:ext cx="20574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97" name="Google Shape;397;p17"/>
          <p:cNvSpPr/>
          <p:nvPr/>
        </p:nvSpPr>
        <p:spPr>
          <a:xfrm>
            <a:off x="2606040" y="128016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WEEKS OUT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7"/>
          <p:cNvSpPr/>
          <p:nvPr/>
        </p:nvSpPr>
        <p:spPr>
          <a:xfrm>
            <a:off x="2697480" y="1828800"/>
            <a:ext cx="1874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Submit to Localist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Request LinkedIn post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Request newsletter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Order printed materials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7"/>
          <p:cNvSpPr/>
          <p:nvPr/>
        </p:nvSpPr>
        <p:spPr>
          <a:xfrm>
            <a:off x="2697480" y="3383280"/>
            <a:ext cx="1874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CONTACT: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2697480" y="3566160"/>
            <a:ext cx="1874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boisestate.enterprise.localist.com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754880" y="1280160"/>
            <a:ext cx="20574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02" name="Google Shape;402;p17"/>
          <p:cNvSpPr/>
          <p:nvPr/>
        </p:nvSpPr>
        <p:spPr>
          <a:xfrm>
            <a:off x="4754880" y="1280160"/>
            <a:ext cx="20574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03" name="Google Shape;403;p17"/>
          <p:cNvSpPr/>
          <p:nvPr/>
        </p:nvSpPr>
        <p:spPr>
          <a:xfrm>
            <a:off x="4754880" y="128016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WEEKS OUT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4846320" y="1828800"/>
            <a:ext cx="1874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Instagram posts begin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MBEB screens live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Classroom slides ready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reminder sent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4846320" y="3383280"/>
            <a:ext cx="1874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CONTACT: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4846320" y="3566160"/>
            <a:ext cx="1874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cobe-info@boisestate.edu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6903720" y="1280160"/>
            <a:ext cx="205740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08" name="Google Shape;408;p17"/>
          <p:cNvSpPr/>
          <p:nvPr/>
        </p:nvSpPr>
        <p:spPr>
          <a:xfrm>
            <a:off x="6903720" y="1280160"/>
            <a:ext cx="20574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09" name="Google Shape;409;p17"/>
          <p:cNvSpPr/>
          <p:nvPr/>
        </p:nvSpPr>
        <p:spPr>
          <a:xfrm>
            <a:off x="6903720" y="128016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EVENT DAY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995160" y="1828800"/>
            <a:ext cx="1874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Signage in place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Check-in ready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Photographer assigned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Post-event survey ready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995160" y="3383280"/>
            <a:ext cx="1874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CONTACT: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995160" y="3566160"/>
            <a:ext cx="1874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Capture photos &amp; attendee count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8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800"/>
              <a:buFont typeface="Arial"/>
              <a:buNone/>
            </a:pPr>
            <a:r>
              <a:rPr sz="3200" b="1">
                <a:solidFill>
                  <a:srgbClr val="0033A0"/>
                </a:solidFill>
                <a:latin typeface="Arial"/>
              </a:rPr>
              <a:t>Sample Request Email (Hands-Off)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8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20" name="Google Shape;420;p18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sz="1200" b="0">
                <a:solidFill>
                  <a:srgbClr val="666666"/>
                </a:solidFill>
                <a:latin typeface="Arial"/>
              </a:rPr>
              <a:t>Copy this format for a complete, actionable Hands-Off (Concierge) request to COBE Marketing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8"/>
          <p:cNvSpPr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22" name="Google Shape;422;p18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To: cobe-info@boisestate.edu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8"/>
          <p:cNvSpPr/>
          <p:nvPr/>
        </p:nvSpPr>
        <p:spPr>
          <a:xfrm>
            <a:off x="640080" y="16002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Subject: RHM REQUEST - Instagram + Newsletter - Feb 15-28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4" name="Google Shape;424;p18"/>
          <p:cNvCxnSpPr/>
          <p:nvPr/>
        </p:nvCxnSpPr>
        <p:spPr>
          <a:xfrm>
            <a:off x="640080" y="1874520"/>
            <a:ext cx="7863840" cy="0"/>
          </a:xfrm>
          <a:prstGeom prst="straightConnector1">
            <a:avLst/>
          </a:prstGeom>
          <a:noFill/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5" name="Google Shape;425;p18"/>
          <p:cNvSpPr/>
          <p:nvPr/>
        </p:nvSpPr>
        <p:spPr>
          <a:xfrm>
            <a:off x="640080" y="201168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Hi COBE Marketing Team,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I'd like to promote our upcoming Career 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11"/>
                  </a:ext>
                </a:extLst>
              </a:rPr>
              <a:t>Mixer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8"/>
          <p:cNvSpPr/>
          <p:nvPr/>
        </p:nvSpPr>
        <p:spPr>
          <a:xfrm>
            <a:off x="640080" y="256032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THE DETAILS: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8"/>
          <p:cNvSpPr/>
          <p:nvPr/>
        </p:nvSpPr>
        <p:spPr>
          <a:xfrm>
            <a:off x="640080" y="27432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What: RHM Spring Career Mixer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When: Thursday, Feb 27, 5-7 PM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Where: MBEB 1102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Who: Open to all COBE students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8"/>
          <p:cNvSpPr/>
          <p:nvPr/>
        </p:nvSpPr>
        <p:spPr>
          <a:xfrm>
            <a:off x="640080" y="342900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CHANNELS REQUESTED: Instagram post + story, Newsletter mention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8"/>
          <p:cNvSpPr/>
          <p:nvPr/>
        </p:nvSpPr>
        <p:spPr>
          <a:xfrm>
            <a:off x="640080" y="361188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GOAL: Drive event registrations (target: 50 RSVPs)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8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I've attached a photo from last year's event.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Registration link: [Handshake URL]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8"/>
          <p:cNvSpPr/>
          <p:nvPr/>
        </p:nvSpPr>
        <p:spPr>
          <a:xfrm>
            <a:off x="640080" y="425196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Thanks!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Ashley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8"/>
          <p:cNvSpPr/>
          <p:nvPr/>
        </p:nvSpPr>
        <p:spPr>
          <a:xfrm>
            <a:off x="457200" y="4892040"/>
            <a:ext cx="8229600" cy="2743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4" name="Google Shape;434;p18"/>
          <p:cNvSpPr/>
          <p:nvPr/>
        </p:nvSpPr>
        <p:spPr>
          <a:xfrm>
            <a:off x="640080" y="489204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HANDS-OFF REQUEST TIP: Include event details, channels requested, goal/success metric, assets, and any links.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9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Brand &amp; Specifications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Arial"/>
              </a:rPr>
              <a:t>Colors • Sizes • Non-Negotiables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Boise State Brand Essentials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0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50" name="Google Shape;450;p20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Required standards for all marketing materials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0"/>
          <p:cNvSpPr/>
          <p:nvPr/>
        </p:nvSpPr>
        <p:spPr>
          <a:xfrm>
            <a:off x="457200" y="1280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Official Colors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0"/>
          <p:cNvSpPr/>
          <p:nvPr/>
        </p:nvSpPr>
        <p:spPr>
          <a:xfrm>
            <a:off x="457200" y="1600200"/>
            <a:ext cx="1828800" cy="128016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53" name="Google Shape;453;p20"/>
          <p:cNvSpPr/>
          <p:nvPr/>
        </p:nvSpPr>
        <p:spPr>
          <a:xfrm>
            <a:off x="548640" y="169164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BOISE STATE BLUE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Pantone 286 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Hex: #0033A0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RGB: 0, 51, 160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0"/>
          <p:cNvSpPr/>
          <p:nvPr/>
        </p:nvSpPr>
        <p:spPr>
          <a:xfrm>
            <a:off x="2377440" y="1600200"/>
            <a:ext cx="1828800" cy="128016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55" name="Google Shape;455;p20"/>
          <p:cNvSpPr/>
          <p:nvPr/>
        </p:nvSpPr>
        <p:spPr>
          <a:xfrm>
            <a:off x="2468880" y="169164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BOISE STATE ORANGE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Pantone 172 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Hex: #D64309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RGB: 214, 67, 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0"/>
          <p:cNvSpPr/>
          <p:nvPr/>
        </p:nvSpPr>
        <p:spPr>
          <a:xfrm>
            <a:off x="4572000" y="1280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textRoundtripDataId="12"/>
                  </a:ext>
                </a:extLst>
              </a:rPr>
              <a:t>Typography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0"/>
          <p:cNvSpPr/>
          <p:nvPr/>
        </p:nvSpPr>
        <p:spPr>
          <a:xfrm>
            <a:off x="4572000" y="16002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333333"/>
                </a:solidFill>
                <a:latin typeface="Arial"/>
                <a:ea typeface="Georgia"/>
                <a:cs typeface="Georgia"/>
                <a:sym typeface="Georgia"/>
              </a:rPr>
              <a:t>Garamond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0"/>
          <p:cNvSpPr/>
          <p:nvPr/>
        </p:nvSpPr>
        <p:spPr>
          <a:xfrm>
            <a:off x="4572000" y="19202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Body text, formal documents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0"/>
          <p:cNvSpPr/>
          <p:nvPr/>
        </p:nvSpPr>
        <p:spPr>
          <a:xfrm>
            <a:off x="6858000" y="16002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Gotham / Oswald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0"/>
          <p:cNvSpPr/>
          <p:nvPr/>
        </p:nvSpPr>
        <p:spPr>
          <a:xfrm>
            <a:off x="6858000" y="192024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Marketing, headlines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0"/>
          <p:cNvSpPr/>
          <p:nvPr/>
        </p:nvSpPr>
        <p:spPr>
          <a:xfrm>
            <a:off x="4572000" y="224028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Web fonts: Oswald + Lato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0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Visual Rules: Non-Negotiables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0"/>
          <p:cNvSpPr/>
          <p:nvPr/>
        </p:nvSpPr>
        <p:spPr>
          <a:xfrm>
            <a:off x="457200" y="3337560"/>
            <a:ext cx="27432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64" name="Google Shape;464;p20"/>
          <p:cNvSpPr/>
          <p:nvPr/>
        </p:nvSpPr>
        <p:spPr>
          <a:xfrm>
            <a:off x="594360" y="342900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RULE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0"/>
          <p:cNvSpPr/>
          <p:nvPr/>
        </p:nvSpPr>
        <p:spPr>
          <a:xfrm>
            <a:off x="594360" y="36576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The Clean Screen Rule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MBEB screens already display the Boise State logo. Do not overlay logos on graphics for screens.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0"/>
          <p:cNvSpPr/>
          <p:nvPr/>
        </p:nvSpPr>
        <p:spPr>
          <a:xfrm>
            <a:off x="3291840" y="3337560"/>
            <a:ext cx="27432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68" name="Google Shape;468;p20"/>
          <p:cNvSpPr/>
          <p:nvPr/>
        </p:nvSpPr>
        <p:spPr>
          <a:xfrm>
            <a:off x="3429000" y="342900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RULE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"/>
          <p:cNvSpPr/>
          <p:nvPr/>
        </p:nvSpPr>
        <p:spPr>
          <a:xfrm>
            <a:off x="3429000" y="36576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High-Resolution Only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20"/>
          <p:cNvSpPr/>
          <p:nvPr/>
        </p:nvSpPr>
        <p:spPr>
          <a:xfrm>
            <a:off x="3429000" y="3931920"/>
            <a:ext cx="2468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Blurry images damage brand perception. Min 1080px for social, 1920px for screens.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0"/>
          <p:cNvSpPr/>
          <p:nvPr/>
        </p:nvSpPr>
        <p:spPr>
          <a:xfrm>
            <a:off x="6126480" y="3337560"/>
            <a:ext cx="27432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72" name="Google Shape;472;p20"/>
          <p:cNvSpPr/>
          <p:nvPr/>
        </p:nvSpPr>
        <p:spPr>
          <a:xfrm>
            <a:off x="6263640" y="342900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RULE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6263640" y="36576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Accessibility Required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6263640" y="3931920"/>
            <a:ext cx="24688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Alt text for images, descriptive links, proper heading structure, sufficient contrast.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Asset Specifications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1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2" name="Google Shape;482;p2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Quick reference for all graphic sizes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83" name="Google Shape;483;p21"/>
          <p:cNvGraphicFramePr/>
          <p:nvPr/>
        </p:nvGraphicFramePr>
        <p:xfrm>
          <a:off x="45720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{601C61E8-C72F-49A2-BF68-AB6E260F276D}</a:tableStyleId>
              </a:tblPr>
              <a:tblGrid>
                <a:gridCol w="2560325"/>
                <a:gridCol w="1371600"/>
                <a:gridCol w="2011675"/>
                <a:gridCol w="2286000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Format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Dimensions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 Type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Instagram Grid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Square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1080 x 1080 px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JPG/PNG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Instagram Stories/Reels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Vertical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1080 x 1920 px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JPG/PNG/MP4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LinkedIn Banners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Landscape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1920 x 1080 px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JPG/PNG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MBEB Screens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Landscape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1920 x 1080 px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JPG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 Dining Screens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Portrait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768 x 1366 px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JPG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Albertsons Library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Landscape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1280 x 720 px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JPG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Shuttle Stop Posters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Portrait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x 35 inches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Print-ready PDF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Flyers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Portrait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8.5 x 11 inches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Print-ready PDF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MBEB Posters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Portrait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x 31 inches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Print-ready PDF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4" name="Google Shape;484;p21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5" name="Google Shape;485;p21"/>
          <p:cNvSpPr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💡 TIP: When in doubt, provide the largest size available. COBE Marketing can always scale down but cannot scale up.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TextBox 485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21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2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3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Logistics and Governance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3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Crisis Protocol • Accessibility • Approvals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CRISIS PROTOCOL - MEMORIZE THIS PROCESS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4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When Things Go Wrong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4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Negative comments, errors, or controversial content require immediate action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4"/>
          <p:cNvSpPr/>
          <p:nvPr/>
        </p:nvSpPr>
        <p:spPr>
          <a:xfrm>
            <a:off x="457200" y="1645920"/>
            <a:ext cx="274320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14" name="Google Shape;514;p24"/>
          <p:cNvSpPr/>
          <p:nvPr/>
        </p:nvSpPr>
        <p:spPr>
          <a:xfrm>
            <a:off x="457200" y="1645920"/>
            <a:ext cx="27432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15" name="Google Shape;515;p24"/>
          <p:cNvSpPr/>
          <p:nvPr/>
        </p:nvSpPr>
        <p:spPr>
          <a:xfrm>
            <a:off x="548640" y="164592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PAUSE IMMEDIATELY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4"/>
          <p:cNvSpPr/>
          <p:nvPr/>
        </p:nvSpPr>
        <p:spPr>
          <a:xfrm>
            <a:off x="594360" y="2240280"/>
            <a:ext cx="24688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Stop all scheduled publishing. Do not respond to negative comments yet. Take a breath.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4"/>
          <p:cNvSpPr/>
          <p:nvPr/>
        </p:nvSpPr>
        <p:spPr>
          <a:xfrm>
            <a:off x="3291840" y="1645920"/>
            <a:ext cx="274320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18" name="Google Shape;518;p24"/>
          <p:cNvSpPr/>
          <p:nvPr/>
        </p:nvSpPr>
        <p:spPr>
          <a:xfrm>
            <a:off x="3291840" y="1645920"/>
            <a:ext cx="27432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19" name="Google Shape;519;p24"/>
          <p:cNvSpPr/>
          <p:nvPr/>
        </p:nvSpPr>
        <p:spPr>
          <a:xfrm>
            <a:off x="3383280" y="164592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NOTIFY KATE WATSON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4"/>
          <p:cNvSpPr/>
          <p:nvPr/>
        </p:nvSpPr>
        <p:spPr>
          <a:xfrm>
            <a:off x="3429000" y="2240280"/>
            <a:ext cx="24688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Contact Kate Watson, Director, immediately. She will coordinate the response.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4"/>
          <p:cNvSpPr/>
          <p:nvPr/>
        </p:nvSpPr>
        <p:spPr>
          <a:xfrm>
            <a:off x="6126480" y="1645920"/>
            <a:ext cx="274320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22" name="Google Shape;522;p24"/>
          <p:cNvSpPr/>
          <p:nvPr/>
        </p:nvSpPr>
        <p:spPr>
          <a:xfrm>
            <a:off x="6126480" y="1645920"/>
            <a:ext cx="2743200" cy="457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23" name="Google Shape;523;p24"/>
          <p:cNvSpPr/>
          <p:nvPr/>
        </p:nvSpPr>
        <p:spPr>
          <a:xfrm>
            <a:off x="6217920" y="164592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CORRECT &amp; DOCUMENT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4"/>
          <p:cNvSpPr/>
          <p:nvPr/>
        </p:nvSpPr>
        <p:spPr>
          <a:xfrm>
            <a:off x="6263640" y="2240280"/>
            <a:ext cx="24688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Once approved, correct the issue. Document what happened for future reference.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4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26" name="Google Shape;526;p24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Crisis Contact: Kate Watson, Director - Email first, then call if urgent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25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Budget Planning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CPM Benchmarks • Allocation Frameworks • ROI Analysis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5"/>
          <p:cNvSpPr/>
          <p:nvPr/>
        </p:nvSpPr>
        <p:spPr>
          <a:xfrm>
            <a:off x="8229600" y="1828800"/>
            <a:ext cx="548640" cy="3200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26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CPM Benchmarks by Channel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6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43" name="Google Shape;543;p26"/>
          <p:cNvSpPr/>
          <p:nvPr/>
        </p:nvSpPr>
        <p:spPr>
          <a:xfrm>
            <a:off x="5" y="-5"/>
            <a:ext cx="548700" cy="320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6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Cost Per Thousand Impressions - Lower is better for awareness campaigns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45" name="Google Shape;545;p26"/>
          <p:cNvGraphicFramePr/>
          <p:nvPr/>
        </p:nvGraphicFramePr>
        <p:xfrm>
          <a:off x="457200" y="12344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{601C61E8-C72F-49A2-BF68-AB6E260F276D}</a:tableStyleId>
              </a:tblPr>
              <a:tblGrid>
                <a:gridCol w="2286000"/>
                <a:gridCol w="1188725"/>
                <a:gridCol w="1645925"/>
                <a:gridCol w="1097275"/>
                <a:gridCol w="2011675"/>
              </a:tblGrid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Est. Impressions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Quality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</a:tr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Meta/Instagram Ads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$560/semester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105,000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$5.33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★★★★★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Arbiter Web Banner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$400/mo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$20.00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★★★★☆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Shuttle Stop Posters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$23.33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★★★★★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Blueprint Magazine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$450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$50.00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★★★☆☆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Arbiter Print Ad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$66.67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★★★☆☆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COBE Internal (Free)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FREE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★★★★★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46" name="Google Shape;546;p26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47" name="Google Shape;547;p26"/>
          <p:cNvSpPr/>
          <p:nvPr/>
        </p:nvSpPr>
        <p:spPr>
          <a:xfrm>
            <a:off x="640080" y="352044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KEY INSIGHT: FREE CHANNELS FIRST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6"/>
          <p:cNvSpPr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COBE internal channels deliver ~45,000 impressions at zero cost—that's 19% of total reach in the RHM campaign with $0 spend. Always activate free channels before investing in paid advertising. The combination of strategic paid placement + comprehensive free channel activation delivers maximum ROI.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TextBox 548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25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7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7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Tracking &amp; Analytics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7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QR Codes • UTM Parameters • Performance Measurement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7"/>
          <p:cNvSpPr/>
          <p:nvPr/>
        </p:nvSpPr>
        <p:spPr>
          <a:xfrm>
            <a:off x="8229600" y="1828800"/>
            <a:ext cx="548640" cy="3200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28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QR Code Tracking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8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65" name="Google Shape;565;p28"/>
          <p:cNvSpPr/>
          <p:nvPr/>
        </p:nvSpPr>
        <p:spPr>
          <a:xfrm>
            <a:off x="5" y="9170"/>
            <a:ext cx="548700" cy="32010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8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Measure offline-to-online conversion with trackable QR codes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8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68" name="Google Shape;568;p28"/>
          <p:cNvSpPr/>
          <p:nvPr/>
        </p:nvSpPr>
        <p:spPr>
          <a:xfrm>
            <a:off x="594360" y="1417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Why Track QR Codes?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28"/>
          <p:cNvSpPr/>
          <p:nvPr/>
        </p:nvSpPr>
        <p:spPr>
          <a:xfrm>
            <a:off x="594360" y="1737360"/>
            <a:ext cx="3657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Print materials, posters, and classroom slides drive traffic—but only if you measure it. Trackable QR codes let you see which placements actually generate scans and conversions.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8"/>
          <p:cNvSpPr/>
          <p:nvPr/>
        </p:nvSpPr>
        <p:spPr>
          <a:xfrm>
            <a:off x="594360" y="251460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RECOMMENDED TOOL: Flowcode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8"/>
          <p:cNvSpPr/>
          <p:nvPr/>
        </p:nvSpPr>
        <p:spPr>
          <a:xfrm>
            <a:off x="594360" y="27432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sz="1000" b="0">
                <a:solidFill>
                  <a:srgbClr val="666666"/>
                </a:solidFill>
                <a:latin typeface="Arial"/>
              </a:rPr>
              <a:t>Free tier available. Create unique codes for each placement. Link each to your destination URL.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8"/>
          <p:cNvSpPr/>
          <p:nvPr/>
        </p:nvSpPr>
        <p:spPr>
          <a:xfrm>
            <a:off x="4754880" y="1280160"/>
            <a:ext cx="3931920" cy="201168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73" name="Google Shape;573;p28"/>
          <p:cNvSpPr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Implementation Steps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8"/>
          <p:cNvSpPr/>
          <p:nvPr/>
        </p:nvSpPr>
        <p:spPr>
          <a:xfrm>
            <a:off x="4892040" y="1737360"/>
            <a:ext cx="365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30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800">
                <a:solidFill>
                  <a:srgbClr val="333333"/>
                </a:solidFill>
                <a:latin typeface="Arial"/>
              </a:rPr>
              <a:t>1. Choose your destination link (registration page, RSVP form, Boise State web page). If you don’t have one, request a landing page via COBE Marketing.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sz="800">
                <a:solidFill>
                  <a:srgbClr val="333333"/>
                </a:solidFill>
                <a:latin typeface="Arial"/>
              </a:rPr>
              <a:t>2. Add UTM parameters for digital tracking (if needed)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30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800">
                <a:solidFill>
                  <a:srgbClr val="333333"/>
                </a:solidFill>
                <a:latin typeface="Arial"/>
              </a:rPr>
              <a:t>3. Generate a unique QR code per placement (poster vs. slide vs. flyer)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sz="800">
                <a:solidFill>
                  <a:srgbClr val="333333"/>
                </a:solidFill>
                <a:latin typeface="Arial"/>
              </a:rPr>
              <a:t>4. Name consistently: RHM-ShuttleStop-Feb25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30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800">
                <a:solidFill>
                  <a:srgbClr val="333333"/>
                </a:solidFill>
                <a:latin typeface="Arial"/>
              </a:rPr>
              <a:t>5. Review scan/traffic weekly in Flowcode dashboard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UTM Parameters for Digital Campaigns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8"/>
          <p:cNvSpPr/>
          <p:nvPr/>
        </p:nvSpPr>
        <p:spPr>
          <a:xfrm>
            <a:off x="457200" y="3794760"/>
            <a:ext cx="82296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77" name="Google Shape;577;p28"/>
          <p:cNvSpPr/>
          <p:nvPr/>
        </p:nvSpPr>
        <p:spPr>
          <a:xfrm>
            <a:off x="594360" y="3886200"/>
            <a:ext cx="7955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 URL structure: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8"/>
          <p:cNvSpPr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Consolas"/>
                <a:cs typeface="Consolas"/>
                <a:sym typeface="Consolas"/>
              </a:rPr>
              <a:t>boisestate.edu/cobe/rhm-certificates?utm_source=instagram&amp;utm_medium=social&amp;utm_campaign=rhm-spring25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8"/>
          <p:cNvSpPr/>
          <p:nvPr/>
        </p:nvSpPr>
        <p:spPr>
          <a:xfrm>
            <a:off x="594360" y="443484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 consistent naming: source (where), medium (how), campaign (what). Track in Google Analytics.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27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29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Metrics That Matter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29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7" name="Google Shape;587;p29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Understanding what to measure and what it actually means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29"/>
          <p:cNvSpPr/>
          <p:nvPr/>
        </p:nvSpPr>
        <p:spPr>
          <a:xfrm>
            <a:off x="457200" y="1234440"/>
            <a:ext cx="2743200" cy="2651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9" name="Google Shape;589;p29"/>
          <p:cNvSpPr/>
          <p:nvPr/>
        </p:nvSpPr>
        <p:spPr>
          <a:xfrm>
            <a:off x="594360" y="13716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Reach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29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How many people saw it?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29"/>
          <p:cNvSpPr/>
          <p:nvPr/>
        </p:nvSpPr>
        <p:spPr>
          <a:xfrm>
            <a:off x="594360" y="196596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Unique users who viewed your content. Measures awareness.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9"/>
          <p:cNvSpPr/>
          <p:nvPr/>
        </p:nvSpPr>
        <p:spPr>
          <a:xfrm>
            <a:off x="594360" y="260604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TRACK VIA: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29"/>
          <p:cNvSpPr/>
          <p:nvPr/>
        </p:nvSpPr>
        <p:spPr>
          <a:xfrm>
            <a:off x="594360" y="2788920"/>
            <a:ext cx="2468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Instagram Insights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LinkedIn Analytics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open counts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29"/>
          <p:cNvSpPr/>
          <p:nvPr/>
        </p:nvSpPr>
        <p:spPr>
          <a:xfrm>
            <a:off x="3291840" y="1234440"/>
            <a:ext cx="2743200" cy="2651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95" name="Google Shape;595;p29"/>
          <p:cNvSpPr/>
          <p:nvPr/>
        </p:nvSpPr>
        <p:spPr>
          <a:xfrm>
            <a:off x="3429000" y="13716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Engagement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9"/>
          <p:cNvSpPr/>
          <p:nvPr/>
        </p:nvSpPr>
        <p:spPr>
          <a:xfrm>
            <a:off x="3429000" y="169164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Did they interact?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9"/>
          <p:cNvSpPr/>
          <p:nvPr/>
        </p:nvSpPr>
        <p:spPr>
          <a:xfrm>
            <a:off x="3429000" y="196596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Likes, comments, shares, saves. Measures content quality.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9"/>
          <p:cNvSpPr/>
          <p:nvPr/>
        </p:nvSpPr>
        <p:spPr>
          <a:xfrm>
            <a:off x="3429000" y="260604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TRACK VIA: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29"/>
          <p:cNvSpPr/>
          <p:nvPr/>
        </p:nvSpPr>
        <p:spPr>
          <a:xfrm>
            <a:off x="3429000" y="2788920"/>
            <a:ext cx="2468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Formula: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(Reactions + Comments + Shares) ÷ Impressions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9"/>
          <p:cNvSpPr/>
          <p:nvPr/>
        </p:nvSpPr>
        <p:spPr>
          <a:xfrm>
            <a:off x="6126480" y="1234440"/>
            <a:ext cx="2743200" cy="2651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01" name="Google Shape;601;p29"/>
          <p:cNvSpPr/>
          <p:nvPr/>
        </p:nvSpPr>
        <p:spPr>
          <a:xfrm>
            <a:off x="6263640" y="13716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Conversion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9"/>
          <p:cNvSpPr/>
          <p:nvPr/>
        </p:nvSpPr>
        <p:spPr>
          <a:xfrm>
            <a:off x="6263640" y="1691640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Did they take action?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9"/>
          <p:cNvSpPr/>
          <p:nvPr/>
        </p:nvSpPr>
        <p:spPr>
          <a:xfrm>
            <a:off x="6263640" y="196596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RSVPs, applications, registrations. The metric that matters for ROI.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9"/>
          <p:cNvSpPr/>
          <p:nvPr/>
        </p:nvSpPr>
        <p:spPr>
          <a:xfrm>
            <a:off x="6263640" y="260604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TRACK VIA: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9"/>
          <p:cNvSpPr/>
          <p:nvPr/>
        </p:nvSpPr>
        <p:spPr>
          <a:xfrm>
            <a:off x="6263640" y="2788920"/>
            <a:ext cx="2468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Event registrations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Applications submitted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Employer inquiries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9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07" name="Google Shape;607;p29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💡 Pro tip: Reach without conversion is vanity. Always connect metrics back to program goals.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9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CADENCE: Weekly snapshots • Monthly channel roll-ups • Per-campaign recaps • Semester summaries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28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30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PROOF OF CONCEPT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30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RHM Case Study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30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Spring 2025 Marketing Campaign Results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RHM Spring 2025: Budget Overview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31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24" name="Google Shape;624;p3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Certificate programs marketing campaign | January - May 2025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1"/>
          <p:cNvSpPr/>
          <p:nvPr/>
        </p:nvSpPr>
        <p:spPr>
          <a:xfrm>
            <a:off x="457200" y="1234440"/>
            <a:ext cx="2743200" cy="11887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26" name="Google Shape;626;p31"/>
          <p:cNvSpPr/>
          <p:nvPr/>
        </p:nvSpPr>
        <p:spPr>
          <a:xfrm>
            <a:off x="457200" y="132588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$2,090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1"/>
          <p:cNvSpPr/>
          <p:nvPr/>
        </p:nvSpPr>
        <p:spPr>
          <a:xfrm>
            <a:off x="457200" y="1828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31"/>
          <p:cNvSpPr/>
          <p:nvPr/>
        </p:nvSpPr>
        <p:spPr>
          <a:xfrm>
            <a:off x="457200" y="21031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Paid advertising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1"/>
          <p:cNvSpPr/>
          <p:nvPr/>
        </p:nvSpPr>
        <p:spPr>
          <a:xfrm>
            <a:off x="3291840" y="1234440"/>
            <a:ext cx="2743200" cy="11887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30" name="Google Shape;630;p31"/>
          <p:cNvSpPr/>
          <p:nvPr/>
        </p:nvSpPr>
        <p:spPr>
          <a:xfrm>
            <a:off x="3291840" y="132588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237K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31"/>
          <p:cNvSpPr/>
          <p:nvPr/>
        </p:nvSpPr>
        <p:spPr>
          <a:xfrm>
            <a:off x="3291840" y="1828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Est. Impressions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1"/>
          <p:cNvSpPr/>
          <p:nvPr/>
        </p:nvSpPr>
        <p:spPr>
          <a:xfrm>
            <a:off x="3291840" y="21031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Paid + free channels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1"/>
          <p:cNvSpPr/>
          <p:nvPr/>
        </p:nvSpPr>
        <p:spPr>
          <a:xfrm>
            <a:off x="6126480" y="1234440"/>
            <a:ext cx="2743200" cy="118872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34" name="Google Shape;634;p31"/>
          <p:cNvSpPr/>
          <p:nvPr/>
        </p:nvSpPr>
        <p:spPr>
          <a:xfrm>
            <a:off x="6126480" y="132588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$8.82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1"/>
          <p:cNvSpPr/>
          <p:nvPr/>
        </p:nvSpPr>
        <p:spPr>
          <a:xfrm>
            <a:off x="6126480" y="1828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Blended CPM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1"/>
          <p:cNvSpPr/>
          <p:nvPr/>
        </p:nvSpPr>
        <p:spPr>
          <a:xfrm>
            <a:off x="6126480" y="21031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Cost per 1,000 impressions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31"/>
          <p:cNvSpPr/>
          <p:nvPr/>
        </p:nvSpPr>
        <p:spPr>
          <a:xfrm>
            <a:off x="457200" y="2606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Budget Allocation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38" name="Google Shape;638;p31"/>
          <p:cNvGraphicFramePr/>
          <p:nvPr/>
        </p:nvGraphicFramePr>
        <p:xfrm>
          <a:off x="457200" y="2926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{601C61E8-C72F-49A2-BF68-AB6E260F276D}</a:tableStyleId>
              </a:tblPr>
              <a:tblGrid>
                <a:gridCol w="3200400"/>
                <a:gridCol w="914400"/>
                <a:gridCol w="1188725"/>
                <a:gridCol w="1554475"/>
                <a:gridCol w="1371600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 Category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 of Budget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Est. Impressions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Paid Student Media (Blueprint, Arbiter)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$1,250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$16.67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Paid Social (Meta/Instagram)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105,000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$5.33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Paid Print (Shuttle Stops)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$23.33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Free Channels (COBE Internal)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45,000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FREE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39" name="TextBox 638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30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3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RHM Campaign: Key Insights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32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46" name="Google Shape;646;p3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sz="1200" b="0">
                <a:solidFill>
                  <a:srgbClr val="666666"/>
                </a:solidFill>
                <a:latin typeface="Arial"/>
              </a:rPr>
              <a:t>What worked and what COBE Marketing learned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32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48" name="Google Shape;648;p32"/>
          <p:cNvSpPr/>
          <p:nvPr/>
        </p:nvSpPr>
        <p:spPr>
          <a:xfrm>
            <a:off x="594360" y="132588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Best CPM: Meta/Instagram Ads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2"/>
          <p:cNvSpPr/>
          <p:nvPr/>
        </p:nvSpPr>
        <p:spPr>
          <a:xfrm>
            <a:off x="594360" y="1600200"/>
            <a:ext cx="7955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$5.33 per 1,000 impressions with precise demographic targeting to Boise residents + BSU students. $5/day budget is manageable and effective.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32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51" name="Google Shape;651;p32"/>
          <p:cNvSpPr/>
          <p:nvPr/>
        </p:nvSpPr>
        <p:spPr>
          <a:xfrm>
            <a:off x="594360" y="219456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Best Quality: Tabling &amp; Class Visits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32"/>
          <p:cNvSpPr/>
          <p:nvPr/>
        </p:nvSpPr>
        <p:spPr>
          <a:xfrm>
            <a:off x="594360" y="2468880"/>
            <a:ext cx="7955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Highest-quality direct engagement. QR-coded handouts drive traffic to landing page with trackable attribution.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32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54" name="Google Shape;654;p32"/>
          <p:cNvSpPr/>
          <p:nvPr/>
        </p:nvSpPr>
        <p:spPr>
          <a:xfrm>
            <a:off x="594360" y="306324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Free Channel Value: 45K Impressions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32"/>
          <p:cNvSpPr/>
          <p:nvPr/>
        </p:nvSpPr>
        <p:spPr>
          <a:xfrm>
            <a:off x="594360" y="3337560"/>
            <a:ext cx="7955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COBE internal channels (social, newsletter, screens, tabling) deliver significant reach at zero cost. Always activate these first.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2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57" name="Google Shape;657;p32"/>
          <p:cNvSpPr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Newsletter Strategy Matters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32"/>
          <p:cNvSpPr/>
          <p:nvPr/>
        </p:nvSpPr>
        <p:spPr>
          <a:xfrm>
            <a:off x="594360" y="4206240"/>
            <a:ext cx="7955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Feature programs every few months with varied messaging. Don't appear in every email or subscribers tune out. Coordinate timing with Kate.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32"/>
          <p:cNvSpPr/>
          <p:nvPr/>
        </p:nvSpPr>
        <p:spPr>
          <a:xfrm>
            <a:off x="457200" y="4709160"/>
            <a:ext cx="8229600" cy="41148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60" name="Google Shape;660;p32"/>
          <p:cNvSpPr/>
          <p:nvPr/>
        </p:nvSpPr>
        <p:spPr>
          <a:xfrm>
            <a:off x="640080" y="470916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BOTTOM LINE: Free channels deliver ~19% of total impressions at zero cost. Combine strategic paid + free activation for max ROI.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TextBox 660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31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3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SECTION 08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33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Resources &amp; Directory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3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Arial"/>
              </a:rPr>
              <a:t>Templates &amp; Links Hub • FAQ • Contact Directory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33A0"/>
                </a:solidFill>
                <a:latin typeface="Arial"/>
              </a:rPr>
              <a:t>Templates &amp; Links Hub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</a:rPr>
              <a:t>Everything you need to get started — templates, tools, and reference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000"/>
            <a:ext cx="3931920" cy="5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508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Creative Brief Template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Arial"/>
              </a:rPr>
              <a:t>Submit campaign details to COBE Marketing</a:t>
            </a:r>
          </a:p>
          <a:p>
            <a:pPr>
              <a:spcAft>
                <a:spcPts val="100"/>
              </a:spcAft>
            </a:pPr>
            <a:r>
              <a:rPr sz="800" i="1">
                <a:solidFill>
                  <a:srgbClr val="666666"/>
                </a:solidFill>
                <a:latin typeface="Arial"/>
              </a:rPr>
              <a:t>Use for every new campaign or event request</a:t>
            </a:r>
          </a:p>
          <a:p>
            <a:r>
              <a:rPr sz="700">
                <a:solidFill>
                  <a:srgbClr val="0033A0"/>
                </a:solidFill>
                <a:latin typeface="Arial"/>
              </a:rPr>
              <a:t>→ templates/creative-brief-template.md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280000"/>
            <a:ext cx="3931920" cy="5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508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Copy Prompts Template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Arial"/>
              </a:rPr>
              <a:t>Pre-written copy frameworks for each channel</a:t>
            </a:r>
          </a:p>
          <a:p>
            <a:pPr>
              <a:spcAft>
                <a:spcPts val="100"/>
              </a:spcAft>
            </a:pPr>
            <a:r>
              <a:rPr sz="800" i="1">
                <a:solidFill>
                  <a:srgbClr val="666666"/>
                </a:solidFill>
                <a:latin typeface="Arial"/>
              </a:rPr>
              <a:t>Instagram, LinkedIn, email, screens, classroom</a:t>
            </a:r>
          </a:p>
          <a:p>
            <a:r>
              <a:rPr sz="700">
                <a:solidFill>
                  <a:srgbClr val="0033A0"/>
                </a:solidFill>
                <a:latin typeface="Arial"/>
              </a:rPr>
              <a:t>→ templates/copy-prompts-template.md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30000"/>
            <a:ext cx="3931920" cy="5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508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Campaign Calendar Template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Arial"/>
              </a:rPr>
              <a:t>Plan multi-channel event promotion timelines</a:t>
            </a:r>
          </a:p>
          <a:p>
            <a:pPr>
              <a:spcAft>
                <a:spcPts val="100"/>
              </a:spcAft>
            </a:pPr>
            <a:r>
              <a:rPr sz="800" i="1">
                <a:solidFill>
                  <a:srgbClr val="666666"/>
                </a:solidFill>
                <a:latin typeface="Arial"/>
              </a:rPr>
              <a:t>Work-back schedule: 6 weeks to event day</a:t>
            </a:r>
          </a:p>
          <a:p>
            <a:r>
              <a:rPr sz="700">
                <a:solidFill>
                  <a:srgbClr val="0033A0"/>
                </a:solidFill>
                <a:latin typeface="Arial"/>
              </a:rPr>
              <a:t>→ templates/campaign-calendar-template.md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930000"/>
            <a:ext cx="3931920" cy="5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508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Budget Request Template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Arial"/>
              </a:rPr>
              <a:t>Estimate costs and request paid advertising</a:t>
            </a:r>
          </a:p>
          <a:p>
            <a:pPr>
              <a:spcAft>
                <a:spcPts val="100"/>
              </a:spcAft>
            </a:pPr>
            <a:r>
              <a:rPr sz="800" i="1">
                <a:solidFill>
                  <a:srgbClr val="666666"/>
                </a:solidFill>
                <a:latin typeface="Arial"/>
              </a:rPr>
              <a:t>CPM benchmarks + free vs paid channel mix</a:t>
            </a:r>
          </a:p>
          <a:p>
            <a:r>
              <a:rPr sz="700">
                <a:solidFill>
                  <a:srgbClr val="0033A0"/>
                </a:solidFill>
                <a:latin typeface="Arial"/>
              </a:rPr>
              <a:t>→ templates/budget-request-template.md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80000"/>
            <a:ext cx="3931920" cy="5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508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Social Media Calendar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Arial"/>
              </a:rPr>
              <a:t>Weekly/monthly posting schedule</a:t>
            </a:r>
          </a:p>
          <a:p>
            <a:pPr>
              <a:spcAft>
                <a:spcPts val="100"/>
              </a:spcAft>
            </a:pPr>
            <a:r>
              <a:rPr sz="800" i="1">
                <a:solidFill>
                  <a:srgbClr val="666666"/>
                </a:solidFill>
                <a:latin typeface="Arial"/>
              </a:rPr>
              <a:t>Excel template for content planning</a:t>
            </a:r>
          </a:p>
          <a:p>
            <a:r>
              <a:rPr sz="700">
                <a:solidFill>
                  <a:srgbClr val="0033A0"/>
                </a:solidFill>
                <a:latin typeface="Arial"/>
              </a:rPr>
              <a:t>→ Social Media Calendar Template.xlsx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580000"/>
            <a:ext cx="3931920" cy="5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5080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33A0"/>
                </a:solidFill>
                <a:latin typeface="Arial"/>
              </a:rPr>
              <a:t>Social Media Calendar Example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Arial"/>
              </a:rPr>
              <a:t>Sample calendar showing structure and pacing</a:t>
            </a:r>
          </a:p>
          <a:p>
            <a:pPr>
              <a:spcAft>
                <a:spcPts val="100"/>
              </a:spcAft>
            </a:pPr>
            <a:r>
              <a:rPr sz="800" i="1">
                <a:solidFill>
                  <a:srgbClr val="666666"/>
                </a:solidFill>
                <a:latin typeface="Arial"/>
              </a:rPr>
              <a:t>Model for cadence and content types</a:t>
            </a:r>
          </a:p>
          <a:p>
            <a:r>
              <a:rPr sz="700">
                <a:solidFill>
                  <a:srgbClr val="0033A0"/>
                </a:solidFill>
                <a:latin typeface="Arial"/>
              </a:rPr>
              <a:t>→ Social Media Calendar Example.xlsx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00000"/>
            <a:ext cx="8229600" cy="700000"/>
          </a:xfrm>
          <a:prstGeom prst="roundRect">
            <a:avLst>
              <a:gd name="adj" fmla="val 4000"/>
            </a:avLst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30000"/>
            <a:ext cx="795528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033A0"/>
                </a:solidFill>
                <a:latin typeface="Arial"/>
              </a:rPr>
              <a:t>KEY LINKS &amp; CONTACTS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All requests: cobe-info@boisestate.edu   |   Subject line: PROGRAM REQUEST - Channel - Date Range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University events calendar: boisestate.enterprise.localist.com   |   Brand guide: brandguide.boisestate.edu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Career Services: cobecareers@boisestate.edu   |   QR code generator: flowcode.com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3200"/>
              <a:buFont typeface="Arial"/>
              <a:buNone/>
            </a:pPr>
            <a:r>
              <a:rPr sz="3200" b="1">
                <a:solidFill>
                  <a:srgbClr val="0033A0"/>
                </a:solidFill>
                <a:latin typeface="Arial"/>
              </a:rPr>
              <a:t>Appendix: Lead Times Reference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2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93" name="Google Shape;493;p2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sz="1200" b="0">
                <a:solidFill>
                  <a:srgbClr val="666666"/>
                </a:solidFill>
                <a:latin typeface="Arial"/>
              </a:rPr>
              <a:t>Hands-Off: add time for COBE Marketing to create copy/design. Hands-On: faster if assets are already on-spec and final. Rush requests require director approval.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94" name="Google Shape;494;p22"/>
          <p:cNvGraphicFramePr/>
          <p:nvPr/>
        </p:nvGraphicFramePr>
        <p:xfrm>
          <a:off x="45720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{601C61E8-C72F-49A2-BF68-AB6E260F276D}</a:tableStyleId>
              </a:tblPr>
              <a:tblGrid>
                <a:gridCol w="2286000"/>
                <a:gridCol w="1828800"/>
                <a:gridCol w="4114800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Lead Time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A0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Instagram &amp; LinkedIn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business days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Sensitive topics require manager approval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Newsletter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10-15 business days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Longer for multi-section newsletters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Web Updates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business days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Include exact copy, URL, and alt text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Landing Pages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 business days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Requires CTA ownership and form routing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Events &amp; Fairs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3-6 weeks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Longer for venue and partner coordination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MBEB Screens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 business days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1920x1080px, dark background required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Printed Materials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2-3 weeks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 b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Include FDCC budget code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50800" marL="508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5" name="Google Shape;495;p22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What to Include in Your Request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2"/>
          <p:cNvSpPr/>
          <p:nvPr/>
        </p:nvSpPr>
        <p:spPr>
          <a:xfrm>
            <a:off x="457200" y="406908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Channel(s) requested  •  Target publish date(s)  •  Campaign objective + success metric  •  Copy draft (≤100 words) and CTA link  •  Assets with correct sizes + alt text  •  Lead owner for approvals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34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34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Frequently Asked Questions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34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76" name="Google Shape;676;p34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Q: Can I post directly to COBE social accounts?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A: No. All content goes through cobe-info@boisestate.edu for brand review.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4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Q: How fast can COBE Marketing turn this around?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A: Standard is 10 business days. Rush requests need director approval. See each channel slide for specific lead times.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4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Q: I have an event in 2 weeks. Is that enough time?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34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A: Yes for social/email. Events/fairs need 3-6 weeks for full campaign.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4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Q: Do I need to provide graphics?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4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A: No. Hands-Off: COBE Marketing creates them. Hands-On: use COBE templates from the Templates &amp; Links Hub.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4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Q: Can you promote my student org event?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34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A: Yes! Email cobe-info with subject 'STUDENT ORG REQUEST' and details.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Q: What if I need to make a last-minute change?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4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</a:pPr>
            <a:r>
              <a:rPr sz="1100" b="0">
                <a:solidFill>
                  <a:srgbClr val="666666"/>
                </a:solidFill>
                <a:latin typeface="Arial"/>
              </a:rPr>
              <a:t>A: Contact Kate Watson directly. COBE Marketing will do its best to accommodate.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TextBox 687"/>
          <p:cNvSpPr txBox="1"/>
          <p:nvPr/>
        </p:nvSpPr>
        <p:spPr>
          <a:xfrm>
            <a:off x="457200" y="4750000"/>
            <a:ext cx="82296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Arial"/>
              </a:rPr>
              <a:t>Q: Where do I find the templates?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A: See the Templates &amp; Links Hub (Slide 33) or the /templates folder in the playbook repository.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35</a:t>
            </a:r>
          </a:p>
        </p:txBody>
      </p:sp>
      <p:sp>
        <p:nvSpPr>
          <p:cNvPr id="690" name="TextBox 689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35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Your Marketing Team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5"/>
          <p:cNvSpPr/>
          <p:nvPr/>
        </p:nvSpPr>
        <p:spPr>
          <a:xfrm>
            <a:off x="457200" y="777240"/>
            <a:ext cx="1371600" cy="54864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95" name="Google Shape;695;p35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Know who to contact for what - and always start with cobe-info@boisestate.edu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5"/>
          <p:cNvSpPr/>
          <p:nvPr/>
        </p:nvSpPr>
        <p:spPr>
          <a:xfrm>
            <a:off x="457200" y="1280160"/>
            <a:ext cx="27432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697" name="Google Shape;697;p35"/>
          <p:cNvSpPr/>
          <p:nvPr/>
        </p:nvSpPr>
        <p:spPr>
          <a:xfrm>
            <a:off x="594360" y="137160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DIRECTOR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5"/>
          <p:cNvSpPr/>
          <p:nvPr/>
        </p:nvSpPr>
        <p:spPr>
          <a:xfrm>
            <a:off x="594360" y="16002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Kate Watson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35"/>
          <p:cNvSpPr/>
          <p:nvPr/>
        </p:nvSpPr>
        <p:spPr>
          <a:xfrm>
            <a:off x="594360" y="196596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Strategy, approvals, crisis response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35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01" name="Google Shape;701;p35"/>
          <p:cNvSpPr/>
          <p:nvPr/>
        </p:nvSpPr>
        <p:spPr>
          <a:xfrm>
            <a:off x="3429000" y="137160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MGMT ASSISTANT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35"/>
          <p:cNvSpPr/>
          <p:nvPr/>
        </p:nvSpPr>
        <p:spPr>
          <a:xfrm>
            <a:off x="3429000" y="16002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Kim Presnell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35"/>
          <p:cNvSpPr/>
          <p:nvPr/>
        </p:nvSpPr>
        <p:spPr>
          <a:xfrm>
            <a:off x="3429000" y="196596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Social scheduling, posting logistics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35"/>
          <p:cNvSpPr/>
          <p:nvPr/>
        </p:nvSpPr>
        <p:spPr>
          <a:xfrm>
            <a:off x="6126480" y="1280160"/>
            <a:ext cx="27432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05" name="Google Shape;705;p35"/>
          <p:cNvSpPr/>
          <p:nvPr/>
        </p:nvSpPr>
        <p:spPr>
          <a:xfrm>
            <a:off x="6263640" y="137160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MULTIMEDIA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35"/>
          <p:cNvSpPr/>
          <p:nvPr/>
        </p:nvSpPr>
        <p:spPr>
          <a:xfrm>
            <a:off x="6263640" y="16002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Joe Morgan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35"/>
          <p:cNvSpPr/>
          <p:nvPr/>
        </p:nvSpPr>
        <p:spPr>
          <a:xfrm>
            <a:off x="6263640" y="196596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Video production, event photography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5"/>
          <p:cNvSpPr/>
          <p:nvPr/>
        </p:nvSpPr>
        <p:spPr>
          <a:xfrm>
            <a:off x="457200" y="2651760"/>
            <a:ext cx="27432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09" name="Google Shape;709;p35"/>
          <p:cNvSpPr/>
          <p:nvPr/>
        </p:nvSpPr>
        <p:spPr>
          <a:xfrm>
            <a:off x="594360" y="274320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GRAPHIC DESIGN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5"/>
          <p:cNvSpPr/>
          <p:nvPr/>
        </p:nvSpPr>
        <p:spPr>
          <a:xfrm>
            <a:off x="594360" y="29718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McKenna Howard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5"/>
          <p:cNvSpPr/>
          <p:nvPr/>
        </p:nvSpPr>
        <p:spPr>
          <a:xfrm>
            <a:off x="594360" y="333756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Visual assets, layout design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35"/>
          <p:cNvSpPr/>
          <p:nvPr/>
        </p:nvSpPr>
        <p:spPr>
          <a:xfrm>
            <a:off x="3291840" y="2651760"/>
            <a:ext cx="27432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3" name="Google Shape;713;p35"/>
          <p:cNvSpPr/>
          <p:nvPr/>
        </p:nvSpPr>
        <p:spPr>
          <a:xfrm>
            <a:off x="3429000" y="2743200"/>
            <a:ext cx="2468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GRAPHIC DESIGN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3429000" y="29718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Ann Hottinger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5"/>
          <p:cNvSpPr/>
          <p:nvPr/>
        </p:nvSpPr>
        <p:spPr>
          <a:xfrm>
            <a:off x="3429000" y="333756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Creative support, template design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35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7" name="Google Shape;717;p35"/>
          <p:cNvSpPr/>
          <p:nvPr/>
        </p:nvSpPr>
        <p:spPr>
          <a:xfrm>
            <a:off x="640080" y="4114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EMPLOYER EVENTS: Contact COBE Career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5"/>
          <p:cNvSpPr/>
          <p:nvPr/>
        </p:nvSpPr>
        <p:spPr>
          <a:xfrm>
            <a:off x="640080" y="43434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Career fairs, employer mixers, recruiting events → Laura Chiuppi (208) 426-1355 | cobecareers@boisestate.edu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Remember: All requests start at cobe-info@boisestate.edu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TextBox 719"/>
          <p:cNvSpPr txBox="1"/>
          <p:nvPr/>
        </p:nvSpPr>
        <p:spPr>
          <a:xfrm>
            <a:off x="7800000" y="5000000"/>
            <a:ext cx="8868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66"/>
                </a:solidFill>
                <a:latin typeface="Arial"/>
              </a:rPr>
              <a:t>36</a:t>
            </a:r>
          </a:p>
        </p:txBody>
      </p:sp>
      <p:sp>
        <p:nvSpPr>
          <p:cNvPr id="721" name="TextBox 720"/>
          <p:cNvSpPr txBox="1"/>
          <p:nvPr/>
        </p:nvSpPr>
        <p:spPr>
          <a:xfrm>
            <a:off x="457200" y="5000000"/>
            <a:ext cx="4000000" cy="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COBE Marketing Playbook  |  cobe-info@boisestate.edu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3A0"/>
        </a:solidFill>
      </p:bgPr>
    </p:bg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6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309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64309"/>
                </a:solidFill>
                <a:latin typeface="Arial"/>
                <a:ea typeface="Arial"/>
                <a:cs typeface="Arial"/>
                <a:sym typeface="Arial"/>
              </a:rPr>
              <a:t>LET'S GO BRONCOS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6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Ready to Get Started?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sz="1400" b="0">
                <a:solidFill>
                  <a:srgbClr val="FFFFFF"/>
                </a:solidFill>
                <a:latin typeface="Arial"/>
              </a:rPr>
              <a:t>Pick your path, send your request, and COBE Marketing is here to help you succeed.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6"/>
          <p:cNvSpPr/>
          <p:nvPr/>
        </p:nvSpPr>
        <p:spPr>
          <a:xfrm>
            <a:off x="2286000" y="3200400"/>
            <a:ext cx="4572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29" name="Google Shape;729;p36"/>
          <p:cNvSpPr/>
          <p:nvPr/>
        </p:nvSpPr>
        <p:spPr>
          <a:xfrm>
            <a:off x="2286000" y="3200400"/>
            <a:ext cx="4572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33A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33A0"/>
                </a:solidFill>
                <a:latin typeface="Arial"/>
                <a:ea typeface="Arial"/>
                <a:cs typeface="Arial"/>
                <a:sym typeface="Arial"/>
              </a:rPr>
              <a:t>cobe-info@boisestate.edu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6"/>
          <p:cNvSpPr/>
          <p:nvPr/>
        </p:nvSpPr>
        <p:spPr>
          <a:xfrm>
            <a:off x="2286000" y="4114800"/>
            <a:ext cx="2194560" cy="5486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31" name="Google Shape;731;p36"/>
          <p:cNvSpPr/>
          <p:nvPr/>
        </p:nvSpPr>
        <p:spPr>
          <a:xfrm>
            <a:off x="2286000" y="411480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Hands-Off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Send facts → COBE Marketing creates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6"/>
          <p:cNvSpPr/>
          <p:nvPr/>
        </p:nvSpPr>
        <p:spPr>
          <a:xfrm>
            <a:off x="4663440" y="4114800"/>
            <a:ext cx="2194560" cy="548640"/>
          </a:xfrm>
          <a:prstGeom prst="rect">
            <a:avLst/>
          </a:prstGeom>
          <a:solidFill>
            <a:srgbClr val="D64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33" name="Google Shape;733;p36"/>
          <p:cNvSpPr/>
          <p:nvPr/>
        </p:nvSpPr>
        <p:spPr>
          <a:xfrm>
            <a:off x="4663440" y="411480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Hands-On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COBE templates → COBE Marketing approves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6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COBE Marketing Team • College of Business and Economics • Boise State University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2026-01-29T21:00:03Z</dcterms:created>
  <dc:creator>COBE Marketing Team</dc:creator>
</cp:coreProperties>
</file>