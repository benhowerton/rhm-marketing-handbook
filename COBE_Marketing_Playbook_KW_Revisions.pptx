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42.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51.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D4631F1-437D-4764-92B6-2A4562E18BC6}">
  <a:tblStyle styleId="{AD4631F1-437D-4764-92B6-2A4562E18BC6}"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 name="Shape 12"/>
        <p:cNvGrpSpPr/>
        <p:nvPr/>
      </p:nvGrpSpPr>
      <p:grpSpPr>
        <a:xfrm>
          <a:off x="0" y="0"/>
          <a:ext cx="0" cy="0"/>
          <a:chOff x="0" y="0"/>
          <a:chExt cx="0" cy="0"/>
        </a:xfrm>
      </p:grpSpPr>
      <p:sp>
        <p:nvSpPr>
          <p:cNvPr id="13" name="Google Shape;1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 name="Google Shape;1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 name="Google Shape;15;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 name="Google Shape;5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 name="Google Shape;7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 name="Google Shape;9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 name="Google Shape;10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 name="Google Shape;154;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7" name="Google Shape;17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9" name="Google Shape;18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0" name="Google Shape;21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9" name="Google Shape;24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1" name="Google Shape;26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0" name="Google Shape;3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1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6" name="Google Shape;43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5" name="Google Shape;46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6" name="Google Shape;46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7" name="Google Shape;497;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8" name="Google Shape;498;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0" name="Google Shape;5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1" name="Google Shape;5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3" name="Google Shape;52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4" name="Google Shape;54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5" name="Google Shape;54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5" name="Google Shape;595;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5" name="Google Shape;615;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6" name="Google Shape;616;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8" name="Google Shape;63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8" name="Google Shape;668;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8" name="Google Shape;698;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5" name="Shape 725"/>
        <p:cNvGrpSpPr/>
        <p:nvPr/>
      </p:nvGrpSpPr>
      <p:grpSpPr>
        <a:xfrm>
          <a:off x="0" y="0"/>
          <a:ext cx="0" cy="0"/>
          <a:chOff x="0" y="0"/>
          <a:chExt cx="0" cy="0"/>
        </a:xfrm>
      </p:grpSpPr>
      <p:sp>
        <p:nvSpPr>
          <p:cNvPr id="726" name="Google Shape;726;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7" name="Google Shape;727;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8" name="Google Shape;728;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41" name="Google Shape;741;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3" name="Google Shape;763;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3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89" name="Google Shape;789;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7" name="Shape 807"/>
        <p:cNvGrpSpPr/>
        <p:nvPr/>
      </p:nvGrpSpPr>
      <p:grpSpPr>
        <a:xfrm>
          <a:off x="0" y="0"/>
          <a:ext cx="0" cy="0"/>
          <a:chOff x="0" y="0"/>
          <a:chExt cx="0" cy="0"/>
        </a:xfrm>
      </p:grpSpPr>
      <p:sp>
        <p:nvSpPr>
          <p:cNvPr id="808" name="Google Shape;808;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9" name="Google Shape;809;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0" name="Google Shape;810;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3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8" name="Google Shape;82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3bd691eab24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g3bd691eab24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9" name="Google Shape;849;g3bd691eab24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0" name="Google Shape;860;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p3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0" name="Google Shape;890;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3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20" name="Google Shape;9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0" name="Google Shape;960;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 name="Shape 988"/>
        <p:cNvGrpSpPr/>
        <p:nvPr/>
      </p:nvGrpSpPr>
      <p:grpSpPr>
        <a:xfrm>
          <a:off x="0" y="0"/>
          <a:ext cx="0" cy="0"/>
          <a:chOff x="0" y="0"/>
          <a:chExt cx="0" cy="0"/>
        </a:xfrm>
      </p:grpSpPr>
      <p:sp>
        <p:nvSpPr>
          <p:cNvPr id="989" name="Google Shape;989;p4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0" name="Google Shape;990;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4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0" name="Google Shape;1010;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p4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1" name="Google Shape;1031;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9" name="Shape 1049"/>
        <p:cNvGrpSpPr/>
        <p:nvPr/>
      </p:nvGrpSpPr>
      <p:grpSpPr>
        <a:xfrm>
          <a:off x="0" y="0"/>
          <a:ext cx="0" cy="0"/>
          <a:chOff x="0" y="0"/>
          <a:chExt cx="0" cy="0"/>
        </a:xfrm>
      </p:grpSpPr>
      <p:sp>
        <p:nvSpPr>
          <p:cNvPr id="1050" name="Google Shape;105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1" name="Google Shape;105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2" name="Google Shape;105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0" name="Shape 1060"/>
        <p:cNvGrpSpPr/>
        <p:nvPr/>
      </p:nvGrpSpPr>
      <p:grpSpPr>
        <a:xfrm>
          <a:off x="0" y="0"/>
          <a:ext cx="0" cy="0"/>
          <a:chOff x="0" y="0"/>
          <a:chExt cx="0" cy="0"/>
        </a:xfrm>
      </p:grpSpPr>
      <p:sp>
        <p:nvSpPr>
          <p:cNvPr id="1061" name="Google Shape;1061;p4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2" name="Google Shape;1062;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1" name="Shape 1091"/>
        <p:cNvGrpSpPr/>
        <p:nvPr/>
      </p:nvGrpSpPr>
      <p:grpSpPr>
        <a:xfrm>
          <a:off x="0" y="0"/>
          <a:ext cx="0" cy="0"/>
          <a:chOff x="0" y="0"/>
          <a:chExt cx="0" cy="0"/>
        </a:xfrm>
      </p:grpSpPr>
      <p:sp>
        <p:nvSpPr>
          <p:cNvPr id="1092" name="Google Shape;1092;p4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93" name="Google Shape;1093;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p4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23" name="Google Shape;1123;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1" name="Shape 1131"/>
        <p:cNvGrpSpPr/>
        <p:nvPr/>
      </p:nvGrpSpPr>
      <p:grpSpPr>
        <a:xfrm>
          <a:off x="0" y="0"/>
          <a:ext cx="0" cy="0"/>
          <a:chOff x="0" y="0"/>
          <a:chExt cx="0" cy="0"/>
        </a:xfrm>
      </p:grpSpPr>
      <p:sp>
        <p:nvSpPr>
          <p:cNvPr id="1132" name="Google Shape;1132;p4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3" name="Google Shape;113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2" name="Shape 1162"/>
        <p:cNvGrpSpPr/>
        <p:nvPr/>
      </p:nvGrpSpPr>
      <p:grpSpPr>
        <a:xfrm>
          <a:off x="0" y="0"/>
          <a:ext cx="0" cy="0"/>
          <a:chOff x="0" y="0"/>
          <a:chExt cx="0" cy="0"/>
        </a:xfrm>
      </p:grpSpPr>
      <p:sp>
        <p:nvSpPr>
          <p:cNvPr id="1163" name="Google Shape;1163;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4" name="Google Shape;1164;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5" name="Google Shape;1165;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p4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5" name="Google Shape;120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1" name="Shape 1211"/>
        <p:cNvGrpSpPr/>
        <p:nvPr/>
      </p:nvGrpSpPr>
      <p:grpSpPr>
        <a:xfrm>
          <a:off x="0" y="0"/>
          <a:ext cx="0" cy="0"/>
          <a:chOff x="0" y="0"/>
          <a:chExt cx="0" cy="0"/>
        </a:xfrm>
      </p:grpSpPr>
      <p:sp>
        <p:nvSpPr>
          <p:cNvPr id="1212" name="Google Shape;1212;g3bd691eab24_0_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3" name="Google Shape;1213;g3bd691eab24_0_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4" name="Google Shape;1214;g3bd691eab24_0_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1" name="Shape 1221"/>
        <p:cNvGrpSpPr/>
        <p:nvPr/>
      </p:nvGrpSpPr>
      <p:grpSpPr>
        <a:xfrm>
          <a:off x="0" y="0"/>
          <a:ext cx="0" cy="0"/>
          <a:chOff x="0" y="0"/>
          <a:chExt cx="0" cy="0"/>
        </a:xfrm>
      </p:grpSpPr>
      <p:sp>
        <p:nvSpPr>
          <p:cNvPr id="1222" name="Google Shape;1222;p5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23" name="Google Shape;1223;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5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0" name="Google Shape;1250;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8" name="Shape 1278"/>
        <p:cNvGrpSpPr/>
        <p:nvPr/>
      </p:nvGrpSpPr>
      <p:grpSpPr>
        <a:xfrm>
          <a:off x="0" y="0"/>
          <a:ext cx="0" cy="0"/>
          <a:chOff x="0" y="0"/>
          <a:chExt cx="0" cy="0"/>
        </a:xfrm>
      </p:grpSpPr>
      <p:sp>
        <p:nvSpPr>
          <p:cNvPr id="1279" name="Google Shape;1279;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0" name="Google Shape;1280;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1" name="Google Shape;1281;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7" name="Shape 1287"/>
        <p:cNvGrpSpPr/>
        <p:nvPr/>
      </p:nvGrpSpPr>
      <p:grpSpPr>
        <a:xfrm>
          <a:off x="0" y="0"/>
          <a:ext cx="0" cy="0"/>
          <a:chOff x="0" y="0"/>
          <a:chExt cx="0" cy="0"/>
        </a:xfrm>
      </p:grpSpPr>
      <p:sp>
        <p:nvSpPr>
          <p:cNvPr id="1288" name="Google Shape;128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9" name="Google Shape;128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90" name="Google Shape;129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6" name="Shape 1296"/>
        <p:cNvGrpSpPr/>
        <p:nvPr/>
      </p:nvGrpSpPr>
      <p:grpSpPr>
        <a:xfrm>
          <a:off x="0" y="0"/>
          <a:ext cx="0" cy="0"/>
          <a:chOff x="0" y="0"/>
          <a:chExt cx="0" cy="0"/>
        </a:xfrm>
      </p:grpSpPr>
      <p:sp>
        <p:nvSpPr>
          <p:cNvPr id="1297" name="Google Shape;1297;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8" name="Google Shape;1298;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99" name="Google Shape;1299;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5" name="Shape 1315"/>
        <p:cNvGrpSpPr/>
        <p:nvPr/>
      </p:nvGrpSpPr>
      <p:grpSpPr>
        <a:xfrm>
          <a:off x="0" y="0"/>
          <a:ext cx="0" cy="0"/>
          <a:chOff x="0" y="0"/>
          <a:chExt cx="0" cy="0"/>
        </a:xfrm>
      </p:grpSpPr>
      <p:sp>
        <p:nvSpPr>
          <p:cNvPr id="1316" name="Google Shape;1316;p5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7" name="Google Shape;131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4" name="Shape 1334"/>
        <p:cNvGrpSpPr/>
        <p:nvPr/>
      </p:nvGrpSpPr>
      <p:grpSpPr>
        <a:xfrm>
          <a:off x="0" y="0"/>
          <a:ext cx="0" cy="0"/>
          <a:chOff x="0" y="0"/>
          <a:chExt cx="0" cy="0"/>
        </a:xfrm>
      </p:grpSpPr>
      <p:sp>
        <p:nvSpPr>
          <p:cNvPr id="1335" name="Google Shape;1335;p5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6" name="Google Shape;1336;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7" name="Google Shape;1357;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3" name="Shape 1363"/>
        <p:cNvGrpSpPr/>
        <p:nvPr/>
      </p:nvGrpSpPr>
      <p:grpSpPr>
        <a:xfrm>
          <a:off x="0" y="0"/>
          <a:ext cx="0" cy="0"/>
          <a:chOff x="0" y="0"/>
          <a:chExt cx="0" cy="0"/>
        </a:xfrm>
      </p:grpSpPr>
      <p:sp>
        <p:nvSpPr>
          <p:cNvPr id="1364" name="Google Shape;1364;p5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5" name="Google Shape;1365;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1" name="Shape 1371"/>
        <p:cNvGrpSpPr/>
        <p:nvPr/>
      </p:nvGrpSpPr>
      <p:grpSpPr>
        <a:xfrm>
          <a:off x="0" y="0"/>
          <a:ext cx="0" cy="0"/>
          <a:chOff x="0" y="0"/>
          <a:chExt cx="0" cy="0"/>
        </a:xfrm>
      </p:grpSpPr>
      <p:sp>
        <p:nvSpPr>
          <p:cNvPr id="1372" name="Google Shape;1372;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3" name="Google Shape;1373;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4" name="Google Shape;1374;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6" name="Shape 16"/>
        <p:cNvGrpSpPr/>
        <p:nvPr/>
      </p:nvGrpSpPr>
      <p:grpSpPr>
        <a:xfrm>
          <a:off x="0" y="0"/>
          <a:ext cx="0" cy="0"/>
          <a:chOff x="0" y="0"/>
          <a:chExt cx="0" cy="0"/>
        </a:xfrm>
      </p:grpSpPr>
      <p:sp>
        <p:nvSpPr>
          <p:cNvPr id="17" name="Google Shape;17;p4"/>
          <p:cNvSpPr/>
          <p:nvPr/>
        </p:nvSpPr>
        <p:spPr>
          <a:xfrm>
            <a:off x="0" y="0"/>
            <a:ext cx="9144000" cy="51435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4"/>
          <p:cNvSpPr/>
          <p:nvPr/>
        </p:nvSpPr>
        <p:spPr>
          <a:xfrm>
            <a:off x="0" y="0"/>
            <a:ext cx="9144000" cy="73152"/>
          </a:xfrm>
          <a:prstGeom prst="rect">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4"/>
          <p:cNvSpPr/>
          <p:nvPr/>
        </p:nvSpPr>
        <p:spPr>
          <a:xfrm>
            <a:off x="731520" y="914400"/>
            <a:ext cx="7680960" cy="2011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COBE MARKETING</a:t>
            </a:r>
            <a:endParaRPr b="0" i="0" sz="48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PLAYBOOK</a:t>
            </a:r>
            <a:endParaRPr b="0" i="0" sz="4800" u="none" cap="none" strike="noStrike">
              <a:solidFill>
                <a:schemeClr val="dk1"/>
              </a:solidFill>
              <a:latin typeface="Calibri"/>
              <a:ea typeface="Calibri"/>
              <a:cs typeface="Calibri"/>
              <a:sym typeface="Calibri"/>
            </a:endParaRPr>
          </a:p>
        </p:txBody>
      </p:sp>
      <p:sp>
        <p:nvSpPr>
          <p:cNvPr id="20" name="Google Shape;20;p4"/>
          <p:cNvSpPr/>
          <p:nvPr/>
        </p:nvSpPr>
        <p:spPr>
          <a:xfrm>
            <a:off x="731520" y="2743200"/>
            <a:ext cx="640080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30000"/>
              </a:lnSpc>
              <a:spcBef>
                <a:spcPts val="0"/>
              </a:spcBef>
              <a:spcAft>
                <a:spcPts val="0"/>
              </a:spcAft>
              <a:buClr>
                <a:srgbClr val="CBD5E1"/>
              </a:buClr>
              <a:buSzPts val="1600"/>
              <a:buFont typeface="Arial"/>
              <a:buNone/>
            </a:pPr>
            <a:r>
              <a:rPr b="0" i="0" lang="en-US" sz="1600" u="none" cap="none" strike="noStrike">
                <a:solidFill>
                  <a:srgbClr val="CBD5E1"/>
                </a:solidFill>
                <a:latin typeface="Arial"/>
                <a:ea typeface="Arial"/>
                <a:cs typeface="Arial"/>
                <a:sym typeface="Arial"/>
              </a:rPr>
              <a:t>A step-by-step guide for College of Business and Economics programs</a:t>
            </a:r>
            <a:endParaRPr b="0" i="0" sz="160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CBD5E1"/>
              </a:buClr>
              <a:buSzPts val="1600"/>
              <a:buFont typeface="Arial"/>
              <a:buNone/>
            </a:pPr>
            <a:r>
              <a:rPr b="0" i="0" lang="en-US" sz="1600" u="none" cap="none" strike="noStrike">
                <a:solidFill>
                  <a:srgbClr val="CBD5E1"/>
                </a:solidFill>
                <a:latin typeface="Arial"/>
                <a:ea typeface="Arial"/>
                <a:cs typeface="Arial"/>
                <a:sym typeface="Arial"/>
              </a:rPr>
              <a:t>to leverage COBE Marketing channels effectively and consistently.</a:t>
            </a:r>
            <a:endParaRPr b="0" i="0" sz="1600" u="none" cap="none" strike="noStrike">
              <a:solidFill>
                <a:schemeClr val="dk1"/>
              </a:solidFill>
              <a:latin typeface="Calibri"/>
              <a:ea typeface="Calibri"/>
              <a:cs typeface="Calibri"/>
              <a:sym typeface="Calibri"/>
            </a:endParaRPr>
          </a:p>
        </p:txBody>
      </p:sp>
      <p:sp>
        <p:nvSpPr>
          <p:cNvPr id="21" name="Google Shape;21;p4"/>
          <p:cNvSpPr/>
          <p:nvPr/>
        </p:nvSpPr>
        <p:spPr>
          <a:xfrm>
            <a:off x="731520" y="3749040"/>
            <a:ext cx="1371600" cy="36576"/>
          </a:xfrm>
          <a:prstGeom prst="rect">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4"/>
          <p:cNvSpPr/>
          <p:nvPr/>
        </p:nvSpPr>
        <p:spPr>
          <a:xfrm>
            <a:off x="731520" y="393192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BD5E1"/>
              </a:buClr>
              <a:buSzPts val="1200"/>
              <a:buFont typeface="Arial"/>
              <a:buNone/>
            </a:pPr>
            <a:r>
              <a:rPr b="0" i="0" lang="en-US" sz="1200" u="none" cap="none" strike="noStrike">
                <a:solidFill>
                  <a:srgbClr val="CBD5E1"/>
                </a:solidFill>
                <a:latin typeface="Arial"/>
                <a:ea typeface="Arial"/>
                <a:cs typeface="Arial"/>
                <a:sym typeface="Arial"/>
              </a:rPr>
              <a:t>Boise State University  |  College of Business &amp; Economics  |  2025</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7" name="Shape 27"/>
        <p:cNvGrpSpPr/>
        <p:nvPr/>
      </p:nvGrpSpPr>
      <p:grpSpPr>
        <a:xfrm>
          <a:off x="0" y="0"/>
          <a:ext cx="0" cy="0"/>
          <a:chOff x="0" y="0"/>
          <a:chExt cx="0" cy="0"/>
        </a:xfrm>
      </p:grpSpPr>
      <p:sp>
        <p:nvSpPr>
          <p:cNvPr id="28" name="Google Shape;28;p5"/>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29" name="Google Shape;29;p5"/>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a:t>
            </a:r>
            <a:endParaRPr b="0" i="0" sz="1000" u="none" cap="none" strike="noStrike">
              <a:solidFill>
                <a:schemeClr val="dk1"/>
              </a:solidFill>
              <a:latin typeface="Calibri"/>
              <a:ea typeface="Calibri"/>
              <a:cs typeface="Calibri"/>
              <a:sym typeface="Calibri"/>
            </a:endParaRPr>
          </a:p>
        </p:txBody>
      </p:sp>
      <p:sp>
        <p:nvSpPr>
          <p:cNvPr id="30" name="Google Shape;30;p5"/>
          <p:cNvSpPr/>
          <p:nvPr/>
        </p:nvSpPr>
        <p:spPr>
          <a:xfrm>
            <a:off x="457200" y="3200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600"/>
              <a:buFont typeface="Georgia"/>
              <a:buNone/>
            </a:pPr>
            <a:r>
              <a:rPr b="1" i="0" lang="en-US" sz="3600" u="none" cap="none" strike="noStrike">
                <a:solidFill>
                  <a:srgbClr val="0B1220"/>
                </a:solidFill>
                <a:latin typeface="Georgia"/>
                <a:ea typeface="Georgia"/>
                <a:cs typeface="Georgia"/>
                <a:sym typeface="Georgia"/>
              </a:rPr>
              <a:t>The Bandwidth Problem</a:t>
            </a:r>
            <a:endParaRPr b="0" i="0" sz="3600" u="none" cap="none" strike="noStrike">
              <a:solidFill>
                <a:schemeClr val="dk1"/>
              </a:solidFill>
              <a:latin typeface="Calibri"/>
              <a:ea typeface="Calibri"/>
              <a:cs typeface="Calibri"/>
              <a:sym typeface="Calibri"/>
            </a:endParaRPr>
          </a:p>
        </p:txBody>
      </p:sp>
      <p:sp>
        <p:nvSpPr>
          <p:cNvPr id="31" name="Google Shape;31;p5"/>
          <p:cNvSpPr/>
          <p:nvPr/>
        </p:nvSpPr>
        <p:spPr>
          <a:xfrm>
            <a:off x="457200" y="1005840"/>
            <a:ext cx="8229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500"/>
              <a:buFont typeface="Arial"/>
              <a:buNone/>
            </a:pPr>
            <a:r>
              <a:rPr b="0" i="0" lang="en-US" sz="1500" u="none" cap="none" strike="noStrike">
                <a:solidFill>
                  <a:srgbClr val="334155"/>
                </a:solidFill>
                <a:latin typeface="Arial"/>
                <a:ea typeface="Arial"/>
                <a:cs typeface="Arial"/>
                <a:sym typeface="Arial"/>
              </a:rPr>
              <a:t>COBE Marketing manages powerful channels, but programs often:</a:t>
            </a:r>
            <a:endParaRPr b="0" i="0" sz="1500" u="none" cap="none" strike="noStrike">
              <a:solidFill>
                <a:schemeClr val="dk1"/>
              </a:solidFill>
              <a:latin typeface="Calibri"/>
              <a:ea typeface="Calibri"/>
              <a:cs typeface="Calibri"/>
              <a:sym typeface="Calibri"/>
            </a:endParaRPr>
          </a:p>
        </p:txBody>
      </p:sp>
      <p:sp>
        <p:nvSpPr>
          <p:cNvPr id="32" name="Google Shape;32;p5"/>
          <p:cNvSpPr/>
          <p:nvPr/>
        </p:nvSpPr>
        <p:spPr>
          <a:xfrm>
            <a:off x="457200" y="1403650"/>
            <a:ext cx="8229600" cy="9144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5"/>
          <p:cNvSpPr/>
          <p:nvPr/>
        </p:nvSpPr>
        <p:spPr>
          <a:xfrm>
            <a:off x="457200" y="1403650"/>
            <a:ext cx="54900" cy="9144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5"/>
          <p:cNvSpPr/>
          <p:nvPr/>
        </p:nvSpPr>
        <p:spPr>
          <a:xfrm>
            <a:off x="640080" y="1650538"/>
            <a:ext cx="411600" cy="41160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5"/>
          <p:cNvSpPr/>
          <p:nvPr/>
        </p:nvSpPr>
        <p:spPr>
          <a:xfrm>
            <a:off x="640080" y="1650538"/>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36" name="Google Shape;36;p5"/>
          <p:cNvSpPr/>
          <p:nvPr/>
        </p:nvSpPr>
        <p:spPr>
          <a:xfrm>
            <a:off x="1234440" y="1513378"/>
            <a:ext cx="2743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500"/>
              <a:buFont typeface="Arial"/>
              <a:buNone/>
            </a:pPr>
            <a:r>
              <a:rPr b="1" i="0" lang="en-US" sz="1500" u="none" cap="none" strike="noStrike">
                <a:solidFill>
                  <a:srgbClr val="0B1220"/>
                </a:solidFill>
                <a:latin typeface="Arial"/>
                <a:ea typeface="Arial"/>
                <a:cs typeface="Arial"/>
                <a:sym typeface="Arial"/>
              </a:rPr>
              <a:t>Don't know what's available</a:t>
            </a:r>
            <a:endParaRPr b="0" i="0" sz="1500" u="none" cap="none" strike="noStrike">
              <a:solidFill>
                <a:schemeClr val="dk1"/>
              </a:solidFill>
              <a:latin typeface="Calibri"/>
              <a:ea typeface="Calibri"/>
              <a:cs typeface="Calibri"/>
              <a:sym typeface="Calibri"/>
            </a:endParaRPr>
          </a:p>
        </p:txBody>
      </p:sp>
      <p:sp>
        <p:nvSpPr>
          <p:cNvPr id="37" name="Google Shape;37;p5"/>
          <p:cNvSpPr/>
          <p:nvPr/>
        </p:nvSpPr>
        <p:spPr>
          <a:xfrm>
            <a:off x="1234440" y="1833418"/>
            <a:ext cx="71322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200"/>
              <a:buFont typeface="Arial"/>
              <a:buNone/>
            </a:pPr>
            <a:r>
              <a:rPr b="0" i="0" lang="en-US" sz="1200" u="none" cap="none" strike="noStrike">
                <a:solidFill>
                  <a:srgbClr val="334155"/>
                </a:solidFill>
                <a:latin typeface="Arial"/>
                <a:ea typeface="Arial"/>
                <a:cs typeface="Arial"/>
                <a:sym typeface="Arial"/>
              </a:rPr>
              <a:t>Social media (1,436 IG / 1,700 LI followers), newsletters (5,000+ subscribers), digital screens, paid ads — most departments only use 1-2.</a:t>
            </a:r>
            <a:endParaRPr b="0" i="0" sz="1200" u="none" cap="none" strike="noStrike">
              <a:solidFill>
                <a:schemeClr val="dk1"/>
              </a:solidFill>
              <a:latin typeface="Calibri"/>
              <a:ea typeface="Calibri"/>
              <a:cs typeface="Calibri"/>
              <a:sym typeface="Calibri"/>
            </a:endParaRPr>
          </a:p>
        </p:txBody>
      </p:sp>
      <p:sp>
        <p:nvSpPr>
          <p:cNvPr id="38" name="Google Shape;38;p5"/>
          <p:cNvSpPr/>
          <p:nvPr/>
        </p:nvSpPr>
        <p:spPr>
          <a:xfrm>
            <a:off x="457200" y="2455210"/>
            <a:ext cx="8229600" cy="9144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5"/>
          <p:cNvSpPr/>
          <p:nvPr/>
        </p:nvSpPr>
        <p:spPr>
          <a:xfrm>
            <a:off x="457200" y="2455210"/>
            <a:ext cx="54900" cy="9144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5"/>
          <p:cNvSpPr/>
          <p:nvPr/>
        </p:nvSpPr>
        <p:spPr>
          <a:xfrm>
            <a:off x="640080" y="2702098"/>
            <a:ext cx="411600" cy="41160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5"/>
          <p:cNvSpPr/>
          <p:nvPr/>
        </p:nvSpPr>
        <p:spPr>
          <a:xfrm>
            <a:off x="640080" y="2702098"/>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42" name="Google Shape;42;p5"/>
          <p:cNvSpPr/>
          <p:nvPr/>
        </p:nvSpPr>
        <p:spPr>
          <a:xfrm>
            <a:off x="1234440" y="2564938"/>
            <a:ext cx="2743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500"/>
              <a:buFont typeface="Arial"/>
              <a:buNone/>
            </a:pPr>
            <a:r>
              <a:rPr b="1" i="0" lang="en-US" sz="1500" u="none" cap="none" strike="noStrike">
                <a:solidFill>
                  <a:srgbClr val="0B1220"/>
                </a:solidFill>
                <a:latin typeface="Arial"/>
                <a:ea typeface="Arial"/>
                <a:cs typeface="Arial"/>
                <a:sym typeface="Arial"/>
              </a:rPr>
              <a:t>Don't have dedicated marketing staff</a:t>
            </a:r>
            <a:endParaRPr b="0" i="0" sz="1500" u="none" cap="none" strike="noStrike">
              <a:solidFill>
                <a:schemeClr val="dk1"/>
              </a:solidFill>
              <a:latin typeface="Calibri"/>
              <a:ea typeface="Calibri"/>
              <a:cs typeface="Calibri"/>
              <a:sym typeface="Calibri"/>
            </a:endParaRPr>
          </a:p>
        </p:txBody>
      </p:sp>
      <p:sp>
        <p:nvSpPr>
          <p:cNvPr id="43" name="Google Shape;43;p5"/>
          <p:cNvSpPr/>
          <p:nvPr/>
        </p:nvSpPr>
        <p:spPr>
          <a:xfrm>
            <a:off x="1234440" y="2884978"/>
            <a:ext cx="71322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200"/>
              <a:buFont typeface="Arial"/>
              <a:buNone/>
            </a:pPr>
            <a:r>
              <a:rPr b="0" i="0" lang="en-US" sz="1200" u="none" cap="none" strike="noStrike">
                <a:solidFill>
                  <a:srgbClr val="334155"/>
                </a:solidFill>
                <a:latin typeface="Arial"/>
                <a:ea typeface="Arial"/>
                <a:cs typeface="Arial"/>
                <a:sym typeface="Arial"/>
              </a:rPr>
              <a:t>Faculty and program leads lack time, templates, and clear processes to produce brand-ready content.</a:t>
            </a:r>
            <a:endParaRPr b="0" i="0" sz="1200" u="none" cap="none" strike="noStrike">
              <a:solidFill>
                <a:schemeClr val="dk1"/>
              </a:solidFill>
              <a:latin typeface="Calibri"/>
              <a:ea typeface="Calibri"/>
              <a:cs typeface="Calibri"/>
              <a:sym typeface="Calibri"/>
            </a:endParaRPr>
          </a:p>
        </p:txBody>
      </p:sp>
      <p:sp>
        <p:nvSpPr>
          <p:cNvPr id="44" name="Google Shape;44;p5"/>
          <p:cNvSpPr/>
          <p:nvPr/>
        </p:nvSpPr>
        <p:spPr>
          <a:xfrm>
            <a:off x="457200" y="3506770"/>
            <a:ext cx="8229600" cy="9144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5"/>
          <p:cNvSpPr/>
          <p:nvPr/>
        </p:nvSpPr>
        <p:spPr>
          <a:xfrm>
            <a:off x="457200" y="3506770"/>
            <a:ext cx="54900" cy="9144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5"/>
          <p:cNvSpPr/>
          <p:nvPr/>
        </p:nvSpPr>
        <p:spPr>
          <a:xfrm>
            <a:off x="640080" y="3753658"/>
            <a:ext cx="411600" cy="41160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5"/>
          <p:cNvSpPr/>
          <p:nvPr/>
        </p:nvSpPr>
        <p:spPr>
          <a:xfrm>
            <a:off x="640080" y="3753658"/>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X</a:t>
            </a:r>
            <a:endParaRPr b="0" i="0" sz="1600" u="none" cap="none" strike="noStrike">
              <a:solidFill>
                <a:schemeClr val="dk1"/>
              </a:solidFill>
              <a:latin typeface="Calibri"/>
              <a:ea typeface="Calibri"/>
              <a:cs typeface="Calibri"/>
              <a:sym typeface="Calibri"/>
            </a:endParaRPr>
          </a:p>
        </p:txBody>
      </p:sp>
      <p:sp>
        <p:nvSpPr>
          <p:cNvPr id="48" name="Google Shape;48;p5"/>
          <p:cNvSpPr/>
          <p:nvPr/>
        </p:nvSpPr>
        <p:spPr>
          <a:xfrm>
            <a:off x="1234440" y="3616498"/>
            <a:ext cx="2743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500"/>
              <a:buFont typeface="Arial"/>
              <a:buNone/>
            </a:pPr>
            <a:r>
              <a:rPr b="1" i="0" lang="en-US" sz="1500" u="none" cap="none" strike="noStrike">
                <a:solidFill>
                  <a:srgbClr val="0B1220"/>
                </a:solidFill>
                <a:latin typeface="Arial"/>
                <a:ea typeface="Arial"/>
                <a:cs typeface="Arial"/>
                <a:sym typeface="Arial"/>
              </a:rPr>
              <a:t>Miss lead-time windows</a:t>
            </a:r>
            <a:endParaRPr b="0" i="0" sz="1500" u="none" cap="none" strike="noStrike">
              <a:solidFill>
                <a:schemeClr val="dk1"/>
              </a:solidFill>
              <a:latin typeface="Calibri"/>
              <a:ea typeface="Calibri"/>
              <a:cs typeface="Calibri"/>
              <a:sym typeface="Calibri"/>
            </a:endParaRPr>
          </a:p>
        </p:txBody>
      </p:sp>
      <p:sp>
        <p:nvSpPr>
          <p:cNvPr id="49" name="Google Shape;49;p5"/>
          <p:cNvSpPr/>
          <p:nvPr/>
        </p:nvSpPr>
        <p:spPr>
          <a:xfrm>
            <a:off x="1234440" y="3936538"/>
            <a:ext cx="71322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200"/>
              <a:buFont typeface="Arial"/>
              <a:buNone/>
            </a:pPr>
            <a:r>
              <a:rPr b="0" i="0" lang="en-US" sz="1200" u="none" cap="none" strike="noStrike">
                <a:solidFill>
                  <a:srgbClr val="334155"/>
                </a:solidFill>
                <a:latin typeface="Arial"/>
                <a:ea typeface="Arial"/>
                <a:cs typeface="Arial"/>
                <a:sym typeface="Arial"/>
              </a:rPr>
              <a:t>Content submitted late gets deprioritized. Without clear timelines, promotions launch after the event.</a:t>
            </a:r>
            <a:endParaRPr b="0" i="0" sz="1200" u="none" cap="none" strike="noStrike">
              <a:solidFill>
                <a:schemeClr val="dk1"/>
              </a:solidFill>
              <a:latin typeface="Calibri"/>
              <a:ea typeface="Calibri"/>
              <a:cs typeface="Calibri"/>
              <a:sym typeface="Calibri"/>
            </a:endParaRPr>
          </a:p>
        </p:txBody>
      </p:sp>
      <p:sp>
        <p:nvSpPr>
          <p:cNvPr id="50" name="Google Shape;50;p5"/>
          <p:cNvSpPr/>
          <p:nvPr/>
        </p:nvSpPr>
        <p:spPr>
          <a:xfrm>
            <a:off x="457200" y="4450933"/>
            <a:ext cx="82296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33A0"/>
              </a:buClr>
              <a:buSzPts val="1400"/>
              <a:buFont typeface="Arial"/>
              <a:buNone/>
            </a:pPr>
            <a:r>
              <a:rPr b="1" i="0" lang="en-US" sz="1400" u="none" cap="none" strike="noStrike">
                <a:solidFill>
                  <a:srgbClr val="0033A0"/>
                </a:solidFill>
                <a:latin typeface="Arial"/>
                <a:ea typeface="Arial"/>
                <a:cs typeface="Arial"/>
                <a:sym typeface="Arial"/>
              </a:rPr>
              <a:t>This playbook solves all three — with two clear pathways.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5" name="Shape 55"/>
        <p:cNvGrpSpPr/>
        <p:nvPr/>
      </p:nvGrpSpPr>
      <p:grpSpPr>
        <a:xfrm>
          <a:off x="0" y="0"/>
          <a:ext cx="0" cy="0"/>
          <a:chOff x="0" y="0"/>
          <a:chExt cx="0" cy="0"/>
        </a:xfrm>
      </p:grpSpPr>
      <p:sp>
        <p:nvSpPr>
          <p:cNvPr id="56" name="Google Shape;56;p6"/>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57" name="Google Shape;57;p6"/>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a:t>
            </a:r>
            <a:endParaRPr b="0" i="0" sz="1000" u="none" cap="none" strike="noStrike">
              <a:solidFill>
                <a:schemeClr val="dk1"/>
              </a:solidFill>
              <a:latin typeface="Calibri"/>
              <a:ea typeface="Calibri"/>
              <a:cs typeface="Calibri"/>
              <a:sym typeface="Calibri"/>
            </a:endParaRPr>
          </a:p>
        </p:txBody>
      </p:sp>
      <p:sp>
        <p:nvSpPr>
          <p:cNvPr id="58" name="Google Shape;58;p6"/>
          <p:cNvSpPr/>
          <p:nvPr/>
        </p:nvSpPr>
        <p:spPr>
          <a:xfrm>
            <a:off x="457200" y="3200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600"/>
              <a:buFont typeface="Georgia"/>
              <a:buNone/>
            </a:pPr>
            <a:r>
              <a:rPr b="1" i="0" lang="en-US" sz="3600" u="none" cap="none" strike="noStrike">
                <a:solidFill>
                  <a:srgbClr val="0B1220"/>
                </a:solidFill>
                <a:latin typeface="Georgia"/>
                <a:ea typeface="Georgia"/>
                <a:cs typeface="Georgia"/>
                <a:sym typeface="Georgia"/>
              </a:rPr>
              <a:t>Choose Your Path</a:t>
            </a:r>
            <a:endParaRPr b="0" i="0" sz="3600" u="none" cap="none" strike="noStrike">
              <a:solidFill>
                <a:schemeClr val="dk1"/>
              </a:solidFill>
              <a:latin typeface="Calibri"/>
              <a:ea typeface="Calibri"/>
              <a:cs typeface="Calibri"/>
              <a:sym typeface="Calibri"/>
            </a:endParaRPr>
          </a:p>
        </p:txBody>
      </p:sp>
      <p:sp>
        <p:nvSpPr>
          <p:cNvPr id="59" name="Google Shape;59;p6"/>
          <p:cNvSpPr/>
          <p:nvPr/>
        </p:nvSpPr>
        <p:spPr>
          <a:xfrm>
            <a:off x="457200" y="914400"/>
            <a:ext cx="82296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400"/>
              <a:buFont typeface="Arial"/>
              <a:buNone/>
            </a:pPr>
            <a:r>
              <a:rPr b="0" i="0" lang="en-US" sz="1400" u="none" cap="none" strike="noStrike">
                <a:solidFill>
                  <a:srgbClr val="334155"/>
                </a:solidFill>
                <a:latin typeface="Arial"/>
                <a:ea typeface="Arial"/>
                <a:cs typeface="Arial"/>
                <a:sym typeface="Arial"/>
              </a:rPr>
              <a:t>Pick the approach that fits your bandwidth and comfort level.</a:t>
            </a:r>
            <a:endParaRPr b="0" i="0" sz="1400" u="none" cap="none" strike="noStrike">
              <a:solidFill>
                <a:schemeClr val="dk1"/>
              </a:solidFill>
              <a:latin typeface="Calibri"/>
              <a:ea typeface="Calibri"/>
              <a:cs typeface="Calibri"/>
              <a:sym typeface="Calibri"/>
            </a:endParaRPr>
          </a:p>
        </p:txBody>
      </p:sp>
      <p:sp>
        <p:nvSpPr>
          <p:cNvPr id="60" name="Google Shape;60;p6"/>
          <p:cNvSpPr/>
          <p:nvPr/>
        </p:nvSpPr>
        <p:spPr>
          <a:xfrm>
            <a:off x="457200" y="1463040"/>
            <a:ext cx="3840480" cy="2926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6"/>
          <p:cNvSpPr/>
          <p:nvPr/>
        </p:nvSpPr>
        <p:spPr>
          <a:xfrm>
            <a:off x="457200" y="1463040"/>
            <a:ext cx="54864" cy="29260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6"/>
          <p:cNvSpPr/>
          <p:nvPr/>
        </p:nvSpPr>
        <p:spPr>
          <a:xfrm>
            <a:off x="457200" y="1463040"/>
            <a:ext cx="3840480" cy="4572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6"/>
          <p:cNvSpPr/>
          <p:nvPr/>
        </p:nvSpPr>
        <p:spPr>
          <a:xfrm>
            <a:off x="457200" y="1463040"/>
            <a:ext cx="38404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PATH 1: HANDS-OFF</a:t>
            </a:r>
            <a:endParaRPr b="0" i="0" sz="1600" u="none" cap="none" strike="noStrike">
              <a:solidFill>
                <a:schemeClr val="dk1"/>
              </a:solidFill>
              <a:latin typeface="Calibri"/>
              <a:ea typeface="Calibri"/>
              <a:cs typeface="Calibri"/>
              <a:sym typeface="Calibri"/>
            </a:endParaRPr>
          </a:p>
        </p:txBody>
      </p:sp>
      <p:sp>
        <p:nvSpPr>
          <p:cNvPr id="64" name="Google Shape;64;p6"/>
          <p:cNvSpPr/>
          <p:nvPr/>
        </p:nvSpPr>
        <p:spPr>
          <a:xfrm>
            <a:off x="640080" y="201168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400"/>
              <a:buFont typeface="Arial"/>
              <a:buNone/>
            </a:pPr>
            <a:r>
              <a:rPr b="1" i="0" lang="en-US" sz="1400" u="none" cap="none" strike="noStrike">
                <a:solidFill>
                  <a:srgbClr val="0EA5E9"/>
                </a:solidFill>
                <a:latin typeface="Arial"/>
                <a:ea typeface="Arial"/>
                <a:cs typeface="Arial"/>
                <a:sym typeface="Arial"/>
              </a:rPr>
              <a:t>Concierge Service</a:t>
            </a:r>
            <a:endParaRPr b="0" i="0" sz="1400" u="none" cap="none" strike="noStrike">
              <a:solidFill>
                <a:schemeClr val="dk1"/>
              </a:solidFill>
              <a:latin typeface="Calibri"/>
              <a:ea typeface="Calibri"/>
              <a:cs typeface="Calibri"/>
              <a:sym typeface="Calibri"/>
            </a:endParaRPr>
          </a:p>
        </p:txBody>
      </p:sp>
      <p:sp>
        <p:nvSpPr>
          <p:cNvPr id="65" name="Google Shape;65;p6"/>
          <p:cNvSpPr/>
          <p:nvPr/>
        </p:nvSpPr>
        <p:spPr>
          <a:xfrm>
            <a:off x="640080" y="2377440"/>
            <a:ext cx="3474720" cy="1645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YOU PROVIDE: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Who, What, When, Where, Photos, Links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WE HANDLE: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Copywriting, graphic design, scheduling,</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approvals, publishing, and performance tracking</a:t>
            </a:r>
            <a:endParaRPr b="0" i="0" sz="1100" u="none" cap="none" strike="noStrike">
              <a:solidFill>
                <a:schemeClr val="dk1"/>
              </a:solidFill>
              <a:latin typeface="Calibri"/>
              <a:ea typeface="Calibri"/>
              <a:cs typeface="Calibri"/>
              <a:sym typeface="Calibri"/>
            </a:endParaRPr>
          </a:p>
        </p:txBody>
      </p:sp>
      <p:sp>
        <p:nvSpPr>
          <p:cNvPr id="66" name="Google Shape;66;p6"/>
          <p:cNvSpPr/>
          <p:nvPr/>
        </p:nvSpPr>
        <p:spPr>
          <a:xfrm>
            <a:off x="640080" y="3794760"/>
            <a:ext cx="3474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1" lang="en-US" sz="1000" u="none" cap="none" strike="noStrike">
                <a:solidFill>
                  <a:srgbClr val="64748B"/>
                </a:solidFill>
                <a:latin typeface="Arial"/>
                <a:ea typeface="Arial"/>
                <a:cs typeface="Arial"/>
                <a:sym typeface="Arial"/>
              </a:rPr>
              <a:t>Best for: Faculty, program leads, student orgs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000"/>
              <a:buFont typeface="Arial"/>
              <a:buNone/>
            </a:pPr>
            <a:r>
              <a:rPr b="0" i="1" lang="en-US" sz="1000" u="none" cap="none" strike="noStrike">
                <a:solidFill>
                  <a:srgbClr val="64748B"/>
                </a:solidFill>
                <a:latin typeface="Arial"/>
                <a:ea typeface="Arial"/>
                <a:cs typeface="Arial"/>
                <a:sym typeface="Arial"/>
              </a:rPr>
              <a:t>who want results without the production work.</a:t>
            </a:r>
            <a:endParaRPr b="0" i="0" sz="1000" u="none" cap="none" strike="noStrike">
              <a:solidFill>
                <a:schemeClr val="dk1"/>
              </a:solidFill>
              <a:latin typeface="Calibri"/>
              <a:ea typeface="Calibri"/>
              <a:cs typeface="Calibri"/>
              <a:sym typeface="Calibri"/>
            </a:endParaRPr>
          </a:p>
        </p:txBody>
      </p:sp>
      <p:sp>
        <p:nvSpPr>
          <p:cNvPr id="67" name="Google Shape;67;p6"/>
          <p:cNvSpPr/>
          <p:nvPr/>
        </p:nvSpPr>
        <p:spPr>
          <a:xfrm>
            <a:off x="4846320" y="1463040"/>
            <a:ext cx="3840480" cy="2926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6"/>
          <p:cNvSpPr/>
          <p:nvPr/>
        </p:nvSpPr>
        <p:spPr>
          <a:xfrm>
            <a:off x="4846320" y="1463040"/>
            <a:ext cx="54864" cy="292608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6"/>
          <p:cNvSpPr/>
          <p:nvPr/>
        </p:nvSpPr>
        <p:spPr>
          <a:xfrm>
            <a:off x="4846320" y="1463040"/>
            <a:ext cx="3840480" cy="45720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p:nvPr/>
        </p:nvSpPr>
        <p:spPr>
          <a:xfrm>
            <a:off x="4846320" y="1463040"/>
            <a:ext cx="38404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PATH 2: HANDS-ON</a:t>
            </a:r>
            <a:endParaRPr b="0" i="0" sz="1600" u="none" cap="none" strike="noStrike">
              <a:solidFill>
                <a:schemeClr val="dk1"/>
              </a:solidFill>
              <a:latin typeface="Calibri"/>
              <a:ea typeface="Calibri"/>
              <a:cs typeface="Calibri"/>
              <a:sym typeface="Calibri"/>
            </a:endParaRPr>
          </a:p>
        </p:txBody>
      </p:sp>
      <p:sp>
        <p:nvSpPr>
          <p:cNvPr id="71" name="Google Shape;71;p6"/>
          <p:cNvSpPr/>
          <p:nvPr/>
        </p:nvSpPr>
        <p:spPr>
          <a:xfrm>
            <a:off x="5029200" y="201168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400"/>
              <a:buFont typeface="Arial"/>
              <a:buNone/>
            </a:pPr>
            <a:r>
              <a:rPr b="1" i="0" lang="en-US" sz="1400" u="none" cap="none" strike="noStrike">
                <a:solidFill>
                  <a:srgbClr val="F97316"/>
                </a:solidFill>
                <a:latin typeface="Arial"/>
                <a:ea typeface="Arial"/>
                <a:cs typeface="Arial"/>
                <a:sym typeface="Arial"/>
              </a:rPr>
              <a:t>DIY With Support</a:t>
            </a:r>
            <a:endParaRPr b="0" i="0" sz="1400" u="none" cap="none" strike="noStrike">
              <a:solidFill>
                <a:schemeClr val="dk1"/>
              </a:solidFill>
              <a:latin typeface="Calibri"/>
              <a:ea typeface="Calibri"/>
              <a:cs typeface="Calibri"/>
              <a:sym typeface="Calibri"/>
            </a:endParaRPr>
          </a:p>
        </p:txBody>
      </p:sp>
      <p:sp>
        <p:nvSpPr>
          <p:cNvPr id="72" name="Google Shape;72;p6"/>
          <p:cNvSpPr/>
          <p:nvPr/>
        </p:nvSpPr>
        <p:spPr>
          <a:xfrm>
            <a:off x="5029200" y="2377440"/>
            <a:ext cx="3474720" cy="1645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YOU CREATE: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Copy, graphics, schedule using our templates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and brand guidelines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WE PROVIDE: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Templates, brand review, copy feedback,</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final approval, and publishing support</a:t>
            </a:r>
            <a:endParaRPr b="0" i="0" sz="1100" u="none" cap="none" strike="noStrike">
              <a:solidFill>
                <a:schemeClr val="dk1"/>
              </a:solidFill>
              <a:latin typeface="Calibri"/>
              <a:ea typeface="Calibri"/>
              <a:cs typeface="Calibri"/>
              <a:sym typeface="Calibri"/>
            </a:endParaRPr>
          </a:p>
        </p:txBody>
      </p:sp>
      <p:sp>
        <p:nvSpPr>
          <p:cNvPr id="73" name="Google Shape;73;p6"/>
          <p:cNvSpPr/>
          <p:nvPr/>
        </p:nvSpPr>
        <p:spPr>
          <a:xfrm>
            <a:off x="5029200" y="3794760"/>
            <a:ext cx="3474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1" lang="en-US" sz="1000" u="none" cap="none" strike="noStrike">
                <a:solidFill>
                  <a:srgbClr val="64748B"/>
                </a:solidFill>
                <a:latin typeface="Arial"/>
                <a:ea typeface="Arial"/>
                <a:cs typeface="Arial"/>
                <a:sym typeface="Arial"/>
              </a:rPr>
              <a:t>Best for: GAs, student workers, staff with</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000"/>
              <a:buFont typeface="Arial"/>
              <a:buNone/>
            </a:pPr>
            <a:r>
              <a:rPr b="0" i="1" lang="en-US" sz="1000" u="none" cap="none" strike="noStrike">
                <a:solidFill>
                  <a:srgbClr val="64748B"/>
                </a:solidFill>
                <a:latin typeface="Arial"/>
                <a:ea typeface="Arial"/>
                <a:cs typeface="Arial"/>
                <a:sym typeface="Arial"/>
              </a:rPr>
              <a:t>some design/writing experience.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78" name="Shape 78"/>
        <p:cNvGrpSpPr/>
        <p:nvPr/>
      </p:nvGrpSpPr>
      <p:grpSpPr>
        <a:xfrm>
          <a:off x="0" y="0"/>
          <a:ext cx="0" cy="0"/>
          <a:chOff x="0" y="0"/>
          <a:chExt cx="0" cy="0"/>
        </a:xfrm>
      </p:grpSpPr>
      <p:sp>
        <p:nvSpPr>
          <p:cNvPr id="79" name="Google Shape;79;p7"/>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a:t>
            </a:r>
            <a:endParaRPr b="0" i="0" sz="1000" u="none" cap="none" strike="noStrike">
              <a:solidFill>
                <a:schemeClr val="dk1"/>
              </a:solidFill>
              <a:latin typeface="Calibri"/>
              <a:ea typeface="Calibri"/>
              <a:cs typeface="Calibri"/>
              <a:sym typeface="Calibri"/>
            </a:endParaRPr>
          </a:p>
        </p:txBody>
      </p:sp>
      <p:sp>
        <p:nvSpPr>
          <p:cNvPr id="80" name="Google Shape;80;p7"/>
          <p:cNvSpPr/>
          <p:nvPr/>
        </p:nvSpPr>
        <p:spPr>
          <a:xfrm>
            <a:off x="0" y="0"/>
            <a:ext cx="9144000" cy="5143500"/>
          </a:xfrm>
          <a:prstGeom prst="rect">
            <a:avLst/>
          </a:prstGeom>
          <a:solidFill>
            <a:srgbClr val="0B12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7"/>
          <p:cNvSpPr/>
          <p:nvPr/>
        </p:nvSpPr>
        <p:spPr>
          <a:xfrm>
            <a:off x="0" y="0"/>
            <a:ext cx="9144000" cy="54864"/>
          </a:xfrm>
          <a:prstGeom prst="rect">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7"/>
          <p:cNvSpPr/>
          <p:nvPr/>
        </p:nvSpPr>
        <p:spPr>
          <a:xfrm>
            <a:off x="457200" y="1097280"/>
            <a:ext cx="822960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64309"/>
              </a:buClr>
              <a:buSzPts val="4000"/>
              <a:buFont typeface="Georgia"/>
              <a:buNone/>
            </a:pPr>
            <a:r>
              <a:rPr b="1" i="0" lang="en-US" sz="4000" u="none" cap="none" strike="noStrike">
                <a:solidFill>
                  <a:srgbClr val="D64309"/>
                </a:solidFill>
                <a:latin typeface="Georgia"/>
                <a:ea typeface="Georgia"/>
                <a:cs typeface="Georgia"/>
                <a:sym typeface="Georgia"/>
              </a:rPr>
              <a:t>THE GOLDEN RULE</a:t>
            </a:r>
            <a:endParaRPr b="0" i="0" sz="4000" u="none" cap="none" strike="noStrike">
              <a:solidFill>
                <a:schemeClr val="dk1"/>
              </a:solidFill>
              <a:latin typeface="Calibri"/>
              <a:ea typeface="Calibri"/>
              <a:cs typeface="Calibri"/>
              <a:sym typeface="Calibri"/>
            </a:endParaRPr>
          </a:p>
        </p:txBody>
      </p:sp>
      <p:sp>
        <p:nvSpPr>
          <p:cNvPr id="83" name="Google Shape;83;p7"/>
          <p:cNvSpPr/>
          <p:nvPr/>
        </p:nvSpPr>
        <p:spPr>
          <a:xfrm>
            <a:off x="457200" y="1828800"/>
            <a:ext cx="8229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BD5E1"/>
              </a:buClr>
              <a:buSzPts val="1800"/>
              <a:buFont typeface="Arial"/>
              <a:buNone/>
            </a:pPr>
            <a:r>
              <a:rPr b="0" i="0" lang="en-US" sz="1800" u="none" cap="none" strike="noStrike">
                <a:solidFill>
                  <a:srgbClr val="CBD5E1"/>
                </a:solidFill>
                <a:latin typeface="Arial"/>
                <a:ea typeface="Arial"/>
                <a:cs typeface="Arial"/>
                <a:sym typeface="Arial"/>
              </a:rPr>
              <a:t>All requests start at:</a:t>
            </a:r>
            <a:endParaRPr b="0" i="0" sz="1800" u="none" cap="none" strike="noStrike">
              <a:solidFill>
                <a:schemeClr val="dk1"/>
              </a:solidFill>
              <a:latin typeface="Calibri"/>
              <a:ea typeface="Calibri"/>
              <a:cs typeface="Calibri"/>
              <a:sym typeface="Calibri"/>
            </a:endParaRPr>
          </a:p>
        </p:txBody>
      </p:sp>
      <p:sp>
        <p:nvSpPr>
          <p:cNvPr id="84" name="Google Shape;84;p7"/>
          <p:cNvSpPr/>
          <p:nvPr/>
        </p:nvSpPr>
        <p:spPr>
          <a:xfrm>
            <a:off x="1371600" y="2377440"/>
            <a:ext cx="6400800" cy="1097280"/>
          </a:xfrm>
          <a:prstGeom prst="rect">
            <a:avLst/>
          </a:prstGeom>
          <a:solidFill>
            <a:srgbClr val="111827"/>
          </a:solidFill>
          <a:ln cap="flat" cmpd="sng" w="12700">
            <a:solidFill>
              <a:srgbClr val="D64309"/>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7"/>
          <p:cNvSpPr/>
          <p:nvPr/>
        </p:nvSpPr>
        <p:spPr>
          <a:xfrm>
            <a:off x="1371600" y="2468880"/>
            <a:ext cx="64008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800"/>
              <a:buFont typeface="Arial"/>
              <a:buNone/>
            </a:pPr>
            <a:r>
              <a:rPr b="1" i="0" lang="en-US" sz="2800" u="none" cap="none" strike="noStrike">
                <a:solidFill>
                  <a:srgbClr val="FFFFFF"/>
                </a:solidFill>
                <a:latin typeface="Arial"/>
                <a:ea typeface="Arial"/>
                <a:cs typeface="Arial"/>
                <a:sym typeface="Arial"/>
              </a:rPr>
              <a:t>cobe-info@boisestate.edu</a:t>
            </a:r>
            <a:endParaRPr b="0" i="0" sz="2800" u="none" cap="none" strike="noStrike">
              <a:solidFill>
                <a:schemeClr val="dk1"/>
              </a:solidFill>
              <a:latin typeface="Calibri"/>
              <a:ea typeface="Calibri"/>
              <a:cs typeface="Calibri"/>
              <a:sym typeface="Calibri"/>
            </a:endParaRPr>
          </a:p>
        </p:txBody>
      </p:sp>
      <p:sp>
        <p:nvSpPr>
          <p:cNvPr id="86" name="Google Shape;86;p7"/>
          <p:cNvSpPr/>
          <p:nvPr/>
        </p:nvSpPr>
        <p:spPr>
          <a:xfrm>
            <a:off x="1371600" y="301752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EA5E9"/>
              </a:buClr>
              <a:buSzPts val="1300"/>
              <a:buFont typeface="Arial"/>
              <a:buNone/>
            </a:pPr>
            <a:r>
              <a:rPr b="0" i="0" lang="en-US" sz="1300" u="none" cap="none" strike="noStrike">
                <a:solidFill>
                  <a:srgbClr val="0EA5E9"/>
                </a:solidFill>
                <a:latin typeface="Arial"/>
                <a:ea typeface="Arial"/>
                <a:cs typeface="Arial"/>
                <a:sym typeface="Arial"/>
              </a:rPr>
              <a:t>Subject: PROGRAM REQUEST – [Channel] – [Date Range]</a:t>
            </a:r>
            <a:endParaRPr b="0" i="0" sz="1300" u="none" cap="none" strike="noStrike">
              <a:solidFill>
                <a:schemeClr val="dk1"/>
              </a:solidFill>
              <a:latin typeface="Calibri"/>
              <a:ea typeface="Calibri"/>
              <a:cs typeface="Calibri"/>
              <a:sym typeface="Calibri"/>
            </a:endParaRPr>
          </a:p>
        </p:txBody>
      </p:sp>
      <p:sp>
        <p:nvSpPr>
          <p:cNvPr id="87" name="Google Shape;87;p7"/>
          <p:cNvSpPr/>
          <p:nvPr/>
        </p:nvSpPr>
        <p:spPr>
          <a:xfrm>
            <a:off x="914400" y="3840480"/>
            <a:ext cx="7315200" cy="548640"/>
          </a:xfrm>
          <a:prstGeom prst="rect">
            <a:avLst/>
          </a:prstGeom>
          <a:noFill/>
          <a:ln>
            <a:noFill/>
          </a:ln>
        </p:spPr>
        <p:txBody>
          <a:bodyPr anchorCtr="0" anchor="ctr" bIns="45700" lIns="91425" spcFirstLastPara="1" rIns="91425" wrap="square" tIns="45700">
            <a:noAutofit/>
          </a:bodyPr>
          <a:lstStyle/>
          <a:p>
            <a:pPr indent="0" lvl="0" marL="0" marR="0" rtl="0" algn="ctr">
              <a:lnSpc>
                <a:spcPct val="130000"/>
              </a:lnSpc>
              <a:spcBef>
                <a:spcPts val="0"/>
              </a:spcBef>
              <a:spcAft>
                <a:spcPts val="0"/>
              </a:spcAft>
              <a:buClr>
                <a:srgbClr val="CBD5E1"/>
              </a:buClr>
              <a:buSzPts val="1300"/>
              <a:buFont typeface="Arial"/>
              <a:buNone/>
            </a:pPr>
            <a:r>
              <a:rPr b="0" i="0" lang="en-US" sz="1300" u="none" cap="none" strike="noStrike">
                <a:solidFill>
                  <a:srgbClr val="CBD5E1"/>
                </a:solidFill>
                <a:latin typeface="Arial"/>
                <a:ea typeface="Arial"/>
                <a:cs typeface="Arial"/>
                <a:sym typeface="Arial"/>
              </a:rPr>
              <a:t>This is the single entry point for both Hands-Off and Hands-On requests.</a:t>
            </a:r>
            <a:endParaRPr b="0" i="0" sz="1300" u="none" cap="none" strike="noStrike">
              <a:solidFill>
                <a:schemeClr val="dk1"/>
              </a:solidFill>
              <a:latin typeface="Calibri"/>
              <a:ea typeface="Calibri"/>
              <a:cs typeface="Calibri"/>
              <a:sym typeface="Calibri"/>
            </a:endParaRPr>
          </a:p>
          <a:p>
            <a:pPr indent="0" lvl="0" marL="0" marR="0" rtl="0" algn="ctr">
              <a:lnSpc>
                <a:spcPct val="130000"/>
              </a:lnSpc>
              <a:spcBef>
                <a:spcPts val="0"/>
              </a:spcBef>
              <a:spcAft>
                <a:spcPts val="0"/>
              </a:spcAft>
              <a:buClr>
                <a:srgbClr val="CBD5E1"/>
              </a:buClr>
              <a:buSzPts val="1300"/>
              <a:buFont typeface="Arial"/>
              <a:buNone/>
            </a:pPr>
            <a:r>
              <a:rPr b="0" i="0" lang="en-US" sz="1300" u="none" cap="none" strike="noStrike">
                <a:solidFill>
                  <a:srgbClr val="CBD5E1"/>
                </a:solidFill>
                <a:latin typeface="Arial"/>
                <a:ea typeface="Arial"/>
                <a:cs typeface="Arial"/>
                <a:sym typeface="Arial"/>
              </a:rPr>
              <a:t>No matter which path you choose, your journey starts with this email.</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91" name="Shape 91"/>
        <p:cNvGrpSpPr/>
        <p:nvPr/>
      </p:nvGrpSpPr>
      <p:grpSpPr>
        <a:xfrm>
          <a:off x="0" y="0"/>
          <a:ext cx="0" cy="0"/>
          <a:chOff x="0" y="0"/>
          <a:chExt cx="0" cy="0"/>
        </a:xfrm>
      </p:grpSpPr>
      <p:sp>
        <p:nvSpPr>
          <p:cNvPr id="92" name="Google Shape;92;p8"/>
          <p:cNvSpPr/>
          <p:nvPr/>
        </p:nvSpPr>
        <p:spPr>
          <a:xfrm>
            <a:off x="109725" y="0"/>
            <a:ext cx="9144000" cy="5143500"/>
          </a:xfrm>
          <a:prstGeom prst="rect">
            <a:avLst/>
          </a:prstGeom>
          <a:solidFill>
            <a:srgbClr val="0C4A6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8"/>
          <p:cNvSpPr/>
          <p:nvPr/>
        </p:nvSpPr>
        <p:spPr>
          <a:xfrm>
            <a:off x="0" y="0"/>
            <a:ext cx="109728" cy="51435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8"/>
          <p:cNvSpPr/>
          <p:nvPr/>
        </p:nvSpPr>
        <p:spPr>
          <a:xfrm>
            <a:off x="548640" y="394450"/>
            <a:ext cx="73152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800"/>
              <a:buFont typeface="Arial"/>
              <a:buNone/>
            </a:pPr>
            <a:r>
              <a:rPr b="1" i="0" lang="en-US" sz="1800" u="none" cap="none" strike="noStrike">
                <a:solidFill>
                  <a:srgbClr val="0EA5E9"/>
                </a:solidFill>
                <a:latin typeface="Arial"/>
                <a:ea typeface="Arial"/>
                <a:cs typeface="Arial"/>
                <a:sym typeface="Arial"/>
              </a:rPr>
              <a:t>SECTION 01</a:t>
            </a:r>
            <a:endParaRPr b="0" i="0" sz="1800" u="none" cap="none" strike="noStrike">
              <a:solidFill>
                <a:schemeClr val="dk1"/>
              </a:solidFill>
              <a:latin typeface="Calibri"/>
              <a:ea typeface="Calibri"/>
              <a:cs typeface="Calibri"/>
              <a:sym typeface="Calibri"/>
            </a:endParaRPr>
          </a:p>
        </p:txBody>
      </p:sp>
      <p:sp>
        <p:nvSpPr>
          <p:cNvPr id="95" name="Google Shape;95;p8"/>
          <p:cNvSpPr/>
          <p:nvPr/>
        </p:nvSpPr>
        <p:spPr>
          <a:xfrm>
            <a:off x="548640" y="1197028"/>
            <a:ext cx="7315200" cy="10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5200"/>
              <a:buFont typeface="Georgia"/>
              <a:buNone/>
            </a:pPr>
            <a:r>
              <a:rPr b="1" i="0" lang="en-US" sz="5200" u="none" cap="none" strike="noStrike">
                <a:solidFill>
                  <a:srgbClr val="FFFFFF"/>
                </a:solidFill>
                <a:latin typeface="Georgia"/>
                <a:ea typeface="Georgia"/>
                <a:cs typeface="Georgia"/>
                <a:sym typeface="Georgia"/>
              </a:rPr>
              <a:t>STRATEGY &amp;</a:t>
            </a:r>
            <a:br>
              <a:rPr b="1" i="0" lang="en-US" sz="5200" u="none" cap="none" strike="noStrike">
                <a:solidFill>
                  <a:srgbClr val="FFFFFF"/>
                </a:solidFill>
                <a:latin typeface="Georgia"/>
                <a:ea typeface="Georgia"/>
                <a:cs typeface="Georgia"/>
                <a:sym typeface="Georgia"/>
              </a:rPr>
            </a:br>
            <a:r>
              <a:rPr b="1" i="0" lang="en-US" sz="5200" u="none" cap="none" strike="noStrike">
                <a:solidFill>
                  <a:srgbClr val="FFFFFF"/>
                </a:solidFill>
                <a:latin typeface="Georgia"/>
                <a:ea typeface="Georgia"/>
                <a:cs typeface="Georgia"/>
                <a:sym typeface="Georgia"/>
              </a:rPr>
              <a:t>FOUNDATIONS</a:t>
            </a:r>
            <a:endParaRPr b="1" i="0" sz="5200" u="none" cap="none" strike="noStrike">
              <a:solidFill>
                <a:schemeClr val="dk1"/>
              </a:solidFill>
              <a:latin typeface="Calibri"/>
              <a:ea typeface="Calibri"/>
              <a:cs typeface="Calibri"/>
              <a:sym typeface="Calibri"/>
            </a:endParaRPr>
          </a:p>
        </p:txBody>
      </p:sp>
      <p:sp>
        <p:nvSpPr>
          <p:cNvPr id="96" name="Google Shape;96;p8"/>
          <p:cNvSpPr/>
          <p:nvPr/>
        </p:nvSpPr>
        <p:spPr>
          <a:xfrm>
            <a:off x="548650" y="2572251"/>
            <a:ext cx="7315200" cy="66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2200"/>
              <a:buFont typeface="Arial"/>
              <a:buNone/>
            </a:pPr>
            <a:r>
              <a:rPr b="0" i="0" lang="en-US" sz="2200" u="none" cap="none" strike="noStrike">
                <a:solidFill>
                  <a:srgbClr val="CBD5E1"/>
                </a:solidFill>
                <a:latin typeface="Arial"/>
                <a:ea typeface="Arial"/>
                <a:cs typeface="Arial"/>
                <a:sym typeface="Arial"/>
              </a:rPr>
              <a:t>Target Audiences • Messaging Pillars • Marketing Funnel • Brand Voice</a:t>
            </a:r>
            <a:endParaRPr b="0" i="0" sz="2200" u="none" cap="none" strike="noStrike">
              <a:solidFill>
                <a:schemeClr val="dk1"/>
              </a:solidFill>
              <a:latin typeface="Calibri"/>
              <a:ea typeface="Calibri"/>
              <a:cs typeface="Calibri"/>
              <a:sym typeface="Calibri"/>
            </a:endParaRPr>
          </a:p>
        </p:txBody>
      </p:sp>
      <p:sp>
        <p:nvSpPr>
          <p:cNvPr id="97" name="Google Shape;97;p8"/>
          <p:cNvSpPr/>
          <p:nvPr/>
        </p:nvSpPr>
        <p:spPr>
          <a:xfrm>
            <a:off x="548640" y="3291840"/>
            <a:ext cx="1828800" cy="36576"/>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p:nvPr/>
        </p:nvSpPr>
        <p:spPr>
          <a:xfrm>
            <a:off x="439890" y="3607440"/>
            <a:ext cx="64008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40000"/>
              </a:lnSpc>
              <a:spcBef>
                <a:spcPts val="0"/>
              </a:spcBef>
              <a:spcAft>
                <a:spcPts val="0"/>
              </a:spcAft>
              <a:buClr>
                <a:srgbClr val="CBD5E1"/>
              </a:buClr>
              <a:buSzPts val="1400"/>
              <a:buFont typeface="Arial"/>
              <a:buNone/>
            </a:pPr>
            <a:r>
              <a:rPr b="0" i="0" lang="en-US" sz="1400" u="none" cap="none" strike="noStrike">
                <a:solidFill>
                  <a:srgbClr val="CBD5E1"/>
                </a:solidFill>
                <a:latin typeface="Arial"/>
                <a:ea typeface="Arial"/>
                <a:cs typeface="Arial"/>
                <a:sym typeface="Arial"/>
              </a:rPr>
              <a:t>Know your audiences, align your messaging, then pick the right channel.</a:t>
            </a:r>
            <a:endParaRPr b="0" i="0" sz="1400" u="none" cap="none" strike="noStrike">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CBD5E1"/>
              </a:buClr>
              <a:buSzPts val="1400"/>
              <a:buFont typeface="Arial"/>
              <a:buNone/>
            </a:pPr>
            <a:r>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2" name="Shape 102"/>
        <p:cNvGrpSpPr/>
        <p:nvPr/>
      </p:nvGrpSpPr>
      <p:grpSpPr>
        <a:xfrm>
          <a:off x="0" y="0"/>
          <a:ext cx="0" cy="0"/>
          <a:chOff x="0" y="0"/>
          <a:chExt cx="0" cy="0"/>
        </a:xfrm>
      </p:grpSpPr>
      <p:sp>
        <p:nvSpPr>
          <p:cNvPr id="103" name="Google Shape;103;p9"/>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04" name="Google Shape;104;p9"/>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6</a:t>
            </a:r>
            <a:endParaRPr b="0" i="0" sz="1000" u="none" cap="none" strike="noStrike">
              <a:solidFill>
                <a:schemeClr val="dk1"/>
              </a:solidFill>
              <a:latin typeface="Calibri"/>
              <a:ea typeface="Calibri"/>
              <a:cs typeface="Calibri"/>
              <a:sym typeface="Calibri"/>
            </a:endParaRPr>
          </a:p>
        </p:txBody>
      </p:sp>
      <p:sp>
        <p:nvSpPr>
          <p:cNvPr id="105" name="Google Shape;105;p9"/>
          <p:cNvSpPr/>
          <p:nvPr/>
        </p:nvSpPr>
        <p:spPr>
          <a:xfrm>
            <a:off x="457200" y="3200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600"/>
              <a:buFont typeface="Georgia"/>
              <a:buNone/>
            </a:pPr>
            <a:r>
              <a:rPr b="1" i="0" lang="en-US" sz="3600" u="none" cap="none" strike="noStrike">
                <a:solidFill>
                  <a:srgbClr val="0B1220"/>
                </a:solidFill>
                <a:latin typeface="Georgia"/>
                <a:ea typeface="Georgia"/>
                <a:cs typeface="Georgia"/>
                <a:sym typeface="Georgia"/>
              </a:rPr>
              <a:t>Target Audiences</a:t>
            </a:r>
            <a:endParaRPr b="0" i="0" sz="3600" u="none" cap="none" strike="noStrike">
              <a:solidFill>
                <a:schemeClr val="dk1"/>
              </a:solidFill>
              <a:latin typeface="Calibri"/>
              <a:ea typeface="Calibri"/>
              <a:cs typeface="Calibri"/>
              <a:sym typeface="Calibri"/>
            </a:endParaRPr>
          </a:p>
        </p:txBody>
      </p:sp>
      <p:sp>
        <p:nvSpPr>
          <p:cNvPr id="106" name="Google Shape;106;p9"/>
          <p:cNvSpPr/>
          <p:nvPr/>
        </p:nvSpPr>
        <p:spPr>
          <a:xfrm>
            <a:off x="457200" y="914400"/>
            <a:ext cx="82296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400"/>
              <a:buFont typeface="Arial"/>
              <a:buNone/>
            </a:pPr>
            <a:r>
              <a:rPr b="0" i="0" lang="en-US" sz="1400" u="none" cap="none" strike="noStrike">
                <a:solidFill>
                  <a:srgbClr val="334155"/>
                </a:solidFill>
                <a:latin typeface="Arial"/>
                <a:ea typeface="Arial"/>
                <a:cs typeface="Arial"/>
                <a:sym typeface="Arial"/>
              </a:rPr>
              <a:t>Current students are the primary audience for most COBE program marketing. Other audiences (prospective students, employers, partners) are secondary and typically handled by specialized teams with dedicated systems.</a:t>
            </a:r>
            <a:endParaRPr b="0" i="0" sz="1400" u="none" cap="none" strike="noStrike">
              <a:solidFill>
                <a:schemeClr val="dk1"/>
              </a:solidFill>
              <a:latin typeface="Calibri"/>
              <a:ea typeface="Calibri"/>
              <a:cs typeface="Calibri"/>
              <a:sym typeface="Calibri"/>
            </a:endParaRPr>
          </a:p>
        </p:txBody>
      </p:sp>
      <p:sp>
        <p:nvSpPr>
          <p:cNvPr id="107" name="Google Shape;107;p9"/>
          <p:cNvSpPr/>
          <p:nvPr/>
        </p:nvSpPr>
        <p:spPr>
          <a:xfrm>
            <a:off x="457200" y="1463040"/>
            <a:ext cx="3840480" cy="2926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9"/>
          <p:cNvSpPr/>
          <p:nvPr/>
        </p:nvSpPr>
        <p:spPr>
          <a:xfrm>
            <a:off x="457200" y="1463040"/>
            <a:ext cx="54864" cy="29260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9"/>
          <p:cNvSpPr/>
          <p:nvPr/>
        </p:nvSpPr>
        <p:spPr>
          <a:xfrm>
            <a:off x="457200" y="1463040"/>
            <a:ext cx="3840480" cy="4572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9"/>
          <p:cNvSpPr/>
          <p:nvPr/>
        </p:nvSpPr>
        <p:spPr>
          <a:xfrm>
            <a:off x="457200" y="1463040"/>
            <a:ext cx="38404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PROSPECTIVE STUDENTS</a:t>
            </a:r>
            <a:endParaRPr b="0" i="0" sz="1600" u="none" cap="none" strike="noStrike">
              <a:solidFill>
                <a:schemeClr val="dk1"/>
              </a:solidFill>
              <a:latin typeface="Calibri"/>
              <a:ea typeface="Calibri"/>
              <a:cs typeface="Calibri"/>
              <a:sym typeface="Calibri"/>
            </a:endParaRPr>
          </a:p>
        </p:txBody>
      </p:sp>
      <p:sp>
        <p:nvSpPr>
          <p:cNvPr id="111" name="Google Shape;111;p9"/>
          <p:cNvSpPr/>
          <p:nvPr/>
        </p:nvSpPr>
        <p:spPr>
          <a:xfrm>
            <a:off x="640080" y="201168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400"/>
              <a:buFont typeface="Arial"/>
              <a:buNone/>
            </a:pPr>
            <a:r>
              <a:rPr b="1" i="0" lang="en-US" sz="1400" u="none" cap="none" strike="noStrike">
                <a:solidFill>
                  <a:srgbClr val="0EA5E9"/>
                </a:solidFill>
                <a:latin typeface="Arial"/>
                <a:ea typeface="Arial"/>
                <a:cs typeface="Arial"/>
                <a:sym typeface="Arial"/>
              </a:rPr>
              <a:t>Seeking flexible credentials and career pathways.</a:t>
            </a:r>
            <a:endParaRPr b="0" i="0" sz="1400" u="none" cap="none" strike="noStrike">
              <a:solidFill>
                <a:schemeClr val="dk1"/>
              </a:solidFill>
              <a:latin typeface="Calibri"/>
              <a:ea typeface="Calibri"/>
              <a:cs typeface="Calibri"/>
              <a:sym typeface="Calibri"/>
            </a:endParaRPr>
          </a:p>
        </p:txBody>
      </p:sp>
      <p:sp>
        <p:nvSpPr>
          <p:cNvPr id="112" name="Google Shape;112;p9"/>
          <p:cNvSpPr/>
          <p:nvPr/>
        </p:nvSpPr>
        <p:spPr>
          <a:xfrm>
            <a:off x="640080" y="2377440"/>
            <a:ext cx="3474720" cy="1645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COBE OFFERS: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Stackable certificates, industry</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exposure, career fairs, flexible online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micro-credentials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t/>
            </a:r>
            <a:endParaRPr b="0" i="0" sz="1100" u="none" cap="none" strike="noStrike">
              <a:solidFill>
                <a:schemeClr val="dk1"/>
              </a:solidFill>
              <a:latin typeface="Calibri"/>
              <a:ea typeface="Calibri"/>
              <a:cs typeface="Calibri"/>
              <a:sym typeface="Calibri"/>
            </a:endParaRPr>
          </a:p>
        </p:txBody>
      </p:sp>
      <p:sp>
        <p:nvSpPr>
          <p:cNvPr id="113" name="Google Shape;113;p9"/>
          <p:cNvSpPr/>
          <p:nvPr/>
        </p:nvSpPr>
        <p:spPr>
          <a:xfrm>
            <a:off x="640080" y="3794760"/>
            <a:ext cx="3474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1" lang="en-US" sz="1000" u="none" cap="none" strike="noStrike">
                <a:solidFill>
                  <a:srgbClr val="64748B"/>
                </a:solidFill>
                <a:latin typeface="Arial"/>
                <a:ea typeface="Arial"/>
                <a:cs typeface="Arial"/>
                <a:sym typeface="Arial"/>
              </a:rPr>
              <a:t>CURRENT STUDENTS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114" name="Google Shape;114;p9"/>
          <p:cNvSpPr/>
          <p:nvPr/>
        </p:nvSpPr>
        <p:spPr>
          <a:xfrm>
            <a:off x="4846320" y="1463040"/>
            <a:ext cx="3840480" cy="2926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4846320" y="1463040"/>
            <a:ext cx="54864" cy="292608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9"/>
          <p:cNvSpPr/>
          <p:nvPr/>
        </p:nvSpPr>
        <p:spPr>
          <a:xfrm>
            <a:off x="4846320" y="1463040"/>
            <a:ext cx="3840480" cy="45720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9"/>
          <p:cNvSpPr/>
          <p:nvPr/>
        </p:nvSpPr>
        <p:spPr>
          <a:xfrm>
            <a:off x="4846320" y="1463040"/>
            <a:ext cx="38404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EMPLOYERS &amp; PARTNERS</a:t>
            </a:r>
            <a:endParaRPr b="0" i="0" sz="1600" u="none" cap="none" strike="noStrike">
              <a:solidFill>
                <a:schemeClr val="dk1"/>
              </a:solidFill>
              <a:latin typeface="Calibri"/>
              <a:ea typeface="Calibri"/>
              <a:cs typeface="Calibri"/>
              <a:sym typeface="Calibri"/>
            </a:endParaRPr>
          </a:p>
        </p:txBody>
      </p:sp>
      <p:sp>
        <p:nvSpPr>
          <p:cNvPr id="118" name="Google Shape;118;p9"/>
          <p:cNvSpPr/>
          <p:nvPr/>
        </p:nvSpPr>
        <p:spPr>
          <a:xfrm>
            <a:off x="5029200" y="201168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400"/>
              <a:buFont typeface="Arial"/>
              <a:buNone/>
            </a:pPr>
            <a:r>
              <a:rPr b="1" i="0" lang="en-US" sz="1400" u="none" cap="none" strike="noStrike">
                <a:solidFill>
                  <a:srgbClr val="F97316"/>
                </a:solidFill>
                <a:latin typeface="Arial"/>
                <a:ea typeface="Arial"/>
                <a:cs typeface="Arial"/>
                <a:sym typeface="Arial"/>
              </a:rPr>
              <a:t>Need talent pipelines and training solutions.</a:t>
            </a:r>
            <a:endParaRPr b="0" i="0" sz="1400" u="none" cap="none" strike="noStrike">
              <a:solidFill>
                <a:schemeClr val="dk1"/>
              </a:solidFill>
              <a:latin typeface="Calibri"/>
              <a:ea typeface="Calibri"/>
              <a:cs typeface="Calibri"/>
              <a:sym typeface="Calibri"/>
            </a:endParaRPr>
          </a:p>
        </p:txBody>
      </p:sp>
      <p:sp>
        <p:nvSpPr>
          <p:cNvPr id="119" name="Google Shape;119;p9"/>
          <p:cNvSpPr/>
          <p:nvPr/>
        </p:nvSpPr>
        <p:spPr>
          <a:xfrm>
            <a:off x="5029200" y="2377440"/>
            <a:ext cx="3474720" cy="1645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COBE OFFERS: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Career fairs, mixers, paid project-</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based interns, free/paid training</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bundles for employee upskilling</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t/>
            </a:r>
            <a:endParaRPr b="0" i="0" sz="1100" u="none" cap="none" strike="noStrike">
              <a:solidFill>
                <a:schemeClr val="dk1"/>
              </a:solidFill>
              <a:latin typeface="Calibri"/>
              <a:ea typeface="Calibri"/>
              <a:cs typeface="Calibri"/>
              <a:sym typeface="Calibri"/>
            </a:endParaRPr>
          </a:p>
        </p:txBody>
      </p:sp>
      <p:sp>
        <p:nvSpPr>
          <p:cNvPr id="120" name="Google Shape;120;p9"/>
          <p:cNvSpPr/>
          <p:nvPr/>
        </p:nvSpPr>
        <p:spPr>
          <a:xfrm>
            <a:off x="5029200" y="3794760"/>
            <a:ext cx="3474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1" lang="en-US" sz="1000" u="none" cap="none" strike="noStrike">
                <a:solidFill>
                  <a:srgbClr val="64748B"/>
                </a:solidFill>
                <a:latin typeface="Arial"/>
                <a:ea typeface="Arial"/>
                <a:cs typeface="Arial"/>
                <a:sym typeface="Arial"/>
              </a:rPr>
              <a:t>ALUMNI &amp; EMPLOYERS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000"/>
              <a:buFont typeface="Arial"/>
              <a:buNone/>
            </a:pPr>
            <a:r>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4" name="Shape 124"/>
        <p:cNvGrpSpPr/>
        <p:nvPr/>
      </p:nvGrpSpPr>
      <p:grpSpPr>
        <a:xfrm>
          <a:off x="0" y="0"/>
          <a:ext cx="0" cy="0"/>
          <a:chOff x="0" y="0"/>
          <a:chExt cx="0" cy="0"/>
        </a:xfrm>
      </p:grpSpPr>
      <p:sp>
        <p:nvSpPr>
          <p:cNvPr id="125" name="Google Shape;125;p10"/>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0"/>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SECTION 01</a:t>
            </a:r>
            <a:endParaRPr b="0" i="0" sz="1100" u="none" cap="none" strike="noStrike">
              <a:solidFill>
                <a:schemeClr val="dk1"/>
              </a:solidFill>
              <a:latin typeface="Calibri"/>
              <a:ea typeface="Calibri"/>
              <a:cs typeface="Calibri"/>
              <a:sym typeface="Calibri"/>
            </a:endParaRPr>
          </a:p>
        </p:txBody>
      </p:sp>
      <p:sp>
        <p:nvSpPr>
          <p:cNvPr id="127" name="Google Shape;127;p10"/>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28" name="Google Shape;128;p10"/>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7</a:t>
            </a:r>
            <a:endParaRPr b="0" i="0" sz="1000" u="none" cap="none" strike="noStrike">
              <a:solidFill>
                <a:schemeClr val="dk1"/>
              </a:solidFill>
              <a:latin typeface="Calibri"/>
              <a:ea typeface="Calibri"/>
              <a:cs typeface="Calibri"/>
              <a:sym typeface="Calibri"/>
            </a:endParaRPr>
          </a:p>
        </p:txBody>
      </p:sp>
      <p:sp>
        <p:nvSpPr>
          <p:cNvPr id="129" name="Google Shape;129;p10"/>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Core Messaging Pillars</a:t>
            </a:r>
            <a:endParaRPr b="0" i="0" sz="3000" u="none" cap="none" strike="noStrike">
              <a:solidFill>
                <a:schemeClr val="dk1"/>
              </a:solidFill>
              <a:latin typeface="Calibri"/>
              <a:ea typeface="Calibri"/>
              <a:cs typeface="Calibri"/>
              <a:sym typeface="Calibri"/>
            </a:endParaRPr>
          </a:p>
        </p:txBody>
      </p:sp>
      <p:sp>
        <p:nvSpPr>
          <p:cNvPr id="130" name="Google Shape;130;p10"/>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These messaging pillars were developed for RHM certificate campaigns. Other programs can adapt these as examples, but they are not universal requirements.</a:t>
            </a:r>
            <a:endParaRPr b="0" i="0" sz="1400" u="none" cap="none" strike="noStrike">
              <a:solidFill>
                <a:schemeClr val="dk1"/>
              </a:solidFill>
              <a:latin typeface="Calibri"/>
              <a:ea typeface="Calibri"/>
              <a:cs typeface="Calibri"/>
              <a:sym typeface="Calibri"/>
            </a:endParaRPr>
          </a:p>
        </p:txBody>
      </p:sp>
      <p:sp>
        <p:nvSpPr>
          <p:cNvPr id="131" name="Google Shape;131;p10"/>
          <p:cNvSpPr/>
          <p:nvPr/>
        </p:nvSpPr>
        <p:spPr>
          <a:xfrm>
            <a:off x="457200" y="137160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0"/>
          <p:cNvSpPr/>
          <p:nvPr/>
        </p:nvSpPr>
        <p:spPr>
          <a:xfrm>
            <a:off x="457200" y="1371600"/>
            <a:ext cx="54864" cy="640080"/>
          </a:xfrm>
          <a:prstGeom prst="rect">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0"/>
          <p:cNvSpPr/>
          <p:nvPr/>
        </p:nvSpPr>
        <p:spPr>
          <a:xfrm>
            <a:off x="640080" y="1481328"/>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0"/>
          <p:cNvSpPr/>
          <p:nvPr/>
        </p:nvSpPr>
        <p:spPr>
          <a:xfrm>
            <a:off x="640080" y="148132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135" name="Google Shape;135;p10"/>
          <p:cNvSpPr/>
          <p:nvPr/>
        </p:nvSpPr>
        <p:spPr>
          <a:xfrm>
            <a:off x="1234440" y="141732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Career-Readiness &amp; Leadership</a:t>
            </a:r>
            <a:endParaRPr b="0" i="0" sz="1300" u="none" cap="none" strike="noStrike">
              <a:solidFill>
                <a:schemeClr val="dk1"/>
              </a:solidFill>
              <a:latin typeface="Calibri"/>
              <a:ea typeface="Calibri"/>
              <a:cs typeface="Calibri"/>
              <a:sym typeface="Calibri"/>
            </a:endParaRPr>
          </a:p>
        </p:txBody>
      </p:sp>
      <p:sp>
        <p:nvSpPr>
          <p:cNvPr id="136" name="Google Shape;136;p10"/>
          <p:cNvSpPr/>
          <p:nvPr/>
        </p:nvSpPr>
        <p:spPr>
          <a:xfrm>
            <a:off x="1234440" y="167335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Students lead real projects that deliver measurable value for host organizations.</a:t>
            </a:r>
            <a:endParaRPr b="0" i="0" sz="1000" u="none" cap="none" strike="noStrike">
              <a:solidFill>
                <a:schemeClr val="dk1"/>
              </a:solidFill>
              <a:latin typeface="Calibri"/>
              <a:ea typeface="Calibri"/>
              <a:cs typeface="Calibri"/>
              <a:sym typeface="Calibri"/>
            </a:endParaRPr>
          </a:p>
        </p:txBody>
      </p:sp>
      <p:sp>
        <p:nvSpPr>
          <p:cNvPr id="137" name="Google Shape;137;p10"/>
          <p:cNvSpPr/>
          <p:nvPr/>
        </p:nvSpPr>
        <p:spPr>
          <a:xfrm>
            <a:off x="457200" y="210312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457200" y="2103120"/>
            <a:ext cx="54864" cy="6400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0"/>
          <p:cNvSpPr/>
          <p:nvPr/>
        </p:nvSpPr>
        <p:spPr>
          <a:xfrm>
            <a:off x="640080" y="2212848"/>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0"/>
          <p:cNvSpPr/>
          <p:nvPr/>
        </p:nvSpPr>
        <p:spPr>
          <a:xfrm>
            <a:off x="640080" y="221284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141" name="Google Shape;141;p10"/>
          <p:cNvSpPr/>
          <p:nvPr/>
        </p:nvSpPr>
        <p:spPr>
          <a:xfrm>
            <a:off x="1234440" y="214884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Flexible Learning Formats</a:t>
            </a:r>
            <a:endParaRPr b="0" i="0" sz="1300" u="none" cap="none" strike="noStrike">
              <a:solidFill>
                <a:schemeClr val="dk1"/>
              </a:solidFill>
              <a:latin typeface="Calibri"/>
              <a:ea typeface="Calibri"/>
              <a:cs typeface="Calibri"/>
              <a:sym typeface="Calibri"/>
            </a:endParaRPr>
          </a:p>
        </p:txBody>
      </p:sp>
      <p:sp>
        <p:nvSpPr>
          <p:cNvPr id="142" name="Google Shape;142;p10"/>
          <p:cNvSpPr/>
          <p:nvPr/>
        </p:nvSpPr>
        <p:spPr>
          <a:xfrm>
            <a:off x="1234440" y="240487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Complete modules in under 60 minutes. Add one in-person leadership workshop to deepen skills.</a:t>
            </a:r>
            <a:endParaRPr b="0" i="0" sz="1000" u="none" cap="none" strike="noStrike">
              <a:solidFill>
                <a:schemeClr val="dk1"/>
              </a:solidFill>
              <a:latin typeface="Calibri"/>
              <a:ea typeface="Calibri"/>
              <a:cs typeface="Calibri"/>
              <a:sym typeface="Calibri"/>
            </a:endParaRPr>
          </a:p>
        </p:txBody>
      </p:sp>
      <p:sp>
        <p:nvSpPr>
          <p:cNvPr id="143" name="Google Shape;143;p10"/>
          <p:cNvSpPr/>
          <p:nvPr/>
        </p:nvSpPr>
        <p:spPr>
          <a:xfrm>
            <a:off x="457200" y="283464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0"/>
          <p:cNvSpPr/>
          <p:nvPr/>
        </p:nvSpPr>
        <p:spPr>
          <a:xfrm>
            <a:off x="457200" y="2834640"/>
            <a:ext cx="54864" cy="6400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0"/>
          <p:cNvSpPr/>
          <p:nvPr/>
        </p:nvSpPr>
        <p:spPr>
          <a:xfrm>
            <a:off x="640080" y="2944368"/>
            <a:ext cx="411480" cy="4114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0"/>
          <p:cNvSpPr/>
          <p:nvPr/>
        </p:nvSpPr>
        <p:spPr>
          <a:xfrm>
            <a:off x="640080" y="294436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147" name="Google Shape;147;p10"/>
          <p:cNvSpPr/>
          <p:nvPr/>
        </p:nvSpPr>
        <p:spPr>
          <a:xfrm>
            <a:off x="1234440" y="288036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Employer Partnership &amp; Pipeline</a:t>
            </a:r>
            <a:endParaRPr b="0" i="0" sz="1300" u="none" cap="none" strike="noStrike">
              <a:solidFill>
                <a:schemeClr val="dk1"/>
              </a:solidFill>
              <a:latin typeface="Calibri"/>
              <a:ea typeface="Calibri"/>
              <a:cs typeface="Calibri"/>
              <a:sym typeface="Calibri"/>
            </a:endParaRPr>
          </a:p>
        </p:txBody>
      </p:sp>
      <p:sp>
        <p:nvSpPr>
          <p:cNvPr id="148" name="Google Shape;148;p10"/>
          <p:cNvSpPr/>
          <p:nvPr/>
        </p:nvSpPr>
        <p:spPr>
          <a:xfrm>
            <a:off x="1234440" y="313639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Meet COBE students at targeted mixers before major fairs. Bundle training to accelerate team readiness.</a:t>
            </a:r>
            <a:endParaRPr b="0" i="0" sz="1000" u="none" cap="none" strike="noStrike">
              <a:solidFill>
                <a:schemeClr val="dk1"/>
              </a:solidFill>
              <a:latin typeface="Calibri"/>
              <a:ea typeface="Calibri"/>
              <a:cs typeface="Calibri"/>
              <a:sym typeface="Calibri"/>
            </a:endParaRPr>
          </a:p>
        </p:txBody>
      </p:sp>
      <p:sp>
        <p:nvSpPr>
          <p:cNvPr id="149" name="Google Shape;149;p10"/>
          <p:cNvSpPr/>
          <p:nvPr/>
        </p:nvSpPr>
        <p:spPr>
          <a:xfrm>
            <a:off x="640080" y="367588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4</a:t>
            </a:r>
            <a:endParaRPr b="0" i="0" sz="1600" u="none" cap="none" strike="noStrike">
              <a:solidFill>
                <a:schemeClr val="dk1"/>
              </a:solidFill>
              <a:latin typeface="Calibri"/>
              <a:ea typeface="Calibri"/>
              <a:cs typeface="Calibri"/>
              <a:sym typeface="Calibri"/>
            </a:endParaRPr>
          </a:p>
        </p:txBody>
      </p:sp>
      <p:sp>
        <p:nvSpPr>
          <p:cNvPr id="150" name="Google Shape;150;p10"/>
          <p:cNvSpPr/>
          <p:nvPr/>
        </p:nvSpPr>
        <p:spPr>
          <a:xfrm>
            <a:off x="1234440" y="361188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Accessible Collaboration</a:t>
            </a:r>
            <a:endParaRPr b="0" i="0" sz="1300" u="none" cap="none" strike="noStrike">
              <a:solidFill>
                <a:schemeClr val="dk1"/>
              </a:solidFill>
              <a:latin typeface="Calibri"/>
              <a:ea typeface="Calibri"/>
              <a:cs typeface="Calibri"/>
              <a:sym typeface="Calibri"/>
            </a:endParaRPr>
          </a:p>
        </p:txBody>
      </p:sp>
      <p:sp>
        <p:nvSpPr>
          <p:cNvPr id="151" name="Google Shape;151;p10"/>
          <p:cNvSpPr/>
          <p:nvPr/>
        </p:nvSpPr>
        <p:spPr>
          <a:xfrm>
            <a:off x="1234440" y="386791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Submit requests two weeks ahead to cobe-info@boisestate.edu with all assets. Clear process, fast results.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55" name="Shape 155"/>
        <p:cNvGrpSpPr/>
        <p:nvPr/>
      </p:nvGrpSpPr>
      <p:grpSpPr>
        <a:xfrm>
          <a:off x="0" y="0"/>
          <a:ext cx="0" cy="0"/>
          <a:chOff x="0" y="0"/>
          <a:chExt cx="0" cy="0"/>
        </a:xfrm>
      </p:grpSpPr>
      <p:sp>
        <p:nvSpPr>
          <p:cNvPr id="156" name="Google Shape;156;p11"/>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57" name="Google Shape;157;p11"/>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8</a:t>
            </a:r>
            <a:endParaRPr b="0" i="0" sz="1000" u="none" cap="none" strike="noStrike">
              <a:solidFill>
                <a:schemeClr val="dk1"/>
              </a:solidFill>
              <a:latin typeface="Calibri"/>
              <a:ea typeface="Calibri"/>
              <a:cs typeface="Calibri"/>
              <a:sym typeface="Calibri"/>
            </a:endParaRPr>
          </a:p>
        </p:txBody>
      </p:sp>
      <p:sp>
        <p:nvSpPr>
          <p:cNvPr id="158" name="Google Shape;158;p11"/>
          <p:cNvSpPr/>
          <p:nvPr/>
        </p:nvSpPr>
        <p:spPr>
          <a:xfrm>
            <a:off x="457200" y="3200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600"/>
              <a:buFont typeface="Georgia"/>
              <a:buNone/>
            </a:pPr>
            <a:r>
              <a:rPr b="1" i="0" lang="en-US" sz="3600" u="none" cap="none" strike="noStrike">
                <a:solidFill>
                  <a:srgbClr val="0B1220"/>
                </a:solidFill>
                <a:latin typeface="Georgia"/>
                <a:ea typeface="Georgia"/>
                <a:cs typeface="Georgia"/>
                <a:sym typeface="Georgia"/>
              </a:rPr>
              <a:t>The Marketing Funnel</a:t>
            </a:r>
            <a:endParaRPr b="0" i="0" sz="3600" u="none" cap="none" strike="noStrike">
              <a:solidFill>
                <a:schemeClr val="dk1"/>
              </a:solidFill>
              <a:latin typeface="Calibri"/>
              <a:ea typeface="Calibri"/>
              <a:cs typeface="Calibri"/>
              <a:sym typeface="Calibri"/>
            </a:endParaRPr>
          </a:p>
        </p:txBody>
      </p:sp>
      <p:sp>
        <p:nvSpPr>
          <p:cNvPr id="159" name="Google Shape;159;p11"/>
          <p:cNvSpPr/>
          <p:nvPr/>
        </p:nvSpPr>
        <p:spPr>
          <a:xfrm>
            <a:off x="457200" y="914400"/>
            <a:ext cx="82296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400"/>
              <a:buFont typeface="Arial"/>
              <a:buNone/>
            </a:pPr>
            <a:r>
              <a:rPr b="0" i="0" lang="en-US" sz="1400" u="none" cap="none" strike="noStrike">
                <a:solidFill>
                  <a:srgbClr val="334155"/>
                </a:solidFill>
                <a:latin typeface="Arial"/>
                <a:ea typeface="Arial"/>
                <a:cs typeface="Arial"/>
                <a:sym typeface="Arial"/>
              </a:rPr>
              <a:t>Match your goal to the right funnel stage and channel. This framework is primarily for Hands-On teams. Hands-Off users can skip this — just tell COBE Marketing your goal and they will pick the right channels for you.</a:t>
            </a:r>
            <a:endParaRPr b="0" i="0" sz="1400" u="none" cap="none" strike="noStrike">
              <a:solidFill>
                <a:schemeClr val="dk1"/>
              </a:solidFill>
              <a:latin typeface="Calibri"/>
              <a:ea typeface="Calibri"/>
              <a:cs typeface="Calibri"/>
              <a:sym typeface="Calibri"/>
            </a:endParaRPr>
          </a:p>
        </p:txBody>
      </p:sp>
      <p:sp>
        <p:nvSpPr>
          <p:cNvPr id="160" name="Google Shape;160;p11"/>
          <p:cNvSpPr/>
          <p:nvPr/>
        </p:nvSpPr>
        <p:spPr>
          <a:xfrm>
            <a:off x="457200" y="1463040"/>
            <a:ext cx="3840480" cy="2926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1"/>
          <p:cNvSpPr/>
          <p:nvPr/>
        </p:nvSpPr>
        <p:spPr>
          <a:xfrm>
            <a:off x="457200" y="1463040"/>
            <a:ext cx="54864" cy="29260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11"/>
          <p:cNvSpPr/>
          <p:nvPr/>
        </p:nvSpPr>
        <p:spPr>
          <a:xfrm>
            <a:off x="457200" y="1463040"/>
            <a:ext cx="3840480" cy="4572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1"/>
          <p:cNvSpPr/>
          <p:nvPr/>
        </p:nvSpPr>
        <p:spPr>
          <a:xfrm>
            <a:off x="457200" y="1463040"/>
            <a:ext cx="38404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TOP OF FUNNEL</a:t>
            </a:r>
            <a:endParaRPr b="0" i="0" sz="1600" u="none" cap="none" strike="noStrike">
              <a:solidFill>
                <a:schemeClr val="dk1"/>
              </a:solidFill>
              <a:latin typeface="Calibri"/>
              <a:ea typeface="Calibri"/>
              <a:cs typeface="Calibri"/>
              <a:sym typeface="Calibri"/>
            </a:endParaRPr>
          </a:p>
        </p:txBody>
      </p:sp>
      <p:sp>
        <p:nvSpPr>
          <p:cNvPr id="164" name="Google Shape;164;p11"/>
          <p:cNvSpPr/>
          <p:nvPr/>
        </p:nvSpPr>
        <p:spPr>
          <a:xfrm>
            <a:off x="640080" y="201168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400"/>
              <a:buFont typeface="Arial"/>
              <a:buNone/>
            </a:pPr>
            <a:r>
              <a:rPr b="1" i="0" lang="en-US" sz="1400" u="none" cap="none" strike="noStrike">
                <a:solidFill>
                  <a:srgbClr val="0EA5E9"/>
                </a:solidFill>
                <a:latin typeface="Arial"/>
                <a:ea typeface="Arial"/>
                <a:cs typeface="Arial"/>
                <a:sym typeface="Arial"/>
              </a:rPr>
              <a:t>Awareness</a:t>
            </a:r>
            <a:endParaRPr b="0" i="0" sz="1400" u="none" cap="none" strike="noStrike">
              <a:solidFill>
                <a:schemeClr val="dk1"/>
              </a:solidFill>
              <a:latin typeface="Calibri"/>
              <a:ea typeface="Calibri"/>
              <a:cs typeface="Calibri"/>
              <a:sym typeface="Calibri"/>
            </a:endParaRPr>
          </a:p>
        </p:txBody>
      </p:sp>
      <p:sp>
        <p:nvSpPr>
          <p:cNvPr id="165" name="Google Shape;165;p11"/>
          <p:cNvSpPr/>
          <p:nvPr/>
        </p:nvSpPr>
        <p:spPr>
          <a:xfrm>
            <a:off x="640080" y="2377440"/>
            <a:ext cx="3474720" cy="1645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CHANNELS: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Instagram Reels &amp; Posts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MBEB Digital Signage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Press Releases &amp; PR</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t/>
            </a:r>
            <a:endParaRPr b="0" i="0" sz="1100" u="none" cap="none" strike="noStrike">
              <a:solidFill>
                <a:schemeClr val="dk1"/>
              </a:solidFill>
              <a:latin typeface="Calibri"/>
              <a:ea typeface="Calibri"/>
              <a:cs typeface="Calibri"/>
              <a:sym typeface="Calibri"/>
            </a:endParaRPr>
          </a:p>
        </p:txBody>
      </p:sp>
      <p:sp>
        <p:nvSpPr>
          <p:cNvPr id="166" name="Google Shape;166;p11"/>
          <p:cNvSpPr/>
          <p:nvPr/>
        </p:nvSpPr>
        <p:spPr>
          <a:xfrm>
            <a:off x="640080" y="3794760"/>
            <a:ext cx="3474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1" lang="en-US" sz="1000" u="none" cap="none" strike="noStrike">
                <a:solidFill>
                  <a:srgbClr val="64748B"/>
                </a:solidFill>
                <a:latin typeface="Arial"/>
                <a:ea typeface="Arial"/>
                <a:cs typeface="Arial"/>
                <a:sym typeface="Arial"/>
              </a:rPr>
              <a:t>MID FUNNEL: Website, Landing Pages,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167" name="Google Shape;167;p11"/>
          <p:cNvSpPr/>
          <p:nvPr/>
        </p:nvSpPr>
        <p:spPr>
          <a:xfrm>
            <a:off x="4846320" y="1463040"/>
            <a:ext cx="3840480" cy="2926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1"/>
          <p:cNvSpPr/>
          <p:nvPr/>
        </p:nvSpPr>
        <p:spPr>
          <a:xfrm>
            <a:off x="4846320" y="1463040"/>
            <a:ext cx="54864" cy="292608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1"/>
          <p:cNvSpPr/>
          <p:nvPr/>
        </p:nvSpPr>
        <p:spPr>
          <a:xfrm>
            <a:off x="4846320" y="1463040"/>
            <a:ext cx="3840480" cy="45720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1"/>
          <p:cNvSpPr/>
          <p:nvPr/>
        </p:nvSpPr>
        <p:spPr>
          <a:xfrm>
            <a:off x="4846320" y="1463040"/>
            <a:ext cx="38404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BOTTOM OF FUNNEL</a:t>
            </a:r>
            <a:endParaRPr b="0" i="0" sz="1600" u="none" cap="none" strike="noStrike">
              <a:solidFill>
                <a:schemeClr val="dk1"/>
              </a:solidFill>
              <a:latin typeface="Calibri"/>
              <a:ea typeface="Calibri"/>
              <a:cs typeface="Calibri"/>
              <a:sym typeface="Calibri"/>
            </a:endParaRPr>
          </a:p>
        </p:txBody>
      </p:sp>
      <p:sp>
        <p:nvSpPr>
          <p:cNvPr id="171" name="Google Shape;171;p11"/>
          <p:cNvSpPr/>
          <p:nvPr/>
        </p:nvSpPr>
        <p:spPr>
          <a:xfrm>
            <a:off x="5029200" y="201168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400"/>
              <a:buFont typeface="Arial"/>
              <a:buNone/>
            </a:pPr>
            <a:r>
              <a:rPr b="1" i="0" lang="en-US" sz="1400" u="none" cap="none" strike="noStrike">
                <a:solidFill>
                  <a:srgbClr val="F97316"/>
                </a:solidFill>
                <a:latin typeface="Arial"/>
                <a:ea typeface="Arial"/>
                <a:cs typeface="Arial"/>
                <a:sym typeface="Arial"/>
              </a:rPr>
              <a:t>Conversion</a:t>
            </a:r>
            <a:endParaRPr b="0" i="0" sz="1400" u="none" cap="none" strike="noStrike">
              <a:solidFill>
                <a:schemeClr val="dk1"/>
              </a:solidFill>
              <a:latin typeface="Calibri"/>
              <a:ea typeface="Calibri"/>
              <a:cs typeface="Calibri"/>
              <a:sym typeface="Calibri"/>
            </a:endParaRPr>
          </a:p>
        </p:txBody>
      </p:sp>
      <p:sp>
        <p:nvSpPr>
          <p:cNvPr id="172" name="Google Shape;172;p11"/>
          <p:cNvSpPr/>
          <p:nvPr/>
        </p:nvSpPr>
        <p:spPr>
          <a:xfrm>
            <a:off x="5029200" y="2377440"/>
            <a:ext cx="3474720" cy="1645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CHANNELS: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Email Marketing</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Direct Outreach</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1" i="0" lang="en-US" sz="1100" u="none" cap="none" strike="noStrike">
                <a:solidFill>
                  <a:srgbClr val="334155"/>
                </a:solidFill>
                <a:latin typeface="Arial"/>
                <a:ea typeface="Arial"/>
                <a:cs typeface="Arial"/>
                <a:sym typeface="Arial"/>
              </a:rPr>
              <a:t>Event Registration</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t/>
            </a:r>
            <a:endParaRPr b="0" i="0" sz="1100" u="none" cap="none" strike="noStrike">
              <a:solidFill>
                <a:schemeClr val="dk1"/>
              </a:solidFill>
              <a:latin typeface="Calibri"/>
              <a:ea typeface="Calibri"/>
              <a:cs typeface="Calibri"/>
              <a:sym typeface="Calibri"/>
            </a:endParaRPr>
          </a:p>
        </p:txBody>
      </p:sp>
      <p:sp>
        <p:nvSpPr>
          <p:cNvPr id="173" name="Google Shape;173;p11"/>
          <p:cNvSpPr/>
          <p:nvPr/>
        </p:nvSpPr>
        <p:spPr>
          <a:xfrm>
            <a:off x="5029200" y="3794760"/>
            <a:ext cx="3474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1" lang="en-US" sz="1000" u="none" cap="none" strike="noStrike">
                <a:solidFill>
                  <a:srgbClr val="64748B"/>
                </a:solidFill>
                <a:latin typeface="Arial"/>
                <a:ea typeface="Arial"/>
                <a:cs typeface="Arial"/>
                <a:sym typeface="Arial"/>
              </a:rPr>
              <a:t>Instagram Stories, LinkedIn Articles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000"/>
              <a:buFont typeface="Arial"/>
              <a:buNone/>
            </a:pPr>
            <a:r>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78" name="Shape 178"/>
        <p:cNvGrpSpPr/>
        <p:nvPr/>
      </p:nvGrpSpPr>
      <p:grpSpPr>
        <a:xfrm>
          <a:off x="0" y="0"/>
          <a:ext cx="0" cy="0"/>
          <a:chOff x="0" y="0"/>
          <a:chExt cx="0" cy="0"/>
        </a:xfrm>
      </p:grpSpPr>
      <p:sp>
        <p:nvSpPr>
          <p:cNvPr id="179" name="Google Shape;179;p12"/>
          <p:cNvSpPr/>
          <p:nvPr/>
        </p:nvSpPr>
        <p:spPr>
          <a:xfrm>
            <a:off x="0" y="0"/>
            <a:ext cx="9144000" cy="5143500"/>
          </a:xfrm>
          <a:prstGeom prst="rect">
            <a:avLst/>
          </a:prstGeom>
          <a:solidFill>
            <a:srgbClr val="0C4A6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2"/>
          <p:cNvSpPr/>
          <p:nvPr/>
        </p:nvSpPr>
        <p:spPr>
          <a:xfrm>
            <a:off x="0" y="0"/>
            <a:ext cx="109728" cy="51435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2"/>
          <p:cNvSpPr/>
          <p:nvPr/>
        </p:nvSpPr>
        <p:spPr>
          <a:xfrm>
            <a:off x="548640" y="914400"/>
            <a:ext cx="73152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800"/>
              <a:buFont typeface="Arial"/>
              <a:buNone/>
            </a:pPr>
            <a:r>
              <a:rPr b="1" i="0" lang="en-US" sz="1800" u="none" cap="none" strike="noStrike">
                <a:solidFill>
                  <a:srgbClr val="0EA5E9"/>
                </a:solidFill>
                <a:latin typeface="Arial"/>
                <a:ea typeface="Arial"/>
                <a:cs typeface="Arial"/>
                <a:sym typeface="Arial"/>
              </a:rPr>
              <a:t>PATH 1</a:t>
            </a:r>
            <a:endParaRPr b="0" i="0" sz="1800" u="none" cap="none" strike="noStrike">
              <a:solidFill>
                <a:schemeClr val="dk1"/>
              </a:solidFill>
              <a:latin typeface="Calibri"/>
              <a:ea typeface="Calibri"/>
              <a:cs typeface="Calibri"/>
              <a:sym typeface="Calibri"/>
            </a:endParaRPr>
          </a:p>
        </p:txBody>
      </p:sp>
      <p:sp>
        <p:nvSpPr>
          <p:cNvPr id="182" name="Google Shape;182;p12"/>
          <p:cNvSpPr/>
          <p:nvPr/>
        </p:nvSpPr>
        <p:spPr>
          <a:xfrm>
            <a:off x="548640" y="1463040"/>
            <a:ext cx="731520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5200"/>
              <a:buFont typeface="Georgia"/>
              <a:buNone/>
            </a:pPr>
            <a:r>
              <a:rPr b="1" i="0" lang="en-US" sz="5200" u="none" cap="none" strike="noStrike">
                <a:solidFill>
                  <a:srgbClr val="FFFFFF"/>
                </a:solidFill>
                <a:latin typeface="Georgia"/>
                <a:ea typeface="Georgia"/>
                <a:cs typeface="Georgia"/>
                <a:sym typeface="Georgia"/>
              </a:rPr>
              <a:t>HANDS-OFF</a:t>
            </a:r>
            <a:endParaRPr b="0" i="0" sz="5200" u="none" cap="none" strike="noStrike">
              <a:solidFill>
                <a:schemeClr val="dk1"/>
              </a:solidFill>
              <a:latin typeface="Calibri"/>
              <a:ea typeface="Calibri"/>
              <a:cs typeface="Calibri"/>
              <a:sym typeface="Calibri"/>
            </a:endParaRPr>
          </a:p>
        </p:txBody>
      </p:sp>
      <p:sp>
        <p:nvSpPr>
          <p:cNvPr id="183" name="Google Shape;183;p12"/>
          <p:cNvSpPr/>
          <p:nvPr/>
        </p:nvSpPr>
        <p:spPr>
          <a:xfrm>
            <a:off x="548640" y="256032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2200"/>
              <a:buFont typeface="Arial"/>
              <a:buNone/>
            </a:pPr>
            <a:r>
              <a:rPr b="0" i="0" lang="en-US" sz="2200" u="none" cap="none" strike="noStrike">
                <a:solidFill>
                  <a:srgbClr val="CBD5E1"/>
                </a:solidFill>
                <a:latin typeface="Arial"/>
                <a:ea typeface="Arial"/>
                <a:cs typeface="Arial"/>
                <a:sym typeface="Arial"/>
              </a:rPr>
              <a:t>Concierge Service</a:t>
            </a:r>
            <a:endParaRPr b="0" i="0" sz="2200" u="none" cap="none" strike="noStrike">
              <a:solidFill>
                <a:schemeClr val="dk1"/>
              </a:solidFill>
              <a:latin typeface="Calibri"/>
              <a:ea typeface="Calibri"/>
              <a:cs typeface="Calibri"/>
              <a:sym typeface="Calibri"/>
            </a:endParaRPr>
          </a:p>
        </p:txBody>
      </p:sp>
      <p:sp>
        <p:nvSpPr>
          <p:cNvPr id="184" name="Google Shape;184;p12"/>
          <p:cNvSpPr/>
          <p:nvPr/>
        </p:nvSpPr>
        <p:spPr>
          <a:xfrm>
            <a:off x="548640" y="3291840"/>
            <a:ext cx="1828800" cy="36576"/>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2"/>
          <p:cNvSpPr/>
          <p:nvPr/>
        </p:nvSpPr>
        <p:spPr>
          <a:xfrm>
            <a:off x="548640" y="3520440"/>
            <a:ext cx="6400800" cy="548640"/>
          </a:xfrm>
          <a:prstGeom prst="rect">
            <a:avLst/>
          </a:prstGeom>
          <a:noFill/>
          <a:ln>
            <a:noFill/>
          </a:ln>
        </p:spPr>
        <p:txBody>
          <a:bodyPr anchorCtr="0" anchor="ctr" bIns="45700" lIns="91425" spcFirstLastPara="1" rIns="91425" wrap="square" tIns="45700">
            <a:noAutofit/>
          </a:bodyPr>
          <a:lstStyle/>
          <a:p>
            <a:pPr indent="0" lvl="0" marL="0" marR="0" rtl="0" algn="l">
              <a:lnSpc>
                <a:spcPct val="140000"/>
              </a:lnSpc>
              <a:spcBef>
                <a:spcPts val="0"/>
              </a:spcBef>
              <a:spcAft>
                <a:spcPts val="0"/>
              </a:spcAft>
              <a:buClr>
                <a:srgbClr val="CBD5E1"/>
              </a:buClr>
              <a:buSzPts val="1400"/>
              <a:buFont typeface="Arial"/>
              <a:buNone/>
            </a:pPr>
            <a:r>
              <a:rPr b="0" i="0" lang="en-US" sz="1400" u="none" cap="none" strike="noStrike">
                <a:solidFill>
                  <a:srgbClr val="CBD5E1"/>
                </a:solidFill>
                <a:latin typeface="Arial"/>
                <a:ea typeface="Arial"/>
                <a:cs typeface="Arial"/>
                <a:sym typeface="Arial"/>
              </a:rPr>
              <a:t>You provide the basics. We handle everything else.</a:t>
            </a:r>
            <a:endParaRPr b="0" i="0" sz="1400" u="none" cap="none" strike="noStrike">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CBD5E1"/>
              </a:buClr>
              <a:buSzPts val="1400"/>
              <a:buFont typeface="Arial"/>
              <a:buNone/>
            </a:pPr>
            <a:r>
              <a:rPr b="0" i="0" lang="en-US" sz="1400" u="none" cap="none" strike="noStrike">
                <a:solidFill>
                  <a:srgbClr val="CBD5E1"/>
                </a:solidFill>
                <a:latin typeface="Arial"/>
                <a:ea typeface="Arial"/>
                <a:cs typeface="Arial"/>
                <a:sym typeface="Arial"/>
              </a:rPr>
              <a:t>Start here if you're new to COBE Marketing.</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90" name="Shape 190"/>
        <p:cNvGrpSpPr/>
        <p:nvPr/>
      </p:nvGrpSpPr>
      <p:grpSpPr>
        <a:xfrm>
          <a:off x="0" y="0"/>
          <a:ext cx="0" cy="0"/>
          <a:chOff x="0" y="0"/>
          <a:chExt cx="0" cy="0"/>
        </a:xfrm>
      </p:grpSpPr>
      <p:sp>
        <p:nvSpPr>
          <p:cNvPr id="191" name="Google Shape;191;p13"/>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3"/>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1: HANDS-OFF</a:t>
            </a:r>
            <a:endParaRPr b="0" i="0" sz="1100" u="none" cap="none" strike="noStrike">
              <a:solidFill>
                <a:schemeClr val="dk1"/>
              </a:solidFill>
              <a:latin typeface="Calibri"/>
              <a:ea typeface="Calibri"/>
              <a:cs typeface="Calibri"/>
              <a:sym typeface="Calibri"/>
            </a:endParaRPr>
          </a:p>
        </p:txBody>
      </p:sp>
      <p:sp>
        <p:nvSpPr>
          <p:cNvPr id="193" name="Google Shape;193;p13"/>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94" name="Google Shape;194;p13"/>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10</a:t>
            </a:r>
            <a:endParaRPr b="0" i="0" sz="1000" u="none" cap="none" strike="noStrike">
              <a:solidFill>
                <a:schemeClr val="dk1"/>
              </a:solidFill>
              <a:latin typeface="Calibri"/>
              <a:ea typeface="Calibri"/>
              <a:cs typeface="Calibri"/>
              <a:sym typeface="Calibri"/>
            </a:endParaRPr>
          </a:p>
        </p:txBody>
      </p:sp>
      <p:sp>
        <p:nvSpPr>
          <p:cNvPr id="195" name="Google Shape;195;p13"/>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200"/>
              <a:buFont typeface="Georgia"/>
              <a:buNone/>
            </a:pPr>
            <a:r>
              <a:rPr b="1" i="0" lang="en-US" sz="3200" u="none" cap="none" strike="noStrike">
                <a:solidFill>
                  <a:srgbClr val="0B1220"/>
                </a:solidFill>
                <a:latin typeface="Georgia"/>
                <a:ea typeface="Georgia"/>
                <a:cs typeface="Georgia"/>
                <a:sym typeface="Georgia"/>
              </a:rPr>
              <a:t>What Is Hands-Off?</a:t>
            </a:r>
            <a:endParaRPr b="0" i="0" sz="3200" u="none" cap="none" strike="noStrike">
              <a:solidFill>
                <a:schemeClr val="dk1"/>
              </a:solidFill>
              <a:latin typeface="Calibri"/>
              <a:ea typeface="Calibri"/>
              <a:cs typeface="Calibri"/>
              <a:sym typeface="Calibri"/>
            </a:endParaRPr>
          </a:p>
        </p:txBody>
      </p:sp>
      <p:sp>
        <p:nvSpPr>
          <p:cNvPr id="196" name="Google Shape;196;p13"/>
          <p:cNvSpPr/>
          <p:nvPr/>
        </p:nvSpPr>
        <p:spPr>
          <a:xfrm>
            <a:off x="457200" y="91440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400"/>
              <a:buFont typeface="Arial"/>
              <a:buNone/>
            </a:pPr>
            <a:r>
              <a:rPr b="0" i="0" lang="en-US" sz="1400" u="none" cap="none" strike="noStrike">
                <a:solidFill>
                  <a:srgbClr val="334155"/>
                </a:solidFill>
                <a:latin typeface="Arial"/>
                <a:ea typeface="Arial"/>
                <a:cs typeface="Arial"/>
                <a:sym typeface="Arial"/>
              </a:rPr>
              <a:t>The fastest way to get your program promoted across COBE channels.</a:t>
            </a:r>
            <a:endParaRPr b="0" i="0" sz="1400" u="none" cap="none" strike="noStrike">
              <a:solidFill>
                <a:schemeClr val="dk1"/>
              </a:solidFill>
              <a:latin typeface="Calibri"/>
              <a:ea typeface="Calibri"/>
              <a:cs typeface="Calibri"/>
              <a:sym typeface="Calibri"/>
            </a:endParaRPr>
          </a:p>
        </p:txBody>
      </p:sp>
      <p:sp>
        <p:nvSpPr>
          <p:cNvPr id="197" name="Google Shape;197;p13"/>
          <p:cNvSpPr/>
          <p:nvPr/>
        </p:nvSpPr>
        <p:spPr>
          <a:xfrm>
            <a:off x="457200" y="1371600"/>
            <a:ext cx="3840480" cy="24688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3"/>
          <p:cNvSpPr/>
          <p:nvPr/>
        </p:nvSpPr>
        <p:spPr>
          <a:xfrm>
            <a:off x="457200" y="1371600"/>
            <a:ext cx="54864" cy="24688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3"/>
          <p:cNvSpPr/>
          <p:nvPr/>
        </p:nvSpPr>
        <p:spPr>
          <a:xfrm>
            <a:off x="685800" y="14630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300"/>
              <a:buFont typeface="Arial"/>
              <a:buNone/>
            </a:pPr>
            <a:r>
              <a:rPr b="1" i="0" lang="en-US" sz="1300" u="none" cap="none" strike="noStrike">
                <a:solidFill>
                  <a:srgbClr val="0EA5E9"/>
                </a:solidFill>
                <a:latin typeface="Arial"/>
                <a:ea typeface="Arial"/>
                <a:cs typeface="Arial"/>
                <a:sym typeface="Arial"/>
              </a:rPr>
              <a:t>WHAT YOU PROVIDE</a:t>
            </a:r>
            <a:endParaRPr b="0" i="0" sz="1300" u="none" cap="none" strike="noStrike">
              <a:solidFill>
                <a:schemeClr val="dk1"/>
              </a:solidFill>
              <a:latin typeface="Calibri"/>
              <a:ea typeface="Calibri"/>
              <a:cs typeface="Calibri"/>
              <a:sym typeface="Calibri"/>
            </a:endParaRPr>
          </a:p>
        </p:txBody>
      </p:sp>
      <p:sp>
        <p:nvSpPr>
          <p:cNvPr id="200" name="Google Shape;200;p13"/>
          <p:cNvSpPr/>
          <p:nvPr/>
        </p:nvSpPr>
        <p:spPr>
          <a:xfrm>
            <a:off x="685800" y="1874520"/>
            <a:ext cx="347472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WHO is the audience? (students, employers, alumni)</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WHAT is the event/program/deadline?</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WHEN does it happen? (dates + times)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WHERE is it? (location or online link)</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PHOTOS or logos (if available)</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REGISTRATION LINK or CTA destination</a:t>
            </a:r>
            <a:endParaRPr b="0" i="0" sz="1100" u="none" cap="none" strike="noStrike">
              <a:solidFill>
                <a:schemeClr val="dk1"/>
              </a:solidFill>
              <a:latin typeface="Calibri"/>
              <a:ea typeface="Calibri"/>
              <a:cs typeface="Calibri"/>
              <a:sym typeface="Calibri"/>
            </a:endParaRPr>
          </a:p>
        </p:txBody>
      </p:sp>
      <p:sp>
        <p:nvSpPr>
          <p:cNvPr id="201" name="Google Shape;201;p13"/>
          <p:cNvSpPr/>
          <p:nvPr/>
        </p:nvSpPr>
        <p:spPr>
          <a:xfrm>
            <a:off x="4846320" y="1371600"/>
            <a:ext cx="3840480" cy="24688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3"/>
          <p:cNvSpPr/>
          <p:nvPr/>
        </p:nvSpPr>
        <p:spPr>
          <a:xfrm>
            <a:off x="4846320" y="1371600"/>
            <a:ext cx="54864" cy="24688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3"/>
          <p:cNvSpPr/>
          <p:nvPr/>
        </p:nvSpPr>
        <p:spPr>
          <a:xfrm>
            <a:off x="5074920" y="14630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300"/>
              <a:buFont typeface="Arial"/>
              <a:buNone/>
            </a:pPr>
            <a:r>
              <a:rPr b="1" i="0" lang="en-US" sz="1300" u="none" cap="none" strike="noStrike">
                <a:solidFill>
                  <a:srgbClr val="0033A0"/>
                </a:solidFill>
                <a:latin typeface="Arial"/>
                <a:ea typeface="Arial"/>
                <a:cs typeface="Arial"/>
                <a:sym typeface="Arial"/>
              </a:rPr>
              <a:t>WHAT WE HANDLE</a:t>
            </a:r>
            <a:endParaRPr b="0" i="0" sz="1300" u="none" cap="none" strike="noStrike">
              <a:solidFill>
                <a:schemeClr val="dk1"/>
              </a:solidFill>
              <a:latin typeface="Calibri"/>
              <a:ea typeface="Calibri"/>
              <a:cs typeface="Calibri"/>
              <a:sym typeface="Calibri"/>
            </a:endParaRPr>
          </a:p>
        </p:txBody>
      </p:sp>
      <p:sp>
        <p:nvSpPr>
          <p:cNvPr id="204" name="Google Shape;204;p13"/>
          <p:cNvSpPr/>
          <p:nvPr/>
        </p:nvSpPr>
        <p:spPr>
          <a:xfrm>
            <a:off x="5074920" y="1874520"/>
            <a:ext cx="347472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Write compelling copy + captions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Design on-brand graphics (all sizes)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Schedule across appropriate channels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Manage approvals with COBE Marketing</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Publish to social, newsletter, screens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Track performance + share results</a:t>
            </a:r>
            <a:endParaRPr b="0" i="0" sz="1100" u="none" cap="none" strike="noStrike">
              <a:solidFill>
                <a:schemeClr val="dk1"/>
              </a:solidFill>
              <a:latin typeface="Calibri"/>
              <a:ea typeface="Calibri"/>
              <a:cs typeface="Calibri"/>
              <a:sym typeface="Calibri"/>
            </a:endParaRPr>
          </a:p>
        </p:txBody>
      </p:sp>
      <p:sp>
        <p:nvSpPr>
          <p:cNvPr id="205" name="Google Shape;205;p13"/>
          <p:cNvSpPr/>
          <p:nvPr/>
        </p:nvSpPr>
        <p:spPr>
          <a:xfrm>
            <a:off x="457200" y="4023360"/>
            <a:ext cx="8229600" cy="502920"/>
          </a:xfrm>
          <a:prstGeom prst="rect">
            <a:avLst/>
          </a:prstGeom>
          <a:solidFill>
            <a:srgbClr val="FFF7ED"/>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3"/>
          <p:cNvSpPr/>
          <p:nvPr/>
        </p:nvSpPr>
        <p:spPr>
          <a:xfrm>
            <a:off x="640080" y="4069080"/>
            <a:ext cx="78638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Arial"/>
              <a:buNone/>
            </a:pPr>
            <a:r>
              <a:rPr b="1" i="0" lang="en-US" sz="1200" u="none" cap="none" strike="noStrike">
                <a:solidFill>
                  <a:srgbClr val="F97316"/>
                </a:solidFill>
                <a:latin typeface="Arial"/>
                <a:ea typeface="Arial"/>
                <a:cs typeface="Arial"/>
                <a:sym typeface="Arial"/>
              </a:rPr>
              <a:t>LEAD TIME:  </a:t>
            </a:r>
            <a:r>
              <a:rPr b="0" i="0" lang="en-US" sz="1200" u="none" cap="none" strike="noStrike">
                <a:solidFill>
                  <a:srgbClr val="334155"/>
                </a:solidFill>
                <a:latin typeface="Arial"/>
                <a:ea typeface="Arial"/>
                <a:cs typeface="Arial"/>
                <a:sym typeface="Arial"/>
              </a:rPr>
              <a:t>Submit requests at least 10 business days before your target date. Events/fairs need 3-6 weeks.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11" name="Shape 211"/>
        <p:cNvGrpSpPr/>
        <p:nvPr/>
      </p:nvGrpSpPr>
      <p:grpSpPr>
        <a:xfrm>
          <a:off x="0" y="0"/>
          <a:ext cx="0" cy="0"/>
          <a:chOff x="0" y="0"/>
          <a:chExt cx="0" cy="0"/>
        </a:xfrm>
      </p:grpSpPr>
      <p:sp>
        <p:nvSpPr>
          <p:cNvPr id="212" name="Google Shape;212;p14"/>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4"/>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1: HANDS-OFF</a:t>
            </a:r>
            <a:endParaRPr b="0" i="0" sz="1100" u="none" cap="none" strike="noStrike">
              <a:solidFill>
                <a:schemeClr val="dk1"/>
              </a:solidFill>
              <a:latin typeface="Calibri"/>
              <a:ea typeface="Calibri"/>
              <a:cs typeface="Calibri"/>
              <a:sym typeface="Calibri"/>
            </a:endParaRPr>
          </a:p>
        </p:txBody>
      </p:sp>
      <p:sp>
        <p:nvSpPr>
          <p:cNvPr id="214" name="Google Shape;214;p14"/>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215" name="Google Shape;215;p14"/>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11</a:t>
            </a:r>
            <a:endParaRPr b="0" i="0" sz="1000" u="none" cap="none" strike="noStrike">
              <a:solidFill>
                <a:schemeClr val="dk1"/>
              </a:solidFill>
              <a:latin typeface="Calibri"/>
              <a:ea typeface="Calibri"/>
              <a:cs typeface="Calibri"/>
              <a:sym typeface="Calibri"/>
            </a:endParaRPr>
          </a:p>
        </p:txBody>
      </p:sp>
      <p:sp>
        <p:nvSpPr>
          <p:cNvPr id="216" name="Google Shape;216;p14"/>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Hands-Off Promotion Workflow</a:t>
            </a:r>
            <a:endParaRPr b="0" i="0" sz="3000" u="none" cap="none" strike="noStrike">
              <a:solidFill>
                <a:schemeClr val="dk1"/>
              </a:solidFill>
              <a:latin typeface="Calibri"/>
              <a:ea typeface="Calibri"/>
              <a:cs typeface="Calibri"/>
              <a:sym typeface="Calibri"/>
            </a:endParaRPr>
          </a:p>
        </p:txBody>
      </p:sp>
      <p:sp>
        <p:nvSpPr>
          <p:cNvPr id="217" name="Google Shape;217;p14"/>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From request to results in 7 steps.</a:t>
            </a:r>
            <a:endParaRPr b="0" i="0" sz="1400" u="none" cap="none" strike="noStrike">
              <a:solidFill>
                <a:schemeClr val="dk1"/>
              </a:solidFill>
              <a:latin typeface="Calibri"/>
              <a:ea typeface="Calibri"/>
              <a:cs typeface="Calibri"/>
              <a:sym typeface="Calibri"/>
            </a:endParaRPr>
          </a:p>
        </p:txBody>
      </p:sp>
      <p:sp>
        <p:nvSpPr>
          <p:cNvPr id="218" name="Google Shape;218;p14"/>
          <p:cNvSpPr/>
          <p:nvPr/>
        </p:nvSpPr>
        <p:spPr>
          <a:xfrm>
            <a:off x="457200" y="13533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4"/>
          <p:cNvSpPr/>
          <p:nvPr/>
        </p:nvSpPr>
        <p:spPr>
          <a:xfrm>
            <a:off x="457200" y="13533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220" name="Google Shape;220;p14"/>
          <p:cNvSpPr/>
          <p:nvPr/>
        </p:nvSpPr>
        <p:spPr>
          <a:xfrm>
            <a:off x="1005840" y="12801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Send Request Email</a:t>
            </a:r>
            <a:endParaRPr b="0" i="0" sz="1300" u="none" cap="none" strike="noStrike">
              <a:solidFill>
                <a:schemeClr val="dk1"/>
              </a:solidFill>
              <a:latin typeface="Calibri"/>
              <a:ea typeface="Calibri"/>
              <a:cs typeface="Calibri"/>
              <a:sym typeface="Calibri"/>
            </a:endParaRPr>
          </a:p>
        </p:txBody>
      </p:sp>
      <p:sp>
        <p:nvSpPr>
          <p:cNvPr id="221" name="Google Shape;221;p14"/>
          <p:cNvSpPr/>
          <p:nvPr/>
        </p:nvSpPr>
        <p:spPr>
          <a:xfrm>
            <a:off x="1005840" y="15544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Email cobe-info@boisestate.edu with required subject format, event details, and any assets you have.</a:t>
            </a:r>
            <a:endParaRPr b="0" i="0" sz="1000" u="none" cap="none" strike="noStrike">
              <a:solidFill>
                <a:schemeClr val="dk1"/>
              </a:solidFill>
              <a:latin typeface="Calibri"/>
              <a:ea typeface="Calibri"/>
              <a:cs typeface="Calibri"/>
              <a:sym typeface="Calibri"/>
            </a:endParaRPr>
          </a:p>
        </p:txBody>
      </p:sp>
      <p:sp>
        <p:nvSpPr>
          <p:cNvPr id="222" name="Google Shape;222;p14"/>
          <p:cNvSpPr/>
          <p:nvPr/>
        </p:nvSpPr>
        <p:spPr>
          <a:xfrm>
            <a:off x="457200" y="22677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4"/>
          <p:cNvSpPr/>
          <p:nvPr/>
        </p:nvSpPr>
        <p:spPr>
          <a:xfrm>
            <a:off x="457200" y="22677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224" name="Google Shape;224;p14"/>
          <p:cNvSpPr/>
          <p:nvPr/>
        </p:nvSpPr>
        <p:spPr>
          <a:xfrm>
            <a:off x="1005840" y="21945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Marketing Confirms</a:t>
            </a:r>
            <a:endParaRPr b="0" i="0" sz="1300" u="none" cap="none" strike="noStrike">
              <a:solidFill>
                <a:schemeClr val="dk1"/>
              </a:solidFill>
              <a:latin typeface="Calibri"/>
              <a:ea typeface="Calibri"/>
              <a:cs typeface="Calibri"/>
              <a:sym typeface="Calibri"/>
            </a:endParaRPr>
          </a:p>
        </p:txBody>
      </p:sp>
      <p:sp>
        <p:nvSpPr>
          <p:cNvPr id="225" name="Google Shape;225;p14"/>
          <p:cNvSpPr/>
          <p:nvPr/>
        </p:nvSpPr>
        <p:spPr>
          <a:xfrm>
            <a:off x="1005840" y="24688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Team confirms channels, timeline, and any additional info needed. Expect response in 1-2 business days.</a:t>
            </a:r>
            <a:endParaRPr b="0" i="0" sz="1000" u="none" cap="none" strike="noStrike">
              <a:solidFill>
                <a:schemeClr val="dk1"/>
              </a:solidFill>
              <a:latin typeface="Calibri"/>
              <a:ea typeface="Calibri"/>
              <a:cs typeface="Calibri"/>
              <a:sym typeface="Calibri"/>
            </a:endParaRPr>
          </a:p>
        </p:txBody>
      </p:sp>
      <p:sp>
        <p:nvSpPr>
          <p:cNvPr id="226" name="Google Shape;226;p14"/>
          <p:cNvSpPr/>
          <p:nvPr/>
        </p:nvSpPr>
        <p:spPr>
          <a:xfrm>
            <a:off x="457200" y="31821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4"/>
          <p:cNvSpPr/>
          <p:nvPr/>
        </p:nvSpPr>
        <p:spPr>
          <a:xfrm>
            <a:off x="457200" y="31821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228" name="Google Shape;228;p14"/>
          <p:cNvSpPr/>
          <p:nvPr/>
        </p:nvSpPr>
        <p:spPr>
          <a:xfrm>
            <a:off x="1005840" y="31089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Creative Development</a:t>
            </a:r>
            <a:endParaRPr b="0" i="0" sz="1300" u="none" cap="none" strike="noStrike">
              <a:solidFill>
                <a:schemeClr val="dk1"/>
              </a:solidFill>
              <a:latin typeface="Calibri"/>
              <a:ea typeface="Calibri"/>
              <a:cs typeface="Calibri"/>
              <a:sym typeface="Calibri"/>
            </a:endParaRPr>
          </a:p>
        </p:txBody>
      </p:sp>
      <p:sp>
        <p:nvSpPr>
          <p:cNvPr id="229" name="Google Shape;229;p14"/>
          <p:cNvSpPr/>
          <p:nvPr/>
        </p:nvSpPr>
        <p:spPr>
          <a:xfrm>
            <a:off x="1005840" y="33832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Marketing drafts copy and designs graphics in all required sizes for approved channels.</a:t>
            </a:r>
            <a:endParaRPr b="0" i="0" sz="1000" u="none" cap="none" strike="noStrike">
              <a:solidFill>
                <a:schemeClr val="dk1"/>
              </a:solidFill>
              <a:latin typeface="Calibri"/>
              <a:ea typeface="Calibri"/>
              <a:cs typeface="Calibri"/>
              <a:sym typeface="Calibri"/>
            </a:endParaRPr>
          </a:p>
        </p:txBody>
      </p:sp>
      <p:sp>
        <p:nvSpPr>
          <p:cNvPr id="230" name="Google Shape;230;p14"/>
          <p:cNvSpPr/>
          <p:nvPr/>
        </p:nvSpPr>
        <p:spPr>
          <a:xfrm>
            <a:off x="457200" y="40965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4"/>
          <p:cNvSpPr/>
          <p:nvPr/>
        </p:nvSpPr>
        <p:spPr>
          <a:xfrm>
            <a:off x="457200" y="40965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4</a:t>
            </a:r>
            <a:endParaRPr b="0" i="0" sz="1600" u="none" cap="none" strike="noStrike">
              <a:solidFill>
                <a:schemeClr val="dk1"/>
              </a:solidFill>
              <a:latin typeface="Calibri"/>
              <a:ea typeface="Calibri"/>
              <a:cs typeface="Calibri"/>
              <a:sym typeface="Calibri"/>
            </a:endParaRPr>
          </a:p>
        </p:txBody>
      </p:sp>
      <p:sp>
        <p:nvSpPr>
          <p:cNvPr id="232" name="Google Shape;232;p14"/>
          <p:cNvSpPr/>
          <p:nvPr/>
        </p:nvSpPr>
        <p:spPr>
          <a:xfrm>
            <a:off x="1005840" y="40233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Review &amp; Approval</a:t>
            </a:r>
            <a:endParaRPr b="0" i="0" sz="1300" u="none" cap="none" strike="noStrike">
              <a:solidFill>
                <a:schemeClr val="dk1"/>
              </a:solidFill>
              <a:latin typeface="Calibri"/>
              <a:ea typeface="Calibri"/>
              <a:cs typeface="Calibri"/>
              <a:sym typeface="Calibri"/>
            </a:endParaRPr>
          </a:p>
        </p:txBody>
      </p:sp>
      <p:sp>
        <p:nvSpPr>
          <p:cNvPr id="233" name="Google Shape;233;p14"/>
          <p:cNvSpPr/>
          <p:nvPr/>
        </p:nvSpPr>
        <p:spPr>
          <a:xfrm>
            <a:off x="1005840" y="42976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You review copy for accuracy. Marketing manager approves for brand compliance.</a:t>
            </a:r>
            <a:endParaRPr b="0" i="0" sz="1000" u="none" cap="none" strike="noStrike">
              <a:solidFill>
                <a:schemeClr val="dk1"/>
              </a:solidFill>
              <a:latin typeface="Calibri"/>
              <a:ea typeface="Calibri"/>
              <a:cs typeface="Calibri"/>
              <a:sym typeface="Calibri"/>
            </a:endParaRPr>
          </a:p>
        </p:txBody>
      </p:sp>
      <p:sp>
        <p:nvSpPr>
          <p:cNvPr id="234" name="Google Shape;234;p14"/>
          <p:cNvSpPr/>
          <p:nvPr/>
        </p:nvSpPr>
        <p:spPr>
          <a:xfrm>
            <a:off x="4754880" y="13533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4"/>
          <p:cNvSpPr/>
          <p:nvPr/>
        </p:nvSpPr>
        <p:spPr>
          <a:xfrm>
            <a:off x="4754880" y="13533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5</a:t>
            </a:r>
            <a:endParaRPr b="0" i="0" sz="1600" u="none" cap="none" strike="noStrike">
              <a:solidFill>
                <a:schemeClr val="dk1"/>
              </a:solidFill>
              <a:latin typeface="Calibri"/>
              <a:ea typeface="Calibri"/>
              <a:cs typeface="Calibri"/>
              <a:sym typeface="Calibri"/>
            </a:endParaRPr>
          </a:p>
        </p:txBody>
      </p:sp>
      <p:sp>
        <p:nvSpPr>
          <p:cNvPr id="236" name="Google Shape;236;p14"/>
          <p:cNvSpPr/>
          <p:nvPr/>
        </p:nvSpPr>
        <p:spPr>
          <a:xfrm>
            <a:off x="5303520" y="12801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Schedule &amp; Publish</a:t>
            </a:r>
            <a:endParaRPr b="0" i="0" sz="1300" u="none" cap="none" strike="noStrike">
              <a:solidFill>
                <a:schemeClr val="dk1"/>
              </a:solidFill>
              <a:latin typeface="Calibri"/>
              <a:ea typeface="Calibri"/>
              <a:cs typeface="Calibri"/>
              <a:sym typeface="Calibri"/>
            </a:endParaRPr>
          </a:p>
        </p:txBody>
      </p:sp>
      <p:sp>
        <p:nvSpPr>
          <p:cNvPr id="237" name="Google Shape;237;p14"/>
          <p:cNvSpPr/>
          <p:nvPr/>
        </p:nvSpPr>
        <p:spPr>
          <a:xfrm>
            <a:off x="5303520" y="15544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Content is scheduled across channels: social, newsletter, screens, web, and paid placements.</a:t>
            </a:r>
            <a:endParaRPr b="0" i="0" sz="1000" u="none" cap="none" strike="noStrike">
              <a:solidFill>
                <a:schemeClr val="dk1"/>
              </a:solidFill>
              <a:latin typeface="Calibri"/>
              <a:ea typeface="Calibri"/>
              <a:cs typeface="Calibri"/>
              <a:sym typeface="Calibri"/>
            </a:endParaRPr>
          </a:p>
        </p:txBody>
      </p:sp>
      <p:sp>
        <p:nvSpPr>
          <p:cNvPr id="238" name="Google Shape;238;p14"/>
          <p:cNvSpPr/>
          <p:nvPr/>
        </p:nvSpPr>
        <p:spPr>
          <a:xfrm>
            <a:off x="4754880" y="22677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4"/>
          <p:cNvSpPr/>
          <p:nvPr/>
        </p:nvSpPr>
        <p:spPr>
          <a:xfrm>
            <a:off x="4754880" y="22677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6</a:t>
            </a:r>
            <a:endParaRPr b="0" i="0" sz="1600" u="none" cap="none" strike="noStrike">
              <a:solidFill>
                <a:schemeClr val="dk1"/>
              </a:solidFill>
              <a:latin typeface="Calibri"/>
              <a:ea typeface="Calibri"/>
              <a:cs typeface="Calibri"/>
              <a:sym typeface="Calibri"/>
            </a:endParaRPr>
          </a:p>
        </p:txBody>
      </p:sp>
      <p:sp>
        <p:nvSpPr>
          <p:cNvPr id="240" name="Google Shape;240;p14"/>
          <p:cNvSpPr/>
          <p:nvPr/>
        </p:nvSpPr>
        <p:spPr>
          <a:xfrm>
            <a:off x="5303520" y="21945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Day-of Promotion</a:t>
            </a:r>
            <a:endParaRPr b="0" i="0" sz="1300" u="none" cap="none" strike="noStrike">
              <a:solidFill>
                <a:schemeClr val="dk1"/>
              </a:solidFill>
              <a:latin typeface="Calibri"/>
              <a:ea typeface="Calibri"/>
              <a:cs typeface="Calibri"/>
              <a:sym typeface="Calibri"/>
            </a:endParaRPr>
          </a:p>
        </p:txBody>
      </p:sp>
      <p:sp>
        <p:nvSpPr>
          <p:cNvPr id="241" name="Google Shape;241;p14"/>
          <p:cNvSpPr/>
          <p:nvPr/>
        </p:nvSpPr>
        <p:spPr>
          <a:xfrm>
            <a:off x="5303520" y="24688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Stories, reminders, and last-minute pushes go live. Event photography if applicable.</a:t>
            </a:r>
            <a:endParaRPr b="0" i="0" sz="1000" u="none" cap="none" strike="noStrike">
              <a:solidFill>
                <a:schemeClr val="dk1"/>
              </a:solidFill>
              <a:latin typeface="Calibri"/>
              <a:ea typeface="Calibri"/>
              <a:cs typeface="Calibri"/>
              <a:sym typeface="Calibri"/>
            </a:endParaRPr>
          </a:p>
        </p:txBody>
      </p:sp>
      <p:sp>
        <p:nvSpPr>
          <p:cNvPr id="242" name="Google Shape;242;p14"/>
          <p:cNvSpPr/>
          <p:nvPr/>
        </p:nvSpPr>
        <p:spPr>
          <a:xfrm>
            <a:off x="4754880" y="31821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4"/>
          <p:cNvSpPr/>
          <p:nvPr/>
        </p:nvSpPr>
        <p:spPr>
          <a:xfrm>
            <a:off x="4754880" y="31821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7</a:t>
            </a:r>
            <a:endParaRPr b="0" i="0" sz="1600" u="none" cap="none" strike="noStrike">
              <a:solidFill>
                <a:schemeClr val="dk1"/>
              </a:solidFill>
              <a:latin typeface="Calibri"/>
              <a:ea typeface="Calibri"/>
              <a:cs typeface="Calibri"/>
              <a:sym typeface="Calibri"/>
            </a:endParaRPr>
          </a:p>
        </p:txBody>
      </p:sp>
      <p:sp>
        <p:nvSpPr>
          <p:cNvPr id="244" name="Google Shape;244;p14"/>
          <p:cNvSpPr/>
          <p:nvPr/>
        </p:nvSpPr>
        <p:spPr>
          <a:xfrm>
            <a:off x="5303520" y="31089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Recap &amp; Metrics</a:t>
            </a:r>
            <a:endParaRPr b="0" i="0" sz="1300" u="none" cap="none" strike="noStrike">
              <a:solidFill>
                <a:schemeClr val="dk1"/>
              </a:solidFill>
              <a:latin typeface="Calibri"/>
              <a:ea typeface="Calibri"/>
              <a:cs typeface="Calibri"/>
              <a:sym typeface="Calibri"/>
            </a:endParaRPr>
          </a:p>
        </p:txBody>
      </p:sp>
      <p:sp>
        <p:nvSpPr>
          <p:cNvPr id="245" name="Google Shape;245;p14"/>
          <p:cNvSpPr/>
          <p:nvPr/>
        </p:nvSpPr>
        <p:spPr>
          <a:xfrm>
            <a:off x="5303520" y="33832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Post-campaign report: impressions, clicks, RSVPs, and lessons for next time.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50" name="Shape 250"/>
        <p:cNvGrpSpPr/>
        <p:nvPr/>
      </p:nvGrpSpPr>
      <p:grpSpPr>
        <a:xfrm>
          <a:off x="0" y="0"/>
          <a:ext cx="0" cy="0"/>
          <a:chOff x="0" y="0"/>
          <a:chExt cx="0" cy="0"/>
        </a:xfrm>
      </p:grpSpPr>
      <p:sp>
        <p:nvSpPr>
          <p:cNvPr id="251" name="Google Shape;251;p15"/>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5"/>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1: HANDS-OFF</a:t>
            </a:r>
            <a:endParaRPr b="0" i="0" sz="1100" u="none" cap="none" strike="noStrike">
              <a:solidFill>
                <a:schemeClr val="dk1"/>
              </a:solidFill>
              <a:latin typeface="Calibri"/>
              <a:ea typeface="Calibri"/>
              <a:cs typeface="Calibri"/>
              <a:sym typeface="Calibri"/>
            </a:endParaRPr>
          </a:p>
        </p:txBody>
      </p:sp>
      <p:sp>
        <p:nvSpPr>
          <p:cNvPr id="253" name="Google Shape;253;p15"/>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254" name="Google Shape;254;p15"/>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12</a:t>
            </a:r>
            <a:endParaRPr b="0" i="0" sz="1000" u="none" cap="none" strike="noStrike">
              <a:solidFill>
                <a:schemeClr val="dk1"/>
              </a:solidFill>
              <a:latin typeface="Calibri"/>
              <a:ea typeface="Calibri"/>
              <a:cs typeface="Calibri"/>
              <a:sym typeface="Calibri"/>
            </a:endParaRPr>
          </a:p>
        </p:txBody>
      </p:sp>
      <p:sp>
        <p:nvSpPr>
          <p:cNvPr id="255" name="Google Shape;255;p15"/>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Which Channel Should I Use?</a:t>
            </a:r>
            <a:endParaRPr b="0" i="0" sz="3000" u="none" cap="none" strike="noStrike">
              <a:solidFill>
                <a:schemeClr val="dk1"/>
              </a:solidFill>
              <a:latin typeface="Calibri"/>
              <a:ea typeface="Calibri"/>
              <a:cs typeface="Calibri"/>
              <a:sym typeface="Calibri"/>
            </a:endParaRPr>
          </a:p>
        </p:txBody>
      </p:sp>
      <p:sp>
        <p:nvSpPr>
          <p:cNvPr id="256" name="Google Shape;256;p15"/>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Tell us your goal. We'll recommend the right mix. </a:t>
            </a:r>
            <a:endParaRPr b="0" i="0" sz="1400" u="none" cap="none" strike="noStrike">
              <a:solidFill>
                <a:schemeClr val="dk1"/>
              </a:solidFill>
              <a:latin typeface="Calibri"/>
              <a:ea typeface="Calibri"/>
              <a:cs typeface="Calibri"/>
              <a:sym typeface="Calibri"/>
            </a:endParaRPr>
          </a:p>
        </p:txBody>
      </p:sp>
      <p:graphicFrame>
        <p:nvGraphicFramePr>
          <p:cNvPr id="257" name="Google Shape;257;p15"/>
          <p:cNvGraphicFramePr/>
          <p:nvPr/>
        </p:nvGraphicFramePr>
        <p:xfrm>
          <a:off x="457200" y="1325880"/>
          <a:ext cx="3000000" cy="3000000"/>
        </p:xfrm>
        <a:graphic>
          <a:graphicData uri="http://schemas.openxmlformats.org/drawingml/2006/table">
            <a:tbl>
              <a:tblPr>
                <a:noFill/>
                <a:tableStyleId>{AD4631F1-437D-4764-92B6-2A4562E18BC6}</a:tableStyleId>
              </a:tblPr>
              <a:tblGrid>
                <a:gridCol w="2286000"/>
                <a:gridCol w="3200400"/>
                <a:gridCol w="2743200"/>
              </a:tblGrid>
              <a:tr h="365750">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rPr>
                        <a:t>YOUR GOAL</a:t>
                      </a:r>
                      <a:endParaRPr sz="11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rPr>
                        <a:t>RECOMMENDED CHANNELS</a:t>
                      </a:r>
                      <a:endParaRPr sz="11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rPr>
                        <a:t>WHAT TO SEND IN EMAIL</a:t>
                      </a:r>
                      <a:endParaRPr sz="11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457200">
                <a:tc>
                  <a:txBody>
                    <a:bodyPr/>
                    <a:lstStyle/>
                    <a:p>
                      <a:pPr indent="0" lvl="0" marL="0" marR="0" rtl="0" algn="l">
                        <a:spcBef>
                          <a:spcPts val="0"/>
                        </a:spcBef>
                        <a:spcAft>
                          <a:spcPts val="0"/>
                        </a:spcAft>
                        <a:buClr>
                          <a:srgbClr val="0B1220"/>
                        </a:buClr>
                        <a:buSzPts val="1000"/>
                        <a:buFont typeface="Calibri"/>
                        <a:buNone/>
                      </a:pPr>
                      <a:r>
                        <a:rPr b="1" lang="en-US" sz="1000" u="none" cap="none" strike="noStrike">
                          <a:solidFill>
                            <a:srgbClr val="0B1220"/>
                          </a:solidFill>
                        </a:rPr>
                        <a:t>Drive event attendance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334155"/>
                        </a:buClr>
                        <a:buSzPts val="1000"/>
                        <a:buFont typeface="Calibri"/>
                        <a:buNone/>
                      </a:pPr>
                      <a:r>
                        <a:rPr lang="en-US" sz="1000" u="none" cap="none" strike="noStrike">
                          <a:solidFill>
                            <a:srgbClr val="334155"/>
                          </a:solidFill>
                        </a:rPr>
                        <a:t>Newsletter + Instagram + MBEB Screens + Boise State Events Calendar (Localist)</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64748B"/>
                        </a:buClr>
                        <a:buSzPts val="1000"/>
                        <a:buFont typeface="Calibri"/>
                        <a:buNone/>
                      </a:pPr>
                      <a:r>
                        <a:rPr lang="en-US" sz="1000" u="none" cap="none" strike="noStrike">
                          <a:solidFill>
                            <a:srgbClr val="64748B"/>
                          </a:solidFill>
                        </a:rPr>
                        <a:t>Event details, date, link, photo</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457200">
                <a:tc>
                  <a:txBody>
                    <a:bodyPr/>
                    <a:lstStyle/>
                    <a:p>
                      <a:pPr indent="0" lvl="0" marL="0" marR="0" rtl="0" algn="l">
                        <a:spcBef>
                          <a:spcPts val="0"/>
                        </a:spcBef>
                        <a:spcAft>
                          <a:spcPts val="0"/>
                        </a:spcAft>
                        <a:buClr>
                          <a:srgbClr val="0B1220"/>
                        </a:buClr>
                        <a:buSzPts val="1000"/>
                        <a:buFont typeface="Calibri"/>
                        <a:buNone/>
                      </a:pPr>
                      <a:r>
                        <a:rPr b="1" lang="en-US" sz="1000" u="none" cap="none" strike="noStrike">
                          <a:solidFill>
                            <a:srgbClr val="0B1220"/>
                          </a:solidFill>
                        </a:rPr>
                        <a:t>Quick campus visibility</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334155"/>
                        </a:buClr>
                        <a:buSzPts val="1000"/>
                        <a:buFont typeface="Calibri"/>
                        <a:buNone/>
                      </a:pPr>
                      <a:r>
                        <a:rPr lang="en-US" sz="1000" u="none" cap="none" strike="noStrike">
                          <a:solidFill>
                            <a:srgbClr val="334155"/>
                          </a:solidFill>
                        </a:rPr>
                        <a:t>MBEB Screens + SUB/Library Screens + Flyers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64748B"/>
                        </a:buClr>
                        <a:buSzPts val="1000"/>
                        <a:buFont typeface="Calibri"/>
                        <a:buNone/>
                      </a:pPr>
                      <a:r>
                        <a:rPr lang="en-US" sz="1000" u="none" cap="none" strike="noStrike">
                          <a:solidFill>
                            <a:srgbClr val="64748B"/>
                          </a:solidFill>
                        </a:rPr>
                        <a:t>Graphic (1920x1080), date range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457200">
                <a:tc>
                  <a:txBody>
                    <a:bodyPr/>
                    <a:lstStyle/>
                    <a:p>
                      <a:pPr indent="0" lvl="0" marL="0" marR="0" rtl="0" algn="l">
                        <a:spcBef>
                          <a:spcPts val="0"/>
                        </a:spcBef>
                        <a:spcAft>
                          <a:spcPts val="0"/>
                        </a:spcAft>
                        <a:buClr>
                          <a:srgbClr val="0B1220"/>
                        </a:buClr>
                        <a:buSzPts val="1000"/>
                        <a:buFont typeface="Calibri"/>
                        <a:buNone/>
                      </a:pPr>
                      <a:r>
                        <a:rPr b="1" lang="en-US" sz="1000" u="none" cap="none" strike="noStrike">
                          <a:solidFill>
                            <a:srgbClr val="0B1220"/>
                          </a:solidFill>
                        </a:rPr>
                        <a:t>Showcase student success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334155"/>
                        </a:buClr>
                        <a:buSzPts val="1000"/>
                        <a:buFont typeface="Calibri"/>
                        <a:buNone/>
                      </a:pPr>
                      <a:r>
                        <a:rPr lang="en-US" sz="1000" u="none" cap="none" strike="noStrike">
                          <a:solidFill>
                            <a:srgbClr val="334155"/>
                          </a:solidFill>
                        </a:rPr>
                        <a:t>Instagram Reels + LinkedIn + Newsletter</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64748B"/>
                        </a:buClr>
                        <a:buSzPts val="1000"/>
                        <a:buFont typeface="Calibri"/>
                        <a:buNone/>
                      </a:pPr>
                      <a:r>
                        <a:rPr lang="en-US" sz="1000" u="none" cap="none" strike="noStrike">
                          <a:solidFill>
                            <a:srgbClr val="64748B"/>
                          </a:solidFill>
                        </a:rPr>
                        <a:t>Student photo/video, quote, story</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62" name="Shape 262"/>
        <p:cNvGrpSpPr/>
        <p:nvPr/>
      </p:nvGrpSpPr>
      <p:grpSpPr>
        <a:xfrm>
          <a:off x="0" y="0"/>
          <a:ext cx="0" cy="0"/>
          <a:chOff x="0" y="0"/>
          <a:chExt cx="0" cy="0"/>
        </a:xfrm>
      </p:grpSpPr>
      <p:sp>
        <p:nvSpPr>
          <p:cNvPr id="263" name="Google Shape;263;p16"/>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6"/>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1: HANDS-OFF</a:t>
            </a:r>
            <a:endParaRPr b="0" i="0" sz="1100" u="none" cap="none" strike="noStrike">
              <a:solidFill>
                <a:schemeClr val="dk1"/>
              </a:solidFill>
              <a:latin typeface="Calibri"/>
              <a:ea typeface="Calibri"/>
              <a:cs typeface="Calibri"/>
              <a:sym typeface="Calibri"/>
            </a:endParaRPr>
          </a:p>
        </p:txBody>
      </p:sp>
      <p:sp>
        <p:nvSpPr>
          <p:cNvPr id="265" name="Google Shape;265;p16"/>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266" name="Google Shape;266;p16"/>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13</a:t>
            </a:r>
            <a:endParaRPr b="0" i="0" sz="1000" u="none" cap="none" strike="noStrike">
              <a:solidFill>
                <a:schemeClr val="dk1"/>
              </a:solidFill>
              <a:latin typeface="Calibri"/>
              <a:ea typeface="Calibri"/>
              <a:cs typeface="Calibri"/>
              <a:sym typeface="Calibri"/>
            </a:endParaRPr>
          </a:p>
        </p:txBody>
      </p:sp>
      <p:sp>
        <p:nvSpPr>
          <p:cNvPr id="267" name="Google Shape;267;p16"/>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Event Promotion Timeline</a:t>
            </a:r>
            <a:endParaRPr b="0" i="0" sz="3000" u="none" cap="none" strike="noStrike">
              <a:solidFill>
                <a:schemeClr val="dk1"/>
              </a:solidFill>
              <a:latin typeface="Calibri"/>
              <a:ea typeface="Calibri"/>
              <a:cs typeface="Calibri"/>
              <a:sym typeface="Calibri"/>
            </a:endParaRPr>
          </a:p>
        </p:txBody>
      </p:sp>
      <p:sp>
        <p:nvSpPr>
          <p:cNvPr id="268" name="Google Shape;268;p16"/>
          <p:cNvSpPr/>
          <p:nvPr/>
        </p:nvSpPr>
        <p:spPr>
          <a:xfrm>
            <a:off x="548640" y="1143000"/>
            <a:ext cx="182880" cy="1828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6"/>
          <p:cNvSpPr/>
          <p:nvPr/>
        </p:nvSpPr>
        <p:spPr>
          <a:xfrm>
            <a:off x="621792" y="1325880"/>
            <a:ext cx="36576" cy="365760"/>
          </a:xfrm>
          <a:prstGeom prst="rect">
            <a:avLst/>
          </a:prstGeom>
          <a:solidFill>
            <a:srgbClr val="CBD5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6"/>
          <p:cNvSpPr/>
          <p:nvPr/>
        </p:nvSpPr>
        <p:spPr>
          <a:xfrm>
            <a:off x="914400" y="1051560"/>
            <a:ext cx="1371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000"/>
              <a:buFont typeface="Arial"/>
              <a:buNone/>
            </a:pPr>
            <a:r>
              <a:rPr b="1" i="0" lang="en-US" sz="1000" u="none" cap="none" strike="noStrike">
                <a:solidFill>
                  <a:srgbClr val="0033A0"/>
                </a:solidFill>
                <a:latin typeface="Arial"/>
                <a:ea typeface="Arial"/>
                <a:cs typeface="Arial"/>
                <a:sym typeface="Arial"/>
              </a:rPr>
              <a:t>6 WEEKS OUT</a:t>
            </a:r>
            <a:endParaRPr b="0" i="0" sz="1000" u="none" cap="none" strike="noStrike">
              <a:solidFill>
                <a:schemeClr val="dk1"/>
              </a:solidFill>
              <a:latin typeface="Calibri"/>
              <a:ea typeface="Calibri"/>
              <a:cs typeface="Calibri"/>
              <a:sym typeface="Calibri"/>
            </a:endParaRPr>
          </a:p>
        </p:txBody>
      </p:sp>
      <p:sp>
        <p:nvSpPr>
          <p:cNvPr id="271" name="Google Shape;271;p16"/>
          <p:cNvSpPr/>
          <p:nvPr/>
        </p:nvSpPr>
        <p:spPr>
          <a:xfrm>
            <a:off x="2377440" y="1051560"/>
            <a:ext cx="2926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Confirm event details, venue, speakers</a:t>
            </a:r>
            <a:endParaRPr b="0" i="0" sz="1000" u="none" cap="none" strike="noStrike">
              <a:solidFill>
                <a:schemeClr val="dk1"/>
              </a:solidFill>
              <a:latin typeface="Calibri"/>
              <a:ea typeface="Calibri"/>
              <a:cs typeface="Calibri"/>
              <a:sym typeface="Calibri"/>
            </a:endParaRPr>
          </a:p>
        </p:txBody>
      </p:sp>
      <p:sp>
        <p:nvSpPr>
          <p:cNvPr id="272" name="Google Shape;272;p16"/>
          <p:cNvSpPr/>
          <p:nvPr/>
        </p:nvSpPr>
        <p:spPr>
          <a:xfrm>
            <a:off x="5486400" y="1051560"/>
            <a:ext cx="3200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Reserve newsletter slot, draft Boise State Events Calendar listing</a:t>
            </a:r>
            <a:endParaRPr b="0" i="0" sz="1000" u="none" cap="none" strike="noStrike">
              <a:solidFill>
                <a:schemeClr val="dk1"/>
              </a:solidFill>
              <a:latin typeface="Calibri"/>
              <a:ea typeface="Calibri"/>
              <a:cs typeface="Calibri"/>
              <a:sym typeface="Calibri"/>
            </a:endParaRPr>
          </a:p>
        </p:txBody>
      </p:sp>
      <p:sp>
        <p:nvSpPr>
          <p:cNvPr id="273" name="Google Shape;273;p16"/>
          <p:cNvSpPr/>
          <p:nvPr/>
        </p:nvSpPr>
        <p:spPr>
          <a:xfrm>
            <a:off x="548640" y="1691640"/>
            <a:ext cx="182880" cy="1828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6"/>
          <p:cNvSpPr/>
          <p:nvPr/>
        </p:nvSpPr>
        <p:spPr>
          <a:xfrm>
            <a:off x="621792" y="1874520"/>
            <a:ext cx="36576" cy="365760"/>
          </a:xfrm>
          <a:prstGeom prst="rect">
            <a:avLst/>
          </a:prstGeom>
          <a:solidFill>
            <a:srgbClr val="CBD5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6"/>
          <p:cNvSpPr/>
          <p:nvPr/>
        </p:nvSpPr>
        <p:spPr>
          <a:xfrm>
            <a:off x="914400" y="1600200"/>
            <a:ext cx="1371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000"/>
              <a:buFont typeface="Arial"/>
              <a:buNone/>
            </a:pPr>
            <a:r>
              <a:rPr b="1" i="0" lang="en-US" sz="1000" u="none" cap="none" strike="noStrike">
                <a:solidFill>
                  <a:srgbClr val="0EA5E9"/>
                </a:solidFill>
                <a:latin typeface="Arial"/>
                <a:ea typeface="Arial"/>
                <a:cs typeface="Arial"/>
                <a:sym typeface="Arial"/>
              </a:rPr>
              <a:t>4 WEEKS OUT</a:t>
            </a:r>
            <a:endParaRPr b="0" i="0" sz="1000" u="none" cap="none" strike="noStrike">
              <a:solidFill>
                <a:schemeClr val="dk1"/>
              </a:solidFill>
              <a:latin typeface="Calibri"/>
              <a:ea typeface="Calibri"/>
              <a:cs typeface="Calibri"/>
              <a:sym typeface="Calibri"/>
            </a:endParaRPr>
          </a:p>
        </p:txBody>
      </p:sp>
      <p:sp>
        <p:nvSpPr>
          <p:cNvPr id="276" name="Google Shape;276;p16"/>
          <p:cNvSpPr/>
          <p:nvPr/>
        </p:nvSpPr>
        <p:spPr>
          <a:xfrm>
            <a:off x="2377440" y="1600200"/>
            <a:ext cx="2926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Provide photos, speaker bios, reg link</a:t>
            </a:r>
            <a:endParaRPr b="0" i="0" sz="1000" u="none" cap="none" strike="noStrike">
              <a:solidFill>
                <a:schemeClr val="dk1"/>
              </a:solidFill>
              <a:latin typeface="Calibri"/>
              <a:ea typeface="Calibri"/>
              <a:cs typeface="Calibri"/>
              <a:sym typeface="Calibri"/>
            </a:endParaRPr>
          </a:p>
        </p:txBody>
      </p:sp>
      <p:sp>
        <p:nvSpPr>
          <p:cNvPr id="277" name="Google Shape;277;p16"/>
          <p:cNvSpPr/>
          <p:nvPr/>
        </p:nvSpPr>
        <p:spPr>
          <a:xfrm>
            <a:off x="5486400" y="1600200"/>
            <a:ext cx="3200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Design graphics, draft social copy, submit MBEB screens</a:t>
            </a:r>
            <a:endParaRPr b="0" i="0" sz="1000" u="none" cap="none" strike="noStrike">
              <a:solidFill>
                <a:schemeClr val="dk1"/>
              </a:solidFill>
              <a:latin typeface="Calibri"/>
              <a:ea typeface="Calibri"/>
              <a:cs typeface="Calibri"/>
              <a:sym typeface="Calibri"/>
            </a:endParaRPr>
          </a:p>
        </p:txBody>
      </p:sp>
      <p:sp>
        <p:nvSpPr>
          <p:cNvPr id="278" name="Google Shape;278;p16"/>
          <p:cNvSpPr/>
          <p:nvPr/>
        </p:nvSpPr>
        <p:spPr>
          <a:xfrm>
            <a:off x="548640" y="2240280"/>
            <a:ext cx="182880" cy="182880"/>
          </a:xfrm>
          <a:prstGeom prst="ellipse">
            <a:avLst/>
          </a:prstGeom>
          <a:solidFill>
            <a:srgbClr val="0D9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6"/>
          <p:cNvSpPr/>
          <p:nvPr/>
        </p:nvSpPr>
        <p:spPr>
          <a:xfrm>
            <a:off x="621792" y="2423160"/>
            <a:ext cx="36576" cy="365760"/>
          </a:xfrm>
          <a:prstGeom prst="rect">
            <a:avLst/>
          </a:prstGeom>
          <a:solidFill>
            <a:srgbClr val="CBD5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6"/>
          <p:cNvSpPr/>
          <p:nvPr/>
        </p:nvSpPr>
        <p:spPr>
          <a:xfrm>
            <a:off x="914400" y="2148840"/>
            <a:ext cx="1371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9488"/>
              </a:buClr>
              <a:buSzPts val="1000"/>
              <a:buFont typeface="Arial"/>
              <a:buNone/>
            </a:pPr>
            <a:r>
              <a:rPr b="1" i="0" lang="en-US" sz="1000" u="none" cap="none" strike="noStrike">
                <a:solidFill>
                  <a:srgbClr val="0D9488"/>
                </a:solidFill>
                <a:latin typeface="Arial"/>
                <a:ea typeface="Arial"/>
                <a:cs typeface="Arial"/>
                <a:sym typeface="Arial"/>
              </a:rPr>
              <a:t>3 WEEKS OUT</a:t>
            </a:r>
            <a:endParaRPr b="0" i="0" sz="1000" u="none" cap="none" strike="noStrike">
              <a:solidFill>
                <a:schemeClr val="dk1"/>
              </a:solidFill>
              <a:latin typeface="Calibri"/>
              <a:ea typeface="Calibri"/>
              <a:cs typeface="Calibri"/>
              <a:sym typeface="Calibri"/>
            </a:endParaRPr>
          </a:p>
        </p:txBody>
      </p:sp>
      <p:sp>
        <p:nvSpPr>
          <p:cNvPr id="281" name="Google Shape;281;p16"/>
          <p:cNvSpPr/>
          <p:nvPr/>
        </p:nvSpPr>
        <p:spPr>
          <a:xfrm>
            <a:off x="2377440" y="2148840"/>
            <a:ext cx="2926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Review and approve all copy/creative</a:t>
            </a:r>
            <a:endParaRPr b="0" i="0" sz="1000" u="none" cap="none" strike="noStrike">
              <a:solidFill>
                <a:schemeClr val="dk1"/>
              </a:solidFill>
              <a:latin typeface="Calibri"/>
              <a:ea typeface="Calibri"/>
              <a:cs typeface="Calibri"/>
              <a:sym typeface="Calibri"/>
            </a:endParaRPr>
          </a:p>
        </p:txBody>
      </p:sp>
      <p:sp>
        <p:nvSpPr>
          <p:cNvPr id="282" name="Google Shape;282;p16"/>
          <p:cNvSpPr/>
          <p:nvPr/>
        </p:nvSpPr>
        <p:spPr>
          <a:xfrm>
            <a:off x="5486400" y="2148840"/>
            <a:ext cx="3200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Schedule social posts, submit digital screens campus-wide</a:t>
            </a:r>
            <a:endParaRPr b="0" i="0" sz="1000" u="none" cap="none" strike="noStrike">
              <a:solidFill>
                <a:schemeClr val="dk1"/>
              </a:solidFill>
              <a:latin typeface="Calibri"/>
              <a:ea typeface="Calibri"/>
              <a:cs typeface="Calibri"/>
              <a:sym typeface="Calibri"/>
            </a:endParaRPr>
          </a:p>
        </p:txBody>
      </p:sp>
      <p:sp>
        <p:nvSpPr>
          <p:cNvPr id="283" name="Google Shape;283;p16"/>
          <p:cNvSpPr/>
          <p:nvPr/>
        </p:nvSpPr>
        <p:spPr>
          <a:xfrm>
            <a:off x="548640" y="2788920"/>
            <a:ext cx="182880" cy="1828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6"/>
          <p:cNvSpPr/>
          <p:nvPr/>
        </p:nvSpPr>
        <p:spPr>
          <a:xfrm>
            <a:off x="621792" y="2971800"/>
            <a:ext cx="36576" cy="365760"/>
          </a:xfrm>
          <a:prstGeom prst="rect">
            <a:avLst/>
          </a:prstGeom>
          <a:solidFill>
            <a:srgbClr val="CBD5E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6"/>
          <p:cNvSpPr/>
          <p:nvPr/>
        </p:nvSpPr>
        <p:spPr>
          <a:xfrm>
            <a:off x="914400" y="2697480"/>
            <a:ext cx="1371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2 WEEKS OUT</a:t>
            </a:r>
            <a:endParaRPr b="0" i="0" sz="1000" u="none" cap="none" strike="noStrike">
              <a:solidFill>
                <a:schemeClr val="dk1"/>
              </a:solidFill>
              <a:latin typeface="Calibri"/>
              <a:ea typeface="Calibri"/>
              <a:cs typeface="Calibri"/>
              <a:sym typeface="Calibri"/>
            </a:endParaRPr>
          </a:p>
        </p:txBody>
      </p:sp>
      <p:sp>
        <p:nvSpPr>
          <p:cNvPr id="286" name="Google Shape;286;p16"/>
          <p:cNvSpPr/>
          <p:nvPr/>
        </p:nvSpPr>
        <p:spPr>
          <a:xfrm>
            <a:off x="2377440" y="2697480"/>
            <a:ext cx="2926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Share with your network, invite key attendees</a:t>
            </a:r>
            <a:endParaRPr b="0" i="0" sz="1000" u="none" cap="none" strike="noStrike">
              <a:solidFill>
                <a:schemeClr val="dk1"/>
              </a:solidFill>
              <a:latin typeface="Calibri"/>
              <a:ea typeface="Calibri"/>
              <a:cs typeface="Calibri"/>
              <a:sym typeface="Calibri"/>
            </a:endParaRPr>
          </a:p>
        </p:txBody>
      </p:sp>
      <p:sp>
        <p:nvSpPr>
          <p:cNvPr id="287" name="Google Shape;287;p16"/>
          <p:cNvSpPr/>
          <p:nvPr/>
        </p:nvSpPr>
        <p:spPr>
          <a:xfrm>
            <a:off x="5486400" y="2697480"/>
            <a:ext cx="3200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Newsletter feature goes out, LinkedIn event created</a:t>
            </a:r>
            <a:endParaRPr b="0" i="0" sz="1000" u="none" cap="none" strike="noStrike">
              <a:solidFill>
                <a:schemeClr val="dk1"/>
              </a:solidFill>
              <a:latin typeface="Calibri"/>
              <a:ea typeface="Calibri"/>
              <a:cs typeface="Calibri"/>
              <a:sym typeface="Calibri"/>
            </a:endParaRPr>
          </a:p>
        </p:txBody>
      </p:sp>
      <p:sp>
        <p:nvSpPr>
          <p:cNvPr id="302" name="Google Shape;302;p16"/>
          <p:cNvSpPr/>
          <p:nvPr/>
        </p:nvSpPr>
        <p:spPr>
          <a:xfrm>
            <a:off x="914400" y="822960"/>
            <a:ext cx="1371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00"/>
              <a:buFont typeface="Arial"/>
              <a:buNone/>
            </a:pPr>
            <a:r>
              <a:rPr b="1" i="0" lang="en-US" sz="900" u="none" cap="none" strike="noStrike">
                <a:solidFill>
                  <a:srgbClr val="64748B"/>
                </a:solidFill>
                <a:latin typeface="Arial"/>
                <a:ea typeface="Arial"/>
                <a:cs typeface="Arial"/>
                <a:sym typeface="Arial"/>
              </a:rPr>
              <a:t>WHEN</a:t>
            </a:r>
            <a:endParaRPr b="0" i="0" sz="900" u="none" cap="none" strike="noStrike">
              <a:solidFill>
                <a:schemeClr val="dk1"/>
              </a:solidFill>
              <a:latin typeface="Calibri"/>
              <a:ea typeface="Calibri"/>
              <a:cs typeface="Calibri"/>
              <a:sym typeface="Calibri"/>
            </a:endParaRPr>
          </a:p>
        </p:txBody>
      </p:sp>
      <p:sp>
        <p:nvSpPr>
          <p:cNvPr id="303" name="Google Shape;303;p16"/>
          <p:cNvSpPr/>
          <p:nvPr/>
        </p:nvSpPr>
        <p:spPr>
          <a:xfrm>
            <a:off x="2377440" y="822960"/>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900"/>
              <a:buFont typeface="Arial"/>
              <a:buNone/>
            </a:pPr>
            <a:r>
              <a:rPr b="1" i="0" lang="en-US" sz="900" u="none" cap="none" strike="noStrike">
                <a:solidFill>
                  <a:srgbClr val="0EA5E9"/>
                </a:solidFill>
                <a:latin typeface="Arial"/>
                <a:ea typeface="Arial"/>
                <a:cs typeface="Arial"/>
                <a:sym typeface="Arial"/>
              </a:rPr>
              <a:t>YOU DO</a:t>
            </a:r>
            <a:endParaRPr b="0" i="0" sz="900" u="none" cap="none" strike="noStrike">
              <a:solidFill>
                <a:schemeClr val="dk1"/>
              </a:solidFill>
              <a:latin typeface="Calibri"/>
              <a:ea typeface="Calibri"/>
              <a:cs typeface="Calibri"/>
              <a:sym typeface="Calibri"/>
            </a:endParaRPr>
          </a:p>
        </p:txBody>
      </p:sp>
      <p:sp>
        <p:nvSpPr>
          <p:cNvPr id="304" name="Google Shape;304;p16"/>
          <p:cNvSpPr/>
          <p:nvPr/>
        </p:nvSpPr>
        <p:spPr>
          <a:xfrm>
            <a:off x="5486400" y="822960"/>
            <a:ext cx="3200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900"/>
              <a:buFont typeface="Arial"/>
              <a:buNone/>
            </a:pPr>
            <a:r>
              <a:rPr b="1" i="0" lang="en-US" sz="900" u="none" cap="none" strike="noStrike">
                <a:solidFill>
                  <a:srgbClr val="0033A0"/>
                </a:solidFill>
                <a:latin typeface="Arial"/>
                <a:ea typeface="Arial"/>
                <a:cs typeface="Arial"/>
                <a:sym typeface="Arial"/>
              </a:rPr>
              <a:t>MARKETING DOES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1F5F9"/>
        </a:solidFill>
      </p:bgPr>
    </p:bg>
    <p:spTree>
      <p:nvGrpSpPr>
        <p:cNvPr id="309" name="Shape 309"/>
        <p:cNvGrpSpPr/>
        <p:nvPr/>
      </p:nvGrpSpPr>
      <p:grpSpPr>
        <a:xfrm>
          <a:off x="0" y="0"/>
          <a:ext cx="0" cy="0"/>
          <a:chOff x="0" y="0"/>
          <a:chExt cx="0" cy="0"/>
        </a:xfrm>
      </p:grpSpPr>
      <p:sp>
        <p:nvSpPr>
          <p:cNvPr id="310" name="Google Shape;310;p17"/>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7"/>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1: HANDS-OFF</a:t>
            </a:r>
            <a:endParaRPr b="0" i="0" sz="1100" u="none" cap="none" strike="noStrike">
              <a:solidFill>
                <a:schemeClr val="dk1"/>
              </a:solidFill>
              <a:latin typeface="Calibri"/>
              <a:ea typeface="Calibri"/>
              <a:cs typeface="Calibri"/>
              <a:sym typeface="Calibri"/>
            </a:endParaRPr>
          </a:p>
        </p:txBody>
      </p:sp>
      <p:sp>
        <p:nvSpPr>
          <p:cNvPr id="312" name="Google Shape;312;p17"/>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313" name="Google Shape;313;p17"/>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14</a:t>
            </a:r>
            <a:endParaRPr b="0" i="0" sz="1000" u="none" cap="none" strike="noStrike">
              <a:solidFill>
                <a:schemeClr val="dk1"/>
              </a:solidFill>
              <a:latin typeface="Calibri"/>
              <a:ea typeface="Calibri"/>
              <a:cs typeface="Calibri"/>
              <a:sym typeface="Calibri"/>
            </a:endParaRPr>
          </a:p>
        </p:txBody>
      </p:sp>
      <p:sp>
        <p:nvSpPr>
          <p:cNvPr id="314" name="Google Shape;314;p17"/>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Sample Request Email</a:t>
            </a:r>
            <a:endParaRPr b="0" i="0" sz="30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Copy, paste, and adapt this template for your next request.</a:t>
            </a:r>
            <a:endParaRPr b="0" i="0" sz="1400" u="none" cap="none" strike="noStrike">
              <a:solidFill>
                <a:schemeClr val="dk1"/>
              </a:solidFill>
              <a:latin typeface="Calibri"/>
              <a:ea typeface="Calibri"/>
              <a:cs typeface="Calibri"/>
              <a:sym typeface="Calibri"/>
            </a:endParaRPr>
          </a:p>
        </p:txBody>
      </p:sp>
      <p:sp>
        <p:nvSpPr>
          <p:cNvPr id="316" name="Google Shape;316;p17"/>
          <p:cNvSpPr/>
          <p:nvPr/>
        </p:nvSpPr>
        <p:spPr>
          <a:xfrm>
            <a:off x="457200" y="1280160"/>
            <a:ext cx="8229600" cy="347472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7"/>
          <p:cNvSpPr/>
          <p:nvPr/>
        </p:nvSpPr>
        <p:spPr>
          <a:xfrm>
            <a:off x="731520" y="1371600"/>
            <a:ext cx="7680960" cy="3200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100"/>
              <a:buFont typeface="Arial"/>
              <a:buNone/>
            </a:pPr>
            <a:r>
              <a:rPr b="1" i="0" lang="en-US" sz="1100" u="none" cap="none" strike="noStrike">
                <a:solidFill>
                  <a:srgbClr val="64748B"/>
                </a:solidFill>
                <a:latin typeface="Arial"/>
                <a:ea typeface="Arial"/>
                <a:cs typeface="Arial"/>
                <a:sym typeface="Arial"/>
              </a:rPr>
              <a:t>To: </a:t>
            </a:r>
            <a:r>
              <a:rPr b="1" i="0" lang="en-US" sz="1100" u="none" cap="none" strike="noStrike">
                <a:solidFill>
                  <a:srgbClr val="0EA5E9"/>
                </a:solidFill>
                <a:latin typeface="Arial"/>
                <a:ea typeface="Arial"/>
                <a:cs typeface="Arial"/>
                <a:sym typeface="Arial"/>
              </a:rPr>
              <a:t>cobe-info@boisestate.edu</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100"/>
              <a:buFont typeface="Arial"/>
              <a:buNone/>
            </a:pPr>
            <a:r>
              <a:rPr b="1" i="0" lang="en-US" sz="1100" u="none" cap="none" strike="noStrike">
                <a:solidFill>
                  <a:srgbClr val="64748B"/>
                </a:solidFill>
                <a:latin typeface="Arial"/>
                <a:ea typeface="Arial"/>
                <a:cs typeface="Arial"/>
                <a:sym typeface="Arial"/>
              </a:rPr>
              <a:t>Subject: </a:t>
            </a:r>
            <a:r>
              <a:rPr b="0" i="0" lang="en-US" sz="1100" u="none" cap="none" strike="noStrike">
                <a:solidFill>
                  <a:srgbClr val="0B1220"/>
                </a:solidFill>
                <a:latin typeface="Arial"/>
                <a:ea typeface="Arial"/>
                <a:cs typeface="Arial"/>
                <a:sym typeface="Arial"/>
              </a:rPr>
              <a:t>PROGRAM REQUEST – Newsletter + Instagram + MBEB – Oct 2025</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Hi COBE Marketing team,</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We'd like to promote the Hospitality Career Panel &amp; Career Fair.</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B1220"/>
              </a:buClr>
              <a:buSzPts val="1100"/>
              <a:buFont typeface="Arial"/>
              <a:buNone/>
            </a:pPr>
            <a:r>
              <a:rPr b="1" i="0" lang="en-US" sz="1100" u="none" cap="none" strike="noStrike">
                <a:solidFill>
                  <a:srgbClr val="0B1220"/>
                </a:solidFill>
                <a:latin typeface="Arial"/>
                <a:ea typeface="Arial"/>
                <a:cs typeface="Arial"/>
                <a:sym typeface="Arial"/>
              </a:rPr>
              <a:t>Event Details: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What: Hospitality Career Panel &amp; Career Fair</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When: Thursday, October 23, 4-6 PM</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Where: Jackson Commons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Who: All COBE students + employers (Grove Hotel, Idaho Central Arena, etc.)</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Registration: [Handshake Link]</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Attached: Event flyer (1080x1080), speaker headshots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Approval contact: Ashley Walter (ashleywalter@boisestate.edu)</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Thank you!</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321" name="Shape 321"/>
        <p:cNvGrpSpPr/>
        <p:nvPr/>
      </p:nvGrpSpPr>
      <p:grpSpPr>
        <a:xfrm>
          <a:off x="0" y="0"/>
          <a:ext cx="0" cy="0"/>
          <a:chOff x="0" y="0"/>
          <a:chExt cx="0" cy="0"/>
        </a:xfrm>
      </p:grpSpPr>
      <p:sp>
        <p:nvSpPr>
          <p:cNvPr id="322" name="Google Shape;322;p18"/>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8"/>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1: HANDS-OFF</a:t>
            </a:r>
            <a:endParaRPr b="0" i="0" sz="1100" u="none" cap="none" strike="noStrike">
              <a:solidFill>
                <a:schemeClr val="dk1"/>
              </a:solidFill>
              <a:latin typeface="Calibri"/>
              <a:ea typeface="Calibri"/>
              <a:cs typeface="Calibri"/>
              <a:sym typeface="Calibri"/>
            </a:endParaRPr>
          </a:p>
        </p:txBody>
      </p:sp>
      <p:sp>
        <p:nvSpPr>
          <p:cNvPr id="324" name="Google Shape;324;p18"/>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325" name="Google Shape;325;p18"/>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15</a:t>
            </a:r>
            <a:endParaRPr b="0" i="0" sz="1000" u="none" cap="none" strike="noStrike">
              <a:solidFill>
                <a:schemeClr val="dk1"/>
              </a:solidFill>
              <a:latin typeface="Calibri"/>
              <a:ea typeface="Calibri"/>
              <a:cs typeface="Calibri"/>
              <a:sym typeface="Calibri"/>
            </a:endParaRPr>
          </a:p>
        </p:txBody>
      </p:sp>
      <p:sp>
        <p:nvSpPr>
          <p:cNvPr id="326" name="Google Shape;326;p18"/>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600"/>
              <a:buFont typeface="Georgia"/>
              <a:buNone/>
            </a:pPr>
            <a:r>
              <a:rPr b="1" i="0" lang="en-US" sz="2600" u="none" cap="none" strike="noStrike">
                <a:solidFill>
                  <a:srgbClr val="0B1220"/>
                </a:solidFill>
                <a:latin typeface="Georgia"/>
                <a:ea typeface="Georgia"/>
                <a:cs typeface="Georgia"/>
                <a:sym typeface="Georgia"/>
              </a:rPr>
              <a:t>Hands-Off Channel Overview</a:t>
            </a:r>
            <a:endParaRPr b="0" i="0" sz="2600" u="none" cap="none" strike="noStrike">
              <a:solidFill>
                <a:schemeClr val="dk1"/>
              </a:solidFill>
              <a:latin typeface="Calibri"/>
              <a:ea typeface="Calibri"/>
              <a:cs typeface="Calibri"/>
              <a:sym typeface="Calibri"/>
            </a:endParaRPr>
          </a:p>
        </p:txBody>
      </p:sp>
      <p:sp>
        <p:nvSpPr>
          <p:cNvPr id="327" name="Google Shape;327;p18"/>
          <p:cNvSpPr/>
          <p:nvPr/>
        </p:nvSpPr>
        <p:spPr>
          <a:xfrm>
            <a:off x="457200" y="10058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BEST FOR</a:t>
            </a:r>
            <a:endParaRPr b="0" i="0" sz="1000" u="none" cap="none" strike="noStrike">
              <a:solidFill>
                <a:schemeClr val="dk1"/>
              </a:solidFill>
              <a:latin typeface="Calibri"/>
              <a:ea typeface="Calibri"/>
              <a:cs typeface="Calibri"/>
              <a:sym typeface="Calibri"/>
            </a:endParaRPr>
          </a:p>
        </p:txBody>
      </p:sp>
      <p:sp>
        <p:nvSpPr>
          <p:cNvPr id="328" name="Google Shape;328;p18"/>
          <p:cNvSpPr/>
          <p:nvPr/>
        </p:nvSpPr>
        <p:spPr>
          <a:xfrm>
            <a:off x="2194560" y="10058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A quick reference for all Hands-Off channels. Tell COBE your goal and provide the basics — they handle the rest.</a:t>
            </a:r>
            <a:endParaRPr b="0" i="0" sz="1100" u="none" cap="none" strike="noStrike">
              <a:solidFill>
                <a:schemeClr val="dk1"/>
              </a:solidFill>
              <a:latin typeface="Calibri"/>
              <a:ea typeface="Calibri"/>
              <a:cs typeface="Calibri"/>
              <a:sym typeface="Calibri"/>
            </a:endParaRPr>
          </a:p>
        </p:txBody>
      </p:sp>
      <p:sp>
        <p:nvSpPr>
          <p:cNvPr id="329" name="Google Shape;329;p18"/>
          <p:cNvSpPr/>
          <p:nvPr/>
        </p:nvSpPr>
        <p:spPr>
          <a:xfrm>
            <a:off x="457200" y="141732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8"/>
          <p:cNvSpPr/>
          <p:nvPr/>
        </p:nvSpPr>
        <p:spPr>
          <a:xfrm>
            <a:off x="457200" y="150876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INSTAGRAM</a:t>
            </a:r>
            <a:endParaRPr b="0" i="0" sz="1000" u="none" cap="none" strike="noStrike">
              <a:solidFill>
                <a:schemeClr val="dk1"/>
              </a:solidFill>
              <a:latin typeface="Calibri"/>
              <a:ea typeface="Calibri"/>
              <a:cs typeface="Calibri"/>
              <a:sym typeface="Calibri"/>
            </a:endParaRPr>
          </a:p>
        </p:txBody>
      </p:sp>
      <p:sp>
        <p:nvSpPr>
          <p:cNvPr id="331" name="Google Shape;331;p18"/>
          <p:cNvSpPr/>
          <p:nvPr/>
        </p:nvSpPr>
        <p:spPr>
          <a:xfrm>
            <a:off x="2194560" y="150876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Best for student engagement, event awareness, program visibility. Provide: event details, photos (1080x1080 or 1080x1920), and key message.</a:t>
            </a:r>
            <a:endParaRPr b="0" i="0" sz="1100" u="none" cap="none" strike="noStrike">
              <a:solidFill>
                <a:schemeClr val="dk1"/>
              </a:solidFill>
              <a:latin typeface="Calibri"/>
              <a:ea typeface="Calibri"/>
              <a:cs typeface="Calibri"/>
              <a:sym typeface="Calibri"/>
            </a:endParaRPr>
          </a:p>
        </p:txBody>
      </p:sp>
      <p:sp>
        <p:nvSpPr>
          <p:cNvPr id="332" name="Google Shape;332;p18"/>
          <p:cNvSpPr/>
          <p:nvPr/>
        </p:nvSpPr>
        <p:spPr>
          <a:xfrm>
            <a:off x="457200" y="192024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8"/>
          <p:cNvSpPr/>
          <p:nvPr/>
        </p:nvSpPr>
        <p:spPr>
          <a:xfrm>
            <a:off x="457200" y="201168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LINKEDIN</a:t>
            </a:r>
            <a:endParaRPr b="0" i="0" sz="1000" u="none" cap="none" strike="noStrike">
              <a:solidFill>
                <a:schemeClr val="dk1"/>
              </a:solidFill>
              <a:latin typeface="Calibri"/>
              <a:ea typeface="Calibri"/>
              <a:cs typeface="Calibri"/>
              <a:sym typeface="Calibri"/>
            </a:endParaRPr>
          </a:p>
        </p:txBody>
      </p:sp>
      <p:sp>
        <p:nvSpPr>
          <p:cNvPr id="334" name="Google Shape;334;p18"/>
          <p:cNvSpPr/>
          <p:nvPr/>
        </p:nvSpPr>
        <p:spPr>
          <a:xfrm>
            <a:off x="2194560" y="201168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Best for employer partnerships, alumni highlights, professional storytelling. Provide: professional copy, speaker/employer info, and banner image.</a:t>
            </a:r>
            <a:endParaRPr b="0" i="0" sz="1100" u="none" cap="none" strike="noStrike">
              <a:solidFill>
                <a:schemeClr val="dk1"/>
              </a:solidFill>
              <a:latin typeface="Calibri"/>
              <a:ea typeface="Calibri"/>
              <a:cs typeface="Calibri"/>
              <a:sym typeface="Calibri"/>
            </a:endParaRPr>
          </a:p>
        </p:txBody>
      </p:sp>
      <p:sp>
        <p:nvSpPr>
          <p:cNvPr id="335" name="Google Shape;335;p18"/>
          <p:cNvSpPr/>
          <p:nvPr/>
        </p:nvSpPr>
        <p:spPr>
          <a:xfrm>
            <a:off x="457200" y="242316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18"/>
          <p:cNvSpPr/>
          <p:nvPr/>
        </p:nvSpPr>
        <p:spPr>
          <a:xfrm>
            <a:off x="457200" y="251460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EMAIL NEWSLETTER</a:t>
            </a:r>
            <a:endParaRPr b="0" i="0" sz="1000" u="none" cap="none" strike="noStrike">
              <a:solidFill>
                <a:schemeClr val="dk1"/>
              </a:solidFill>
              <a:latin typeface="Calibri"/>
              <a:ea typeface="Calibri"/>
              <a:cs typeface="Calibri"/>
              <a:sym typeface="Calibri"/>
            </a:endParaRPr>
          </a:p>
        </p:txBody>
      </p:sp>
      <p:sp>
        <p:nvSpPr>
          <p:cNvPr id="337" name="Google Shape;337;p18"/>
          <p:cNvSpPr/>
          <p:nvPr/>
        </p:nvSpPr>
        <p:spPr>
          <a:xfrm>
            <a:off x="2194560" y="251460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Best for driving event attendance, applications, program inquiries. Provide: rectangle landscape photo, short paragraph with value props, and CTA link.</a:t>
            </a:r>
            <a:endParaRPr b="0" i="0" sz="1100" u="none" cap="none" strike="noStrike">
              <a:solidFill>
                <a:schemeClr val="dk1"/>
              </a:solidFill>
              <a:latin typeface="Calibri"/>
              <a:ea typeface="Calibri"/>
              <a:cs typeface="Calibri"/>
              <a:sym typeface="Calibri"/>
            </a:endParaRPr>
          </a:p>
        </p:txBody>
      </p:sp>
      <p:sp>
        <p:nvSpPr>
          <p:cNvPr id="338" name="Google Shape;338;p18"/>
          <p:cNvSpPr/>
          <p:nvPr/>
        </p:nvSpPr>
        <p:spPr>
          <a:xfrm>
            <a:off x="457200" y="292608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8"/>
          <p:cNvSpPr/>
          <p:nvPr/>
        </p:nvSpPr>
        <p:spPr>
          <a:xfrm>
            <a:off x="457200" y="301752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INTERNAL CHANNELS</a:t>
            </a:r>
            <a:endParaRPr b="0" i="0" sz="1000" u="none" cap="none" strike="noStrike">
              <a:solidFill>
                <a:schemeClr val="dk1"/>
              </a:solidFill>
              <a:latin typeface="Calibri"/>
              <a:ea typeface="Calibri"/>
              <a:cs typeface="Calibri"/>
              <a:sym typeface="Calibri"/>
            </a:endParaRPr>
          </a:p>
        </p:txBody>
      </p:sp>
      <p:sp>
        <p:nvSpPr>
          <p:cNvPr id="340" name="Google Shape;340;p18"/>
          <p:cNvSpPr/>
          <p:nvPr/>
        </p:nvSpPr>
        <p:spPr>
          <a:xfrm>
            <a:off x="2194560" y="301752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Best for reaching current students via classroom slides and MBEB screens. Provide: event details and a 1920x1080 graphic.</a:t>
            </a:r>
            <a:endParaRPr b="0" i="0" sz="1100" u="none" cap="none" strike="noStrike">
              <a:solidFill>
                <a:schemeClr val="dk1"/>
              </a:solidFill>
              <a:latin typeface="Calibri"/>
              <a:ea typeface="Calibri"/>
              <a:cs typeface="Calibri"/>
              <a:sym typeface="Calibri"/>
            </a:endParaRPr>
          </a:p>
        </p:txBody>
      </p:sp>
      <p:sp>
        <p:nvSpPr>
          <p:cNvPr id="341" name="Google Shape;341;p18"/>
          <p:cNvSpPr/>
          <p:nvPr/>
        </p:nvSpPr>
        <p:spPr>
          <a:xfrm>
            <a:off x="457200" y="342900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8"/>
          <p:cNvSpPr/>
          <p:nvPr/>
        </p:nvSpPr>
        <p:spPr>
          <a:xfrm>
            <a:off x="457200" y="35204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
            </a:r>
            <a:endParaRPr b="0" i="0" sz="1000" u="none" cap="none" strike="noStrike">
              <a:solidFill>
                <a:schemeClr val="dk1"/>
              </a:solidFill>
              <a:latin typeface="Calibri"/>
              <a:ea typeface="Calibri"/>
              <a:cs typeface="Calibri"/>
              <a:sym typeface="Calibri"/>
            </a:endParaRPr>
          </a:p>
        </p:txBody>
      </p:sp>
      <p:sp>
        <p:nvSpPr>
          <p:cNvPr id="343" name="Google Shape;343;p18"/>
          <p:cNvSpPr/>
          <p:nvPr/>
        </p:nvSpPr>
        <p:spPr>
          <a:xfrm>
            <a:off x="2194560" y="35204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
            </a:r>
            <a:endParaRPr b="0" i="0" sz="1100" u="none" cap="none" strike="noStrike">
              <a:solidFill>
                <a:schemeClr val="dk1"/>
              </a:solidFill>
              <a:latin typeface="Calibri"/>
              <a:ea typeface="Calibri"/>
              <a:cs typeface="Calibri"/>
              <a:sym typeface="Calibri"/>
            </a:endParaRPr>
          </a:p>
        </p:txBody>
      </p:sp>
      <p:sp>
        <p:nvSpPr>
          <p:cNvPr id="344" name="Google Shape;344;p18"/>
          <p:cNvSpPr/>
          <p:nvPr/>
        </p:nvSpPr>
        <p:spPr>
          <a:xfrm>
            <a:off x="457200" y="4023360"/>
            <a:ext cx="8229600" cy="777240"/>
          </a:xfrm>
          <a:prstGeom prst="rect">
            <a:avLst/>
          </a:prstGeom>
          <a:solidFill>
            <a:srgbClr val="FFFBEB"/>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8"/>
          <p:cNvSpPr/>
          <p:nvPr/>
        </p:nvSpPr>
        <p:spPr>
          <a:xfrm>
            <a:off x="685800" y="4069080"/>
            <a:ext cx="3657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
            </a:r>
            <a:endParaRPr b="0" i="0" sz="1000" u="none" cap="none" strike="noStrike">
              <a:solidFill>
                <a:schemeClr val="dk1"/>
              </a:solidFill>
              <a:latin typeface="Calibri"/>
              <a:ea typeface="Calibri"/>
              <a:cs typeface="Calibri"/>
              <a:sym typeface="Calibri"/>
            </a:endParaRPr>
          </a:p>
        </p:txBody>
      </p:sp>
      <p:sp>
        <p:nvSpPr>
          <p:cNvPr id="346" name="Google Shape;346;p18"/>
          <p:cNvSpPr/>
          <p:nvPr/>
        </p:nvSpPr>
        <p:spPr>
          <a:xfrm>
            <a:off x="685800" y="429768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37" name="Shape 437"/>
        <p:cNvGrpSpPr/>
        <p:nvPr/>
      </p:nvGrpSpPr>
      <p:grpSpPr>
        <a:xfrm>
          <a:off x="0" y="0"/>
          <a:ext cx="0" cy="0"/>
          <a:chOff x="0" y="0"/>
          <a:chExt cx="0" cy="0"/>
        </a:xfrm>
      </p:grpSpPr>
      <p:sp>
        <p:nvSpPr>
          <p:cNvPr id="438" name="Google Shape;438;p22"/>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2"/>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1: HANDS-OFF</a:t>
            </a:r>
            <a:endParaRPr b="0" i="0" sz="1100" u="none" cap="none" strike="noStrike">
              <a:solidFill>
                <a:schemeClr val="dk1"/>
              </a:solidFill>
              <a:latin typeface="Calibri"/>
              <a:ea typeface="Calibri"/>
              <a:cs typeface="Calibri"/>
              <a:sym typeface="Calibri"/>
            </a:endParaRPr>
          </a:p>
        </p:txBody>
      </p:sp>
      <p:sp>
        <p:nvSpPr>
          <p:cNvPr id="440" name="Google Shape;440;p22"/>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441" name="Google Shape;441;p22"/>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16</a:t>
            </a:r>
            <a:endParaRPr b="0" i="0" sz="1000" u="none" cap="none" strike="noStrike">
              <a:solidFill>
                <a:schemeClr val="dk1"/>
              </a:solidFill>
              <a:latin typeface="Calibri"/>
              <a:ea typeface="Calibri"/>
              <a:cs typeface="Calibri"/>
              <a:sym typeface="Calibri"/>
            </a:endParaRPr>
          </a:p>
        </p:txBody>
      </p:sp>
      <p:sp>
        <p:nvSpPr>
          <p:cNvPr id="442" name="Google Shape;442;p22"/>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600"/>
              <a:buFont typeface="Georgia"/>
              <a:buNone/>
            </a:pPr>
            <a:r>
              <a:rPr b="1" i="0" lang="en-US" sz="2600" u="none" cap="none" strike="noStrike">
                <a:solidFill>
                  <a:srgbClr val="0B1220"/>
                </a:solidFill>
                <a:latin typeface="Georgia"/>
                <a:ea typeface="Georgia"/>
                <a:cs typeface="Georgia"/>
                <a:sym typeface="Georgia"/>
              </a:rPr>
              <a:t>Channel Guide: Bronco Business Podcast</a:t>
            </a:r>
            <a:endParaRPr b="0" i="0" sz="2600" u="none" cap="none" strike="noStrike">
              <a:solidFill>
                <a:schemeClr val="dk1"/>
              </a:solidFill>
              <a:latin typeface="Calibri"/>
              <a:ea typeface="Calibri"/>
              <a:cs typeface="Calibri"/>
              <a:sym typeface="Calibri"/>
            </a:endParaRPr>
          </a:p>
        </p:txBody>
      </p:sp>
      <p:sp>
        <p:nvSpPr>
          <p:cNvPr id="443" name="Google Shape;443;p22"/>
          <p:cNvSpPr/>
          <p:nvPr/>
        </p:nvSpPr>
        <p:spPr>
          <a:xfrm>
            <a:off x="457200" y="10058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BEST FOR</a:t>
            </a:r>
            <a:endParaRPr b="0" i="0" sz="1000" u="none" cap="none" strike="noStrike">
              <a:solidFill>
                <a:schemeClr val="dk1"/>
              </a:solidFill>
              <a:latin typeface="Calibri"/>
              <a:ea typeface="Calibri"/>
              <a:cs typeface="Calibri"/>
              <a:sym typeface="Calibri"/>
            </a:endParaRPr>
          </a:p>
        </p:txBody>
      </p:sp>
      <p:sp>
        <p:nvSpPr>
          <p:cNvPr id="444" name="Google Shape;444;p22"/>
          <p:cNvSpPr/>
          <p:nvPr/>
        </p:nvSpPr>
        <p:spPr>
          <a:xfrm>
            <a:off x="2194560" y="10058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Employer partnerships, alumni engagement, thought leadership, student recruiting influence. NOTE: The Bronco Business Podcast is a special case that COBE does not generally offer broadly. Direct coordination with Kate Watson is required.</a:t>
            </a:r>
            <a:endParaRPr b="0" i="0" sz="1100" u="none" cap="none" strike="noStrike">
              <a:solidFill>
                <a:schemeClr val="dk1"/>
              </a:solidFill>
              <a:latin typeface="Calibri"/>
              <a:ea typeface="Calibri"/>
              <a:cs typeface="Calibri"/>
              <a:sym typeface="Calibri"/>
            </a:endParaRPr>
          </a:p>
        </p:txBody>
      </p:sp>
      <p:sp>
        <p:nvSpPr>
          <p:cNvPr id="445" name="Google Shape;445;p22"/>
          <p:cNvSpPr/>
          <p:nvPr/>
        </p:nvSpPr>
        <p:spPr>
          <a:xfrm>
            <a:off x="457200" y="141732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22"/>
          <p:cNvSpPr/>
          <p:nvPr/>
        </p:nvSpPr>
        <p:spPr>
          <a:xfrm>
            <a:off x="457200" y="150876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FORMAT</a:t>
            </a:r>
            <a:endParaRPr b="0" i="0" sz="1000" u="none" cap="none" strike="noStrike">
              <a:solidFill>
                <a:schemeClr val="dk1"/>
              </a:solidFill>
              <a:latin typeface="Calibri"/>
              <a:ea typeface="Calibri"/>
              <a:cs typeface="Calibri"/>
              <a:sym typeface="Calibri"/>
            </a:endParaRPr>
          </a:p>
        </p:txBody>
      </p:sp>
      <p:sp>
        <p:nvSpPr>
          <p:cNvPr id="447" name="Google Shape;447;p22"/>
          <p:cNvSpPr/>
          <p:nvPr/>
        </p:nvSpPr>
        <p:spPr>
          <a:xfrm>
            <a:off x="2194560" y="150876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Audio podcast episodes featuring external industry guests coordinated with Career Services.</a:t>
            </a:r>
            <a:endParaRPr b="0" i="0" sz="1100" u="none" cap="none" strike="noStrike">
              <a:solidFill>
                <a:schemeClr val="dk1"/>
              </a:solidFill>
              <a:latin typeface="Calibri"/>
              <a:ea typeface="Calibri"/>
              <a:cs typeface="Calibri"/>
              <a:sym typeface="Calibri"/>
            </a:endParaRPr>
          </a:p>
        </p:txBody>
      </p:sp>
      <p:sp>
        <p:nvSpPr>
          <p:cNvPr id="448" name="Google Shape;448;p22"/>
          <p:cNvSpPr/>
          <p:nvPr/>
        </p:nvSpPr>
        <p:spPr>
          <a:xfrm>
            <a:off x="457200" y="192024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2"/>
          <p:cNvSpPr/>
          <p:nvPr/>
        </p:nvSpPr>
        <p:spPr>
          <a:xfrm>
            <a:off x="457200" y="201168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CADENCE</a:t>
            </a:r>
            <a:endParaRPr b="0" i="0" sz="1000" u="none" cap="none" strike="noStrike">
              <a:solidFill>
                <a:schemeClr val="dk1"/>
              </a:solidFill>
              <a:latin typeface="Calibri"/>
              <a:ea typeface="Calibri"/>
              <a:cs typeface="Calibri"/>
              <a:sym typeface="Calibri"/>
            </a:endParaRPr>
          </a:p>
        </p:txBody>
      </p:sp>
      <p:sp>
        <p:nvSpPr>
          <p:cNvPr id="450" name="Google Shape;450;p22"/>
          <p:cNvSpPr/>
          <p:nvPr/>
        </p:nvSpPr>
        <p:spPr>
          <a:xfrm>
            <a:off x="2194560" y="201168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As needed; plan around key industry events, career fairs, or partnership launches.</a:t>
            </a:r>
            <a:endParaRPr b="0" i="0" sz="1100" u="none" cap="none" strike="noStrike">
              <a:solidFill>
                <a:schemeClr val="dk1"/>
              </a:solidFill>
              <a:latin typeface="Calibri"/>
              <a:ea typeface="Calibri"/>
              <a:cs typeface="Calibri"/>
              <a:sym typeface="Calibri"/>
            </a:endParaRPr>
          </a:p>
        </p:txBody>
      </p:sp>
      <p:sp>
        <p:nvSpPr>
          <p:cNvPr id="451" name="Google Shape;451;p22"/>
          <p:cNvSpPr/>
          <p:nvPr/>
        </p:nvSpPr>
        <p:spPr>
          <a:xfrm>
            <a:off x="457200" y="242316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22"/>
          <p:cNvSpPr/>
          <p:nvPr/>
        </p:nvSpPr>
        <p:spPr>
          <a:xfrm>
            <a:off x="457200" y="251460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LEAD TIME</a:t>
            </a:r>
            <a:endParaRPr b="0" i="0" sz="1000" u="none" cap="none" strike="noStrike">
              <a:solidFill>
                <a:schemeClr val="dk1"/>
              </a:solidFill>
              <a:latin typeface="Calibri"/>
              <a:ea typeface="Calibri"/>
              <a:cs typeface="Calibri"/>
              <a:sym typeface="Calibri"/>
            </a:endParaRPr>
          </a:p>
        </p:txBody>
      </p:sp>
      <p:sp>
        <p:nvSpPr>
          <p:cNvPr id="453" name="Google Shape;453;p22"/>
          <p:cNvSpPr/>
          <p:nvPr/>
        </p:nvSpPr>
        <p:spPr>
          <a:xfrm>
            <a:off x="2194560" y="251460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3-4 weeks from guest identification to published episode. Coordinate with Career Services and Joe Morgan.</a:t>
            </a:r>
            <a:endParaRPr b="0" i="0" sz="1100" u="none" cap="none" strike="noStrike">
              <a:solidFill>
                <a:schemeClr val="dk1"/>
              </a:solidFill>
              <a:latin typeface="Calibri"/>
              <a:ea typeface="Calibri"/>
              <a:cs typeface="Calibri"/>
              <a:sym typeface="Calibri"/>
            </a:endParaRPr>
          </a:p>
        </p:txBody>
      </p:sp>
      <p:sp>
        <p:nvSpPr>
          <p:cNvPr id="454" name="Google Shape;454;p22"/>
          <p:cNvSpPr/>
          <p:nvPr/>
        </p:nvSpPr>
        <p:spPr>
          <a:xfrm>
            <a:off x="457200" y="292608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22"/>
          <p:cNvSpPr/>
          <p:nvPr/>
        </p:nvSpPr>
        <p:spPr>
          <a:xfrm>
            <a:off x="457200" y="301752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WORKFLOW SUMMARY</a:t>
            </a:r>
            <a:endParaRPr b="0" i="0" sz="1000" u="none" cap="none" strike="noStrike">
              <a:solidFill>
                <a:schemeClr val="dk1"/>
              </a:solidFill>
              <a:latin typeface="Calibri"/>
              <a:ea typeface="Calibri"/>
              <a:cs typeface="Calibri"/>
              <a:sym typeface="Calibri"/>
            </a:endParaRPr>
          </a:p>
        </p:txBody>
      </p:sp>
      <p:sp>
        <p:nvSpPr>
          <p:cNvPr id="456" name="Google Shape;456;p22"/>
          <p:cNvSpPr/>
          <p:nvPr/>
        </p:nvSpPr>
        <p:spPr>
          <a:xfrm>
            <a:off x="2194560" y="301752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Identify guest, coordinate with Career Services, pitch to Kate, schedule recording with Joe, promote via cobe-info channels.</a:t>
            </a:r>
            <a:endParaRPr b="0" i="0" sz="1100" u="none" cap="none" strike="noStrike">
              <a:solidFill>
                <a:schemeClr val="dk1"/>
              </a:solidFill>
              <a:latin typeface="Calibri"/>
              <a:ea typeface="Calibri"/>
              <a:cs typeface="Calibri"/>
              <a:sym typeface="Calibri"/>
            </a:endParaRPr>
          </a:p>
        </p:txBody>
      </p:sp>
      <p:sp>
        <p:nvSpPr>
          <p:cNvPr id="457" name="Google Shape;457;p22"/>
          <p:cNvSpPr/>
          <p:nvPr/>
        </p:nvSpPr>
        <p:spPr>
          <a:xfrm>
            <a:off x="457200" y="342900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22"/>
          <p:cNvSpPr/>
          <p:nvPr/>
        </p:nvSpPr>
        <p:spPr>
          <a:xfrm>
            <a:off x="457200" y="35204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HANDS-OFF / HANDS-ON</a:t>
            </a:r>
            <a:endParaRPr b="0" i="0" sz="1000" u="none" cap="none" strike="noStrike">
              <a:solidFill>
                <a:schemeClr val="dk1"/>
              </a:solidFill>
              <a:latin typeface="Calibri"/>
              <a:ea typeface="Calibri"/>
              <a:cs typeface="Calibri"/>
              <a:sym typeface="Calibri"/>
            </a:endParaRPr>
          </a:p>
        </p:txBody>
      </p:sp>
      <p:sp>
        <p:nvSpPr>
          <p:cNvPr id="459" name="Google Shape;459;p22"/>
          <p:cNvSpPr/>
          <p:nvPr/>
        </p:nvSpPr>
        <p:spPr>
          <a:xfrm>
            <a:off x="2194560" y="35204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Hands-Off: COBE coordinates logistics + promotion. Hands-On: Program team handles guest outreach + prep pack; COBE supports review + publishing.</a:t>
            </a:r>
            <a:endParaRPr b="0" i="0" sz="1100" u="none" cap="none" strike="noStrike">
              <a:solidFill>
                <a:schemeClr val="dk1"/>
              </a:solidFill>
              <a:latin typeface="Calibri"/>
              <a:ea typeface="Calibri"/>
              <a:cs typeface="Calibri"/>
              <a:sym typeface="Calibri"/>
            </a:endParaRPr>
          </a:p>
        </p:txBody>
      </p:sp>
      <p:sp>
        <p:nvSpPr>
          <p:cNvPr id="460" name="Google Shape;460;p22"/>
          <p:cNvSpPr/>
          <p:nvPr/>
        </p:nvSpPr>
        <p:spPr>
          <a:xfrm>
            <a:off x="457200" y="4023360"/>
            <a:ext cx="8229600" cy="777240"/>
          </a:xfrm>
          <a:prstGeom prst="rect">
            <a:avLst/>
          </a:prstGeom>
          <a:solidFill>
            <a:srgbClr val="FFFBEB"/>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2"/>
          <p:cNvSpPr/>
          <p:nvPr/>
        </p:nvSpPr>
        <p:spPr>
          <a:xfrm>
            <a:off x="685800" y="4069080"/>
            <a:ext cx="3657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CTA EXAMPLES</a:t>
            </a:r>
            <a:endParaRPr b="0" i="0" sz="1000" u="none" cap="none" strike="noStrike">
              <a:solidFill>
                <a:schemeClr val="dk1"/>
              </a:solidFill>
              <a:latin typeface="Calibri"/>
              <a:ea typeface="Calibri"/>
              <a:cs typeface="Calibri"/>
              <a:sym typeface="Calibri"/>
            </a:endParaRPr>
          </a:p>
        </p:txBody>
      </p:sp>
      <p:sp>
        <p:nvSpPr>
          <p:cNvPr id="462" name="Google Shape;462;p22"/>
          <p:cNvSpPr/>
          <p:nvPr/>
        </p:nvSpPr>
        <p:spPr>
          <a:xfrm>
            <a:off x="685800" y="429768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"Listen now" | "Meet our guest at the career fair" | "Explore internship opportunities"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67" name="Shape 467"/>
        <p:cNvGrpSpPr/>
        <p:nvPr/>
      </p:nvGrpSpPr>
      <p:grpSpPr>
        <a:xfrm>
          <a:off x="0" y="0"/>
          <a:ext cx="0" cy="0"/>
          <a:chOff x="0" y="0"/>
          <a:chExt cx="0" cy="0"/>
        </a:xfrm>
      </p:grpSpPr>
      <p:sp>
        <p:nvSpPr>
          <p:cNvPr id="468" name="Google Shape;468;p23"/>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469" name="Google Shape;469;p23"/>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17</a:t>
            </a:r>
            <a:endParaRPr b="0" i="0" sz="1000" u="none" cap="none" strike="noStrike">
              <a:solidFill>
                <a:schemeClr val="dk1"/>
              </a:solidFill>
              <a:latin typeface="Calibri"/>
              <a:ea typeface="Calibri"/>
              <a:cs typeface="Calibri"/>
              <a:sym typeface="Calibri"/>
            </a:endParaRPr>
          </a:p>
        </p:txBody>
      </p:sp>
      <p:sp>
        <p:nvSpPr>
          <p:cNvPr id="470" name="Google Shape;470;p23"/>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Bronco Business Podcast: 6-Step Process</a:t>
            </a:r>
            <a:endParaRPr b="0" i="0" sz="2800" u="none" cap="none" strike="noStrike">
              <a:solidFill>
                <a:schemeClr val="dk1"/>
              </a:solidFill>
              <a:latin typeface="Calibri"/>
              <a:ea typeface="Calibri"/>
              <a:cs typeface="Calibri"/>
              <a:sym typeface="Calibri"/>
            </a:endParaRPr>
          </a:p>
        </p:txBody>
      </p:sp>
      <p:sp>
        <p:nvSpPr>
          <p:cNvPr id="471" name="Google Shape;471;p23"/>
          <p:cNvSpPr/>
          <p:nvPr/>
        </p:nvSpPr>
        <p:spPr>
          <a:xfrm>
            <a:off x="457200" y="1124712"/>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23"/>
          <p:cNvSpPr/>
          <p:nvPr/>
        </p:nvSpPr>
        <p:spPr>
          <a:xfrm>
            <a:off x="457200" y="11247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473" name="Google Shape;473;p23"/>
          <p:cNvSpPr/>
          <p:nvPr/>
        </p:nvSpPr>
        <p:spPr>
          <a:xfrm>
            <a:off x="1005840" y="10515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Identify the External Guest (coordinate directly with Kate Watson)</a:t>
            </a:r>
            <a:endParaRPr b="0" i="0" sz="1200" u="none" cap="none" strike="noStrike">
              <a:solidFill>
                <a:schemeClr val="dk1"/>
              </a:solidFill>
              <a:latin typeface="Calibri"/>
              <a:ea typeface="Calibri"/>
              <a:cs typeface="Calibri"/>
              <a:sym typeface="Calibri"/>
            </a:endParaRPr>
          </a:p>
        </p:txBody>
      </p:sp>
      <p:sp>
        <p:nvSpPr>
          <p:cNvPr id="474" name="Google Shape;474;p23"/>
          <p:cNvSpPr/>
          <p:nvPr/>
        </p:nvSpPr>
        <p:spPr>
          <a:xfrm>
            <a:off x="1005840" y="1325880"/>
            <a:ext cx="347472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50"/>
              <a:buFont typeface="Arial"/>
              <a:buNone/>
            </a:pPr>
            <a:r>
              <a:rPr b="0" i="0" lang="en-US" sz="950" u="none" cap="none" strike="noStrike">
                <a:solidFill>
                  <a:srgbClr val="64748B"/>
                </a:solidFill>
                <a:latin typeface="Arial"/>
                <a:ea typeface="Arial"/>
                <a:cs typeface="Arial"/>
                <a:sym typeface="Arial"/>
              </a:rPr>
              <a:t>Industry professional, alumni, employer, or community partner who offers learning, career insight, leadership, or industry perspective (not promotion).</a:t>
            </a:r>
            <a:endParaRPr b="0" i="0" sz="950" u="none" cap="none" strike="noStrike">
              <a:solidFill>
                <a:schemeClr val="dk1"/>
              </a:solidFill>
              <a:latin typeface="Calibri"/>
              <a:ea typeface="Calibri"/>
              <a:cs typeface="Calibri"/>
              <a:sym typeface="Calibri"/>
            </a:endParaRPr>
          </a:p>
        </p:txBody>
      </p:sp>
      <p:sp>
        <p:nvSpPr>
          <p:cNvPr id="475" name="Google Shape;475;p23"/>
          <p:cNvSpPr/>
          <p:nvPr/>
        </p:nvSpPr>
        <p:spPr>
          <a:xfrm>
            <a:off x="457200" y="2404872"/>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3"/>
          <p:cNvSpPr/>
          <p:nvPr/>
        </p:nvSpPr>
        <p:spPr>
          <a:xfrm>
            <a:off x="457200" y="240487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477" name="Google Shape;477;p23"/>
          <p:cNvSpPr/>
          <p:nvPr/>
        </p:nvSpPr>
        <p:spPr>
          <a:xfrm>
            <a:off x="1005840" y="233172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Coordinate with Career Services</a:t>
            </a:r>
            <a:endParaRPr b="0" i="0" sz="1200" u="none" cap="none" strike="noStrike">
              <a:solidFill>
                <a:schemeClr val="dk1"/>
              </a:solidFill>
              <a:latin typeface="Calibri"/>
              <a:ea typeface="Calibri"/>
              <a:cs typeface="Calibri"/>
              <a:sym typeface="Calibri"/>
            </a:endParaRPr>
          </a:p>
        </p:txBody>
      </p:sp>
      <p:sp>
        <p:nvSpPr>
          <p:cNvPr id="478" name="Google Shape;478;p23"/>
          <p:cNvSpPr/>
          <p:nvPr/>
        </p:nvSpPr>
        <p:spPr>
          <a:xfrm>
            <a:off x="1005840" y="2606040"/>
            <a:ext cx="347472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50"/>
              <a:buFont typeface="Arial"/>
              <a:buNone/>
            </a:pPr>
            <a:r>
              <a:rPr b="0" i="0" lang="en-US" sz="950" u="none" cap="none" strike="noStrike">
                <a:solidFill>
                  <a:srgbClr val="64748B"/>
                </a:solidFill>
                <a:latin typeface="Arial"/>
                <a:ea typeface="Arial"/>
                <a:cs typeface="Arial"/>
                <a:sym typeface="Arial"/>
              </a:rPr>
              <a:t>Reach out to Laura Chiuppi (laurachiuppi@boisestate.edu) — ask if she'd like to be introduced to the guest, explore projects/internships, or have the guest speak in class.</a:t>
            </a:r>
            <a:endParaRPr b="0" i="0" sz="950" u="none" cap="none" strike="noStrike">
              <a:solidFill>
                <a:schemeClr val="dk1"/>
              </a:solidFill>
              <a:latin typeface="Calibri"/>
              <a:ea typeface="Calibri"/>
              <a:cs typeface="Calibri"/>
              <a:sym typeface="Calibri"/>
            </a:endParaRPr>
          </a:p>
        </p:txBody>
      </p:sp>
      <p:sp>
        <p:nvSpPr>
          <p:cNvPr id="479" name="Google Shape;479;p23"/>
          <p:cNvSpPr/>
          <p:nvPr/>
        </p:nvSpPr>
        <p:spPr>
          <a:xfrm>
            <a:off x="457200" y="3685032"/>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3"/>
          <p:cNvSpPr/>
          <p:nvPr/>
        </p:nvSpPr>
        <p:spPr>
          <a:xfrm>
            <a:off x="457200" y="368503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481" name="Google Shape;481;p23"/>
          <p:cNvSpPr/>
          <p:nvPr/>
        </p:nvSpPr>
        <p:spPr>
          <a:xfrm>
            <a:off x="1005840" y="36118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Pitch the Guest</a:t>
            </a:r>
            <a:endParaRPr b="0" i="0" sz="1200" u="none" cap="none" strike="noStrike">
              <a:solidFill>
                <a:schemeClr val="dk1"/>
              </a:solidFill>
              <a:latin typeface="Calibri"/>
              <a:ea typeface="Calibri"/>
              <a:cs typeface="Calibri"/>
              <a:sym typeface="Calibri"/>
            </a:endParaRPr>
          </a:p>
        </p:txBody>
      </p:sp>
      <p:sp>
        <p:nvSpPr>
          <p:cNvPr id="482" name="Google Shape;482;p23"/>
          <p:cNvSpPr/>
          <p:nvPr/>
        </p:nvSpPr>
        <p:spPr>
          <a:xfrm>
            <a:off x="1005840" y="3886200"/>
            <a:ext cx="347472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50"/>
              <a:buFont typeface="Arial"/>
              <a:buNone/>
            </a:pPr>
            <a:r>
              <a:rPr b="0" i="0" lang="en-US" sz="950" u="none" cap="none" strike="noStrike">
                <a:solidFill>
                  <a:srgbClr val="64748B"/>
                </a:solidFill>
                <a:latin typeface="Arial"/>
                <a:ea typeface="Arial"/>
                <a:cs typeface="Arial"/>
                <a:sym typeface="Arial"/>
              </a:rPr>
              <a:t>Send a brief email: who they are, why students benefit, and whether Career Services wants involvement. Get confirmation from Kate Watson before proceeding.</a:t>
            </a:r>
            <a:endParaRPr b="0" i="0" sz="950" u="none" cap="none" strike="noStrike">
              <a:solidFill>
                <a:schemeClr val="dk1"/>
              </a:solidFill>
              <a:latin typeface="Calibri"/>
              <a:ea typeface="Calibri"/>
              <a:cs typeface="Calibri"/>
              <a:sym typeface="Calibri"/>
            </a:endParaRPr>
          </a:p>
        </p:txBody>
      </p:sp>
      <p:sp>
        <p:nvSpPr>
          <p:cNvPr id="483" name="Google Shape;483;p23"/>
          <p:cNvSpPr/>
          <p:nvPr/>
        </p:nvSpPr>
        <p:spPr>
          <a:xfrm>
            <a:off x="4754880" y="1124712"/>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3"/>
          <p:cNvSpPr/>
          <p:nvPr/>
        </p:nvSpPr>
        <p:spPr>
          <a:xfrm>
            <a:off x="4754880" y="11247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4</a:t>
            </a:r>
            <a:endParaRPr b="0" i="0" sz="1600" u="none" cap="none" strike="noStrike">
              <a:solidFill>
                <a:schemeClr val="dk1"/>
              </a:solidFill>
              <a:latin typeface="Calibri"/>
              <a:ea typeface="Calibri"/>
              <a:cs typeface="Calibri"/>
              <a:sym typeface="Calibri"/>
            </a:endParaRPr>
          </a:p>
        </p:txBody>
      </p:sp>
      <p:sp>
        <p:nvSpPr>
          <p:cNvPr id="485" name="Google Shape;485;p23"/>
          <p:cNvSpPr/>
          <p:nvPr/>
        </p:nvSpPr>
        <p:spPr>
          <a:xfrm>
            <a:off x="5303520" y="10515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Schedule the Recording</a:t>
            </a:r>
            <a:endParaRPr b="0" i="0" sz="1200" u="none" cap="none" strike="noStrike">
              <a:solidFill>
                <a:schemeClr val="dk1"/>
              </a:solidFill>
              <a:latin typeface="Calibri"/>
              <a:ea typeface="Calibri"/>
              <a:cs typeface="Calibri"/>
              <a:sym typeface="Calibri"/>
            </a:endParaRPr>
          </a:p>
        </p:txBody>
      </p:sp>
      <p:sp>
        <p:nvSpPr>
          <p:cNvPr id="486" name="Google Shape;486;p23"/>
          <p:cNvSpPr/>
          <p:nvPr/>
        </p:nvSpPr>
        <p:spPr>
          <a:xfrm>
            <a:off x="5303520" y="1325880"/>
            <a:ext cx="347472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50"/>
              <a:buFont typeface="Arial"/>
              <a:buNone/>
            </a:pPr>
            <a:r>
              <a:rPr b="0" i="0" lang="en-US" sz="950" u="none" cap="none" strike="noStrike">
                <a:solidFill>
                  <a:srgbClr val="64748B"/>
                </a:solidFill>
                <a:latin typeface="Arial"/>
                <a:ea typeface="Arial"/>
                <a:cs typeface="Arial"/>
                <a:sym typeface="Arial"/>
              </a:rPr>
              <a:t>Coordinate date/time via Calendly or email. Confirm with Joe Morgan (multimedia) for recording logistics. Send guest a prep sheet with topics and format.</a:t>
            </a:r>
            <a:endParaRPr b="0" i="0" sz="950" u="none" cap="none" strike="noStrike">
              <a:solidFill>
                <a:schemeClr val="dk1"/>
              </a:solidFill>
              <a:latin typeface="Calibri"/>
              <a:ea typeface="Calibri"/>
              <a:cs typeface="Calibri"/>
              <a:sym typeface="Calibri"/>
            </a:endParaRPr>
          </a:p>
        </p:txBody>
      </p:sp>
      <p:sp>
        <p:nvSpPr>
          <p:cNvPr id="487" name="Google Shape;487;p23"/>
          <p:cNvSpPr/>
          <p:nvPr/>
        </p:nvSpPr>
        <p:spPr>
          <a:xfrm>
            <a:off x="4754880" y="2404872"/>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3"/>
          <p:cNvSpPr/>
          <p:nvPr/>
        </p:nvSpPr>
        <p:spPr>
          <a:xfrm>
            <a:off x="4754880" y="240487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5</a:t>
            </a:r>
            <a:endParaRPr b="0" i="0" sz="1600" u="none" cap="none" strike="noStrike">
              <a:solidFill>
                <a:schemeClr val="dk1"/>
              </a:solidFill>
              <a:latin typeface="Calibri"/>
              <a:ea typeface="Calibri"/>
              <a:cs typeface="Calibri"/>
              <a:sym typeface="Calibri"/>
            </a:endParaRPr>
          </a:p>
        </p:txBody>
      </p:sp>
      <p:sp>
        <p:nvSpPr>
          <p:cNvPr id="489" name="Google Shape;489;p23"/>
          <p:cNvSpPr/>
          <p:nvPr/>
        </p:nvSpPr>
        <p:spPr>
          <a:xfrm>
            <a:off x="5303520" y="233172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Record &amp; Edit</a:t>
            </a:r>
            <a:endParaRPr b="0" i="0" sz="1200" u="none" cap="none" strike="noStrike">
              <a:solidFill>
                <a:schemeClr val="dk1"/>
              </a:solidFill>
              <a:latin typeface="Calibri"/>
              <a:ea typeface="Calibri"/>
              <a:cs typeface="Calibri"/>
              <a:sym typeface="Calibri"/>
            </a:endParaRPr>
          </a:p>
        </p:txBody>
      </p:sp>
      <p:sp>
        <p:nvSpPr>
          <p:cNvPr id="490" name="Google Shape;490;p23"/>
          <p:cNvSpPr/>
          <p:nvPr/>
        </p:nvSpPr>
        <p:spPr>
          <a:xfrm>
            <a:off x="5303520" y="2606040"/>
            <a:ext cx="347472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50"/>
              <a:buFont typeface="Arial"/>
              <a:buNone/>
            </a:pPr>
            <a:r>
              <a:rPr b="0" i="0" lang="en-US" sz="950" u="none" cap="none" strike="noStrike">
                <a:solidFill>
                  <a:srgbClr val="64748B"/>
                </a:solidFill>
                <a:latin typeface="Arial"/>
                <a:ea typeface="Arial"/>
                <a:cs typeface="Arial"/>
                <a:sym typeface="Arial"/>
              </a:rPr>
              <a:t>Joe handles recording and editing. Review final cut for accuracy. Add intro/outro if applicable.</a:t>
            </a:r>
            <a:endParaRPr b="0" i="0" sz="950" u="none" cap="none" strike="noStrike">
              <a:solidFill>
                <a:schemeClr val="dk1"/>
              </a:solidFill>
              <a:latin typeface="Calibri"/>
              <a:ea typeface="Calibri"/>
              <a:cs typeface="Calibri"/>
              <a:sym typeface="Calibri"/>
            </a:endParaRPr>
          </a:p>
        </p:txBody>
      </p:sp>
      <p:sp>
        <p:nvSpPr>
          <p:cNvPr id="491" name="Google Shape;491;p23"/>
          <p:cNvSpPr/>
          <p:nvPr/>
        </p:nvSpPr>
        <p:spPr>
          <a:xfrm>
            <a:off x="4754880" y="3685032"/>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3"/>
          <p:cNvSpPr/>
          <p:nvPr/>
        </p:nvSpPr>
        <p:spPr>
          <a:xfrm>
            <a:off x="4754880" y="368503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6</a:t>
            </a:r>
            <a:endParaRPr b="0" i="0" sz="1600" u="none" cap="none" strike="noStrike">
              <a:solidFill>
                <a:schemeClr val="dk1"/>
              </a:solidFill>
              <a:latin typeface="Calibri"/>
              <a:ea typeface="Calibri"/>
              <a:cs typeface="Calibri"/>
              <a:sym typeface="Calibri"/>
            </a:endParaRPr>
          </a:p>
        </p:txBody>
      </p:sp>
      <p:sp>
        <p:nvSpPr>
          <p:cNvPr id="493" name="Google Shape;493;p23"/>
          <p:cNvSpPr/>
          <p:nvPr/>
        </p:nvSpPr>
        <p:spPr>
          <a:xfrm>
            <a:off x="5303520" y="36118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Promote the Episode</a:t>
            </a:r>
            <a:endParaRPr b="0" i="0" sz="1200" u="none" cap="none" strike="noStrike">
              <a:solidFill>
                <a:schemeClr val="dk1"/>
              </a:solidFill>
              <a:latin typeface="Calibri"/>
              <a:ea typeface="Calibri"/>
              <a:cs typeface="Calibri"/>
              <a:sym typeface="Calibri"/>
            </a:endParaRPr>
          </a:p>
        </p:txBody>
      </p:sp>
      <p:sp>
        <p:nvSpPr>
          <p:cNvPr id="494" name="Google Shape;494;p23"/>
          <p:cNvSpPr/>
          <p:nvPr/>
        </p:nvSpPr>
        <p:spPr>
          <a:xfrm>
            <a:off x="5303520" y="3886200"/>
            <a:ext cx="347472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50"/>
              <a:buFont typeface="Arial"/>
              <a:buNone/>
            </a:pPr>
            <a:r>
              <a:rPr b="0" i="0" lang="en-US" sz="950" u="none" cap="none" strike="noStrike">
                <a:solidFill>
                  <a:srgbClr val="64748B"/>
                </a:solidFill>
                <a:latin typeface="Arial"/>
                <a:ea typeface="Arial"/>
                <a:cs typeface="Arial"/>
                <a:sym typeface="Arial"/>
              </a:rPr>
              <a:t>Submit promotion request to cobe-info@boisestate.edu: social posts, newsletter feature, LinkedIn. Tag guest and their organization.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99" name="Shape 499"/>
        <p:cNvGrpSpPr/>
        <p:nvPr/>
      </p:nvGrpSpPr>
      <p:grpSpPr>
        <a:xfrm>
          <a:off x="0" y="0"/>
          <a:ext cx="0" cy="0"/>
          <a:chOff x="0" y="0"/>
          <a:chExt cx="0" cy="0"/>
        </a:xfrm>
      </p:grpSpPr>
      <p:sp>
        <p:nvSpPr>
          <p:cNvPr id="500" name="Google Shape;500;p24"/>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4"/>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1: HANDS-OFF</a:t>
            </a:r>
            <a:endParaRPr b="0" i="0" sz="1100" u="none" cap="none" strike="noStrike">
              <a:solidFill>
                <a:schemeClr val="dk1"/>
              </a:solidFill>
              <a:latin typeface="Calibri"/>
              <a:ea typeface="Calibri"/>
              <a:cs typeface="Calibri"/>
              <a:sym typeface="Calibri"/>
            </a:endParaRPr>
          </a:p>
        </p:txBody>
      </p:sp>
      <p:sp>
        <p:nvSpPr>
          <p:cNvPr id="502" name="Google Shape;502;p24"/>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503" name="Google Shape;503;p24"/>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18</a:t>
            </a:r>
            <a:endParaRPr b="0" i="0" sz="1000" u="none" cap="none" strike="noStrike">
              <a:solidFill>
                <a:schemeClr val="dk1"/>
              </a:solidFill>
              <a:latin typeface="Calibri"/>
              <a:ea typeface="Calibri"/>
              <a:cs typeface="Calibri"/>
              <a:sym typeface="Calibri"/>
            </a:endParaRPr>
          </a:p>
        </p:txBody>
      </p:sp>
      <p:sp>
        <p:nvSpPr>
          <p:cNvPr id="504" name="Google Shape;504;p24"/>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Hands-Off Lead Time Reference</a:t>
            </a:r>
            <a:endParaRPr b="0" i="0" sz="2800" u="none" cap="none" strike="noStrike">
              <a:solidFill>
                <a:schemeClr val="dk1"/>
              </a:solidFill>
              <a:latin typeface="Calibri"/>
              <a:ea typeface="Calibri"/>
              <a:cs typeface="Calibri"/>
              <a:sym typeface="Calibri"/>
            </a:endParaRPr>
          </a:p>
        </p:txBody>
      </p:sp>
      <p:graphicFrame>
        <p:nvGraphicFramePr>
          <p:cNvPr id="505" name="Google Shape;505;p24"/>
          <p:cNvGraphicFramePr/>
          <p:nvPr/>
        </p:nvGraphicFramePr>
        <p:xfrm>
          <a:off x="457200" y="1051560"/>
          <a:ext cx="3000000" cy="3000000"/>
        </p:xfrm>
        <a:graphic>
          <a:graphicData uri="http://schemas.openxmlformats.org/drawingml/2006/table">
            <a:tbl>
              <a:tblPr>
                <a:noFill/>
                <a:tableStyleId>{AD4631F1-437D-4764-92B6-2A4562E18BC6}</a:tableStyleId>
              </a:tblPr>
              <a:tblGrid>
                <a:gridCol w="2286000"/>
                <a:gridCol w="1828800"/>
                <a:gridCol w="4114800"/>
              </a:tblGrid>
              <a:tr h="365750">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rPr>
                        <a:t>Channel</a:t>
                      </a:r>
                      <a:endParaRPr sz="11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rPr>
                        <a:t>Lead Time</a:t>
                      </a:r>
                      <a:endParaRPr sz="11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rPr>
                        <a:t>Notes</a:t>
                      </a:r>
                      <a:endParaRPr sz="11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365750">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Instagram / LinkedIn</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10 business days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Urgent posts need marketing manager approval</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65750">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Email Newsletter</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10-15 business days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Complex multi-section newsletters need more lead time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65750">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Web / Landing Page Updates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10-15 business days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Include exact copy, URL, alt text. New pages = 15 days.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65750">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MBEB / Campus Screens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3-4 weeks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Submit graphic 3 weeks before desired display date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65750">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Events / Fairs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3-6 weeks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Longer for venue booking and partner coordination</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65750">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Print (Posters/Shuttle)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2-3 weeks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Calibri"/>
                        <a:buNone/>
                      </a:pPr>
                      <a:r>
                        <a:rPr lang="en-US" sz="1000" u="none" cap="none" strike="noStrike">
                          <a:solidFill>
                            <a:srgbClr val="000000"/>
                          </a:solidFill>
                        </a:rPr>
                        <a:t>Include FDCC funding string for printing costs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
        <p:nvSpPr>
          <p:cNvPr id="506" name="Google Shape;506;p24"/>
          <p:cNvSpPr/>
          <p:nvPr/>
        </p:nvSpPr>
        <p:spPr>
          <a:xfrm>
            <a:off x="457200" y="37490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300"/>
              <a:buFont typeface="Arial"/>
              <a:buNone/>
            </a:pPr>
            <a:r>
              <a:rPr b="1" i="0" lang="en-US" sz="1300" u="none" cap="none" strike="noStrike">
                <a:solidFill>
                  <a:srgbClr val="0033A0"/>
                </a:solidFill>
                <a:latin typeface="Arial"/>
                <a:ea typeface="Arial"/>
                <a:cs typeface="Arial"/>
                <a:sym typeface="Arial"/>
              </a:rPr>
              <a:t>HANDS-OFF REQUEST CHECKLIST</a:t>
            </a:r>
            <a:endParaRPr b="0" i="0" sz="1300" u="none" cap="none" strike="noStrike">
              <a:solidFill>
                <a:schemeClr val="dk1"/>
              </a:solidFill>
              <a:latin typeface="Calibri"/>
              <a:ea typeface="Calibri"/>
              <a:cs typeface="Calibri"/>
              <a:sym typeface="Calibri"/>
            </a:endParaRPr>
          </a:p>
        </p:txBody>
      </p:sp>
      <p:sp>
        <p:nvSpPr>
          <p:cNvPr id="507" name="Google Shape;507;p24"/>
          <p:cNvSpPr/>
          <p:nvPr/>
        </p:nvSpPr>
        <p:spPr>
          <a:xfrm>
            <a:off x="640080" y="4023360"/>
            <a:ext cx="7772400" cy="914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Email sent to cobe-info@boisestate.edu with correct subject line format</a:t>
            </a:r>
            <a:endParaRPr b="0" i="0" sz="1000" u="none" cap="none" strike="noStrike">
              <a:solidFill>
                <a:schemeClr val="dk1"/>
              </a:solidFill>
              <a:latin typeface="Calibri"/>
              <a:ea typeface="Calibri"/>
              <a:cs typeface="Calibri"/>
              <a:sym typeface="Calibri"/>
            </a:endParaRPr>
          </a:p>
          <a:p>
            <a:pPr indent="0" lvl="0" marL="0" marR="0" rtl="0" algn="l">
              <a:spcBef>
                <a:spcPts val="1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Event/program details included (Who, What, When, Where)</a:t>
            </a:r>
            <a:endParaRPr b="0" i="0" sz="1000" u="none" cap="none" strike="noStrike">
              <a:solidFill>
                <a:schemeClr val="dk1"/>
              </a:solidFill>
              <a:latin typeface="Calibri"/>
              <a:ea typeface="Calibri"/>
              <a:cs typeface="Calibri"/>
              <a:sym typeface="Calibri"/>
            </a:endParaRPr>
          </a:p>
          <a:p>
            <a:pPr indent="0" lvl="0" marL="0" marR="0" rtl="0" algn="l">
              <a:spcBef>
                <a:spcPts val="1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Registration or CTA link provided</a:t>
            </a:r>
            <a:endParaRPr b="0" i="0" sz="1000" u="none" cap="none" strike="noStrike">
              <a:solidFill>
                <a:schemeClr val="dk1"/>
              </a:solidFill>
              <a:latin typeface="Calibri"/>
              <a:ea typeface="Calibri"/>
              <a:cs typeface="Calibri"/>
              <a:sym typeface="Calibri"/>
            </a:endParaRPr>
          </a:p>
          <a:p>
            <a:pPr indent="0" lvl="0" marL="0" marR="0" rtl="0" algn="l">
              <a:spcBef>
                <a:spcPts val="1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Photos/logos attached (if available)</a:t>
            </a:r>
            <a:endParaRPr b="0" i="0" sz="1000" u="none" cap="none" strike="noStrike">
              <a:solidFill>
                <a:schemeClr val="dk1"/>
              </a:solidFill>
              <a:latin typeface="Calibri"/>
              <a:ea typeface="Calibri"/>
              <a:cs typeface="Calibri"/>
              <a:sym typeface="Calibri"/>
            </a:endParaRPr>
          </a:p>
          <a:p>
            <a:pPr indent="0" lvl="0" marL="0" marR="0" rtl="0" algn="l">
              <a:spcBef>
                <a:spcPts val="1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Approval contact name and email included</a:t>
            </a:r>
            <a:endParaRPr b="0" i="0" sz="1000" u="none" cap="none" strike="noStrike">
              <a:solidFill>
                <a:schemeClr val="dk1"/>
              </a:solidFill>
              <a:latin typeface="Calibri"/>
              <a:ea typeface="Calibri"/>
              <a:cs typeface="Calibri"/>
              <a:sym typeface="Calibri"/>
            </a:endParaRPr>
          </a:p>
          <a:p>
            <a:pPr indent="0" lvl="0" marL="0" marR="0" rtl="0" algn="l">
              <a:spcBef>
                <a:spcPts val="1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Sent at least 10 business days before target date (5 days for classroom slides/MBEB screens)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512" name="Shape 512"/>
        <p:cNvGrpSpPr/>
        <p:nvPr/>
      </p:nvGrpSpPr>
      <p:grpSpPr>
        <a:xfrm>
          <a:off x="0" y="0"/>
          <a:ext cx="0" cy="0"/>
          <a:chOff x="0" y="0"/>
          <a:chExt cx="0" cy="0"/>
        </a:xfrm>
      </p:grpSpPr>
      <p:sp>
        <p:nvSpPr>
          <p:cNvPr id="513" name="Google Shape;513;p25"/>
          <p:cNvSpPr/>
          <p:nvPr/>
        </p:nvSpPr>
        <p:spPr>
          <a:xfrm>
            <a:off x="0" y="0"/>
            <a:ext cx="9144000" cy="5143500"/>
          </a:xfrm>
          <a:prstGeom prst="rect">
            <a:avLst/>
          </a:prstGeom>
          <a:solidFill>
            <a:srgbClr val="7C2D1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5"/>
          <p:cNvSpPr/>
          <p:nvPr/>
        </p:nvSpPr>
        <p:spPr>
          <a:xfrm>
            <a:off x="0" y="0"/>
            <a:ext cx="109728" cy="514350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5"/>
          <p:cNvSpPr/>
          <p:nvPr/>
        </p:nvSpPr>
        <p:spPr>
          <a:xfrm>
            <a:off x="548640" y="914400"/>
            <a:ext cx="73152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800"/>
              <a:buFont typeface="Arial"/>
              <a:buNone/>
            </a:pPr>
            <a:r>
              <a:rPr b="1" i="0" lang="en-US" sz="1800" u="none" cap="none" strike="noStrike">
                <a:solidFill>
                  <a:srgbClr val="F97316"/>
                </a:solidFill>
                <a:latin typeface="Arial"/>
                <a:ea typeface="Arial"/>
                <a:cs typeface="Arial"/>
                <a:sym typeface="Arial"/>
              </a:rPr>
              <a:t>PATH 2</a:t>
            </a:r>
            <a:endParaRPr b="0" i="0" sz="1800" u="none" cap="none" strike="noStrike">
              <a:solidFill>
                <a:schemeClr val="dk1"/>
              </a:solidFill>
              <a:latin typeface="Calibri"/>
              <a:ea typeface="Calibri"/>
              <a:cs typeface="Calibri"/>
              <a:sym typeface="Calibri"/>
            </a:endParaRPr>
          </a:p>
        </p:txBody>
      </p:sp>
      <p:sp>
        <p:nvSpPr>
          <p:cNvPr id="516" name="Google Shape;516;p25"/>
          <p:cNvSpPr/>
          <p:nvPr/>
        </p:nvSpPr>
        <p:spPr>
          <a:xfrm>
            <a:off x="548640" y="1463040"/>
            <a:ext cx="731520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5200"/>
              <a:buFont typeface="Georgia"/>
              <a:buNone/>
            </a:pPr>
            <a:r>
              <a:rPr b="1" i="0" lang="en-US" sz="5200" u="none" cap="none" strike="noStrike">
                <a:solidFill>
                  <a:srgbClr val="FFFFFF"/>
                </a:solidFill>
                <a:latin typeface="Georgia"/>
                <a:ea typeface="Georgia"/>
                <a:cs typeface="Georgia"/>
                <a:sym typeface="Georgia"/>
              </a:rPr>
              <a:t>HANDS-ON</a:t>
            </a:r>
            <a:endParaRPr b="0" i="0" sz="5200" u="none" cap="none" strike="noStrike">
              <a:solidFill>
                <a:schemeClr val="dk1"/>
              </a:solidFill>
              <a:latin typeface="Calibri"/>
              <a:ea typeface="Calibri"/>
              <a:cs typeface="Calibri"/>
              <a:sym typeface="Calibri"/>
            </a:endParaRPr>
          </a:p>
        </p:txBody>
      </p:sp>
      <p:sp>
        <p:nvSpPr>
          <p:cNvPr id="517" name="Google Shape;517;p25"/>
          <p:cNvSpPr/>
          <p:nvPr/>
        </p:nvSpPr>
        <p:spPr>
          <a:xfrm>
            <a:off x="548640" y="256032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2200"/>
              <a:buFont typeface="Arial"/>
              <a:buNone/>
            </a:pPr>
            <a:r>
              <a:rPr b="0" i="0" lang="en-US" sz="2200" u="none" cap="none" strike="noStrike">
                <a:solidFill>
                  <a:srgbClr val="CBD5E1"/>
                </a:solidFill>
                <a:latin typeface="Arial"/>
                <a:ea typeface="Arial"/>
                <a:cs typeface="Arial"/>
                <a:sym typeface="Arial"/>
              </a:rPr>
              <a:t>DIY With Support</a:t>
            </a:r>
            <a:endParaRPr b="0" i="0" sz="2200" u="none" cap="none" strike="noStrike">
              <a:solidFill>
                <a:schemeClr val="dk1"/>
              </a:solidFill>
              <a:latin typeface="Calibri"/>
              <a:ea typeface="Calibri"/>
              <a:cs typeface="Calibri"/>
              <a:sym typeface="Calibri"/>
            </a:endParaRPr>
          </a:p>
        </p:txBody>
      </p:sp>
      <p:sp>
        <p:nvSpPr>
          <p:cNvPr id="518" name="Google Shape;518;p25"/>
          <p:cNvSpPr/>
          <p:nvPr/>
        </p:nvSpPr>
        <p:spPr>
          <a:xfrm>
            <a:off x="548640" y="3291840"/>
            <a:ext cx="1828800" cy="36576"/>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5"/>
          <p:cNvSpPr/>
          <p:nvPr/>
        </p:nvSpPr>
        <p:spPr>
          <a:xfrm>
            <a:off x="548640" y="3520440"/>
            <a:ext cx="6400800" cy="548640"/>
          </a:xfrm>
          <a:prstGeom prst="rect">
            <a:avLst/>
          </a:prstGeom>
          <a:noFill/>
          <a:ln>
            <a:noFill/>
          </a:ln>
        </p:spPr>
        <p:txBody>
          <a:bodyPr anchorCtr="0" anchor="ctr" bIns="45700" lIns="91425" spcFirstLastPara="1" rIns="91425" wrap="square" tIns="45700">
            <a:noAutofit/>
          </a:bodyPr>
          <a:lstStyle/>
          <a:p>
            <a:pPr indent="0" lvl="0" marL="0" marR="0" rtl="0" algn="l">
              <a:lnSpc>
                <a:spcPct val="140000"/>
              </a:lnSpc>
              <a:spcBef>
                <a:spcPts val="0"/>
              </a:spcBef>
              <a:spcAft>
                <a:spcPts val="0"/>
              </a:spcAft>
              <a:buClr>
                <a:srgbClr val="CBD5E1"/>
              </a:buClr>
              <a:buSzPts val="1400"/>
              <a:buFont typeface="Arial"/>
              <a:buNone/>
            </a:pPr>
            <a:r>
              <a:rPr b="0" i="0" lang="en-US" sz="1400" u="none" cap="none" strike="noStrike">
                <a:solidFill>
                  <a:srgbClr val="CBD5E1"/>
                </a:solidFill>
                <a:latin typeface="Arial"/>
                <a:ea typeface="Arial"/>
                <a:cs typeface="Arial"/>
                <a:sym typeface="Arial"/>
              </a:rPr>
              <a:t>You build the content using our templates.</a:t>
            </a:r>
            <a:endParaRPr b="0" i="0" sz="1400" u="none" cap="none" strike="noStrike">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CBD5E1"/>
              </a:buClr>
              <a:buSzPts val="1400"/>
              <a:buFont typeface="Arial"/>
              <a:buNone/>
            </a:pPr>
            <a:r>
              <a:rPr b="0" i="0" lang="en-US" sz="1400" u="none" cap="none" strike="noStrike">
                <a:solidFill>
                  <a:srgbClr val="CBD5E1"/>
                </a:solidFill>
                <a:latin typeface="Arial"/>
                <a:ea typeface="Arial"/>
                <a:cs typeface="Arial"/>
                <a:sym typeface="Arial"/>
              </a:rPr>
              <a:t>We review, approve, and help you publish.</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24" name="Shape 524"/>
        <p:cNvGrpSpPr/>
        <p:nvPr/>
      </p:nvGrpSpPr>
      <p:grpSpPr>
        <a:xfrm>
          <a:off x="0" y="0"/>
          <a:ext cx="0" cy="0"/>
          <a:chOff x="0" y="0"/>
          <a:chExt cx="0" cy="0"/>
        </a:xfrm>
      </p:grpSpPr>
      <p:sp>
        <p:nvSpPr>
          <p:cNvPr id="525" name="Google Shape;525;p26"/>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6"/>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527" name="Google Shape;527;p26"/>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528" name="Google Shape;528;p26"/>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19</a:t>
            </a:r>
            <a:endParaRPr b="0" i="0" sz="1000" u="none" cap="none" strike="noStrike">
              <a:solidFill>
                <a:schemeClr val="dk1"/>
              </a:solidFill>
              <a:latin typeface="Calibri"/>
              <a:ea typeface="Calibri"/>
              <a:cs typeface="Calibri"/>
              <a:sym typeface="Calibri"/>
            </a:endParaRPr>
          </a:p>
        </p:txBody>
      </p:sp>
      <p:sp>
        <p:nvSpPr>
          <p:cNvPr id="529" name="Google Shape;529;p26"/>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200"/>
              <a:buFont typeface="Georgia"/>
              <a:buNone/>
            </a:pPr>
            <a:r>
              <a:rPr b="1" i="0" lang="en-US" sz="3200" u="none" cap="none" strike="noStrike">
                <a:solidFill>
                  <a:srgbClr val="0B1220"/>
                </a:solidFill>
                <a:latin typeface="Georgia"/>
                <a:ea typeface="Georgia"/>
                <a:cs typeface="Georgia"/>
                <a:sym typeface="Georgia"/>
              </a:rPr>
              <a:t>What Is Hands-On?</a:t>
            </a:r>
            <a:endParaRPr b="0" i="0" sz="3200" u="none" cap="none" strike="noStrike">
              <a:solidFill>
                <a:schemeClr val="dk1"/>
              </a:solidFill>
              <a:latin typeface="Calibri"/>
              <a:ea typeface="Calibri"/>
              <a:cs typeface="Calibri"/>
              <a:sym typeface="Calibri"/>
            </a:endParaRPr>
          </a:p>
        </p:txBody>
      </p:sp>
      <p:sp>
        <p:nvSpPr>
          <p:cNvPr id="530" name="Google Shape;530;p26"/>
          <p:cNvSpPr/>
          <p:nvPr/>
        </p:nvSpPr>
        <p:spPr>
          <a:xfrm>
            <a:off x="457200" y="91440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400"/>
              <a:buFont typeface="Arial"/>
              <a:buNone/>
            </a:pPr>
            <a:r>
              <a:rPr b="0" i="0" lang="en-US" sz="1400" u="none" cap="none" strike="noStrike">
                <a:solidFill>
                  <a:srgbClr val="334155"/>
                </a:solidFill>
                <a:latin typeface="Arial"/>
                <a:ea typeface="Arial"/>
                <a:cs typeface="Arial"/>
                <a:sym typeface="Arial"/>
              </a:rPr>
              <a:t>For teams ready to create their own content with guidance and guardrails.</a:t>
            </a:r>
            <a:endParaRPr b="0" i="0" sz="1400" u="none" cap="none" strike="noStrike">
              <a:solidFill>
                <a:schemeClr val="dk1"/>
              </a:solidFill>
              <a:latin typeface="Calibri"/>
              <a:ea typeface="Calibri"/>
              <a:cs typeface="Calibri"/>
              <a:sym typeface="Calibri"/>
            </a:endParaRPr>
          </a:p>
        </p:txBody>
      </p:sp>
      <p:sp>
        <p:nvSpPr>
          <p:cNvPr id="531" name="Google Shape;531;p26"/>
          <p:cNvSpPr/>
          <p:nvPr/>
        </p:nvSpPr>
        <p:spPr>
          <a:xfrm>
            <a:off x="457200" y="1371600"/>
            <a:ext cx="3840480" cy="20116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6"/>
          <p:cNvSpPr/>
          <p:nvPr/>
        </p:nvSpPr>
        <p:spPr>
          <a:xfrm>
            <a:off x="457200" y="1371600"/>
            <a:ext cx="54864" cy="201168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26"/>
          <p:cNvSpPr/>
          <p:nvPr/>
        </p:nvSpPr>
        <p:spPr>
          <a:xfrm>
            <a:off x="685800" y="146304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300"/>
              <a:buFont typeface="Arial"/>
              <a:buNone/>
            </a:pPr>
            <a:r>
              <a:rPr b="1" i="0" lang="en-US" sz="1300" u="none" cap="none" strike="noStrike">
                <a:solidFill>
                  <a:srgbClr val="F97316"/>
                </a:solidFill>
                <a:latin typeface="Arial"/>
                <a:ea typeface="Arial"/>
                <a:cs typeface="Arial"/>
                <a:sym typeface="Arial"/>
              </a:rPr>
              <a:t>WHAT YOU CREATE</a:t>
            </a:r>
            <a:endParaRPr b="0" i="0" sz="1300" u="none" cap="none" strike="noStrike">
              <a:solidFill>
                <a:schemeClr val="dk1"/>
              </a:solidFill>
              <a:latin typeface="Calibri"/>
              <a:ea typeface="Calibri"/>
              <a:cs typeface="Calibri"/>
              <a:sym typeface="Calibri"/>
            </a:endParaRPr>
          </a:p>
        </p:txBody>
      </p:sp>
      <p:sp>
        <p:nvSpPr>
          <p:cNvPr id="534" name="Google Shape;534;p26"/>
          <p:cNvSpPr/>
          <p:nvPr/>
        </p:nvSpPr>
        <p:spPr>
          <a:xfrm>
            <a:off x="685800" y="1783080"/>
            <a:ext cx="3474720" cy="1371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Draft copy using our copy frameworks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Design graphics using brand templates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Build a posting schedule with cadence</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Set up tracking (UTM links, QR codes)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Develop a budget plan (if paid channels)</a:t>
            </a:r>
            <a:endParaRPr b="0" i="0" sz="1100" u="none" cap="none" strike="noStrike">
              <a:solidFill>
                <a:schemeClr val="dk1"/>
              </a:solidFill>
              <a:latin typeface="Calibri"/>
              <a:ea typeface="Calibri"/>
              <a:cs typeface="Calibri"/>
              <a:sym typeface="Calibri"/>
            </a:endParaRPr>
          </a:p>
        </p:txBody>
      </p:sp>
      <p:sp>
        <p:nvSpPr>
          <p:cNvPr id="535" name="Google Shape;535;p26"/>
          <p:cNvSpPr/>
          <p:nvPr/>
        </p:nvSpPr>
        <p:spPr>
          <a:xfrm>
            <a:off x="4846320" y="1371600"/>
            <a:ext cx="3840480" cy="20116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26"/>
          <p:cNvSpPr/>
          <p:nvPr/>
        </p:nvSpPr>
        <p:spPr>
          <a:xfrm>
            <a:off x="4846320" y="1371600"/>
            <a:ext cx="54864" cy="20116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26"/>
          <p:cNvSpPr/>
          <p:nvPr/>
        </p:nvSpPr>
        <p:spPr>
          <a:xfrm>
            <a:off x="5074920" y="146304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300"/>
              <a:buFont typeface="Arial"/>
              <a:buNone/>
            </a:pPr>
            <a:r>
              <a:rPr b="1" i="0" lang="en-US" sz="1300" u="none" cap="none" strike="noStrike">
                <a:solidFill>
                  <a:srgbClr val="0033A0"/>
                </a:solidFill>
                <a:latin typeface="Arial"/>
                <a:ea typeface="Arial"/>
                <a:cs typeface="Arial"/>
                <a:sym typeface="Arial"/>
              </a:rPr>
              <a:t>WHAT WE PROVIDE</a:t>
            </a:r>
            <a:endParaRPr b="0" i="0" sz="1300" u="none" cap="none" strike="noStrike">
              <a:solidFill>
                <a:schemeClr val="dk1"/>
              </a:solidFill>
              <a:latin typeface="Calibri"/>
              <a:ea typeface="Calibri"/>
              <a:cs typeface="Calibri"/>
              <a:sym typeface="Calibri"/>
            </a:endParaRPr>
          </a:p>
        </p:txBody>
      </p:sp>
      <p:sp>
        <p:nvSpPr>
          <p:cNvPr id="538" name="Google Shape;538;p26"/>
          <p:cNvSpPr/>
          <p:nvPr/>
        </p:nvSpPr>
        <p:spPr>
          <a:xfrm>
            <a:off x="5074920" y="1783080"/>
            <a:ext cx="3474720" cy="1371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Template repository (social, email, budget)</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Brand guidelines and asset specs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Copy and design feedback</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Final brand compliance review</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Publishing and scheduling support</a:t>
            </a:r>
            <a:endParaRPr b="0" i="0" sz="1100" u="none" cap="none" strike="noStrike">
              <a:solidFill>
                <a:schemeClr val="dk1"/>
              </a:solidFill>
              <a:latin typeface="Calibri"/>
              <a:ea typeface="Calibri"/>
              <a:cs typeface="Calibri"/>
              <a:sym typeface="Calibri"/>
            </a:endParaRPr>
          </a:p>
        </p:txBody>
      </p:sp>
      <p:sp>
        <p:nvSpPr>
          <p:cNvPr id="539" name="Google Shape;539;p26"/>
          <p:cNvSpPr/>
          <p:nvPr/>
        </p:nvSpPr>
        <p:spPr>
          <a:xfrm>
            <a:off x="457200" y="3566160"/>
            <a:ext cx="8229600" cy="1097280"/>
          </a:xfrm>
          <a:prstGeom prst="rect">
            <a:avLst/>
          </a:prstGeom>
          <a:solidFill>
            <a:srgbClr val="FFFBEB"/>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26"/>
          <p:cNvSpPr/>
          <p:nvPr/>
        </p:nvSpPr>
        <p:spPr>
          <a:xfrm>
            <a:off x="685800" y="3657600"/>
            <a:ext cx="7772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Arial"/>
              <a:buNone/>
            </a:pPr>
            <a:r>
              <a:rPr b="1" i="0" lang="en-US" sz="1200" u="none" cap="none" strike="noStrike">
                <a:solidFill>
                  <a:srgbClr val="F97316"/>
                </a:solidFill>
                <a:latin typeface="Arial"/>
                <a:ea typeface="Arial"/>
                <a:cs typeface="Arial"/>
                <a:sym typeface="Arial"/>
              </a:rPr>
              <a:t>PREREQUISITES</a:t>
            </a:r>
            <a:endParaRPr b="0" i="0" sz="1200" u="none" cap="none" strike="noStrike">
              <a:solidFill>
                <a:schemeClr val="dk1"/>
              </a:solidFill>
              <a:latin typeface="Calibri"/>
              <a:ea typeface="Calibri"/>
              <a:cs typeface="Calibri"/>
              <a:sym typeface="Calibri"/>
            </a:endParaRPr>
          </a:p>
        </p:txBody>
      </p:sp>
      <p:sp>
        <p:nvSpPr>
          <p:cNvPr id="541" name="Google Shape;541;p26"/>
          <p:cNvSpPr/>
          <p:nvPr/>
        </p:nvSpPr>
        <p:spPr>
          <a:xfrm>
            <a:off x="685800" y="3977640"/>
            <a:ext cx="77724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Access to template repository </a:t>
            </a:r>
            <a:r>
              <a:rPr b="0" i="0" lang="en-US" sz="1000" u="none" cap="none" strike="noStrike">
                <a:solidFill>
                  <a:srgbClr val="64748B"/>
                </a:solidFill>
                <a:latin typeface="Arial"/>
                <a:ea typeface="Arial"/>
                <a:cs typeface="Arial"/>
                <a:sym typeface="Arial"/>
              </a:rPr>
              <a:t>(shared Google Drive folder)</a:t>
            </a:r>
            <a:r>
              <a:rPr b="0" i="0" lang="en-US" sz="1000" u="none" cap="none" strike="noStrike">
                <a:solidFill>
                  <a:srgbClr val="CBD5E1"/>
                </a:solidFill>
                <a:latin typeface="Arial"/>
                <a:ea typeface="Arial"/>
                <a:cs typeface="Arial"/>
                <a:sym typeface="Arial"/>
              </a:rPr>
              <a:t>  |  </a:t>
            </a:r>
            <a:r>
              <a:rPr b="0" i="0" lang="en-US" sz="1000" u="none" cap="none" strike="noStrike">
                <a:solidFill>
                  <a:srgbClr val="334155"/>
                </a:solidFill>
                <a:latin typeface="Arial"/>
                <a:ea typeface="Arial"/>
                <a:cs typeface="Arial"/>
                <a:sym typeface="Arial"/>
              </a:rPr>
              <a:t>Basic design tool </a:t>
            </a:r>
            <a:r>
              <a:rPr b="0" i="0" lang="en-US" sz="1000" u="none" cap="none" strike="noStrike">
                <a:solidFill>
                  <a:srgbClr val="64748B"/>
                </a:solidFill>
                <a:latin typeface="Arial"/>
                <a:ea typeface="Arial"/>
                <a:cs typeface="Arial"/>
                <a:sym typeface="Arial"/>
              </a:rPr>
              <a:t>(Canva, Slides, or InDesign)</a:t>
            </a:r>
            <a:r>
              <a:rPr b="0" i="0" lang="en-US" sz="1000" u="none" cap="none" strike="noStrike">
                <a:solidFill>
                  <a:srgbClr val="CBD5E1"/>
                </a:solidFill>
                <a:latin typeface="Arial"/>
                <a:ea typeface="Arial"/>
                <a:cs typeface="Arial"/>
                <a:sym typeface="Arial"/>
              </a:rPr>
              <a:t>  |  </a:t>
            </a:r>
            <a:r>
              <a:rPr b="0" i="0" lang="en-US" sz="1000" u="none" cap="none" strike="noStrike">
                <a:solidFill>
                  <a:srgbClr val="334155"/>
                </a:solidFill>
                <a:latin typeface="Arial"/>
                <a:ea typeface="Arial"/>
                <a:cs typeface="Arial"/>
                <a:sym typeface="Arial"/>
              </a:rPr>
              <a:t>WordPress access </a:t>
            </a:r>
            <a:r>
              <a:rPr b="0" i="0" lang="en-US" sz="1000" u="none" cap="none" strike="noStrike">
                <a:solidFill>
                  <a:srgbClr val="64748B"/>
                </a:solidFill>
                <a:latin typeface="Arial"/>
                <a:ea typeface="Arial"/>
                <a:cs typeface="Arial"/>
                <a:sym typeface="Arial"/>
              </a:rPr>
              <a:t>(requires accessibility training)</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46" name="Shape 546"/>
        <p:cNvGrpSpPr/>
        <p:nvPr/>
      </p:nvGrpSpPr>
      <p:grpSpPr>
        <a:xfrm>
          <a:off x="0" y="0"/>
          <a:ext cx="0" cy="0"/>
          <a:chOff x="0" y="0"/>
          <a:chExt cx="0" cy="0"/>
        </a:xfrm>
      </p:grpSpPr>
      <p:sp>
        <p:nvSpPr>
          <p:cNvPr id="547" name="Google Shape;547;p27"/>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27"/>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549" name="Google Shape;549;p27"/>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550" name="Google Shape;550;p27"/>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20</a:t>
            </a:r>
            <a:endParaRPr b="0" i="0" sz="1000" u="none" cap="none" strike="noStrike">
              <a:solidFill>
                <a:schemeClr val="dk1"/>
              </a:solidFill>
              <a:latin typeface="Calibri"/>
              <a:ea typeface="Calibri"/>
              <a:cs typeface="Calibri"/>
              <a:sym typeface="Calibri"/>
            </a:endParaRPr>
          </a:p>
        </p:txBody>
      </p:sp>
      <p:sp>
        <p:nvSpPr>
          <p:cNvPr id="551" name="Google Shape;551;p27"/>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Hands-On Workflow: 10 Steps</a:t>
            </a:r>
            <a:endParaRPr b="0" i="0" sz="2800" u="none" cap="none" strike="noStrike">
              <a:solidFill>
                <a:schemeClr val="dk1"/>
              </a:solidFill>
              <a:latin typeface="Calibri"/>
              <a:ea typeface="Calibri"/>
              <a:cs typeface="Calibri"/>
              <a:sym typeface="Calibri"/>
            </a:endParaRPr>
          </a:p>
        </p:txBody>
      </p:sp>
      <p:sp>
        <p:nvSpPr>
          <p:cNvPr id="552" name="Google Shape;552;p27"/>
          <p:cNvSpPr/>
          <p:nvPr/>
        </p:nvSpPr>
        <p:spPr>
          <a:xfrm>
            <a:off x="457200" y="109728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27"/>
          <p:cNvSpPr/>
          <p:nvPr/>
        </p:nvSpPr>
        <p:spPr>
          <a:xfrm>
            <a:off x="457200" y="109728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554" name="Google Shape;554;p27"/>
          <p:cNvSpPr/>
          <p:nvPr/>
        </p:nvSpPr>
        <p:spPr>
          <a:xfrm>
            <a:off x="1005840" y="105156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Select goal + channels</a:t>
            </a:r>
            <a:endParaRPr b="0" i="0" sz="1200" u="none" cap="none" strike="noStrike">
              <a:solidFill>
                <a:schemeClr val="dk1"/>
              </a:solidFill>
              <a:latin typeface="Calibri"/>
              <a:ea typeface="Calibri"/>
              <a:cs typeface="Calibri"/>
              <a:sym typeface="Calibri"/>
            </a:endParaRPr>
          </a:p>
        </p:txBody>
      </p:sp>
      <p:sp>
        <p:nvSpPr>
          <p:cNvPr id="555" name="Google Shape;555;p27"/>
          <p:cNvSpPr/>
          <p:nvPr/>
        </p:nvSpPr>
        <p:spPr>
          <a:xfrm>
            <a:off x="1005840" y="130759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Define your objective and pick channels from the decision helper.</a:t>
            </a:r>
            <a:endParaRPr b="0" i="0" sz="1000" u="none" cap="none" strike="noStrike">
              <a:solidFill>
                <a:schemeClr val="dk1"/>
              </a:solidFill>
              <a:latin typeface="Calibri"/>
              <a:ea typeface="Calibri"/>
              <a:cs typeface="Calibri"/>
              <a:sym typeface="Calibri"/>
            </a:endParaRPr>
          </a:p>
        </p:txBody>
      </p:sp>
      <p:sp>
        <p:nvSpPr>
          <p:cNvPr id="556" name="Google Shape;556;p27"/>
          <p:cNvSpPr/>
          <p:nvPr/>
        </p:nvSpPr>
        <p:spPr>
          <a:xfrm>
            <a:off x="457200" y="187452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27"/>
          <p:cNvSpPr/>
          <p:nvPr/>
        </p:nvSpPr>
        <p:spPr>
          <a:xfrm>
            <a:off x="457200" y="187452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558" name="Google Shape;558;p27"/>
          <p:cNvSpPr/>
          <p:nvPr/>
        </p:nvSpPr>
        <p:spPr>
          <a:xfrm>
            <a:off x="1005840" y="182880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Pull correct template</a:t>
            </a:r>
            <a:endParaRPr b="0" i="0" sz="1200" u="none" cap="none" strike="noStrike">
              <a:solidFill>
                <a:schemeClr val="dk1"/>
              </a:solidFill>
              <a:latin typeface="Calibri"/>
              <a:ea typeface="Calibri"/>
              <a:cs typeface="Calibri"/>
              <a:sym typeface="Calibri"/>
            </a:endParaRPr>
          </a:p>
        </p:txBody>
      </p:sp>
      <p:sp>
        <p:nvSpPr>
          <p:cNvPr id="559" name="Google Shape;559;p27"/>
          <p:cNvSpPr/>
          <p:nvPr/>
        </p:nvSpPr>
        <p:spPr>
          <a:xfrm>
            <a:off x="1005840" y="208483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Download social, email, or budget template from the shared repository.</a:t>
            </a:r>
            <a:endParaRPr b="0" i="0" sz="1000" u="none" cap="none" strike="noStrike">
              <a:solidFill>
                <a:schemeClr val="dk1"/>
              </a:solidFill>
              <a:latin typeface="Calibri"/>
              <a:ea typeface="Calibri"/>
              <a:cs typeface="Calibri"/>
              <a:sym typeface="Calibri"/>
            </a:endParaRPr>
          </a:p>
        </p:txBody>
      </p:sp>
      <p:sp>
        <p:nvSpPr>
          <p:cNvPr id="560" name="Google Shape;560;p27"/>
          <p:cNvSpPr/>
          <p:nvPr/>
        </p:nvSpPr>
        <p:spPr>
          <a:xfrm>
            <a:off x="457200" y="265176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7"/>
          <p:cNvSpPr/>
          <p:nvPr/>
        </p:nvSpPr>
        <p:spPr>
          <a:xfrm>
            <a:off x="457200" y="265176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562" name="Google Shape;562;p27"/>
          <p:cNvSpPr/>
          <p:nvPr/>
        </p:nvSpPr>
        <p:spPr>
          <a:xfrm>
            <a:off x="1005840" y="260604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Draft copy</a:t>
            </a:r>
            <a:endParaRPr b="0" i="0" sz="1200" u="none" cap="none" strike="noStrike">
              <a:solidFill>
                <a:schemeClr val="dk1"/>
              </a:solidFill>
              <a:latin typeface="Calibri"/>
              <a:ea typeface="Calibri"/>
              <a:cs typeface="Calibri"/>
              <a:sym typeface="Calibri"/>
            </a:endParaRPr>
          </a:p>
        </p:txBody>
      </p:sp>
      <p:sp>
        <p:nvSpPr>
          <p:cNvPr id="563" name="Google Shape;563;p27"/>
          <p:cNvSpPr/>
          <p:nvPr/>
        </p:nvSpPr>
        <p:spPr>
          <a:xfrm>
            <a:off x="1005840" y="286207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Write captions, subject lines, and CTAs using the copy framework.</a:t>
            </a:r>
            <a:endParaRPr b="0" i="0" sz="1000" u="none" cap="none" strike="noStrike">
              <a:solidFill>
                <a:schemeClr val="dk1"/>
              </a:solidFill>
              <a:latin typeface="Calibri"/>
              <a:ea typeface="Calibri"/>
              <a:cs typeface="Calibri"/>
              <a:sym typeface="Calibri"/>
            </a:endParaRPr>
          </a:p>
        </p:txBody>
      </p:sp>
      <p:sp>
        <p:nvSpPr>
          <p:cNvPr id="564" name="Google Shape;564;p27"/>
          <p:cNvSpPr/>
          <p:nvPr/>
        </p:nvSpPr>
        <p:spPr>
          <a:xfrm>
            <a:off x="457200" y="342900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27"/>
          <p:cNvSpPr/>
          <p:nvPr/>
        </p:nvSpPr>
        <p:spPr>
          <a:xfrm>
            <a:off x="457200" y="342900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4</a:t>
            </a:r>
            <a:endParaRPr b="0" i="0" sz="1600" u="none" cap="none" strike="noStrike">
              <a:solidFill>
                <a:schemeClr val="dk1"/>
              </a:solidFill>
              <a:latin typeface="Calibri"/>
              <a:ea typeface="Calibri"/>
              <a:cs typeface="Calibri"/>
              <a:sym typeface="Calibri"/>
            </a:endParaRPr>
          </a:p>
        </p:txBody>
      </p:sp>
      <p:sp>
        <p:nvSpPr>
          <p:cNvPr id="566" name="Google Shape;566;p27"/>
          <p:cNvSpPr/>
          <p:nvPr/>
        </p:nvSpPr>
        <p:spPr>
          <a:xfrm>
            <a:off x="1005840" y="338328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Build graphics</a:t>
            </a:r>
            <a:endParaRPr b="0" i="0" sz="1200" u="none" cap="none" strike="noStrike">
              <a:solidFill>
                <a:schemeClr val="dk1"/>
              </a:solidFill>
              <a:latin typeface="Calibri"/>
              <a:ea typeface="Calibri"/>
              <a:cs typeface="Calibri"/>
              <a:sym typeface="Calibri"/>
            </a:endParaRPr>
          </a:p>
        </p:txBody>
      </p:sp>
      <p:sp>
        <p:nvSpPr>
          <p:cNvPr id="567" name="Google Shape;567;p27"/>
          <p:cNvSpPr/>
          <p:nvPr/>
        </p:nvSpPr>
        <p:spPr>
          <a:xfrm>
            <a:off x="1005840" y="363931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Design assets in correct specs using brand colors and templates.</a:t>
            </a:r>
            <a:endParaRPr b="0" i="0" sz="1000" u="none" cap="none" strike="noStrike">
              <a:solidFill>
                <a:schemeClr val="dk1"/>
              </a:solidFill>
              <a:latin typeface="Calibri"/>
              <a:ea typeface="Calibri"/>
              <a:cs typeface="Calibri"/>
              <a:sym typeface="Calibri"/>
            </a:endParaRPr>
          </a:p>
        </p:txBody>
      </p:sp>
      <p:sp>
        <p:nvSpPr>
          <p:cNvPr id="568" name="Google Shape;568;p27"/>
          <p:cNvSpPr/>
          <p:nvPr/>
        </p:nvSpPr>
        <p:spPr>
          <a:xfrm>
            <a:off x="457200" y="420624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27"/>
          <p:cNvSpPr/>
          <p:nvPr/>
        </p:nvSpPr>
        <p:spPr>
          <a:xfrm>
            <a:off x="457200" y="420624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5</a:t>
            </a:r>
            <a:endParaRPr b="0" i="0" sz="1600" u="none" cap="none" strike="noStrike">
              <a:solidFill>
                <a:schemeClr val="dk1"/>
              </a:solidFill>
              <a:latin typeface="Calibri"/>
              <a:ea typeface="Calibri"/>
              <a:cs typeface="Calibri"/>
              <a:sym typeface="Calibri"/>
            </a:endParaRPr>
          </a:p>
        </p:txBody>
      </p:sp>
      <p:sp>
        <p:nvSpPr>
          <p:cNvPr id="570" name="Google Shape;570;p27"/>
          <p:cNvSpPr/>
          <p:nvPr/>
        </p:nvSpPr>
        <p:spPr>
          <a:xfrm>
            <a:off x="1005840" y="416052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Build schedule</a:t>
            </a:r>
            <a:endParaRPr b="0" i="0" sz="1200" u="none" cap="none" strike="noStrike">
              <a:solidFill>
                <a:schemeClr val="dk1"/>
              </a:solidFill>
              <a:latin typeface="Calibri"/>
              <a:ea typeface="Calibri"/>
              <a:cs typeface="Calibri"/>
              <a:sym typeface="Calibri"/>
            </a:endParaRPr>
          </a:p>
        </p:txBody>
      </p:sp>
      <p:sp>
        <p:nvSpPr>
          <p:cNvPr id="571" name="Google Shape;571;p27"/>
          <p:cNvSpPr/>
          <p:nvPr/>
        </p:nvSpPr>
        <p:spPr>
          <a:xfrm>
            <a:off x="1005840" y="441655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Map out posting cadence and dates in the calendar template.</a:t>
            </a:r>
            <a:endParaRPr b="0" i="0" sz="1000" u="none" cap="none" strike="noStrike">
              <a:solidFill>
                <a:schemeClr val="dk1"/>
              </a:solidFill>
              <a:latin typeface="Calibri"/>
              <a:ea typeface="Calibri"/>
              <a:cs typeface="Calibri"/>
              <a:sym typeface="Calibri"/>
            </a:endParaRPr>
          </a:p>
        </p:txBody>
      </p:sp>
      <p:sp>
        <p:nvSpPr>
          <p:cNvPr id="572" name="Google Shape;572;p27"/>
          <p:cNvSpPr/>
          <p:nvPr/>
        </p:nvSpPr>
        <p:spPr>
          <a:xfrm>
            <a:off x="4754880" y="109728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7"/>
          <p:cNvSpPr/>
          <p:nvPr/>
        </p:nvSpPr>
        <p:spPr>
          <a:xfrm>
            <a:off x="4754880" y="109728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6</a:t>
            </a:r>
            <a:endParaRPr b="0" i="0" sz="1600" u="none" cap="none" strike="noStrike">
              <a:solidFill>
                <a:schemeClr val="dk1"/>
              </a:solidFill>
              <a:latin typeface="Calibri"/>
              <a:ea typeface="Calibri"/>
              <a:cs typeface="Calibri"/>
              <a:sym typeface="Calibri"/>
            </a:endParaRPr>
          </a:p>
        </p:txBody>
      </p:sp>
      <p:sp>
        <p:nvSpPr>
          <p:cNvPr id="574" name="Google Shape;574;p27"/>
          <p:cNvSpPr/>
          <p:nvPr/>
        </p:nvSpPr>
        <p:spPr>
          <a:xfrm>
            <a:off x="5303520" y="105156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Set up tracking</a:t>
            </a:r>
            <a:endParaRPr b="0" i="0" sz="1200" u="none" cap="none" strike="noStrike">
              <a:solidFill>
                <a:schemeClr val="dk1"/>
              </a:solidFill>
              <a:latin typeface="Calibri"/>
              <a:ea typeface="Calibri"/>
              <a:cs typeface="Calibri"/>
              <a:sym typeface="Calibri"/>
            </a:endParaRPr>
          </a:p>
        </p:txBody>
      </p:sp>
      <p:sp>
        <p:nvSpPr>
          <p:cNvPr id="575" name="Google Shape;575;p27"/>
          <p:cNvSpPr/>
          <p:nvPr/>
        </p:nvSpPr>
        <p:spPr>
          <a:xfrm>
            <a:off x="5303520" y="130759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Create UTM links, Flowcode QR codes, and Looker Studio dashboard for each channel. Set up tracking BEFORE first post.</a:t>
            </a:r>
            <a:endParaRPr b="0" i="0" sz="1000" u="none" cap="none" strike="noStrike">
              <a:solidFill>
                <a:schemeClr val="dk1"/>
              </a:solidFill>
              <a:latin typeface="Calibri"/>
              <a:ea typeface="Calibri"/>
              <a:cs typeface="Calibri"/>
              <a:sym typeface="Calibri"/>
            </a:endParaRPr>
          </a:p>
        </p:txBody>
      </p:sp>
      <p:sp>
        <p:nvSpPr>
          <p:cNvPr id="576" name="Google Shape;576;p27"/>
          <p:cNvSpPr/>
          <p:nvPr/>
        </p:nvSpPr>
        <p:spPr>
          <a:xfrm>
            <a:off x="4754880" y="187452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27"/>
          <p:cNvSpPr/>
          <p:nvPr/>
        </p:nvSpPr>
        <p:spPr>
          <a:xfrm>
            <a:off x="4754880" y="187452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7</a:t>
            </a:r>
            <a:endParaRPr b="0" i="0" sz="1600" u="none" cap="none" strike="noStrike">
              <a:solidFill>
                <a:schemeClr val="dk1"/>
              </a:solidFill>
              <a:latin typeface="Calibri"/>
              <a:ea typeface="Calibri"/>
              <a:cs typeface="Calibri"/>
              <a:sym typeface="Calibri"/>
            </a:endParaRPr>
          </a:p>
        </p:txBody>
      </p:sp>
      <p:sp>
        <p:nvSpPr>
          <p:cNvPr id="578" name="Google Shape;578;p27"/>
          <p:cNvSpPr/>
          <p:nvPr/>
        </p:nvSpPr>
        <p:spPr>
          <a:xfrm>
            <a:off x="5303520" y="182880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Plan paid budget</a:t>
            </a:r>
            <a:endParaRPr b="0" i="0" sz="1200" u="none" cap="none" strike="noStrike">
              <a:solidFill>
                <a:schemeClr val="dk1"/>
              </a:solidFill>
              <a:latin typeface="Calibri"/>
              <a:ea typeface="Calibri"/>
              <a:cs typeface="Calibri"/>
              <a:sym typeface="Calibri"/>
            </a:endParaRPr>
          </a:p>
        </p:txBody>
      </p:sp>
      <p:sp>
        <p:nvSpPr>
          <p:cNvPr id="579" name="Google Shape;579;p27"/>
          <p:cNvSpPr/>
          <p:nvPr/>
        </p:nvSpPr>
        <p:spPr>
          <a:xfrm>
            <a:off x="5303520" y="208483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If using paid channels, draft a simple spend plan.</a:t>
            </a:r>
            <a:endParaRPr b="0" i="0" sz="1000" u="none" cap="none" strike="noStrike">
              <a:solidFill>
                <a:schemeClr val="dk1"/>
              </a:solidFill>
              <a:latin typeface="Calibri"/>
              <a:ea typeface="Calibri"/>
              <a:cs typeface="Calibri"/>
              <a:sym typeface="Calibri"/>
            </a:endParaRPr>
          </a:p>
        </p:txBody>
      </p:sp>
      <p:sp>
        <p:nvSpPr>
          <p:cNvPr id="580" name="Google Shape;580;p27"/>
          <p:cNvSpPr/>
          <p:nvPr/>
        </p:nvSpPr>
        <p:spPr>
          <a:xfrm>
            <a:off x="4754880" y="265176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7"/>
          <p:cNvSpPr/>
          <p:nvPr/>
        </p:nvSpPr>
        <p:spPr>
          <a:xfrm>
            <a:off x="4754880" y="265176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8</a:t>
            </a:r>
            <a:endParaRPr b="0" i="0" sz="1600" u="none" cap="none" strike="noStrike">
              <a:solidFill>
                <a:schemeClr val="dk1"/>
              </a:solidFill>
              <a:latin typeface="Calibri"/>
              <a:ea typeface="Calibri"/>
              <a:cs typeface="Calibri"/>
              <a:sym typeface="Calibri"/>
            </a:endParaRPr>
          </a:p>
        </p:txBody>
      </p:sp>
      <p:sp>
        <p:nvSpPr>
          <p:cNvPr id="582" name="Google Shape;582;p27"/>
          <p:cNvSpPr/>
          <p:nvPr/>
        </p:nvSpPr>
        <p:spPr>
          <a:xfrm>
            <a:off x="5303520" y="260604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Submit for review</a:t>
            </a:r>
            <a:endParaRPr b="0" i="0" sz="1200" u="none" cap="none" strike="noStrike">
              <a:solidFill>
                <a:schemeClr val="dk1"/>
              </a:solidFill>
              <a:latin typeface="Calibri"/>
              <a:ea typeface="Calibri"/>
              <a:cs typeface="Calibri"/>
              <a:sym typeface="Calibri"/>
            </a:endParaRPr>
          </a:p>
        </p:txBody>
      </p:sp>
      <p:sp>
        <p:nvSpPr>
          <p:cNvPr id="583" name="Google Shape;583;p27"/>
          <p:cNvSpPr/>
          <p:nvPr/>
        </p:nvSpPr>
        <p:spPr>
          <a:xfrm>
            <a:off x="5303520" y="286207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Email complete asset pack to cobe-info@boisestate.edu.</a:t>
            </a:r>
            <a:endParaRPr b="0" i="0" sz="1000" u="none" cap="none" strike="noStrike">
              <a:solidFill>
                <a:schemeClr val="dk1"/>
              </a:solidFill>
              <a:latin typeface="Calibri"/>
              <a:ea typeface="Calibri"/>
              <a:cs typeface="Calibri"/>
              <a:sym typeface="Calibri"/>
            </a:endParaRPr>
          </a:p>
        </p:txBody>
      </p:sp>
      <p:sp>
        <p:nvSpPr>
          <p:cNvPr id="584" name="Google Shape;584;p27"/>
          <p:cNvSpPr/>
          <p:nvPr/>
        </p:nvSpPr>
        <p:spPr>
          <a:xfrm>
            <a:off x="4754880" y="342900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7"/>
          <p:cNvSpPr/>
          <p:nvPr/>
        </p:nvSpPr>
        <p:spPr>
          <a:xfrm>
            <a:off x="4754880" y="342900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9</a:t>
            </a:r>
            <a:endParaRPr b="0" i="0" sz="1600" u="none" cap="none" strike="noStrike">
              <a:solidFill>
                <a:schemeClr val="dk1"/>
              </a:solidFill>
              <a:latin typeface="Calibri"/>
              <a:ea typeface="Calibri"/>
              <a:cs typeface="Calibri"/>
              <a:sym typeface="Calibri"/>
            </a:endParaRPr>
          </a:p>
        </p:txBody>
      </p:sp>
      <p:sp>
        <p:nvSpPr>
          <p:cNvPr id="586" name="Google Shape;586;p27"/>
          <p:cNvSpPr/>
          <p:nvPr/>
        </p:nvSpPr>
        <p:spPr>
          <a:xfrm>
            <a:off x="5303520" y="338328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Revise + approval</a:t>
            </a:r>
            <a:endParaRPr b="0" i="0" sz="1200" u="none" cap="none" strike="noStrike">
              <a:solidFill>
                <a:schemeClr val="dk1"/>
              </a:solidFill>
              <a:latin typeface="Calibri"/>
              <a:ea typeface="Calibri"/>
              <a:cs typeface="Calibri"/>
              <a:sym typeface="Calibri"/>
            </a:endParaRPr>
          </a:p>
        </p:txBody>
      </p:sp>
      <p:sp>
        <p:nvSpPr>
          <p:cNvPr id="587" name="Google Shape;587;p27"/>
          <p:cNvSpPr/>
          <p:nvPr/>
        </p:nvSpPr>
        <p:spPr>
          <a:xfrm>
            <a:off x="5303520" y="363931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Incorporate feedback. Marketing gives final brand approval.</a:t>
            </a:r>
            <a:endParaRPr b="0" i="0" sz="1000" u="none" cap="none" strike="noStrike">
              <a:solidFill>
                <a:schemeClr val="dk1"/>
              </a:solidFill>
              <a:latin typeface="Calibri"/>
              <a:ea typeface="Calibri"/>
              <a:cs typeface="Calibri"/>
              <a:sym typeface="Calibri"/>
            </a:endParaRPr>
          </a:p>
        </p:txBody>
      </p:sp>
      <p:sp>
        <p:nvSpPr>
          <p:cNvPr id="588" name="Google Shape;588;p27"/>
          <p:cNvSpPr/>
          <p:nvPr/>
        </p:nvSpPr>
        <p:spPr>
          <a:xfrm>
            <a:off x="4754880" y="4206240"/>
            <a:ext cx="411480" cy="411480"/>
          </a:xfrm>
          <a:prstGeom prst="ellipse">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27"/>
          <p:cNvSpPr/>
          <p:nvPr/>
        </p:nvSpPr>
        <p:spPr>
          <a:xfrm>
            <a:off x="4754880" y="420624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10</a:t>
            </a:r>
            <a:endParaRPr b="0" i="0" sz="1600" u="none" cap="none" strike="noStrike">
              <a:solidFill>
                <a:schemeClr val="dk1"/>
              </a:solidFill>
              <a:latin typeface="Calibri"/>
              <a:ea typeface="Calibri"/>
              <a:cs typeface="Calibri"/>
              <a:sym typeface="Calibri"/>
            </a:endParaRPr>
          </a:p>
        </p:txBody>
      </p:sp>
      <p:sp>
        <p:nvSpPr>
          <p:cNvPr id="590" name="Google Shape;590;p27"/>
          <p:cNvSpPr/>
          <p:nvPr/>
        </p:nvSpPr>
        <p:spPr>
          <a:xfrm>
            <a:off x="5303520" y="416052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Publish + schedule</a:t>
            </a:r>
            <a:endParaRPr b="0" i="0" sz="1200" u="none" cap="none" strike="noStrike">
              <a:solidFill>
                <a:schemeClr val="dk1"/>
              </a:solidFill>
              <a:latin typeface="Calibri"/>
              <a:ea typeface="Calibri"/>
              <a:cs typeface="Calibri"/>
              <a:sym typeface="Calibri"/>
            </a:endParaRPr>
          </a:p>
        </p:txBody>
      </p:sp>
      <p:sp>
        <p:nvSpPr>
          <p:cNvPr id="591" name="Google Shape;591;p27"/>
          <p:cNvSpPr/>
          <p:nvPr/>
        </p:nvSpPr>
        <p:spPr>
          <a:xfrm>
            <a:off x="5303520" y="4416552"/>
            <a:ext cx="34747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Content goes live. Marketing helps with channel scheduling.</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96" name="Shape 596"/>
        <p:cNvGrpSpPr/>
        <p:nvPr/>
      </p:nvGrpSpPr>
      <p:grpSpPr>
        <a:xfrm>
          <a:off x="0" y="0"/>
          <a:ext cx="0" cy="0"/>
          <a:chOff x="0" y="0"/>
          <a:chExt cx="0" cy="0"/>
        </a:xfrm>
      </p:grpSpPr>
      <p:sp>
        <p:nvSpPr>
          <p:cNvPr id="597" name="Google Shape;597;p28"/>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8"/>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599" name="Google Shape;599;p28"/>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600" name="Google Shape;600;p28"/>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21</a:t>
            </a:r>
            <a:endParaRPr b="0" i="0" sz="1000" u="none" cap="none" strike="noStrike">
              <a:solidFill>
                <a:schemeClr val="dk1"/>
              </a:solidFill>
              <a:latin typeface="Calibri"/>
              <a:ea typeface="Calibri"/>
              <a:cs typeface="Calibri"/>
              <a:sym typeface="Calibri"/>
            </a:endParaRPr>
          </a:p>
        </p:txBody>
      </p:sp>
      <p:sp>
        <p:nvSpPr>
          <p:cNvPr id="601" name="Google Shape;601;p28"/>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Template Guide: Social Media Calendar</a:t>
            </a:r>
            <a:endParaRPr b="0" i="0" sz="2800" u="none" cap="none" strike="noStrike">
              <a:solidFill>
                <a:schemeClr val="dk1"/>
              </a:solidFill>
              <a:latin typeface="Calibri"/>
              <a:ea typeface="Calibri"/>
              <a:cs typeface="Calibri"/>
              <a:sym typeface="Calibri"/>
            </a:endParaRPr>
          </a:p>
        </p:txBody>
      </p:sp>
      <p:sp>
        <p:nvSpPr>
          <p:cNvPr id="602" name="Google Shape;602;p28"/>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7316"/>
              </a:buClr>
              <a:buSzPts val="1100"/>
              <a:buFont typeface="Arial"/>
              <a:buNone/>
            </a:pPr>
            <a:r>
              <a:rPr b="0" i="1" lang="en-US" sz="1100" u="none" cap="none" strike="noStrike">
                <a:solidFill>
                  <a:srgbClr val="F97316"/>
                </a:solidFill>
                <a:latin typeface="Arial"/>
                <a:ea typeface="Arial"/>
                <a:cs typeface="Arial"/>
                <a:sym typeface="Arial"/>
              </a:rPr>
              <a:t>Template file: Social Media Calendar Template.xlsx  |  Example: Social Media Calendar Example.xlsx</a:t>
            </a:r>
            <a:endParaRPr b="0" i="0" sz="1100" u="none" cap="none" strike="noStrike">
              <a:solidFill>
                <a:schemeClr val="dk1"/>
              </a:solidFill>
              <a:latin typeface="Calibri"/>
              <a:ea typeface="Calibri"/>
              <a:cs typeface="Calibri"/>
              <a:sym typeface="Calibri"/>
            </a:endParaRPr>
          </a:p>
        </p:txBody>
      </p:sp>
      <p:sp>
        <p:nvSpPr>
          <p:cNvPr id="603" name="Google Shape;603;p28"/>
          <p:cNvSpPr/>
          <p:nvPr/>
        </p:nvSpPr>
        <p:spPr>
          <a:xfrm>
            <a:off x="457200" y="1280160"/>
            <a:ext cx="3840480" cy="210312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28"/>
          <p:cNvSpPr/>
          <p:nvPr/>
        </p:nvSpPr>
        <p:spPr>
          <a:xfrm>
            <a:off x="457200" y="1280160"/>
            <a:ext cx="54864" cy="210312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28"/>
          <p:cNvSpPr/>
          <p:nvPr/>
        </p:nvSpPr>
        <p:spPr>
          <a:xfrm>
            <a:off x="685800" y="137160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Arial"/>
              <a:buNone/>
            </a:pPr>
            <a:r>
              <a:rPr b="1" i="0" lang="en-US" sz="1200" u="none" cap="none" strike="noStrike">
                <a:solidFill>
                  <a:srgbClr val="F97316"/>
                </a:solidFill>
                <a:latin typeface="Arial"/>
                <a:ea typeface="Arial"/>
                <a:cs typeface="Arial"/>
                <a:sym typeface="Arial"/>
              </a:rPr>
              <a:t>HOW TO USE THE TEMPLATE</a:t>
            </a:r>
            <a:endParaRPr b="0" i="0" sz="1200" u="none" cap="none" strike="noStrike">
              <a:solidFill>
                <a:schemeClr val="dk1"/>
              </a:solidFill>
              <a:latin typeface="Calibri"/>
              <a:ea typeface="Calibri"/>
              <a:cs typeface="Calibri"/>
              <a:sym typeface="Calibri"/>
            </a:endParaRPr>
          </a:p>
        </p:txBody>
      </p:sp>
      <p:sp>
        <p:nvSpPr>
          <p:cNvPr id="606" name="Google Shape;606;p28"/>
          <p:cNvSpPr/>
          <p:nvPr/>
        </p:nvSpPr>
        <p:spPr>
          <a:xfrm>
            <a:off x="685800" y="1691640"/>
            <a:ext cx="3474720" cy="155448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Open the template Excel file</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Fill in: Date, Channel, Post Type, Copy, CTA, Link</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Add the graphic filename for each post</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Color-code by channel (IG = pink, LI = blue, etc.)</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Review against recommended cadence below</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Submit completed calendar with assets to cobe-info. Note: Submitted calendars will be coordinated with Kim and the main COBE social calendar. Your schedule must dovetail with the existing COBE posting calendar.</a:t>
            </a:r>
            <a:endParaRPr b="0" i="0" sz="1000" u="none" cap="none" strike="noStrike">
              <a:solidFill>
                <a:schemeClr val="dk1"/>
              </a:solidFill>
              <a:latin typeface="Calibri"/>
              <a:ea typeface="Calibri"/>
              <a:cs typeface="Calibri"/>
              <a:sym typeface="Calibri"/>
            </a:endParaRPr>
          </a:p>
        </p:txBody>
      </p:sp>
      <p:sp>
        <p:nvSpPr>
          <p:cNvPr id="607" name="Google Shape;607;p28"/>
          <p:cNvSpPr/>
          <p:nvPr/>
        </p:nvSpPr>
        <p:spPr>
          <a:xfrm>
            <a:off x="4846320" y="1280160"/>
            <a:ext cx="3840480" cy="210312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28"/>
          <p:cNvSpPr/>
          <p:nvPr/>
        </p:nvSpPr>
        <p:spPr>
          <a:xfrm>
            <a:off x="4846320" y="1280160"/>
            <a:ext cx="54864" cy="210312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28"/>
          <p:cNvSpPr/>
          <p:nvPr/>
        </p:nvSpPr>
        <p:spPr>
          <a:xfrm>
            <a:off x="5074920" y="137160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RECOMMENDED CADENCE</a:t>
            </a:r>
            <a:endParaRPr b="0" i="0" sz="1200" u="none" cap="none" strike="noStrike">
              <a:solidFill>
                <a:schemeClr val="dk1"/>
              </a:solidFill>
              <a:latin typeface="Calibri"/>
              <a:ea typeface="Calibri"/>
              <a:cs typeface="Calibri"/>
              <a:sym typeface="Calibri"/>
            </a:endParaRPr>
          </a:p>
        </p:txBody>
      </p:sp>
      <p:sp>
        <p:nvSpPr>
          <p:cNvPr id="610" name="Google Shape;610;p28"/>
          <p:cNvSpPr/>
          <p:nvPr/>
        </p:nvSpPr>
        <p:spPr>
          <a:xfrm>
            <a:off x="5074920" y="1691640"/>
            <a:ext cx="3474720" cy="155448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Instagram: 3-4 posts/week during peak</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LinkedIn: 2-3 posts/week</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Stories: Around events and deadlines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Newsletter features: Every few months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Vary messaging each time (avoid tune-out)</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Increase around fairs, deadlines, events</a:t>
            </a:r>
            <a:endParaRPr b="0" i="0" sz="1000" u="none" cap="none" strike="noStrike">
              <a:solidFill>
                <a:schemeClr val="dk1"/>
              </a:solidFill>
              <a:latin typeface="Calibri"/>
              <a:ea typeface="Calibri"/>
              <a:cs typeface="Calibri"/>
              <a:sym typeface="Calibri"/>
            </a:endParaRPr>
          </a:p>
        </p:txBody>
      </p:sp>
      <p:sp>
        <p:nvSpPr>
          <p:cNvPr id="611" name="Google Shape;611;p28"/>
          <p:cNvSpPr/>
          <p:nvPr/>
        </p:nvSpPr>
        <p:spPr>
          <a:xfrm>
            <a:off x="457200" y="356616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ASSET SPECIFICATIONS</a:t>
            </a:r>
            <a:endParaRPr b="0" i="0" sz="1200" u="none" cap="none" strike="noStrike">
              <a:solidFill>
                <a:schemeClr val="dk1"/>
              </a:solidFill>
              <a:latin typeface="Calibri"/>
              <a:ea typeface="Calibri"/>
              <a:cs typeface="Calibri"/>
              <a:sym typeface="Calibri"/>
            </a:endParaRPr>
          </a:p>
        </p:txBody>
      </p:sp>
      <p:graphicFrame>
        <p:nvGraphicFramePr>
          <p:cNvPr id="612" name="Google Shape;612;p28"/>
          <p:cNvGraphicFramePr/>
          <p:nvPr/>
        </p:nvGraphicFramePr>
        <p:xfrm>
          <a:off x="457200" y="3840480"/>
          <a:ext cx="3000000" cy="3000000"/>
        </p:xfrm>
        <a:graphic>
          <a:graphicData uri="http://schemas.openxmlformats.org/drawingml/2006/table">
            <a:tbl>
              <a:tblPr>
                <a:noFill/>
                <a:tableStyleId>{AD4631F1-437D-4764-92B6-2A4562E18BC6}</a:tableStyleId>
              </a:tblPr>
              <a:tblGrid>
                <a:gridCol w="1645925"/>
                <a:gridCol w="1645925"/>
                <a:gridCol w="1371600"/>
                <a:gridCol w="3566150"/>
              </a:tblGrid>
              <a:tr h="182875">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Asset Type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Size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Format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Used For</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Square post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1080 x 1080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JPG/PNG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Instagram grid, Facebook</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Story / Reel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1080 x 1920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JPG/PNG/MP4</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Instagram/Facebook stories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Banner / Screen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1920 x 1080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LinkedIn, MBEB screens, classroom slides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SUB Dining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768 x 1366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Student Union dining area screens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Library Screens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1280 x 720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Albertsons Library digital displays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17" name="Shape 617"/>
        <p:cNvGrpSpPr/>
        <p:nvPr/>
      </p:nvGrpSpPr>
      <p:grpSpPr>
        <a:xfrm>
          <a:off x="0" y="0"/>
          <a:ext cx="0" cy="0"/>
          <a:chOff x="0" y="0"/>
          <a:chExt cx="0" cy="0"/>
        </a:xfrm>
      </p:grpSpPr>
      <p:sp>
        <p:nvSpPr>
          <p:cNvPr id="618" name="Google Shape;618;p29"/>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9"/>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620" name="Google Shape;620;p29"/>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621" name="Google Shape;621;p29"/>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22</a:t>
            </a:r>
            <a:endParaRPr b="0" i="0" sz="1000" u="none" cap="none" strike="noStrike">
              <a:solidFill>
                <a:schemeClr val="dk1"/>
              </a:solidFill>
              <a:latin typeface="Calibri"/>
              <a:ea typeface="Calibri"/>
              <a:cs typeface="Calibri"/>
              <a:sym typeface="Calibri"/>
            </a:endParaRPr>
          </a:p>
        </p:txBody>
      </p:sp>
      <p:sp>
        <p:nvSpPr>
          <p:cNvPr id="622" name="Google Shape;622;p29"/>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Template Guide: Budget Planning</a:t>
            </a:r>
            <a:endParaRPr b="0" i="0" sz="2800" u="none" cap="none" strike="noStrike">
              <a:solidFill>
                <a:schemeClr val="dk1"/>
              </a:solidFill>
              <a:latin typeface="Calibri"/>
              <a:ea typeface="Calibri"/>
              <a:cs typeface="Calibri"/>
              <a:sym typeface="Calibri"/>
            </a:endParaRPr>
          </a:p>
        </p:txBody>
      </p:sp>
      <p:sp>
        <p:nvSpPr>
          <p:cNvPr id="623" name="Google Shape;623;p29"/>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7316"/>
              </a:buClr>
              <a:buSzPts val="1100"/>
              <a:buFont typeface="Arial"/>
              <a:buNone/>
            </a:pPr>
            <a:r>
              <a:rPr b="0" i="1" lang="en-US" sz="1100" u="none" cap="none" strike="noStrike">
                <a:solidFill>
                  <a:srgbClr val="F97316"/>
                </a:solidFill>
                <a:latin typeface="Arial"/>
                <a:ea typeface="Arial"/>
                <a:cs typeface="Arial"/>
                <a:sym typeface="Arial"/>
              </a:rPr>
              <a:t>Template file: RHM Marketing Budget 2025.xlsx (use as model)</a:t>
            </a:r>
            <a:endParaRPr b="0" i="0" sz="1100" u="none" cap="none" strike="noStrike">
              <a:solidFill>
                <a:schemeClr val="dk1"/>
              </a:solidFill>
              <a:latin typeface="Calibri"/>
              <a:ea typeface="Calibri"/>
              <a:cs typeface="Calibri"/>
              <a:sym typeface="Calibri"/>
            </a:endParaRPr>
          </a:p>
        </p:txBody>
      </p:sp>
      <p:sp>
        <p:nvSpPr>
          <p:cNvPr id="624" name="Google Shape;624;p29"/>
          <p:cNvSpPr/>
          <p:nvPr/>
        </p:nvSpPr>
        <p:spPr>
          <a:xfrm>
            <a:off x="457200" y="1280160"/>
            <a:ext cx="8229600" cy="731520"/>
          </a:xfrm>
          <a:prstGeom prst="rect">
            <a:avLst/>
          </a:prstGeom>
          <a:solidFill>
            <a:srgbClr val="F0FDF4"/>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9"/>
          <p:cNvSpPr/>
          <p:nvPr/>
        </p:nvSpPr>
        <p:spPr>
          <a:xfrm>
            <a:off x="457200" y="1280160"/>
            <a:ext cx="54864" cy="731520"/>
          </a:xfrm>
          <a:prstGeom prst="rect">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9"/>
          <p:cNvSpPr/>
          <p:nvPr/>
        </p:nvSpPr>
        <p:spPr>
          <a:xfrm>
            <a:off x="685800" y="1371600"/>
            <a:ext cx="77724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0B981"/>
              </a:buClr>
              <a:buSzPts val="1200"/>
              <a:buFont typeface="Arial"/>
              <a:buNone/>
            </a:pPr>
            <a:r>
              <a:rPr b="1" i="0" lang="en-US" sz="1200" u="none" cap="none" strike="noStrike">
                <a:solidFill>
                  <a:srgbClr val="10B981"/>
                </a:solidFill>
                <a:latin typeface="Arial"/>
                <a:ea typeface="Arial"/>
                <a:cs typeface="Arial"/>
                <a:sym typeface="Arial"/>
              </a:rPr>
              <a:t>RULE #1: FREE CHANNELS FIRST  </a:t>
            </a:r>
            <a:r>
              <a:rPr b="0" i="0" lang="en-US" sz="1100" u="none" cap="none" strike="noStrike">
                <a:solidFill>
                  <a:srgbClr val="334155"/>
                </a:solidFill>
                <a:latin typeface="Arial"/>
                <a:ea typeface="Arial"/>
                <a:cs typeface="Arial"/>
                <a:sym typeface="Arial"/>
              </a:rPr>
              <a:t>Always maximize free COBE channels (Instagram, LinkedIn, newsletters, MBEB screens, tabling, Boise State Events Calendar (Localist)) before allocating paid budget. These deliver ~45,000 impressions at zero cost.</a:t>
            </a:r>
            <a:endParaRPr b="0" i="0" sz="1200" u="none" cap="none" strike="noStrike">
              <a:solidFill>
                <a:schemeClr val="dk1"/>
              </a:solidFill>
              <a:latin typeface="Calibri"/>
              <a:ea typeface="Calibri"/>
              <a:cs typeface="Calibri"/>
              <a:sym typeface="Calibri"/>
            </a:endParaRPr>
          </a:p>
        </p:txBody>
      </p:sp>
      <p:sp>
        <p:nvSpPr>
          <p:cNvPr id="627" name="Google Shape;627;p29"/>
          <p:cNvSpPr/>
          <p:nvPr/>
        </p:nvSpPr>
        <p:spPr>
          <a:xfrm>
            <a:off x="457200" y="2194560"/>
            <a:ext cx="3840480" cy="23774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29"/>
          <p:cNvSpPr/>
          <p:nvPr/>
        </p:nvSpPr>
        <p:spPr>
          <a:xfrm>
            <a:off x="457200" y="2194560"/>
            <a:ext cx="54864" cy="237744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9"/>
          <p:cNvSpPr/>
          <p:nvPr/>
        </p:nvSpPr>
        <p:spPr>
          <a:xfrm>
            <a:off x="685800" y="228600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Arial"/>
              <a:buNone/>
            </a:pPr>
            <a:r>
              <a:rPr b="1" i="0" lang="en-US" sz="1200" u="none" cap="none" strike="noStrike">
                <a:solidFill>
                  <a:srgbClr val="F97316"/>
                </a:solidFill>
                <a:latin typeface="Arial"/>
                <a:ea typeface="Arial"/>
                <a:cs typeface="Arial"/>
                <a:sym typeface="Arial"/>
              </a:rPr>
              <a:t>BUDGET WORKBOOK SHEETS</a:t>
            </a:r>
            <a:endParaRPr b="0" i="0" sz="1200" u="none" cap="none" strike="noStrike">
              <a:solidFill>
                <a:schemeClr val="dk1"/>
              </a:solidFill>
              <a:latin typeface="Calibri"/>
              <a:ea typeface="Calibri"/>
              <a:cs typeface="Calibri"/>
              <a:sym typeface="Calibri"/>
            </a:endParaRPr>
          </a:p>
        </p:txBody>
      </p:sp>
      <p:sp>
        <p:nvSpPr>
          <p:cNvPr id="630" name="Google Shape;630;p29"/>
          <p:cNvSpPr/>
          <p:nvPr/>
        </p:nvSpPr>
        <p:spPr>
          <a:xfrm>
            <a:off x="685800" y="2606040"/>
            <a:ext cx="347472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Executive Summary – Total budget, impressions, milestones</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Channel Detail – Per-channel rates, monthly spend, notes</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Monthly Calendar – Visual timeline of all activities</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ROAS &amp; Impressions – CPM analysis and channel ratings</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Contacts &amp; Process – Team contacts and request format</a:t>
            </a:r>
            <a:endParaRPr b="0" i="0" sz="1000" u="none" cap="none" strike="noStrike">
              <a:solidFill>
                <a:schemeClr val="dk1"/>
              </a:solidFill>
              <a:latin typeface="Calibri"/>
              <a:ea typeface="Calibri"/>
              <a:cs typeface="Calibri"/>
              <a:sym typeface="Calibri"/>
            </a:endParaRPr>
          </a:p>
        </p:txBody>
      </p:sp>
      <p:sp>
        <p:nvSpPr>
          <p:cNvPr id="631" name="Google Shape;631;p29"/>
          <p:cNvSpPr/>
          <p:nvPr/>
        </p:nvSpPr>
        <p:spPr>
          <a:xfrm>
            <a:off x="4846320" y="2194560"/>
            <a:ext cx="3840480" cy="23774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9"/>
          <p:cNvSpPr/>
          <p:nvPr/>
        </p:nvSpPr>
        <p:spPr>
          <a:xfrm>
            <a:off x="4846320" y="2194560"/>
            <a:ext cx="54864" cy="237744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29"/>
          <p:cNvSpPr/>
          <p:nvPr/>
        </p:nvSpPr>
        <p:spPr>
          <a:xfrm>
            <a:off x="5074920" y="228600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CPM BENCHMARKS (RHM DATA)</a:t>
            </a:r>
            <a:endParaRPr b="0" i="0" sz="1200" u="none" cap="none" strike="noStrike">
              <a:solidFill>
                <a:schemeClr val="dk1"/>
              </a:solidFill>
              <a:latin typeface="Calibri"/>
              <a:ea typeface="Calibri"/>
              <a:cs typeface="Calibri"/>
              <a:sym typeface="Calibri"/>
            </a:endParaRPr>
          </a:p>
        </p:txBody>
      </p:sp>
      <p:sp>
        <p:nvSpPr>
          <p:cNvPr id="634" name="Google Shape;634;p29"/>
          <p:cNvSpPr/>
          <p:nvPr/>
        </p:nvSpPr>
        <p:spPr>
          <a:xfrm>
            <a:off x="5074920" y="2606040"/>
            <a:ext cx="347472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Meta/IG Ads: ~$5.33 CPM (best value)</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Arbiter Web Banner: ~$20 CPM</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Shuttle Stop Posters: ~$23 CPM</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Blueprint Magazine: ~$50 CPM</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Arbiter Print: ~$67 CPM</a:t>
            </a:r>
            <a:endParaRPr b="0" i="0" sz="10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Blended average: $8.82 CPM</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39" name="Shape 639"/>
        <p:cNvGrpSpPr/>
        <p:nvPr/>
      </p:nvGrpSpPr>
      <p:grpSpPr>
        <a:xfrm>
          <a:off x="0" y="0"/>
          <a:ext cx="0" cy="0"/>
          <a:chOff x="0" y="0"/>
          <a:chExt cx="0" cy="0"/>
        </a:xfrm>
      </p:grpSpPr>
      <p:sp>
        <p:nvSpPr>
          <p:cNvPr id="640" name="Google Shape;640;p30"/>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30"/>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642" name="Google Shape;642;p30"/>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643" name="Google Shape;643;p30"/>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23</a:t>
            </a:r>
            <a:endParaRPr b="0" i="0" sz="1000" u="none" cap="none" strike="noStrike">
              <a:solidFill>
                <a:schemeClr val="dk1"/>
              </a:solidFill>
              <a:latin typeface="Calibri"/>
              <a:ea typeface="Calibri"/>
              <a:cs typeface="Calibri"/>
              <a:sym typeface="Calibri"/>
            </a:endParaRPr>
          </a:p>
        </p:txBody>
      </p:sp>
      <p:sp>
        <p:nvSpPr>
          <p:cNvPr id="644" name="Google Shape;644;p30"/>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600"/>
              <a:buFont typeface="Georgia"/>
              <a:buNone/>
            </a:pPr>
            <a:r>
              <a:rPr b="1" i="0" lang="en-US" sz="2600" u="none" cap="none" strike="noStrike">
                <a:solidFill>
                  <a:srgbClr val="0B1220"/>
                </a:solidFill>
                <a:latin typeface="Georgia"/>
                <a:ea typeface="Georgia"/>
                <a:cs typeface="Georgia"/>
                <a:sym typeface="Georgia"/>
              </a:rPr>
              <a:t>Channel Guide: Instagram (@boisestatecobe)</a:t>
            </a:r>
            <a:endParaRPr b="0" i="0" sz="2600" u="none" cap="none" strike="noStrike">
              <a:solidFill>
                <a:schemeClr val="dk1"/>
              </a:solidFill>
              <a:latin typeface="Calibri"/>
              <a:ea typeface="Calibri"/>
              <a:cs typeface="Calibri"/>
              <a:sym typeface="Calibri"/>
            </a:endParaRPr>
          </a:p>
        </p:txBody>
      </p:sp>
      <p:sp>
        <p:nvSpPr>
          <p:cNvPr id="645" name="Google Shape;645;p30"/>
          <p:cNvSpPr/>
          <p:nvPr/>
        </p:nvSpPr>
        <p:spPr>
          <a:xfrm>
            <a:off x="457200" y="10058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BEST FOR</a:t>
            </a:r>
            <a:endParaRPr b="0" i="0" sz="1000" u="none" cap="none" strike="noStrike">
              <a:solidFill>
                <a:schemeClr val="dk1"/>
              </a:solidFill>
              <a:latin typeface="Calibri"/>
              <a:ea typeface="Calibri"/>
              <a:cs typeface="Calibri"/>
              <a:sym typeface="Calibri"/>
            </a:endParaRPr>
          </a:p>
        </p:txBody>
      </p:sp>
      <p:sp>
        <p:nvSpPr>
          <p:cNvPr id="646" name="Google Shape;646;p30"/>
          <p:cNvSpPr/>
          <p:nvPr/>
        </p:nvSpPr>
        <p:spPr>
          <a:xfrm>
            <a:off x="2194560" y="10058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Student engagement, event awareness, program visibility</a:t>
            </a:r>
            <a:endParaRPr b="0" i="0" sz="1100" u="none" cap="none" strike="noStrike">
              <a:solidFill>
                <a:schemeClr val="dk1"/>
              </a:solidFill>
              <a:latin typeface="Calibri"/>
              <a:ea typeface="Calibri"/>
              <a:cs typeface="Calibri"/>
              <a:sym typeface="Calibri"/>
            </a:endParaRPr>
          </a:p>
        </p:txBody>
      </p:sp>
      <p:sp>
        <p:nvSpPr>
          <p:cNvPr id="647" name="Google Shape;647;p30"/>
          <p:cNvSpPr/>
          <p:nvPr/>
        </p:nvSpPr>
        <p:spPr>
          <a:xfrm>
            <a:off x="457200" y="141732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0"/>
          <p:cNvSpPr/>
          <p:nvPr/>
        </p:nvSpPr>
        <p:spPr>
          <a:xfrm>
            <a:off x="457200" y="150876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ASSET TYPES</a:t>
            </a:r>
            <a:endParaRPr b="0" i="0" sz="1000" u="none" cap="none" strike="noStrike">
              <a:solidFill>
                <a:schemeClr val="dk1"/>
              </a:solidFill>
              <a:latin typeface="Calibri"/>
              <a:ea typeface="Calibri"/>
              <a:cs typeface="Calibri"/>
              <a:sym typeface="Calibri"/>
            </a:endParaRPr>
          </a:p>
        </p:txBody>
      </p:sp>
      <p:sp>
        <p:nvSpPr>
          <p:cNvPr id="649" name="Google Shape;649;p30"/>
          <p:cNvSpPr/>
          <p:nvPr/>
        </p:nvSpPr>
        <p:spPr>
          <a:xfrm>
            <a:off x="2194560" y="150876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Square posts (1080x1080), Stories/Reels (1080x1920)</a:t>
            </a:r>
            <a:endParaRPr b="0" i="0" sz="1100" u="none" cap="none" strike="noStrike">
              <a:solidFill>
                <a:schemeClr val="dk1"/>
              </a:solidFill>
              <a:latin typeface="Calibri"/>
              <a:ea typeface="Calibri"/>
              <a:cs typeface="Calibri"/>
              <a:sym typeface="Calibri"/>
            </a:endParaRPr>
          </a:p>
        </p:txBody>
      </p:sp>
      <p:sp>
        <p:nvSpPr>
          <p:cNvPr id="650" name="Google Shape;650;p30"/>
          <p:cNvSpPr/>
          <p:nvPr/>
        </p:nvSpPr>
        <p:spPr>
          <a:xfrm>
            <a:off x="457200" y="192024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30"/>
          <p:cNvSpPr/>
          <p:nvPr/>
        </p:nvSpPr>
        <p:spPr>
          <a:xfrm>
            <a:off x="457200" y="201168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CADENCE</a:t>
            </a:r>
            <a:endParaRPr b="0" i="0" sz="1000" u="none" cap="none" strike="noStrike">
              <a:solidFill>
                <a:schemeClr val="dk1"/>
              </a:solidFill>
              <a:latin typeface="Calibri"/>
              <a:ea typeface="Calibri"/>
              <a:cs typeface="Calibri"/>
              <a:sym typeface="Calibri"/>
            </a:endParaRPr>
          </a:p>
        </p:txBody>
      </p:sp>
      <p:sp>
        <p:nvSpPr>
          <p:cNvPr id="652" name="Google Shape;652;p30"/>
          <p:cNvSpPr/>
          <p:nvPr/>
        </p:nvSpPr>
        <p:spPr>
          <a:xfrm>
            <a:off x="2194560" y="201168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3-4 posts/week during peak recruitment; stories around events</a:t>
            </a:r>
            <a:endParaRPr b="0" i="0" sz="1100" u="none" cap="none" strike="noStrike">
              <a:solidFill>
                <a:schemeClr val="dk1"/>
              </a:solidFill>
              <a:latin typeface="Calibri"/>
              <a:ea typeface="Calibri"/>
              <a:cs typeface="Calibri"/>
              <a:sym typeface="Calibri"/>
            </a:endParaRPr>
          </a:p>
        </p:txBody>
      </p:sp>
      <p:sp>
        <p:nvSpPr>
          <p:cNvPr id="653" name="Google Shape;653;p30"/>
          <p:cNvSpPr/>
          <p:nvPr/>
        </p:nvSpPr>
        <p:spPr>
          <a:xfrm>
            <a:off x="457200" y="242316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30"/>
          <p:cNvSpPr/>
          <p:nvPr/>
        </p:nvSpPr>
        <p:spPr>
          <a:xfrm>
            <a:off x="457200" y="251460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LEAD TIME</a:t>
            </a:r>
            <a:endParaRPr b="0" i="0" sz="1000" u="none" cap="none" strike="noStrike">
              <a:solidFill>
                <a:schemeClr val="dk1"/>
              </a:solidFill>
              <a:latin typeface="Calibri"/>
              <a:ea typeface="Calibri"/>
              <a:cs typeface="Calibri"/>
              <a:sym typeface="Calibri"/>
            </a:endParaRPr>
          </a:p>
        </p:txBody>
      </p:sp>
      <p:sp>
        <p:nvSpPr>
          <p:cNvPr id="655" name="Google Shape;655;p30"/>
          <p:cNvSpPr/>
          <p:nvPr/>
        </p:nvSpPr>
        <p:spPr>
          <a:xfrm>
            <a:off x="2194560" y="251460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10 business days; urgent posts need marketing manager approval</a:t>
            </a:r>
            <a:endParaRPr b="0" i="0" sz="1100" u="none" cap="none" strike="noStrike">
              <a:solidFill>
                <a:schemeClr val="dk1"/>
              </a:solidFill>
              <a:latin typeface="Calibri"/>
              <a:ea typeface="Calibri"/>
              <a:cs typeface="Calibri"/>
              <a:sym typeface="Calibri"/>
            </a:endParaRPr>
          </a:p>
        </p:txBody>
      </p:sp>
      <p:sp>
        <p:nvSpPr>
          <p:cNvPr id="656" name="Google Shape;656;p30"/>
          <p:cNvSpPr/>
          <p:nvPr/>
        </p:nvSpPr>
        <p:spPr>
          <a:xfrm>
            <a:off x="457200" y="292608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0"/>
          <p:cNvSpPr/>
          <p:nvPr/>
        </p:nvSpPr>
        <p:spPr>
          <a:xfrm>
            <a:off x="457200" y="301752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COPY TIPS</a:t>
            </a:r>
            <a:endParaRPr b="0" i="0" sz="1000" u="none" cap="none" strike="noStrike">
              <a:solidFill>
                <a:schemeClr val="dk1"/>
              </a:solidFill>
              <a:latin typeface="Calibri"/>
              <a:ea typeface="Calibri"/>
              <a:cs typeface="Calibri"/>
              <a:sym typeface="Calibri"/>
            </a:endParaRPr>
          </a:p>
        </p:txBody>
      </p:sp>
      <p:sp>
        <p:nvSpPr>
          <p:cNvPr id="658" name="Google Shape;658;p30"/>
          <p:cNvSpPr/>
          <p:nvPr/>
        </p:nvSpPr>
        <p:spPr>
          <a:xfrm>
            <a:off x="2194560" y="301752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Short, energetic captions. Strong CTA. Use relevant hashtags.</a:t>
            </a:r>
            <a:endParaRPr b="0" i="0" sz="1100" u="none" cap="none" strike="noStrike">
              <a:solidFill>
                <a:schemeClr val="dk1"/>
              </a:solidFill>
              <a:latin typeface="Calibri"/>
              <a:ea typeface="Calibri"/>
              <a:cs typeface="Calibri"/>
              <a:sym typeface="Calibri"/>
            </a:endParaRPr>
          </a:p>
        </p:txBody>
      </p:sp>
      <p:sp>
        <p:nvSpPr>
          <p:cNvPr id="659" name="Google Shape;659;p30"/>
          <p:cNvSpPr/>
          <p:nvPr/>
        </p:nvSpPr>
        <p:spPr>
          <a:xfrm>
            <a:off x="457200" y="342900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30"/>
          <p:cNvSpPr/>
          <p:nvPr/>
        </p:nvSpPr>
        <p:spPr>
          <a:xfrm>
            <a:off x="457200" y="35204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CTA EXAMPLES</a:t>
            </a:r>
            <a:endParaRPr b="0" i="0" sz="1000" u="none" cap="none" strike="noStrike">
              <a:solidFill>
                <a:schemeClr val="dk1"/>
              </a:solidFill>
              <a:latin typeface="Calibri"/>
              <a:ea typeface="Calibri"/>
              <a:cs typeface="Calibri"/>
              <a:sym typeface="Calibri"/>
            </a:endParaRPr>
          </a:p>
        </p:txBody>
      </p:sp>
      <p:sp>
        <p:nvSpPr>
          <p:cNvPr id="661" name="Google Shape;661;p30"/>
          <p:cNvSpPr/>
          <p:nvPr/>
        </p:nvSpPr>
        <p:spPr>
          <a:xfrm>
            <a:off x="2194560" y="35204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"Register now" | "Apply today" | "Tap link in bio"</a:t>
            </a:r>
            <a:endParaRPr b="0" i="0" sz="1100" u="none" cap="none" strike="noStrike">
              <a:solidFill>
                <a:schemeClr val="dk1"/>
              </a:solidFill>
              <a:latin typeface="Calibri"/>
              <a:ea typeface="Calibri"/>
              <a:cs typeface="Calibri"/>
              <a:sym typeface="Calibri"/>
            </a:endParaRPr>
          </a:p>
        </p:txBody>
      </p:sp>
      <p:sp>
        <p:nvSpPr>
          <p:cNvPr id="662" name="Google Shape;662;p30"/>
          <p:cNvSpPr/>
          <p:nvPr/>
        </p:nvSpPr>
        <p:spPr>
          <a:xfrm>
            <a:off x="457200" y="4023360"/>
            <a:ext cx="8229600" cy="777240"/>
          </a:xfrm>
          <a:prstGeom prst="rect">
            <a:avLst/>
          </a:prstGeom>
          <a:solidFill>
            <a:srgbClr val="FFFBEB"/>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30"/>
          <p:cNvSpPr/>
          <p:nvPr/>
        </p:nvSpPr>
        <p:spPr>
          <a:xfrm>
            <a:off x="685800" y="4069080"/>
            <a:ext cx="3657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HANDS-ON MINI-CHECKLIST</a:t>
            </a:r>
            <a:endParaRPr b="0" i="0" sz="1000" u="none" cap="none" strike="noStrike">
              <a:solidFill>
                <a:schemeClr val="dk1"/>
              </a:solidFill>
              <a:latin typeface="Calibri"/>
              <a:ea typeface="Calibri"/>
              <a:cs typeface="Calibri"/>
              <a:sym typeface="Calibri"/>
            </a:endParaRPr>
          </a:p>
        </p:txBody>
      </p:sp>
      <p:sp>
        <p:nvSpPr>
          <p:cNvPr id="664" name="Google Shape;664;p30"/>
          <p:cNvSpPr/>
          <p:nvPr/>
        </p:nvSpPr>
        <p:spPr>
          <a:xfrm>
            <a:off x="685800" y="429768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Use Social Media Calendar Template  ☐ Export graphics at 1080x1080 or 1080x1920  ☐ Include caption + CTA link  ☐ Submit to cobe-info@boisestate.edu for brand review</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69" name="Shape 669"/>
        <p:cNvGrpSpPr/>
        <p:nvPr/>
      </p:nvGrpSpPr>
      <p:grpSpPr>
        <a:xfrm>
          <a:off x="0" y="0"/>
          <a:ext cx="0" cy="0"/>
          <a:chOff x="0" y="0"/>
          <a:chExt cx="0" cy="0"/>
        </a:xfrm>
      </p:grpSpPr>
      <p:sp>
        <p:nvSpPr>
          <p:cNvPr id="670" name="Google Shape;670;p31"/>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31"/>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672" name="Google Shape;672;p31"/>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673" name="Google Shape;673;p31"/>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24</a:t>
            </a:r>
            <a:endParaRPr b="0" i="0" sz="1000" u="none" cap="none" strike="noStrike">
              <a:solidFill>
                <a:schemeClr val="dk1"/>
              </a:solidFill>
              <a:latin typeface="Calibri"/>
              <a:ea typeface="Calibri"/>
              <a:cs typeface="Calibri"/>
              <a:sym typeface="Calibri"/>
            </a:endParaRPr>
          </a:p>
        </p:txBody>
      </p:sp>
      <p:sp>
        <p:nvSpPr>
          <p:cNvPr id="674" name="Google Shape;674;p31"/>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600"/>
              <a:buFont typeface="Georgia"/>
              <a:buNone/>
            </a:pPr>
            <a:r>
              <a:rPr b="1" i="0" lang="en-US" sz="2600" u="none" cap="none" strike="noStrike">
                <a:solidFill>
                  <a:srgbClr val="0B1220"/>
                </a:solidFill>
                <a:latin typeface="Georgia"/>
                <a:ea typeface="Georgia"/>
                <a:cs typeface="Georgia"/>
                <a:sym typeface="Georgia"/>
              </a:rPr>
              <a:t>Channel Guide: LinkedIn (College of Business and Economics at Boise State)</a:t>
            </a:r>
            <a:endParaRPr b="0" i="0" sz="2600" u="none" cap="none" strike="noStrike">
              <a:solidFill>
                <a:schemeClr val="dk1"/>
              </a:solidFill>
              <a:latin typeface="Calibri"/>
              <a:ea typeface="Calibri"/>
              <a:cs typeface="Calibri"/>
              <a:sym typeface="Calibri"/>
            </a:endParaRPr>
          </a:p>
        </p:txBody>
      </p:sp>
      <p:sp>
        <p:nvSpPr>
          <p:cNvPr id="675" name="Google Shape;675;p31"/>
          <p:cNvSpPr/>
          <p:nvPr/>
        </p:nvSpPr>
        <p:spPr>
          <a:xfrm>
            <a:off x="457200" y="10058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BEST FOR</a:t>
            </a:r>
            <a:endParaRPr b="0" i="0" sz="1000" u="none" cap="none" strike="noStrike">
              <a:solidFill>
                <a:schemeClr val="dk1"/>
              </a:solidFill>
              <a:latin typeface="Calibri"/>
              <a:ea typeface="Calibri"/>
              <a:cs typeface="Calibri"/>
              <a:sym typeface="Calibri"/>
            </a:endParaRPr>
          </a:p>
        </p:txBody>
      </p:sp>
      <p:sp>
        <p:nvSpPr>
          <p:cNvPr id="676" name="Google Shape;676;p31"/>
          <p:cNvSpPr/>
          <p:nvPr/>
        </p:nvSpPr>
        <p:spPr>
          <a:xfrm>
            <a:off x="2194560" y="10058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Employer partnerships, alumni highlights, professional storytelling, Online BBA community</a:t>
            </a:r>
            <a:endParaRPr b="0" i="0" sz="1100" u="none" cap="none" strike="noStrike">
              <a:solidFill>
                <a:schemeClr val="dk1"/>
              </a:solidFill>
              <a:latin typeface="Calibri"/>
              <a:ea typeface="Calibri"/>
              <a:cs typeface="Calibri"/>
              <a:sym typeface="Calibri"/>
            </a:endParaRPr>
          </a:p>
        </p:txBody>
      </p:sp>
      <p:sp>
        <p:nvSpPr>
          <p:cNvPr id="677" name="Google Shape;677;p31"/>
          <p:cNvSpPr/>
          <p:nvPr/>
        </p:nvSpPr>
        <p:spPr>
          <a:xfrm>
            <a:off x="457200" y="141732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31"/>
          <p:cNvSpPr/>
          <p:nvPr/>
        </p:nvSpPr>
        <p:spPr>
          <a:xfrm>
            <a:off x="457200" y="150876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ASSET TYPES</a:t>
            </a:r>
            <a:endParaRPr b="0" i="0" sz="1000" u="none" cap="none" strike="noStrike">
              <a:solidFill>
                <a:schemeClr val="dk1"/>
              </a:solidFill>
              <a:latin typeface="Calibri"/>
              <a:ea typeface="Calibri"/>
              <a:cs typeface="Calibri"/>
              <a:sym typeface="Calibri"/>
            </a:endParaRPr>
          </a:p>
        </p:txBody>
      </p:sp>
      <p:sp>
        <p:nvSpPr>
          <p:cNvPr id="679" name="Google Shape;679;p31"/>
          <p:cNvSpPr/>
          <p:nvPr/>
        </p:nvSpPr>
        <p:spPr>
          <a:xfrm>
            <a:off x="2194560" y="150876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Banners (1920x1080), articles, student spotlights, employer partnerships</a:t>
            </a:r>
            <a:endParaRPr b="0" i="0" sz="1100" u="none" cap="none" strike="noStrike">
              <a:solidFill>
                <a:schemeClr val="dk1"/>
              </a:solidFill>
              <a:latin typeface="Calibri"/>
              <a:ea typeface="Calibri"/>
              <a:cs typeface="Calibri"/>
              <a:sym typeface="Calibri"/>
            </a:endParaRPr>
          </a:p>
        </p:txBody>
      </p:sp>
      <p:sp>
        <p:nvSpPr>
          <p:cNvPr id="680" name="Google Shape;680;p31"/>
          <p:cNvSpPr/>
          <p:nvPr/>
        </p:nvSpPr>
        <p:spPr>
          <a:xfrm>
            <a:off x="457200" y="192024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31"/>
          <p:cNvSpPr/>
          <p:nvPr/>
        </p:nvSpPr>
        <p:spPr>
          <a:xfrm>
            <a:off x="457200" y="201168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CADENCE</a:t>
            </a:r>
            <a:endParaRPr b="0" i="0" sz="1000" u="none" cap="none" strike="noStrike">
              <a:solidFill>
                <a:schemeClr val="dk1"/>
              </a:solidFill>
              <a:latin typeface="Calibri"/>
              <a:ea typeface="Calibri"/>
              <a:cs typeface="Calibri"/>
              <a:sym typeface="Calibri"/>
            </a:endParaRPr>
          </a:p>
        </p:txBody>
      </p:sp>
      <p:sp>
        <p:nvSpPr>
          <p:cNvPr id="682" name="Google Shape;682;p31"/>
          <p:cNvSpPr/>
          <p:nvPr/>
        </p:nvSpPr>
        <p:spPr>
          <a:xfrm>
            <a:off x="2194560" y="201168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2-3 posts/week; increase around fairs and mixers</a:t>
            </a:r>
            <a:endParaRPr b="0" i="0" sz="1100" u="none" cap="none" strike="noStrike">
              <a:solidFill>
                <a:schemeClr val="dk1"/>
              </a:solidFill>
              <a:latin typeface="Calibri"/>
              <a:ea typeface="Calibri"/>
              <a:cs typeface="Calibri"/>
              <a:sym typeface="Calibri"/>
            </a:endParaRPr>
          </a:p>
        </p:txBody>
      </p:sp>
      <p:sp>
        <p:nvSpPr>
          <p:cNvPr id="683" name="Google Shape;683;p31"/>
          <p:cNvSpPr/>
          <p:nvPr/>
        </p:nvSpPr>
        <p:spPr>
          <a:xfrm>
            <a:off x="457200" y="242316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1"/>
          <p:cNvSpPr/>
          <p:nvPr/>
        </p:nvSpPr>
        <p:spPr>
          <a:xfrm>
            <a:off x="457200" y="251460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LEAD TIME</a:t>
            </a:r>
            <a:endParaRPr b="0" i="0" sz="1000" u="none" cap="none" strike="noStrike">
              <a:solidFill>
                <a:schemeClr val="dk1"/>
              </a:solidFill>
              <a:latin typeface="Calibri"/>
              <a:ea typeface="Calibri"/>
              <a:cs typeface="Calibri"/>
              <a:sym typeface="Calibri"/>
            </a:endParaRPr>
          </a:p>
        </p:txBody>
      </p:sp>
      <p:sp>
        <p:nvSpPr>
          <p:cNvPr id="685" name="Google Shape;685;p31"/>
          <p:cNvSpPr/>
          <p:nvPr/>
        </p:nvSpPr>
        <p:spPr>
          <a:xfrm>
            <a:off x="2194560" y="251460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10 business days; webinars/events should be requested 3 weeks out</a:t>
            </a:r>
            <a:endParaRPr b="0" i="0" sz="1100" u="none" cap="none" strike="noStrike">
              <a:solidFill>
                <a:schemeClr val="dk1"/>
              </a:solidFill>
              <a:latin typeface="Calibri"/>
              <a:ea typeface="Calibri"/>
              <a:cs typeface="Calibri"/>
              <a:sym typeface="Calibri"/>
            </a:endParaRPr>
          </a:p>
        </p:txBody>
      </p:sp>
      <p:sp>
        <p:nvSpPr>
          <p:cNvPr id="686" name="Google Shape;686;p31"/>
          <p:cNvSpPr/>
          <p:nvPr/>
        </p:nvSpPr>
        <p:spPr>
          <a:xfrm>
            <a:off x="457200" y="292608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31"/>
          <p:cNvSpPr/>
          <p:nvPr/>
        </p:nvSpPr>
        <p:spPr>
          <a:xfrm>
            <a:off x="457200" y="301752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COPY TIPS</a:t>
            </a:r>
            <a:endParaRPr b="0" i="0" sz="1000" u="none" cap="none" strike="noStrike">
              <a:solidFill>
                <a:schemeClr val="dk1"/>
              </a:solidFill>
              <a:latin typeface="Calibri"/>
              <a:ea typeface="Calibri"/>
              <a:cs typeface="Calibri"/>
              <a:sym typeface="Calibri"/>
            </a:endParaRPr>
          </a:p>
        </p:txBody>
      </p:sp>
      <p:sp>
        <p:nvSpPr>
          <p:cNvPr id="688" name="Google Shape;688;p31"/>
          <p:cNvSpPr/>
          <p:nvPr/>
        </p:nvSpPr>
        <p:spPr>
          <a:xfrm>
            <a:off x="2194560" y="301752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Professional, outcome-focused. Include employer value props and landing page links.</a:t>
            </a:r>
            <a:endParaRPr b="0" i="0" sz="1100" u="none" cap="none" strike="noStrike">
              <a:solidFill>
                <a:schemeClr val="dk1"/>
              </a:solidFill>
              <a:latin typeface="Calibri"/>
              <a:ea typeface="Calibri"/>
              <a:cs typeface="Calibri"/>
              <a:sym typeface="Calibri"/>
            </a:endParaRPr>
          </a:p>
        </p:txBody>
      </p:sp>
      <p:sp>
        <p:nvSpPr>
          <p:cNvPr id="689" name="Google Shape;689;p31"/>
          <p:cNvSpPr/>
          <p:nvPr/>
        </p:nvSpPr>
        <p:spPr>
          <a:xfrm>
            <a:off x="457200" y="342900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1"/>
          <p:cNvSpPr/>
          <p:nvPr/>
        </p:nvSpPr>
        <p:spPr>
          <a:xfrm>
            <a:off x="457200" y="35204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CTA EXAMPLES</a:t>
            </a:r>
            <a:endParaRPr b="0" i="0" sz="1000" u="none" cap="none" strike="noStrike">
              <a:solidFill>
                <a:schemeClr val="dk1"/>
              </a:solidFill>
              <a:latin typeface="Calibri"/>
              <a:ea typeface="Calibri"/>
              <a:cs typeface="Calibri"/>
              <a:sym typeface="Calibri"/>
            </a:endParaRPr>
          </a:p>
        </p:txBody>
      </p:sp>
      <p:sp>
        <p:nvSpPr>
          <p:cNvPr id="691" name="Google Shape;691;p31"/>
          <p:cNvSpPr/>
          <p:nvPr/>
        </p:nvSpPr>
        <p:spPr>
          <a:xfrm>
            <a:off x="2194560" y="35204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"Learn more" | "Connect with our team" | "Register for the mixer"</a:t>
            </a:r>
            <a:endParaRPr b="0" i="0" sz="1100" u="none" cap="none" strike="noStrike">
              <a:solidFill>
                <a:schemeClr val="dk1"/>
              </a:solidFill>
              <a:latin typeface="Calibri"/>
              <a:ea typeface="Calibri"/>
              <a:cs typeface="Calibri"/>
              <a:sym typeface="Calibri"/>
            </a:endParaRPr>
          </a:p>
        </p:txBody>
      </p:sp>
      <p:sp>
        <p:nvSpPr>
          <p:cNvPr id="692" name="Google Shape;692;p31"/>
          <p:cNvSpPr/>
          <p:nvPr/>
        </p:nvSpPr>
        <p:spPr>
          <a:xfrm>
            <a:off x="457200" y="4023360"/>
            <a:ext cx="8229600" cy="777240"/>
          </a:xfrm>
          <a:prstGeom prst="rect">
            <a:avLst/>
          </a:prstGeom>
          <a:solidFill>
            <a:srgbClr val="FFFBEB"/>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31"/>
          <p:cNvSpPr/>
          <p:nvPr/>
        </p:nvSpPr>
        <p:spPr>
          <a:xfrm>
            <a:off x="685800" y="4069080"/>
            <a:ext cx="3657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HANDS-ON MINI-CHECKLIST</a:t>
            </a:r>
            <a:endParaRPr b="0" i="0" sz="1000" u="none" cap="none" strike="noStrike">
              <a:solidFill>
                <a:schemeClr val="dk1"/>
              </a:solidFill>
              <a:latin typeface="Calibri"/>
              <a:ea typeface="Calibri"/>
              <a:cs typeface="Calibri"/>
              <a:sym typeface="Calibri"/>
            </a:endParaRPr>
          </a:p>
        </p:txBody>
      </p:sp>
      <p:sp>
        <p:nvSpPr>
          <p:cNvPr id="694" name="Google Shape;694;p31"/>
          <p:cNvSpPr/>
          <p:nvPr/>
        </p:nvSpPr>
        <p:spPr>
          <a:xfrm>
            <a:off x="685800" y="429768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Use 1920x1080 for event banners  ☐ Tag industry partners  ☐ Link to landing page  ☐ Submit to cobe-info@boisestate.edu for brand review</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99" name="Shape 699"/>
        <p:cNvGrpSpPr/>
        <p:nvPr/>
      </p:nvGrpSpPr>
      <p:grpSpPr>
        <a:xfrm>
          <a:off x="0" y="0"/>
          <a:ext cx="0" cy="0"/>
          <a:chOff x="0" y="0"/>
          <a:chExt cx="0" cy="0"/>
        </a:xfrm>
      </p:grpSpPr>
      <p:sp>
        <p:nvSpPr>
          <p:cNvPr id="700" name="Google Shape;700;p32"/>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2"/>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702" name="Google Shape;702;p32"/>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703" name="Google Shape;703;p32"/>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25</a:t>
            </a:r>
            <a:endParaRPr b="0" i="0" sz="1000" u="none" cap="none" strike="noStrike">
              <a:solidFill>
                <a:schemeClr val="dk1"/>
              </a:solidFill>
              <a:latin typeface="Calibri"/>
              <a:ea typeface="Calibri"/>
              <a:cs typeface="Calibri"/>
              <a:sym typeface="Calibri"/>
            </a:endParaRPr>
          </a:p>
        </p:txBody>
      </p:sp>
      <p:sp>
        <p:nvSpPr>
          <p:cNvPr id="704" name="Google Shape;704;p32"/>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600"/>
              <a:buFont typeface="Georgia"/>
              <a:buNone/>
            </a:pPr>
            <a:r>
              <a:rPr b="1" i="0" lang="en-US" sz="2600" u="none" cap="none" strike="noStrike">
                <a:solidFill>
                  <a:srgbClr val="0B1220"/>
                </a:solidFill>
                <a:latin typeface="Georgia"/>
                <a:ea typeface="Georgia"/>
                <a:cs typeface="Georgia"/>
                <a:sym typeface="Georgia"/>
              </a:rPr>
              <a:t>Channel Guide: Email &amp; Newsletter</a:t>
            </a:r>
            <a:endParaRPr b="0" i="0" sz="2600" u="none" cap="none" strike="noStrike">
              <a:solidFill>
                <a:schemeClr val="dk1"/>
              </a:solidFill>
              <a:latin typeface="Calibri"/>
              <a:ea typeface="Calibri"/>
              <a:cs typeface="Calibri"/>
              <a:sym typeface="Calibri"/>
            </a:endParaRPr>
          </a:p>
        </p:txBody>
      </p:sp>
      <p:sp>
        <p:nvSpPr>
          <p:cNvPr id="705" name="Google Shape;705;p32"/>
          <p:cNvSpPr/>
          <p:nvPr/>
        </p:nvSpPr>
        <p:spPr>
          <a:xfrm>
            <a:off x="457200" y="10058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BEST FOR</a:t>
            </a:r>
            <a:endParaRPr b="0" i="0" sz="1000" u="none" cap="none" strike="noStrike">
              <a:solidFill>
                <a:schemeClr val="dk1"/>
              </a:solidFill>
              <a:latin typeface="Calibri"/>
              <a:ea typeface="Calibri"/>
              <a:cs typeface="Calibri"/>
              <a:sym typeface="Calibri"/>
            </a:endParaRPr>
          </a:p>
        </p:txBody>
      </p:sp>
      <p:sp>
        <p:nvSpPr>
          <p:cNvPr id="706" name="Google Shape;706;p32"/>
          <p:cNvSpPr/>
          <p:nvPr/>
        </p:nvSpPr>
        <p:spPr>
          <a:xfrm>
            <a:off x="2194560" y="10058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Driving event attendance, applications, and program inquiries</a:t>
            </a:r>
            <a:endParaRPr b="0" i="0" sz="1100" u="none" cap="none" strike="noStrike">
              <a:solidFill>
                <a:schemeClr val="dk1"/>
              </a:solidFill>
              <a:latin typeface="Calibri"/>
              <a:ea typeface="Calibri"/>
              <a:cs typeface="Calibri"/>
              <a:sym typeface="Calibri"/>
            </a:endParaRPr>
          </a:p>
        </p:txBody>
      </p:sp>
      <p:sp>
        <p:nvSpPr>
          <p:cNvPr id="707" name="Google Shape;707;p32"/>
          <p:cNvSpPr/>
          <p:nvPr/>
        </p:nvSpPr>
        <p:spPr>
          <a:xfrm>
            <a:off x="457200" y="141732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32"/>
          <p:cNvSpPr/>
          <p:nvPr/>
        </p:nvSpPr>
        <p:spPr>
          <a:xfrm>
            <a:off x="457200" y="150876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NEWSLETTERS</a:t>
            </a:r>
            <a:endParaRPr b="0" i="0" sz="1000" u="none" cap="none" strike="noStrike">
              <a:solidFill>
                <a:schemeClr val="dk1"/>
              </a:solidFill>
              <a:latin typeface="Calibri"/>
              <a:ea typeface="Calibri"/>
              <a:cs typeface="Calibri"/>
              <a:sym typeface="Calibri"/>
            </a:endParaRPr>
          </a:p>
        </p:txBody>
      </p:sp>
      <p:sp>
        <p:nvSpPr>
          <p:cNvPr id="709" name="Google Shape;709;p32"/>
          <p:cNvSpPr/>
          <p:nvPr/>
        </p:nvSpPr>
        <p:spPr>
          <a:xfrm>
            <a:off x="2194560" y="150876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Student Events (weekly/biweekly) and Bronco Business News (monthly/quarterly)</a:t>
            </a:r>
            <a:endParaRPr b="0" i="0" sz="1100" u="none" cap="none" strike="noStrike">
              <a:solidFill>
                <a:schemeClr val="dk1"/>
              </a:solidFill>
              <a:latin typeface="Calibri"/>
              <a:ea typeface="Calibri"/>
              <a:cs typeface="Calibri"/>
              <a:sym typeface="Calibri"/>
            </a:endParaRPr>
          </a:p>
        </p:txBody>
      </p:sp>
      <p:sp>
        <p:nvSpPr>
          <p:cNvPr id="710" name="Google Shape;710;p32"/>
          <p:cNvSpPr/>
          <p:nvPr/>
        </p:nvSpPr>
        <p:spPr>
          <a:xfrm>
            <a:off x="457200" y="192024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32"/>
          <p:cNvSpPr/>
          <p:nvPr/>
        </p:nvSpPr>
        <p:spPr>
          <a:xfrm>
            <a:off x="457200" y="201168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SUBSCRIBER REACH</a:t>
            </a:r>
            <a:endParaRPr b="0" i="0" sz="1000" u="none" cap="none" strike="noStrike">
              <a:solidFill>
                <a:schemeClr val="dk1"/>
              </a:solidFill>
              <a:latin typeface="Calibri"/>
              <a:ea typeface="Calibri"/>
              <a:cs typeface="Calibri"/>
              <a:sym typeface="Calibri"/>
            </a:endParaRPr>
          </a:p>
        </p:txBody>
      </p:sp>
      <p:sp>
        <p:nvSpPr>
          <p:cNvPr id="712" name="Google Shape;712;p32"/>
          <p:cNvSpPr/>
          <p:nvPr/>
        </p:nvSpPr>
        <p:spPr>
          <a:xfrm>
            <a:off x="2194560" y="201168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5,000+ COBE subscribers across student and faculty lists</a:t>
            </a:r>
            <a:endParaRPr b="0" i="0" sz="1100" u="none" cap="none" strike="noStrike">
              <a:solidFill>
                <a:schemeClr val="dk1"/>
              </a:solidFill>
              <a:latin typeface="Calibri"/>
              <a:ea typeface="Calibri"/>
              <a:cs typeface="Calibri"/>
              <a:sym typeface="Calibri"/>
            </a:endParaRPr>
          </a:p>
        </p:txBody>
      </p:sp>
      <p:sp>
        <p:nvSpPr>
          <p:cNvPr id="713" name="Google Shape;713;p32"/>
          <p:cNvSpPr/>
          <p:nvPr/>
        </p:nvSpPr>
        <p:spPr>
          <a:xfrm>
            <a:off x="457200" y="242316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2"/>
          <p:cNvSpPr/>
          <p:nvPr/>
        </p:nvSpPr>
        <p:spPr>
          <a:xfrm>
            <a:off x="457200" y="251460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LEAD TIME</a:t>
            </a:r>
            <a:endParaRPr b="0" i="0" sz="1000" u="none" cap="none" strike="noStrike">
              <a:solidFill>
                <a:schemeClr val="dk1"/>
              </a:solidFill>
              <a:latin typeface="Calibri"/>
              <a:ea typeface="Calibri"/>
              <a:cs typeface="Calibri"/>
              <a:sym typeface="Calibri"/>
            </a:endParaRPr>
          </a:p>
        </p:txBody>
      </p:sp>
      <p:sp>
        <p:nvSpPr>
          <p:cNvPr id="715" name="Google Shape;715;p32"/>
          <p:cNvSpPr/>
          <p:nvPr/>
        </p:nvSpPr>
        <p:spPr>
          <a:xfrm>
            <a:off x="2194560" y="251460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10 business days (simple), 15 business days (complex multi-section)</a:t>
            </a:r>
            <a:endParaRPr b="0" i="0" sz="1100" u="none" cap="none" strike="noStrike">
              <a:solidFill>
                <a:schemeClr val="dk1"/>
              </a:solidFill>
              <a:latin typeface="Calibri"/>
              <a:ea typeface="Calibri"/>
              <a:cs typeface="Calibri"/>
              <a:sym typeface="Calibri"/>
            </a:endParaRPr>
          </a:p>
        </p:txBody>
      </p:sp>
      <p:sp>
        <p:nvSpPr>
          <p:cNvPr id="716" name="Google Shape;716;p32"/>
          <p:cNvSpPr/>
          <p:nvPr/>
        </p:nvSpPr>
        <p:spPr>
          <a:xfrm>
            <a:off x="457200" y="292608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32"/>
          <p:cNvSpPr/>
          <p:nvPr/>
        </p:nvSpPr>
        <p:spPr>
          <a:xfrm>
            <a:off x="457200" y="301752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SUBJECT LINE</a:t>
            </a:r>
            <a:endParaRPr b="0" i="0" sz="1000" u="none" cap="none" strike="noStrike">
              <a:solidFill>
                <a:schemeClr val="dk1"/>
              </a:solidFill>
              <a:latin typeface="Calibri"/>
              <a:ea typeface="Calibri"/>
              <a:cs typeface="Calibri"/>
              <a:sym typeface="Calibri"/>
            </a:endParaRPr>
          </a:p>
        </p:txBody>
      </p:sp>
      <p:sp>
        <p:nvSpPr>
          <p:cNvPr id="718" name="Google Shape;718;p32"/>
          <p:cNvSpPr/>
          <p:nvPr/>
        </p:nvSpPr>
        <p:spPr>
          <a:xfrm>
            <a:off x="2194560" y="301752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Keep under 55 characters. Be specific. Include date if event-related.</a:t>
            </a:r>
            <a:endParaRPr b="0" i="0" sz="1100" u="none" cap="none" strike="noStrike">
              <a:solidFill>
                <a:schemeClr val="dk1"/>
              </a:solidFill>
              <a:latin typeface="Calibri"/>
              <a:ea typeface="Calibri"/>
              <a:cs typeface="Calibri"/>
              <a:sym typeface="Calibri"/>
            </a:endParaRPr>
          </a:p>
        </p:txBody>
      </p:sp>
      <p:sp>
        <p:nvSpPr>
          <p:cNvPr id="719" name="Google Shape;719;p32"/>
          <p:cNvSpPr/>
          <p:nvPr/>
        </p:nvSpPr>
        <p:spPr>
          <a:xfrm>
            <a:off x="457200" y="3429000"/>
            <a:ext cx="8229600" cy="9144"/>
          </a:xfrm>
          <a:prstGeom prst="rect">
            <a:avLst/>
          </a:prstGeom>
          <a:solidFill>
            <a:srgbClr val="F1F5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32"/>
          <p:cNvSpPr/>
          <p:nvPr/>
        </p:nvSpPr>
        <p:spPr>
          <a:xfrm>
            <a:off x="457200" y="352044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WHAT TO PROVIDE</a:t>
            </a:r>
            <a:endParaRPr b="0" i="0" sz="1000" u="none" cap="none" strike="noStrike">
              <a:solidFill>
                <a:schemeClr val="dk1"/>
              </a:solidFill>
              <a:latin typeface="Calibri"/>
              <a:ea typeface="Calibri"/>
              <a:cs typeface="Calibri"/>
              <a:sym typeface="Calibri"/>
            </a:endParaRPr>
          </a:p>
        </p:txBody>
      </p:sp>
      <p:sp>
        <p:nvSpPr>
          <p:cNvPr id="721" name="Google Shape;721;p32"/>
          <p:cNvSpPr/>
          <p:nvPr/>
        </p:nvSpPr>
        <p:spPr>
          <a:xfrm>
            <a:off x="2194560" y="3520440"/>
            <a:ext cx="6492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100"/>
              <a:buFont typeface="Arial"/>
              <a:buNone/>
            </a:pPr>
            <a:r>
              <a:rPr b="0" i="0" lang="en-US" sz="1100" u="none" cap="none" strike="noStrike">
                <a:solidFill>
                  <a:srgbClr val="334155"/>
                </a:solidFill>
                <a:latin typeface="Arial"/>
                <a:ea typeface="Arial"/>
                <a:cs typeface="Arial"/>
                <a:sym typeface="Arial"/>
              </a:rPr>
              <a:t>Rectangle landscape photo, short paragraph (value props), CTA button link</a:t>
            </a:r>
            <a:endParaRPr b="0" i="0" sz="1100" u="none" cap="none" strike="noStrike">
              <a:solidFill>
                <a:schemeClr val="dk1"/>
              </a:solidFill>
              <a:latin typeface="Calibri"/>
              <a:ea typeface="Calibri"/>
              <a:cs typeface="Calibri"/>
              <a:sym typeface="Calibri"/>
            </a:endParaRPr>
          </a:p>
        </p:txBody>
      </p:sp>
      <p:sp>
        <p:nvSpPr>
          <p:cNvPr id="722" name="Google Shape;722;p32"/>
          <p:cNvSpPr/>
          <p:nvPr/>
        </p:nvSpPr>
        <p:spPr>
          <a:xfrm>
            <a:off x="457200" y="4023360"/>
            <a:ext cx="8229600" cy="777240"/>
          </a:xfrm>
          <a:prstGeom prst="rect">
            <a:avLst/>
          </a:prstGeom>
          <a:solidFill>
            <a:srgbClr val="FFFBEB"/>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32"/>
          <p:cNvSpPr/>
          <p:nvPr/>
        </p:nvSpPr>
        <p:spPr>
          <a:xfrm>
            <a:off x="685800" y="4069080"/>
            <a:ext cx="3657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000"/>
              <a:buFont typeface="Arial"/>
              <a:buNone/>
            </a:pPr>
            <a:r>
              <a:rPr b="1" i="0" lang="en-US" sz="1000" u="none" cap="none" strike="noStrike">
                <a:solidFill>
                  <a:srgbClr val="F97316"/>
                </a:solidFill>
                <a:latin typeface="Arial"/>
                <a:ea typeface="Arial"/>
                <a:cs typeface="Arial"/>
                <a:sym typeface="Arial"/>
              </a:rPr>
              <a:t>KEY INSIGHT (FROM KATE)</a:t>
            </a:r>
            <a:endParaRPr b="0" i="0" sz="1000" u="none" cap="none" strike="noStrike">
              <a:solidFill>
                <a:schemeClr val="dk1"/>
              </a:solidFill>
              <a:latin typeface="Calibri"/>
              <a:ea typeface="Calibri"/>
              <a:cs typeface="Calibri"/>
              <a:sym typeface="Calibri"/>
            </a:endParaRPr>
          </a:p>
        </p:txBody>
      </p:sp>
      <p:sp>
        <p:nvSpPr>
          <p:cNvPr id="724" name="Google Shape;724;p32"/>
          <p:cNvSpPr/>
          <p:nvPr/>
        </p:nvSpPr>
        <p:spPr>
          <a:xfrm>
            <a:off x="685800" y="429768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Feature certificates every few months — not every newsletter. Vary messaging each time to avoid tune-out. Include events (career fairs, panels) as they happen.</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29" name="Shape 729"/>
        <p:cNvGrpSpPr/>
        <p:nvPr/>
      </p:nvGrpSpPr>
      <p:grpSpPr>
        <a:xfrm>
          <a:off x="0" y="0"/>
          <a:ext cx="0" cy="0"/>
          <a:chOff x="0" y="0"/>
          <a:chExt cx="0" cy="0"/>
        </a:xfrm>
      </p:grpSpPr>
      <p:sp>
        <p:nvSpPr>
          <p:cNvPr id="730" name="Google Shape;730;p33"/>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33"/>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732" name="Google Shape;732;p33"/>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733" name="Google Shape;733;p33"/>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26</a:t>
            </a:r>
            <a:endParaRPr b="0" i="0" sz="1000" u="none" cap="none" strike="noStrike">
              <a:solidFill>
                <a:schemeClr val="dk1"/>
              </a:solidFill>
              <a:latin typeface="Calibri"/>
              <a:ea typeface="Calibri"/>
              <a:cs typeface="Calibri"/>
              <a:sym typeface="Calibri"/>
            </a:endParaRPr>
          </a:p>
        </p:txBody>
      </p:sp>
      <p:sp>
        <p:nvSpPr>
          <p:cNvPr id="734" name="Google Shape;734;p33"/>
          <p:cNvSpPr/>
          <p:nvPr/>
        </p:nvSpPr>
        <p:spPr>
          <a:xfrm>
            <a:off x="457200" y="3200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400"/>
              <a:buFont typeface="Georgia"/>
              <a:buNone/>
            </a:pPr>
            <a:r>
              <a:rPr b="1" i="0" lang="en-US" sz="2400" u="none" cap="none" strike="noStrike">
                <a:solidFill>
                  <a:srgbClr val="0B1220"/>
                </a:solidFill>
                <a:latin typeface="Georgia"/>
                <a:ea typeface="Georgia"/>
                <a:cs typeface="Georgia"/>
                <a:sym typeface="Georgia"/>
              </a:rPr>
              <a:t>Channel Guide: Digital Screens &amp; Physical Materials</a:t>
            </a:r>
            <a:endParaRPr b="0" i="0" sz="2400" u="none" cap="none" strike="noStrike">
              <a:solidFill>
                <a:schemeClr val="dk1"/>
              </a:solidFill>
              <a:latin typeface="Calibri"/>
              <a:ea typeface="Calibri"/>
              <a:cs typeface="Calibri"/>
              <a:sym typeface="Calibri"/>
            </a:endParaRPr>
          </a:p>
        </p:txBody>
      </p:sp>
      <p:graphicFrame>
        <p:nvGraphicFramePr>
          <p:cNvPr id="735" name="Google Shape;735;p33"/>
          <p:cNvGraphicFramePr/>
          <p:nvPr/>
        </p:nvGraphicFramePr>
        <p:xfrm>
          <a:off x="457200" y="1005840"/>
          <a:ext cx="3000000" cy="3000000"/>
        </p:xfrm>
        <a:graphic>
          <a:graphicData uri="http://schemas.openxmlformats.org/drawingml/2006/table">
            <a:tbl>
              <a:tblPr>
                <a:noFill/>
                <a:tableStyleId>{AD4631F1-437D-4764-92B6-2A4562E18BC6}</a:tableStyleId>
              </a:tblPr>
              <a:tblGrid>
                <a:gridCol w="1371600"/>
                <a:gridCol w="1645925"/>
                <a:gridCol w="2560325"/>
                <a:gridCol w="2651750"/>
              </a:tblGrid>
              <a:tr h="304800">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Location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Spec</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Submit To</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Notes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304800">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MBEB Screens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1920x1080 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cobe-info@boisestate.edu</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Logo on screen already—NO logo overlays. Dark bg + white text best.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04800">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Housing Displays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1920x1080 PPT/PDF</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verenitzebeltran@boisestate.edu</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Landscape preferred. Marketing form submission.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04800">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Student Union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1920x1080 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SUB promotional request form</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4 dining screens (768x1366), 2 info desk (1920x1080)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04800">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Albertsons Library</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1280x720 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lib_communications@boisestate.edu</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High foot traffic location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04800">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Campus Rec</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1920x1080 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jaredcox@boisestate.edu</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Rec center digital screens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
        <p:nvSpPr>
          <p:cNvPr id="736" name="Google Shape;736;p33"/>
          <p:cNvSpPr/>
          <p:nvPr/>
        </p:nvSpPr>
        <p:spPr>
          <a:xfrm>
            <a:off x="457200" y="301752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PRINT MATERIALS</a:t>
            </a:r>
            <a:endParaRPr b="0" i="0" sz="1300" u="none" cap="none" strike="noStrike">
              <a:solidFill>
                <a:schemeClr val="dk1"/>
              </a:solidFill>
              <a:latin typeface="Calibri"/>
              <a:ea typeface="Calibri"/>
              <a:cs typeface="Calibri"/>
              <a:sym typeface="Calibri"/>
            </a:endParaRPr>
          </a:p>
        </p:txBody>
      </p:sp>
      <p:graphicFrame>
        <p:nvGraphicFramePr>
          <p:cNvPr id="737" name="Google Shape;737;p33"/>
          <p:cNvGraphicFramePr/>
          <p:nvPr/>
        </p:nvGraphicFramePr>
        <p:xfrm>
          <a:off x="457200" y="3291840"/>
          <a:ext cx="3000000" cy="3000000"/>
        </p:xfrm>
        <a:graphic>
          <a:graphicData uri="http://schemas.openxmlformats.org/drawingml/2006/table">
            <a:tbl>
              <a:tblPr>
                <a:noFill/>
                <a:tableStyleId>{AD4631F1-437D-4764-92B6-2A4562E18BC6}</a:tableStyleId>
              </a:tblPr>
              <a:tblGrid>
                <a:gridCol w="1371600"/>
                <a:gridCol w="1371600"/>
                <a:gridCol w="1188725"/>
                <a:gridCol w="4297675"/>
              </a:tblGrid>
              <a:tr h="274325">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Material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Size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Cost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Notes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2743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Flyers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8.5" x 11"</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Minimal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Post on MBEB bulletin boards. Remove after event.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743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Posters (MBEB)</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24" x 31"</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$8-$12/ea</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Uncoated $8, semi-gloss $12. Include FDCC code.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743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Shuttle Stop Posters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24" x 35"</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$14/ea</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Captive bus rider audience. High visibility.</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42" name="Shape 742"/>
        <p:cNvGrpSpPr/>
        <p:nvPr/>
      </p:nvGrpSpPr>
      <p:grpSpPr>
        <a:xfrm>
          <a:off x="0" y="0"/>
          <a:ext cx="0" cy="0"/>
          <a:chOff x="0" y="0"/>
          <a:chExt cx="0" cy="0"/>
        </a:xfrm>
      </p:grpSpPr>
      <p:sp>
        <p:nvSpPr>
          <p:cNvPr id="743" name="Google Shape;743;p34"/>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4"/>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745" name="Google Shape;745;p34"/>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746" name="Google Shape;746;p34"/>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27</a:t>
            </a:r>
            <a:endParaRPr b="0" i="0" sz="1000" u="none" cap="none" strike="noStrike">
              <a:solidFill>
                <a:schemeClr val="dk1"/>
              </a:solidFill>
              <a:latin typeface="Calibri"/>
              <a:ea typeface="Calibri"/>
              <a:cs typeface="Calibri"/>
              <a:sym typeface="Calibri"/>
            </a:endParaRPr>
          </a:p>
        </p:txBody>
      </p:sp>
      <p:sp>
        <p:nvSpPr>
          <p:cNvPr id="747" name="Google Shape;747;p34"/>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600"/>
              <a:buFont typeface="Georgia"/>
              <a:buNone/>
            </a:pPr>
            <a:r>
              <a:rPr b="1" i="0" lang="en-US" sz="2600" u="none" cap="none" strike="noStrike">
                <a:solidFill>
                  <a:srgbClr val="0B1220"/>
                </a:solidFill>
                <a:latin typeface="Georgia"/>
                <a:ea typeface="Georgia"/>
                <a:cs typeface="Georgia"/>
                <a:sym typeface="Georgia"/>
              </a:rPr>
              <a:t>Channel Guide: Website &amp; Landing Pages</a:t>
            </a:r>
            <a:endParaRPr b="0" i="0" sz="2600" u="none" cap="none" strike="noStrike">
              <a:solidFill>
                <a:schemeClr val="dk1"/>
              </a:solidFill>
              <a:latin typeface="Calibri"/>
              <a:ea typeface="Calibri"/>
              <a:cs typeface="Calibri"/>
              <a:sym typeface="Calibri"/>
            </a:endParaRPr>
          </a:p>
        </p:txBody>
      </p:sp>
      <p:sp>
        <p:nvSpPr>
          <p:cNvPr id="748" name="Google Shape;748;p34"/>
          <p:cNvSpPr/>
          <p:nvPr/>
        </p:nvSpPr>
        <p:spPr>
          <a:xfrm>
            <a:off x="457200" y="1005840"/>
            <a:ext cx="3840480" cy="22860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34"/>
          <p:cNvSpPr/>
          <p:nvPr/>
        </p:nvSpPr>
        <p:spPr>
          <a:xfrm>
            <a:off x="457200" y="1005840"/>
            <a:ext cx="54864" cy="228600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34"/>
          <p:cNvSpPr/>
          <p:nvPr/>
        </p:nvSpPr>
        <p:spPr>
          <a:xfrm>
            <a:off x="68580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00"/>
              <a:buFont typeface="Arial"/>
              <a:buNone/>
            </a:pPr>
            <a:r>
              <a:rPr b="1" i="0" lang="en-US" sz="1100" u="none" cap="none" strike="noStrike">
                <a:solidFill>
                  <a:srgbClr val="F97316"/>
                </a:solidFill>
                <a:latin typeface="Arial"/>
                <a:ea typeface="Arial"/>
                <a:cs typeface="Arial"/>
                <a:sym typeface="Arial"/>
              </a:rPr>
              <a:t>WHAT MAKES A GOOD LANDING PAGE</a:t>
            </a:r>
            <a:endParaRPr b="0" i="0" sz="1100" u="none" cap="none" strike="noStrike">
              <a:solidFill>
                <a:schemeClr val="dk1"/>
              </a:solidFill>
              <a:latin typeface="Calibri"/>
              <a:ea typeface="Calibri"/>
              <a:cs typeface="Calibri"/>
              <a:sym typeface="Calibri"/>
            </a:endParaRPr>
          </a:p>
        </p:txBody>
      </p:sp>
      <p:sp>
        <p:nvSpPr>
          <p:cNvPr id="751" name="Google Shape;751;p34"/>
          <p:cNvSpPr/>
          <p:nvPr/>
        </p:nvSpPr>
        <p:spPr>
          <a:xfrm>
            <a:off x="685800" y="1417320"/>
            <a:ext cx="3474720" cy="16459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Clear headline stating the program/event</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2-3 bullet value propositions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Strong CTA button ("Apply Now", "Register")</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Contact info for questions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Mobile-responsive design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Alt text on all images (accessibility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Updated deadlines and dates</a:t>
            </a:r>
            <a:endParaRPr b="0" i="0" sz="1000" u="none" cap="none" strike="noStrike">
              <a:solidFill>
                <a:schemeClr val="dk1"/>
              </a:solidFill>
              <a:latin typeface="Calibri"/>
              <a:ea typeface="Calibri"/>
              <a:cs typeface="Calibri"/>
              <a:sym typeface="Calibri"/>
            </a:endParaRPr>
          </a:p>
        </p:txBody>
      </p:sp>
      <p:sp>
        <p:nvSpPr>
          <p:cNvPr id="752" name="Google Shape;752;p34"/>
          <p:cNvSpPr/>
          <p:nvPr/>
        </p:nvSpPr>
        <p:spPr>
          <a:xfrm>
            <a:off x="4846320" y="1005840"/>
            <a:ext cx="3840480" cy="22860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34"/>
          <p:cNvSpPr/>
          <p:nvPr/>
        </p:nvSpPr>
        <p:spPr>
          <a:xfrm>
            <a:off x="4846320" y="1005840"/>
            <a:ext cx="54864" cy="2286000"/>
          </a:xfrm>
          <a:prstGeom prst="rect">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34"/>
          <p:cNvSpPr/>
          <p:nvPr/>
        </p:nvSpPr>
        <p:spPr>
          <a:xfrm>
            <a:off x="507492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4444"/>
              </a:buClr>
              <a:buSzPts val="1100"/>
              <a:buFont typeface="Arial"/>
              <a:buNone/>
            </a:pPr>
            <a:r>
              <a:rPr b="1" i="0" lang="en-US" sz="1100" u="none" cap="none" strike="noStrike">
                <a:solidFill>
                  <a:srgbClr val="EF4444"/>
                </a:solidFill>
                <a:latin typeface="Arial"/>
                <a:ea typeface="Arial"/>
                <a:cs typeface="Arial"/>
                <a:sym typeface="Arial"/>
              </a:rPr>
              <a:t>WORDPRESS ACCESS (Specialized Teams Only)</a:t>
            </a:r>
            <a:endParaRPr b="0" i="0" sz="1100" u="none" cap="none" strike="noStrike">
              <a:solidFill>
                <a:schemeClr val="dk1"/>
              </a:solidFill>
              <a:latin typeface="Calibri"/>
              <a:ea typeface="Calibri"/>
              <a:cs typeface="Calibri"/>
              <a:sym typeface="Calibri"/>
            </a:endParaRPr>
          </a:p>
        </p:txBody>
      </p:sp>
      <p:sp>
        <p:nvSpPr>
          <p:cNvPr id="755" name="Google Shape;755;p34"/>
          <p:cNvSpPr/>
          <p:nvPr/>
        </p:nvSpPr>
        <p:spPr>
          <a:xfrm>
            <a:off x="5074920" y="1417320"/>
            <a:ext cx="3474720" cy="16459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Complete web accessibility compliance training (60-90 min, self-paced)</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Enroll: boisestate.edu/webguide/wordpress-accessibility-compliance-training/</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After completion, you receive WordPress Editor access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Complete Introduction to WordPress training</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Review your responsibilities as account holder</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Review security information (data limitations)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Contact helpdesk@boisestate.edu for support</a:t>
            </a:r>
            <a:endParaRPr b="0" i="0" sz="1000" u="none" cap="none" strike="noStrike">
              <a:solidFill>
                <a:schemeClr val="dk1"/>
              </a:solidFill>
              <a:latin typeface="Calibri"/>
              <a:ea typeface="Calibri"/>
              <a:cs typeface="Calibri"/>
              <a:sym typeface="Calibri"/>
            </a:endParaRPr>
          </a:p>
        </p:txBody>
      </p:sp>
      <p:sp>
        <p:nvSpPr>
          <p:cNvPr id="756" name="Google Shape;756;p34"/>
          <p:cNvSpPr/>
          <p:nvPr/>
        </p:nvSpPr>
        <p:spPr>
          <a:xfrm>
            <a:off x="457200" y="3474720"/>
            <a:ext cx="8229600" cy="128016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34"/>
          <p:cNvSpPr/>
          <p:nvPr/>
        </p:nvSpPr>
        <p:spPr>
          <a:xfrm>
            <a:off x="457200" y="3474720"/>
            <a:ext cx="54864" cy="128016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34"/>
          <p:cNvSpPr/>
          <p:nvPr/>
        </p:nvSpPr>
        <p:spPr>
          <a:xfrm>
            <a:off x="685800" y="3566160"/>
            <a:ext cx="7772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100"/>
              <a:buFont typeface="Arial"/>
              <a:buNone/>
            </a:pPr>
            <a:r>
              <a:rPr b="1" i="0" lang="en-US" sz="1100" u="none" cap="none" strike="noStrike">
                <a:solidFill>
                  <a:srgbClr val="0033A0"/>
                </a:solidFill>
                <a:latin typeface="Arial"/>
                <a:ea typeface="Arial"/>
                <a:cs typeface="Arial"/>
                <a:sym typeface="Arial"/>
              </a:rPr>
              <a:t>NOTE: Most programs should submit web update requests to cobe-info@boisestate.edu rather than pursuing WordPress access directly. The university is reducing the number of WordPress admins and webpages. | WEB UPDATE REQUEST FORMAT</a:t>
            </a:r>
            <a:endParaRPr b="0" i="0" sz="1100" u="none" cap="none" strike="noStrike">
              <a:solidFill>
                <a:schemeClr val="dk1"/>
              </a:solidFill>
              <a:latin typeface="Calibri"/>
              <a:ea typeface="Calibri"/>
              <a:cs typeface="Calibri"/>
              <a:sym typeface="Calibri"/>
            </a:endParaRPr>
          </a:p>
        </p:txBody>
      </p:sp>
      <p:sp>
        <p:nvSpPr>
          <p:cNvPr id="759" name="Google Shape;759;p34"/>
          <p:cNvSpPr/>
          <p:nvPr/>
        </p:nvSpPr>
        <p:spPr>
          <a:xfrm>
            <a:off x="685800" y="3840480"/>
            <a:ext cx="77724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Send to: cobe-info@boisestate.edu  |  Lead time: 10 days (updates), 15 days (new pages)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rPr b="1" i="0" lang="en-US" sz="1000" u="none" cap="none" strike="noStrike">
                <a:solidFill>
                  <a:srgbClr val="334155"/>
                </a:solidFill>
                <a:latin typeface="Arial"/>
                <a:ea typeface="Arial"/>
                <a:cs typeface="Arial"/>
                <a:sym typeface="Arial"/>
              </a:rPr>
              <a:t>Include: </a:t>
            </a:r>
            <a:r>
              <a:rPr b="0" i="0" lang="en-US" sz="1000" u="none" cap="none" strike="noStrike">
                <a:solidFill>
                  <a:srgbClr val="334155"/>
                </a:solidFill>
                <a:latin typeface="Arial"/>
                <a:ea typeface="Arial"/>
                <a:cs typeface="Arial"/>
                <a:sym typeface="Arial"/>
              </a:rPr>
              <a:t>Page URL + exact text to change  |  New assets with alt text and credit  |  CTA destination + form ownership (who monitors submissions)  |  Quality check: headings, alt text, descriptive links, correct dates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64" name="Shape 764"/>
        <p:cNvGrpSpPr/>
        <p:nvPr/>
      </p:nvGrpSpPr>
      <p:grpSpPr>
        <a:xfrm>
          <a:off x="0" y="0"/>
          <a:ext cx="0" cy="0"/>
          <a:chOff x="0" y="0"/>
          <a:chExt cx="0" cy="0"/>
        </a:xfrm>
      </p:grpSpPr>
      <p:sp>
        <p:nvSpPr>
          <p:cNvPr id="765" name="Google Shape;765;p35"/>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35"/>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767" name="Google Shape;767;p35"/>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768" name="Google Shape;768;p35"/>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28</a:t>
            </a:r>
            <a:endParaRPr b="0" i="0" sz="1000" u="none" cap="none" strike="noStrike">
              <a:solidFill>
                <a:schemeClr val="dk1"/>
              </a:solidFill>
              <a:latin typeface="Calibri"/>
              <a:ea typeface="Calibri"/>
              <a:cs typeface="Calibri"/>
              <a:sym typeface="Calibri"/>
            </a:endParaRPr>
          </a:p>
        </p:txBody>
      </p:sp>
      <p:sp>
        <p:nvSpPr>
          <p:cNvPr id="769" name="Google Shape;769;p35"/>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Tracking Setup: QR Codes &amp; UTMs</a:t>
            </a:r>
            <a:endParaRPr b="0" i="0" sz="2800" u="none" cap="none" strike="noStrike">
              <a:solidFill>
                <a:schemeClr val="dk1"/>
              </a:solidFill>
              <a:latin typeface="Calibri"/>
              <a:ea typeface="Calibri"/>
              <a:cs typeface="Calibri"/>
              <a:sym typeface="Calibri"/>
            </a:endParaRPr>
          </a:p>
        </p:txBody>
      </p:sp>
      <p:sp>
        <p:nvSpPr>
          <p:cNvPr id="770" name="Google Shape;770;p35"/>
          <p:cNvSpPr/>
          <p:nvPr/>
        </p:nvSpPr>
        <p:spPr>
          <a:xfrm>
            <a:off x="457200" y="1005840"/>
            <a:ext cx="3840480" cy="27432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35"/>
          <p:cNvSpPr/>
          <p:nvPr/>
        </p:nvSpPr>
        <p:spPr>
          <a:xfrm>
            <a:off x="457200" y="1005840"/>
            <a:ext cx="54864" cy="27432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35"/>
          <p:cNvSpPr/>
          <p:nvPr/>
        </p:nvSpPr>
        <p:spPr>
          <a:xfrm>
            <a:off x="68580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C3AED"/>
              </a:buClr>
              <a:buSzPts val="1200"/>
              <a:buFont typeface="Arial"/>
              <a:buNone/>
            </a:pPr>
            <a:r>
              <a:rPr b="1" i="0" lang="en-US" sz="1200" u="none" cap="none" strike="noStrike">
                <a:solidFill>
                  <a:srgbClr val="7C3AED"/>
                </a:solidFill>
                <a:latin typeface="Arial"/>
                <a:ea typeface="Arial"/>
                <a:cs typeface="Arial"/>
                <a:sym typeface="Arial"/>
              </a:rPr>
              <a:t>FLOWCODE QR CODES</a:t>
            </a:r>
            <a:endParaRPr b="0" i="0" sz="1200" u="none" cap="none" strike="noStrike">
              <a:solidFill>
                <a:schemeClr val="dk1"/>
              </a:solidFill>
              <a:latin typeface="Calibri"/>
              <a:ea typeface="Calibri"/>
              <a:cs typeface="Calibri"/>
              <a:sym typeface="Calibri"/>
            </a:endParaRPr>
          </a:p>
        </p:txBody>
      </p:sp>
      <p:sp>
        <p:nvSpPr>
          <p:cNvPr id="773" name="Google Shape;773;p35"/>
          <p:cNvSpPr/>
          <p:nvPr/>
        </p:nvSpPr>
        <p:spPr>
          <a:xfrm>
            <a:off x="685800" y="1463040"/>
            <a:ext cx="3474720" cy="21031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Create account at flowcode.com</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Generate QR code pointing to your landing page</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Name convention: Program_Channel_Semester (e.g., RHM_Shuttle_SP25)</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Download as high-res PNG</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Place on every physical asset (posters, flyers, handouts)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Monitor scans in the Flowcode dashboard</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Include scan data in your campaign report</a:t>
            </a:r>
            <a:endParaRPr b="0" i="0" sz="1000" u="none" cap="none" strike="noStrike">
              <a:solidFill>
                <a:schemeClr val="dk1"/>
              </a:solidFill>
              <a:latin typeface="Calibri"/>
              <a:ea typeface="Calibri"/>
              <a:cs typeface="Calibri"/>
              <a:sym typeface="Calibri"/>
            </a:endParaRPr>
          </a:p>
        </p:txBody>
      </p:sp>
      <p:sp>
        <p:nvSpPr>
          <p:cNvPr id="774" name="Google Shape;774;p35"/>
          <p:cNvSpPr/>
          <p:nvPr/>
        </p:nvSpPr>
        <p:spPr>
          <a:xfrm>
            <a:off x="4846320" y="1005840"/>
            <a:ext cx="3840480" cy="27432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35"/>
          <p:cNvSpPr/>
          <p:nvPr/>
        </p:nvSpPr>
        <p:spPr>
          <a:xfrm>
            <a:off x="4846320" y="1005840"/>
            <a:ext cx="54864" cy="2743200"/>
          </a:xfrm>
          <a:prstGeom prst="rect">
            <a:avLst/>
          </a:prstGeom>
          <a:solidFill>
            <a:srgbClr val="0D9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35"/>
          <p:cNvSpPr/>
          <p:nvPr/>
        </p:nvSpPr>
        <p:spPr>
          <a:xfrm>
            <a:off x="507492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9488"/>
              </a:buClr>
              <a:buSzPts val="1200"/>
              <a:buFont typeface="Arial"/>
              <a:buNone/>
            </a:pPr>
            <a:r>
              <a:rPr b="1" i="0" lang="en-US" sz="1200" u="none" cap="none" strike="noStrike">
                <a:solidFill>
                  <a:srgbClr val="0D9488"/>
                </a:solidFill>
                <a:latin typeface="Arial"/>
                <a:ea typeface="Arial"/>
                <a:cs typeface="Arial"/>
                <a:sym typeface="Arial"/>
              </a:rPr>
              <a:t>UTM PARAMETERS</a:t>
            </a:r>
            <a:endParaRPr b="0" i="0" sz="1200" u="none" cap="none" strike="noStrike">
              <a:solidFill>
                <a:schemeClr val="dk1"/>
              </a:solidFill>
              <a:latin typeface="Calibri"/>
              <a:ea typeface="Calibri"/>
              <a:cs typeface="Calibri"/>
              <a:sym typeface="Calibri"/>
            </a:endParaRPr>
          </a:p>
        </p:txBody>
      </p:sp>
      <p:sp>
        <p:nvSpPr>
          <p:cNvPr id="777" name="Google Shape;777;p35"/>
          <p:cNvSpPr/>
          <p:nvPr/>
        </p:nvSpPr>
        <p:spPr>
          <a:xfrm>
            <a:off x="5074920" y="1463040"/>
            <a:ext cx="3474720" cy="21031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Use Google Campaign URL Builder</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utm_source = channel (instagram, newsletter, shuttle)</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utm_medium = type (social, email, print, screen)</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utm_campaign = program_semester (rhm_sp25)</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Apply to every digital link</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Track in Google Analytics or Looker Studio</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Compare channel performance side-by-side</a:t>
            </a:r>
            <a:endParaRPr b="0" i="0" sz="1000" u="none" cap="none" strike="noStrike">
              <a:solidFill>
                <a:schemeClr val="dk1"/>
              </a:solidFill>
              <a:latin typeface="Calibri"/>
              <a:ea typeface="Calibri"/>
              <a:cs typeface="Calibri"/>
              <a:sym typeface="Calibri"/>
            </a:endParaRPr>
          </a:p>
        </p:txBody>
      </p:sp>
      <p:sp>
        <p:nvSpPr>
          <p:cNvPr id="778" name="Google Shape;778;p35"/>
          <p:cNvSpPr/>
          <p:nvPr/>
        </p:nvSpPr>
        <p:spPr>
          <a:xfrm>
            <a:off x="457200" y="3931920"/>
            <a:ext cx="8229600" cy="822960"/>
          </a:xfrm>
          <a:prstGeom prst="rect">
            <a:avLst/>
          </a:prstGeom>
          <a:solidFill>
            <a:srgbClr val="F5F3FF"/>
          </a:solidFill>
          <a:ln cap="flat" cmpd="sng" w="12700">
            <a:solidFill>
              <a:srgbClr val="7C3AED"/>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35"/>
          <p:cNvSpPr/>
          <p:nvPr/>
        </p:nvSpPr>
        <p:spPr>
          <a:xfrm>
            <a:off x="685800" y="3977640"/>
            <a:ext cx="7772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C3AED"/>
              </a:buClr>
              <a:buSzPts val="1000"/>
              <a:buFont typeface="Arial"/>
              <a:buNone/>
            </a:pPr>
            <a:r>
              <a:rPr b="1" i="0" lang="en-US" sz="1000" u="none" cap="none" strike="noStrike">
                <a:solidFill>
                  <a:srgbClr val="7C3AED"/>
                </a:solidFill>
                <a:latin typeface="Arial"/>
                <a:ea typeface="Arial"/>
                <a:cs typeface="Arial"/>
                <a:sym typeface="Arial"/>
              </a:rPr>
              <a:t>QR PLACEMENT STRATEGY</a:t>
            </a:r>
            <a:endParaRPr b="0" i="0" sz="1000" u="none" cap="none" strike="noStrike">
              <a:solidFill>
                <a:schemeClr val="dk1"/>
              </a:solidFill>
              <a:latin typeface="Calibri"/>
              <a:ea typeface="Calibri"/>
              <a:cs typeface="Calibri"/>
              <a:sym typeface="Calibri"/>
            </a:endParaRPr>
          </a:p>
        </p:txBody>
      </p:sp>
      <p:sp>
        <p:nvSpPr>
          <p:cNvPr id="780" name="Google Shape;780;p35"/>
          <p:cNvSpPr/>
          <p:nvPr/>
        </p:nvSpPr>
        <p:spPr>
          <a:xfrm>
            <a:off x="685800" y="4251960"/>
            <a:ext cx="77724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Place QR codes on: shuttle stop posters, class visit handouts, tabling materials, MBEB posters, career fair table signs, and event signage. Each physical touchpoint becomes a measurable conversion opportunity.</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790" name="Shape 790"/>
        <p:cNvGrpSpPr/>
        <p:nvPr/>
      </p:nvGrpSpPr>
      <p:grpSpPr>
        <a:xfrm>
          <a:off x="0" y="0"/>
          <a:ext cx="0" cy="0"/>
          <a:chOff x="0" y="0"/>
          <a:chExt cx="0" cy="0"/>
        </a:xfrm>
      </p:grpSpPr>
      <p:sp>
        <p:nvSpPr>
          <p:cNvPr id="791" name="Google Shape;791;p37"/>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37"/>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793" name="Google Shape;793;p37"/>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794" name="Google Shape;794;p37"/>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29</a:t>
            </a:r>
            <a:endParaRPr b="0" i="0" sz="1000" u="none" cap="none" strike="noStrike">
              <a:solidFill>
                <a:schemeClr val="dk1"/>
              </a:solidFill>
              <a:latin typeface="Calibri"/>
              <a:ea typeface="Calibri"/>
              <a:cs typeface="Calibri"/>
              <a:sym typeface="Calibri"/>
            </a:endParaRPr>
          </a:p>
        </p:txBody>
      </p:sp>
      <p:sp>
        <p:nvSpPr>
          <p:cNvPr id="795" name="Google Shape;795;p37"/>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Hands-On Tool Stack (Boise State)</a:t>
            </a:r>
            <a:endParaRPr b="0" i="0" sz="2800" u="none" cap="none" strike="noStrike">
              <a:solidFill>
                <a:schemeClr val="dk1"/>
              </a:solidFill>
              <a:latin typeface="Calibri"/>
              <a:ea typeface="Calibri"/>
              <a:cs typeface="Calibri"/>
              <a:sym typeface="Calibri"/>
            </a:endParaRPr>
          </a:p>
        </p:txBody>
      </p:sp>
      <p:sp>
        <p:nvSpPr>
          <p:cNvPr id="796" name="Google Shape;796;p37"/>
          <p:cNvSpPr/>
          <p:nvPr/>
        </p:nvSpPr>
        <p:spPr>
          <a:xfrm>
            <a:off x="457200" y="1005840"/>
            <a:ext cx="3840480" cy="27432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7"/>
          <p:cNvSpPr/>
          <p:nvPr/>
        </p:nvSpPr>
        <p:spPr>
          <a:xfrm>
            <a:off x="457200" y="1005840"/>
            <a:ext cx="54864" cy="27432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37"/>
          <p:cNvSpPr/>
          <p:nvPr/>
        </p:nvSpPr>
        <p:spPr>
          <a:xfrm>
            <a:off x="68580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C3AED"/>
              </a:buClr>
              <a:buSzPts val="1200"/>
              <a:buFont typeface="Arial"/>
              <a:buNone/>
            </a:pPr>
            <a:r>
              <a:rPr b="1" i="0" lang="en-US" sz="1200" u="none" cap="none" strike="noStrike">
                <a:solidFill>
                  <a:srgbClr val="7C3AED"/>
                </a:solidFill>
                <a:latin typeface="Arial"/>
                <a:ea typeface="Arial"/>
                <a:cs typeface="Arial"/>
                <a:sym typeface="Arial"/>
              </a:rPr>
              <a:t>TRACKING + ATTRIBUTION</a:t>
            </a:r>
            <a:endParaRPr b="0" i="0" sz="1200" u="none" cap="none" strike="noStrike">
              <a:solidFill>
                <a:schemeClr val="dk1"/>
              </a:solidFill>
              <a:latin typeface="Calibri"/>
              <a:ea typeface="Calibri"/>
              <a:cs typeface="Calibri"/>
              <a:sym typeface="Calibri"/>
            </a:endParaRPr>
          </a:p>
        </p:txBody>
      </p:sp>
      <p:sp>
        <p:nvSpPr>
          <p:cNvPr id="799" name="Google Shape;799;p37"/>
          <p:cNvSpPr/>
          <p:nvPr/>
        </p:nvSpPr>
        <p:spPr>
          <a:xfrm>
            <a:off x="685800" y="1463040"/>
            <a:ext cx="3474720" cy="21031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Flowcode: QR scan attribution per physical placement</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UTM Parameters: Link attribution by channel and campaign</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Looker Studio: Dashboards comparing channel performance side-by-side</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Google Analytics: Website traffic and conversion tracking</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p:txBody>
      </p:sp>
      <p:sp>
        <p:nvSpPr>
          <p:cNvPr id="800" name="Google Shape;800;p37"/>
          <p:cNvSpPr/>
          <p:nvPr/>
        </p:nvSpPr>
        <p:spPr>
          <a:xfrm>
            <a:off x="4846320" y="1005840"/>
            <a:ext cx="3840480" cy="27432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37"/>
          <p:cNvSpPr/>
          <p:nvPr/>
        </p:nvSpPr>
        <p:spPr>
          <a:xfrm>
            <a:off x="4846320" y="1005840"/>
            <a:ext cx="54864" cy="2743200"/>
          </a:xfrm>
          <a:prstGeom prst="rect">
            <a:avLst/>
          </a:prstGeom>
          <a:solidFill>
            <a:srgbClr val="0D9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7"/>
          <p:cNvSpPr/>
          <p:nvPr/>
        </p:nvSpPr>
        <p:spPr>
          <a:xfrm>
            <a:off x="507492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9488"/>
              </a:buClr>
              <a:buSzPts val="1200"/>
              <a:buFont typeface="Arial"/>
              <a:buNone/>
            </a:pPr>
            <a:r>
              <a:rPr b="1" i="0" lang="en-US" sz="1200" u="none" cap="none" strike="noStrike">
                <a:solidFill>
                  <a:srgbClr val="0D9488"/>
                </a:solidFill>
                <a:latin typeface="Arial"/>
                <a:ea typeface="Arial"/>
                <a:cs typeface="Arial"/>
                <a:sym typeface="Arial"/>
              </a:rPr>
              <a:t>WEB + EMAIL SETUP</a:t>
            </a:r>
            <a:endParaRPr b="0" i="0" sz="1200" u="none" cap="none" strike="noStrike">
              <a:solidFill>
                <a:schemeClr val="dk1"/>
              </a:solidFill>
              <a:latin typeface="Calibri"/>
              <a:ea typeface="Calibri"/>
              <a:cs typeface="Calibri"/>
              <a:sym typeface="Calibri"/>
            </a:endParaRPr>
          </a:p>
        </p:txBody>
      </p:sp>
      <p:sp>
        <p:nvSpPr>
          <p:cNvPr id="803" name="Google Shape;803;p37"/>
          <p:cNvSpPr/>
          <p:nvPr/>
        </p:nvSpPr>
        <p:spPr>
          <a:xfrm>
            <a:off x="5074920" y="1463040"/>
            <a:ext cx="3474720" cy="21031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WordPress: Primary platform for program landing pages (requires accessibility training)</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Google Sites: Alternative for quick-launch pages when WordPress access is pending</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Boise State IT: Request event/program email alias or shared mailbox for campaign inquiries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Canva / InDesign: Graphic asset creation within Boise State brand guidelines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p:txBody>
      </p:sp>
      <p:sp>
        <p:nvSpPr>
          <p:cNvPr id="804" name="Google Shape;804;p37"/>
          <p:cNvSpPr/>
          <p:nvPr/>
        </p:nvSpPr>
        <p:spPr>
          <a:xfrm>
            <a:off x="457200" y="3931920"/>
            <a:ext cx="8229600" cy="822960"/>
          </a:xfrm>
          <a:prstGeom prst="rect">
            <a:avLst/>
          </a:prstGeom>
          <a:solidFill>
            <a:srgbClr val="F5F3FF"/>
          </a:solidFill>
          <a:ln cap="flat" cmpd="sng" w="12700">
            <a:solidFill>
              <a:srgbClr val="7C3AED"/>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37"/>
          <p:cNvSpPr/>
          <p:nvPr/>
        </p:nvSpPr>
        <p:spPr>
          <a:xfrm>
            <a:off x="685800" y="3977640"/>
            <a:ext cx="7772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C3AED"/>
              </a:buClr>
              <a:buSzPts val="1000"/>
              <a:buFont typeface="Arial"/>
              <a:buNone/>
            </a:pPr>
            <a:r>
              <a:rPr b="1" i="0" lang="en-US" sz="1000" u="none" cap="none" strike="noStrike">
                <a:solidFill>
                  <a:srgbClr val="7C3AED"/>
                </a:solidFill>
                <a:latin typeface="Arial"/>
                <a:ea typeface="Arial"/>
                <a:cs typeface="Arial"/>
                <a:sym typeface="Arial"/>
              </a:rPr>
              <a:t>KEY PRINCIPLE</a:t>
            </a:r>
            <a:endParaRPr b="0" i="0" sz="1000" u="none" cap="none" strike="noStrike">
              <a:solidFill>
                <a:schemeClr val="dk1"/>
              </a:solidFill>
              <a:latin typeface="Calibri"/>
              <a:ea typeface="Calibri"/>
              <a:cs typeface="Calibri"/>
              <a:sym typeface="Calibri"/>
            </a:endParaRPr>
          </a:p>
        </p:txBody>
      </p:sp>
      <p:sp>
        <p:nvSpPr>
          <p:cNvPr id="806" name="Google Shape;806;p37"/>
          <p:cNvSpPr/>
          <p:nvPr/>
        </p:nvSpPr>
        <p:spPr>
          <a:xfrm>
            <a:off x="685800" y="4251960"/>
            <a:ext cx="77724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Set up tracking and landing page BEFORE the first post goes live. Every channel link should be trackable from day one. RHM used this exact stack to attribute page traffic across 10+ channels.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1F5F9"/>
        </a:solidFill>
      </p:bgPr>
    </p:bg>
    <p:spTree>
      <p:nvGrpSpPr>
        <p:cNvPr id="811" name="Shape 811"/>
        <p:cNvGrpSpPr/>
        <p:nvPr/>
      </p:nvGrpSpPr>
      <p:grpSpPr>
        <a:xfrm>
          <a:off x="0" y="0"/>
          <a:ext cx="0" cy="0"/>
          <a:chOff x="0" y="0"/>
          <a:chExt cx="0" cy="0"/>
        </a:xfrm>
      </p:grpSpPr>
      <p:sp>
        <p:nvSpPr>
          <p:cNvPr id="812" name="Google Shape;812;p38"/>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38"/>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814" name="Google Shape;814;p38"/>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815" name="Google Shape;815;p38"/>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30</a:t>
            </a:r>
            <a:endParaRPr b="0" i="0" sz="1000" u="none" cap="none" strike="noStrike">
              <a:solidFill>
                <a:schemeClr val="dk1"/>
              </a:solidFill>
              <a:latin typeface="Calibri"/>
              <a:ea typeface="Calibri"/>
              <a:cs typeface="Calibri"/>
              <a:sym typeface="Calibri"/>
            </a:endParaRPr>
          </a:p>
        </p:txBody>
      </p:sp>
      <p:sp>
        <p:nvSpPr>
          <p:cNvPr id="816" name="Google Shape;816;p38"/>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Hands-On Submission Checklist</a:t>
            </a:r>
            <a:endParaRPr b="0" i="0" sz="2800" u="none" cap="none" strike="noStrike">
              <a:solidFill>
                <a:schemeClr val="dk1"/>
              </a:solidFill>
              <a:latin typeface="Calibri"/>
              <a:ea typeface="Calibri"/>
              <a:cs typeface="Calibri"/>
              <a:sym typeface="Calibri"/>
            </a:endParaRPr>
          </a:p>
        </p:txBody>
      </p:sp>
      <p:sp>
        <p:nvSpPr>
          <p:cNvPr id="817" name="Google Shape;817;p38"/>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300"/>
              <a:buFont typeface="Arial"/>
              <a:buNone/>
            </a:pPr>
            <a:r>
              <a:rPr b="0" i="0" lang="en-US" sz="1300" u="none" cap="none" strike="noStrike">
                <a:solidFill>
                  <a:srgbClr val="64748B"/>
                </a:solidFill>
                <a:latin typeface="Arial"/>
                <a:ea typeface="Arial"/>
                <a:cs typeface="Arial"/>
                <a:sym typeface="Arial"/>
              </a:rPr>
              <a:t>Complete this before submitting your asset pack to cobe-info@boisestate.edu.</a:t>
            </a:r>
            <a:endParaRPr b="0" i="0" sz="1300" u="none" cap="none" strike="noStrike">
              <a:solidFill>
                <a:schemeClr val="dk1"/>
              </a:solidFill>
              <a:latin typeface="Calibri"/>
              <a:ea typeface="Calibri"/>
              <a:cs typeface="Calibri"/>
              <a:sym typeface="Calibri"/>
            </a:endParaRPr>
          </a:p>
        </p:txBody>
      </p:sp>
      <p:sp>
        <p:nvSpPr>
          <p:cNvPr id="818" name="Google Shape;818;p38"/>
          <p:cNvSpPr/>
          <p:nvPr/>
        </p:nvSpPr>
        <p:spPr>
          <a:xfrm>
            <a:off x="457200" y="1280160"/>
            <a:ext cx="3840480" cy="3291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8"/>
          <p:cNvSpPr/>
          <p:nvPr/>
        </p:nvSpPr>
        <p:spPr>
          <a:xfrm>
            <a:off x="457200" y="1280160"/>
            <a:ext cx="54864" cy="329184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38"/>
          <p:cNvSpPr/>
          <p:nvPr/>
        </p:nvSpPr>
        <p:spPr>
          <a:xfrm>
            <a:off x="685800" y="137160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Arial"/>
              <a:buNone/>
            </a:pPr>
            <a:r>
              <a:rPr b="1" i="0" lang="en-US" sz="1200" u="none" cap="none" strike="noStrike">
                <a:solidFill>
                  <a:srgbClr val="F97316"/>
                </a:solidFill>
                <a:latin typeface="Arial"/>
                <a:ea typeface="Arial"/>
                <a:cs typeface="Arial"/>
                <a:sym typeface="Arial"/>
              </a:rPr>
              <a:t>CONTENT &amp; COPY</a:t>
            </a:r>
            <a:endParaRPr b="0" i="0" sz="1200" u="none" cap="none" strike="noStrike">
              <a:solidFill>
                <a:schemeClr val="dk1"/>
              </a:solidFill>
              <a:latin typeface="Calibri"/>
              <a:ea typeface="Calibri"/>
              <a:cs typeface="Calibri"/>
              <a:sym typeface="Calibri"/>
            </a:endParaRPr>
          </a:p>
        </p:txBody>
      </p:sp>
      <p:sp>
        <p:nvSpPr>
          <p:cNvPr id="821" name="Google Shape;821;p38"/>
          <p:cNvSpPr/>
          <p:nvPr/>
        </p:nvSpPr>
        <p:spPr>
          <a:xfrm>
            <a:off x="685800" y="1691640"/>
            <a:ext cx="3474720" cy="26517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Copy draft for each channel (under 100 words each)</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Subject line under 55 characters (for email)</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Clear CTA on every piece (Register, Apply, etc.)</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CTA destination URL tested and working</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Registration/landing page link confirmed</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Alt text written for every image</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Student/partner names and titles double-checked</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Dates, times, and locations verified</a:t>
            </a:r>
            <a:endParaRPr b="0" i="0" sz="1000" u="none" cap="none" strike="noStrike">
              <a:solidFill>
                <a:schemeClr val="dk1"/>
              </a:solidFill>
              <a:latin typeface="Calibri"/>
              <a:ea typeface="Calibri"/>
              <a:cs typeface="Calibri"/>
              <a:sym typeface="Calibri"/>
            </a:endParaRPr>
          </a:p>
        </p:txBody>
      </p:sp>
      <p:sp>
        <p:nvSpPr>
          <p:cNvPr id="822" name="Google Shape;822;p38"/>
          <p:cNvSpPr/>
          <p:nvPr/>
        </p:nvSpPr>
        <p:spPr>
          <a:xfrm>
            <a:off x="4846320" y="1280160"/>
            <a:ext cx="3840480" cy="3291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8"/>
          <p:cNvSpPr/>
          <p:nvPr/>
        </p:nvSpPr>
        <p:spPr>
          <a:xfrm>
            <a:off x="4846320" y="1280160"/>
            <a:ext cx="54864" cy="329184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38"/>
          <p:cNvSpPr/>
          <p:nvPr/>
        </p:nvSpPr>
        <p:spPr>
          <a:xfrm>
            <a:off x="5074920" y="137160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ASSETS &amp; GRAPHICS</a:t>
            </a:r>
            <a:endParaRPr b="0" i="0" sz="1200" u="none" cap="none" strike="noStrike">
              <a:solidFill>
                <a:schemeClr val="dk1"/>
              </a:solidFill>
              <a:latin typeface="Calibri"/>
              <a:ea typeface="Calibri"/>
              <a:cs typeface="Calibri"/>
              <a:sym typeface="Calibri"/>
            </a:endParaRPr>
          </a:p>
        </p:txBody>
      </p:sp>
      <p:sp>
        <p:nvSpPr>
          <p:cNvPr id="825" name="Google Shape;825;p38"/>
          <p:cNvSpPr/>
          <p:nvPr/>
        </p:nvSpPr>
        <p:spPr>
          <a:xfrm>
            <a:off x="5074920" y="1691640"/>
            <a:ext cx="3474720" cy="26517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Graphics exported in correct specs per channel</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Files follow Boise State brand standards</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File naming: Topic_StartDate_Size.jpg</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QR code (Flowcode) included on physical materials</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UTM parameters added to all digital links</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Completed social media calendar template</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Budget plan (if paid channels are included)</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Approval contact name and email</a:t>
            </a:r>
            <a:endParaRPr b="0" i="0" sz="100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  FDCC funding string (if printing needed)</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29" name="Shape 829"/>
        <p:cNvGrpSpPr/>
        <p:nvPr/>
      </p:nvGrpSpPr>
      <p:grpSpPr>
        <a:xfrm>
          <a:off x="0" y="0"/>
          <a:ext cx="0" cy="0"/>
          <a:chOff x="0" y="0"/>
          <a:chExt cx="0" cy="0"/>
        </a:xfrm>
      </p:grpSpPr>
      <p:sp>
        <p:nvSpPr>
          <p:cNvPr id="830" name="Google Shape;830;p39"/>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39"/>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832" name="Google Shape;832;p39"/>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833" name="Google Shape;833;p39"/>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31</a:t>
            </a:r>
            <a:endParaRPr b="0" i="0" sz="1000" u="none" cap="none" strike="noStrike">
              <a:solidFill>
                <a:schemeClr val="dk1"/>
              </a:solidFill>
              <a:latin typeface="Calibri"/>
              <a:ea typeface="Calibri"/>
              <a:cs typeface="Calibri"/>
              <a:sym typeface="Calibri"/>
            </a:endParaRPr>
          </a:p>
        </p:txBody>
      </p:sp>
      <p:sp>
        <p:nvSpPr>
          <p:cNvPr id="834" name="Google Shape;834;p39"/>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200"/>
              <a:buFont typeface="Georgia"/>
              <a:buNone/>
            </a:pPr>
            <a:r>
              <a:rPr b="1" i="0" lang="en-US" sz="3200" u="none" cap="none" strike="noStrike">
                <a:solidFill>
                  <a:srgbClr val="0B1220"/>
                </a:solidFill>
                <a:latin typeface="Georgia"/>
                <a:ea typeface="Georgia"/>
                <a:cs typeface="Georgia"/>
                <a:sym typeface="Georgia"/>
              </a:rPr>
              <a:t>Asset Pack Folder Structure</a:t>
            </a:r>
            <a:endParaRPr b="0" i="0" sz="3200" u="none" cap="none" strike="noStrike">
              <a:solidFill>
                <a:schemeClr val="dk1"/>
              </a:solidFill>
              <a:latin typeface="Calibri"/>
              <a:ea typeface="Calibri"/>
              <a:cs typeface="Calibri"/>
              <a:sym typeface="Calibri"/>
            </a:endParaRPr>
          </a:p>
        </p:txBody>
      </p:sp>
      <p:sp>
        <p:nvSpPr>
          <p:cNvPr id="835" name="Google Shape;835;p39"/>
          <p:cNvSpPr/>
          <p:nvPr/>
        </p:nvSpPr>
        <p:spPr>
          <a:xfrm>
            <a:off x="457200" y="116440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400"/>
              <a:buFont typeface="Arial"/>
              <a:buNone/>
            </a:pPr>
            <a:r>
              <a:rPr b="0" i="0" lang="en-US" sz="1400" u="none" cap="none" strike="noStrike">
                <a:solidFill>
                  <a:srgbClr val="334155"/>
                </a:solidFill>
                <a:latin typeface="Arial"/>
                <a:ea typeface="Arial"/>
                <a:cs typeface="Arial"/>
                <a:sym typeface="Arial"/>
              </a:rPr>
              <a:t>Organize your deliverables before submitting to COBE for review.</a:t>
            </a:r>
            <a:endParaRPr b="0" i="0" sz="1400" u="none" cap="none" strike="noStrike">
              <a:solidFill>
                <a:schemeClr val="dk1"/>
              </a:solidFill>
              <a:latin typeface="Calibri"/>
              <a:ea typeface="Calibri"/>
              <a:cs typeface="Calibri"/>
              <a:sym typeface="Calibri"/>
            </a:endParaRPr>
          </a:p>
        </p:txBody>
      </p:sp>
      <p:sp>
        <p:nvSpPr>
          <p:cNvPr id="836" name="Google Shape;836;p39"/>
          <p:cNvSpPr/>
          <p:nvPr/>
        </p:nvSpPr>
        <p:spPr>
          <a:xfrm>
            <a:off x="457200" y="1371600"/>
            <a:ext cx="3840480" cy="24688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9"/>
          <p:cNvSpPr/>
          <p:nvPr/>
        </p:nvSpPr>
        <p:spPr>
          <a:xfrm>
            <a:off x="457200" y="1371600"/>
            <a:ext cx="54864" cy="24688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39"/>
          <p:cNvSpPr/>
          <p:nvPr/>
        </p:nvSpPr>
        <p:spPr>
          <a:xfrm>
            <a:off x="685800" y="14630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300"/>
              <a:buFont typeface="Arial"/>
              <a:buNone/>
            </a:pPr>
            <a:r>
              <a:rPr b="1" i="0" lang="en-US" sz="1300" u="none" cap="none" strike="noStrike">
                <a:solidFill>
                  <a:srgbClr val="0EA5E9"/>
                </a:solidFill>
                <a:latin typeface="Arial"/>
                <a:ea typeface="Arial"/>
                <a:cs typeface="Arial"/>
                <a:sym typeface="Arial"/>
              </a:rPr>
              <a:t>RECOMMENDED FOLDERS</a:t>
            </a:r>
            <a:endParaRPr b="0" i="0" sz="1300" u="none" cap="none" strike="noStrike">
              <a:solidFill>
                <a:schemeClr val="dk1"/>
              </a:solidFill>
              <a:latin typeface="Calibri"/>
              <a:ea typeface="Calibri"/>
              <a:cs typeface="Calibri"/>
              <a:sym typeface="Calibri"/>
            </a:endParaRPr>
          </a:p>
        </p:txBody>
      </p:sp>
      <p:sp>
        <p:nvSpPr>
          <p:cNvPr id="839" name="Google Shape;839;p39"/>
          <p:cNvSpPr/>
          <p:nvPr/>
        </p:nvSpPr>
        <p:spPr>
          <a:xfrm>
            <a:off x="685800" y="1874520"/>
            <a:ext cx="347472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/01_Copy — Captions, email body, talking points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/02_Graphics — Final images at spec</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/03_Links_Tracking — UTM URLs, QR files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/04_Schedule — Social media calendar</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/05_Budget — If using paid channels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t/>
            </a:r>
            <a:endParaRPr b="0" i="0" sz="1100" u="none" cap="none" strike="noStrike">
              <a:solidFill>
                <a:schemeClr val="dk1"/>
              </a:solidFill>
              <a:latin typeface="Calibri"/>
              <a:ea typeface="Calibri"/>
              <a:cs typeface="Calibri"/>
              <a:sym typeface="Calibri"/>
            </a:endParaRPr>
          </a:p>
        </p:txBody>
      </p:sp>
      <p:sp>
        <p:nvSpPr>
          <p:cNvPr id="840" name="Google Shape;840;p39"/>
          <p:cNvSpPr/>
          <p:nvPr/>
        </p:nvSpPr>
        <p:spPr>
          <a:xfrm>
            <a:off x="4846320" y="1371600"/>
            <a:ext cx="3840480" cy="24688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39"/>
          <p:cNvSpPr/>
          <p:nvPr/>
        </p:nvSpPr>
        <p:spPr>
          <a:xfrm>
            <a:off x="4846320" y="1371600"/>
            <a:ext cx="54864" cy="24688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9"/>
          <p:cNvSpPr/>
          <p:nvPr/>
        </p:nvSpPr>
        <p:spPr>
          <a:xfrm>
            <a:off x="5074920" y="14630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300"/>
              <a:buFont typeface="Arial"/>
              <a:buNone/>
            </a:pPr>
            <a:r>
              <a:rPr b="1" i="0" lang="en-US" sz="1300" u="none" cap="none" strike="noStrike">
                <a:solidFill>
                  <a:srgbClr val="0033A0"/>
                </a:solidFill>
                <a:latin typeface="Arial"/>
                <a:ea typeface="Arial"/>
                <a:cs typeface="Arial"/>
                <a:sym typeface="Arial"/>
              </a:rPr>
              <a:t>FILE NAMING CONVENTION</a:t>
            </a:r>
            <a:endParaRPr b="0" i="0" sz="1300" u="none" cap="none" strike="noStrike">
              <a:solidFill>
                <a:schemeClr val="dk1"/>
              </a:solidFill>
              <a:latin typeface="Calibri"/>
              <a:ea typeface="Calibri"/>
              <a:cs typeface="Calibri"/>
              <a:sym typeface="Calibri"/>
            </a:endParaRPr>
          </a:p>
        </p:txBody>
      </p:sp>
      <p:sp>
        <p:nvSpPr>
          <p:cNvPr id="843" name="Google Shape;843;p39"/>
          <p:cNvSpPr/>
          <p:nvPr/>
        </p:nvSpPr>
        <p:spPr>
          <a:xfrm>
            <a:off x="5074920" y="1874520"/>
            <a:ext cx="347472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Pattern: topic_start-end-date_size.ext</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CareerFair_2025-10-01_1920x1080.jpg</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RHM-ShuttleStop-Feb25_QR.png</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RHM_SocialCalendar_Spring2025.xlsx</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No spaces — use hyphens or underscores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t/>
            </a:r>
            <a:endParaRPr b="0" i="0" sz="1100" u="none" cap="none" strike="noStrike">
              <a:solidFill>
                <a:schemeClr val="dk1"/>
              </a:solidFill>
              <a:latin typeface="Calibri"/>
              <a:ea typeface="Calibri"/>
              <a:cs typeface="Calibri"/>
              <a:sym typeface="Calibri"/>
            </a:endParaRPr>
          </a:p>
        </p:txBody>
      </p:sp>
      <p:sp>
        <p:nvSpPr>
          <p:cNvPr id="844" name="Google Shape;844;p39"/>
          <p:cNvSpPr/>
          <p:nvPr/>
        </p:nvSpPr>
        <p:spPr>
          <a:xfrm>
            <a:off x="457200" y="4023360"/>
            <a:ext cx="8229600" cy="502920"/>
          </a:xfrm>
          <a:prstGeom prst="rect">
            <a:avLst/>
          </a:prstGeom>
          <a:solidFill>
            <a:srgbClr val="FFF7ED"/>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9"/>
          <p:cNvSpPr/>
          <p:nvPr/>
        </p:nvSpPr>
        <p:spPr>
          <a:xfrm>
            <a:off x="640080" y="4069080"/>
            <a:ext cx="78638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Arial"/>
              <a:buNone/>
            </a:pPr>
            <a:r>
              <a:rPr b="1" i="0" lang="en-US" sz="1200" u="none" cap="none" strike="noStrike">
                <a:solidFill>
                  <a:srgbClr val="F97316"/>
                </a:solidFill>
                <a:latin typeface="Arial"/>
                <a:ea typeface="Arial"/>
                <a:cs typeface="Arial"/>
                <a:sym typeface="Arial"/>
              </a:rPr>
              <a:t>Zip your folder and attach it to your email to cobe-info@boisestate.edu. Include date format YYYY-MM-DD for sorting.</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850" name="Shape 850"/>
        <p:cNvGrpSpPr/>
        <p:nvPr/>
      </p:nvGrpSpPr>
      <p:grpSpPr>
        <a:xfrm>
          <a:off x="0" y="0"/>
          <a:ext cx="0" cy="0"/>
          <a:chOff x="0" y="0"/>
          <a:chExt cx="0" cy="0"/>
        </a:xfrm>
      </p:grpSpPr>
      <p:sp>
        <p:nvSpPr>
          <p:cNvPr id="851" name="Google Shape;851;p40"/>
          <p:cNvSpPr/>
          <p:nvPr/>
        </p:nvSpPr>
        <p:spPr>
          <a:xfrm>
            <a:off x="0" y="0"/>
            <a:ext cx="9144000" cy="5143500"/>
          </a:xfrm>
          <a:prstGeom prst="rect">
            <a:avLst/>
          </a:prstGeom>
          <a:solidFill>
            <a:srgbClr val="0C4A6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40"/>
          <p:cNvSpPr/>
          <p:nvPr/>
        </p:nvSpPr>
        <p:spPr>
          <a:xfrm>
            <a:off x="0" y="0"/>
            <a:ext cx="109800" cy="51435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40"/>
          <p:cNvSpPr/>
          <p:nvPr/>
        </p:nvSpPr>
        <p:spPr>
          <a:xfrm>
            <a:off x="548640" y="838275"/>
            <a:ext cx="73152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800"/>
              <a:buFont typeface="Arial"/>
              <a:buNone/>
            </a:pPr>
            <a:r>
              <a:rPr b="1" lang="en-US" sz="1800">
                <a:solidFill>
                  <a:srgbClr val="0EA5E9"/>
                </a:solidFill>
              </a:rPr>
              <a:t>PROOF OF CONCEPT</a:t>
            </a:r>
            <a:endParaRPr b="0" i="0" sz="1800" u="none" cap="none" strike="noStrike">
              <a:solidFill>
                <a:schemeClr val="dk1"/>
              </a:solidFill>
              <a:latin typeface="Calibri"/>
              <a:ea typeface="Calibri"/>
              <a:cs typeface="Calibri"/>
              <a:sym typeface="Calibri"/>
            </a:endParaRPr>
          </a:p>
        </p:txBody>
      </p:sp>
      <p:sp>
        <p:nvSpPr>
          <p:cNvPr id="854" name="Google Shape;854;p40"/>
          <p:cNvSpPr/>
          <p:nvPr/>
        </p:nvSpPr>
        <p:spPr>
          <a:xfrm>
            <a:off x="548650" y="1463052"/>
            <a:ext cx="7315200" cy="133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5200"/>
              <a:buFont typeface="Georgia"/>
              <a:buNone/>
            </a:pPr>
            <a:r>
              <a:rPr b="1" lang="en-US" sz="5200">
                <a:solidFill>
                  <a:srgbClr val="FFFFFF"/>
                </a:solidFill>
                <a:latin typeface="Georgia"/>
                <a:ea typeface="Georgia"/>
                <a:cs typeface="Georgia"/>
                <a:sym typeface="Georgia"/>
              </a:rPr>
              <a:t>RHM Case Study Example</a:t>
            </a:r>
            <a:endParaRPr b="0" i="0" sz="5200" u="none" cap="none" strike="noStrike">
              <a:solidFill>
                <a:schemeClr val="dk1"/>
              </a:solidFill>
              <a:latin typeface="Calibri"/>
              <a:ea typeface="Calibri"/>
              <a:cs typeface="Calibri"/>
              <a:sym typeface="Calibri"/>
            </a:endParaRPr>
          </a:p>
        </p:txBody>
      </p:sp>
      <p:sp>
        <p:nvSpPr>
          <p:cNvPr id="855" name="Google Shape;855;p40"/>
          <p:cNvSpPr/>
          <p:nvPr/>
        </p:nvSpPr>
        <p:spPr>
          <a:xfrm>
            <a:off x="548640" y="3291840"/>
            <a:ext cx="1828800" cy="366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0"/>
          <p:cNvSpPr/>
          <p:nvPr/>
        </p:nvSpPr>
        <p:spPr>
          <a:xfrm>
            <a:off x="548640" y="3520440"/>
            <a:ext cx="64008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40000"/>
              </a:lnSpc>
              <a:spcBef>
                <a:spcPts val="0"/>
              </a:spcBef>
              <a:spcAft>
                <a:spcPts val="0"/>
              </a:spcAft>
              <a:buClr>
                <a:srgbClr val="CBD5E1"/>
              </a:buClr>
              <a:buSzPts val="1400"/>
              <a:buFont typeface="Arial"/>
              <a:buNone/>
            </a:pPr>
            <a:r>
              <a:rPr lang="en-US">
                <a:solidFill>
                  <a:srgbClr val="CBD5E1"/>
                </a:solidFill>
              </a:rPr>
              <a:t>The Resort And Hospitality Management Program Marketing Tactics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61" name="Shape 861"/>
        <p:cNvGrpSpPr/>
        <p:nvPr/>
      </p:nvGrpSpPr>
      <p:grpSpPr>
        <a:xfrm>
          <a:off x="0" y="0"/>
          <a:ext cx="0" cy="0"/>
          <a:chOff x="0" y="0"/>
          <a:chExt cx="0" cy="0"/>
        </a:xfrm>
      </p:grpSpPr>
      <p:sp>
        <p:nvSpPr>
          <p:cNvPr id="862" name="Google Shape;862;p41"/>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41"/>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864" name="Google Shape;864;p41"/>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865" name="Google Shape;865;p41"/>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32</a:t>
            </a:r>
            <a:endParaRPr b="0" i="0" sz="1000" u="none" cap="none" strike="noStrike">
              <a:solidFill>
                <a:schemeClr val="dk1"/>
              </a:solidFill>
              <a:latin typeface="Calibri"/>
              <a:ea typeface="Calibri"/>
              <a:cs typeface="Calibri"/>
              <a:sym typeface="Calibri"/>
            </a:endParaRPr>
          </a:p>
        </p:txBody>
      </p:sp>
      <p:sp>
        <p:nvSpPr>
          <p:cNvPr id="866" name="Google Shape;866;p41"/>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400"/>
              <a:buFont typeface="Georgia"/>
              <a:buNone/>
            </a:pPr>
            <a:r>
              <a:rPr b="1" i="0" lang="en-US" sz="2400" u="none" cap="none" strike="noStrike">
                <a:solidFill>
                  <a:srgbClr val="0B1220"/>
                </a:solidFill>
                <a:latin typeface="Georgia"/>
                <a:ea typeface="Georgia"/>
                <a:cs typeface="Georgia"/>
                <a:sym typeface="Georgia"/>
              </a:rPr>
              <a:t>Hands-On in Action: RHM Program Marketing</a:t>
            </a:r>
            <a:endParaRPr b="0" i="0" sz="2400" u="none" cap="none" strike="noStrike">
              <a:solidFill>
                <a:schemeClr val="dk1"/>
              </a:solidFill>
              <a:latin typeface="Calibri"/>
              <a:ea typeface="Calibri"/>
              <a:cs typeface="Calibri"/>
              <a:sym typeface="Calibri"/>
            </a:endParaRPr>
          </a:p>
        </p:txBody>
      </p:sp>
      <p:sp>
        <p:nvSpPr>
          <p:cNvPr id="867" name="Google Shape;867;p41"/>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EA5E9"/>
              </a:buClr>
              <a:buSzPts val="1400"/>
              <a:buFont typeface="Arial"/>
              <a:buNone/>
            </a:pPr>
            <a:r>
              <a:rPr b="0" i="1" lang="en-US" sz="1400" u="none" cap="none" strike="noStrike">
                <a:solidFill>
                  <a:srgbClr val="0EA5E9"/>
                </a:solidFill>
                <a:latin typeface="Arial"/>
                <a:ea typeface="Arial"/>
                <a:cs typeface="Arial"/>
                <a:sym typeface="Arial"/>
              </a:rPr>
              <a:t>RHM owned production. COBE supported review and publishing.</a:t>
            </a:r>
            <a:endParaRPr b="0" i="0" sz="1400" u="none" cap="none" strike="noStrike">
              <a:solidFill>
                <a:schemeClr val="dk1"/>
              </a:solidFill>
              <a:latin typeface="Calibri"/>
              <a:ea typeface="Calibri"/>
              <a:cs typeface="Calibri"/>
              <a:sym typeface="Calibri"/>
            </a:endParaRPr>
          </a:p>
        </p:txBody>
      </p:sp>
      <p:sp>
        <p:nvSpPr>
          <p:cNvPr id="868" name="Google Shape;868;p41"/>
          <p:cNvSpPr/>
          <p:nvPr/>
        </p:nvSpPr>
        <p:spPr>
          <a:xfrm>
            <a:off x="45720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41"/>
          <p:cNvSpPr/>
          <p:nvPr/>
        </p:nvSpPr>
        <p:spPr>
          <a:xfrm>
            <a:off x="45720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$2,090</a:t>
            </a:r>
            <a:endParaRPr b="0" i="0" sz="2800" u="none" cap="none" strike="noStrike">
              <a:solidFill>
                <a:schemeClr val="dk1"/>
              </a:solidFill>
              <a:latin typeface="Calibri"/>
              <a:ea typeface="Calibri"/>
              <a:cs typeface="Calibri"/>
              <a:sym typeface="Calibri"/>
            </a:endParaRPr>
          </a:p>
        </p:txBody>
      </p:sp>
      <p:sp>
        <p:nvSpPr>
          <p:cNvPr id="870" name="Google Shape;870;p41"/>
          <p:cNvSpPr/>
          <p:nvPr/>
        </p:nvSpPr>
        <p:spPr>
          <a:xfrm>
            <a:off x="45720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Total Budget</a:t>
            </a:r>
            <a:endParaRPr b="0" i="0" sz="1100" u="none" cap="none" strike="noStrike">
              <a:solidFill>
                <a:schemeClr val="dk1"/>
              </a:solidFill>
              <a:latin typeface="Calibri"/>
              <a:ea typeface="Calibri"/>
              <a:cs typeface="Calibri"/>
              <a:sym typeface="Calibri"/>
            </a:endParaRPr>
          </a:p>
        </p:txBody>
      </p:sp>
      <p:sp>
        <p:nvSpPr>
          <p:cNvPr id="871" name="Google Shape;871;p41"/>
          <p:cNvSpPr/>
          <p:nvPr/>
        </p:nvSpPr>
        <p:spPr>
          <a:xfrm>
            <a:off x="256032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41"/>
          <p:cNvSpPr/>
          <p:nvPr/>
        </p:nvSpPr>
        <p:spPr>
          <a:xfrm>
            <a:off x="256032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237K+</a:t>
            </a:r>
            <a:endParaRPr b="0" i="0" sz="2800" u="none" cap="none" strike="noStrike">
              <a:solidFill>
                <a:schemeClr val="dk1"/>
              </a:solidFill>
              <a:latin typeface="Calibri"/>
              <a:ea typeface="Calibri"/>
              <a:cs typeface="Calibri"/>
              <a:sym typeface="Calibri"/>
            </a:endParaRPr>
          </a:p>
        </p:txBody>
      </p:sp>
      <p:sp>
        <p:nvSpPr>
          <p:cNvPr id="873" name="Google Shape;873;p41"/>
          <p:cNvSpPr/>
          <p:nvPr/>
        </p:nvSpPr>
        <p:spPr>
          <a:xfrm>
            <a:off x="256032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Projected Impressions</a:t>
            </a:r>
            <a:endParaRPr b="0" i="0" sz="1100" u="none" cap="none" strike="noStrike">
              <a:solidFill>
                <a:schemeClr val="dk1"/>
              </a:solidFill>
              <a:latin typeface="Calibri"/>
              <a:ea typeface="Calibri"/>
              <a:cs typeface="Calibri"/>
              <a:sym typeface="Calibri"/>
            </a:endParaRPr>
          </a:p>
        </p:txBody>
      </p:sp>
      <p:sp>
        <p:nvSpPr>
          <p:cNvPr id="874" name="Google Shape;874;p41"/>
          <p:cNvSpPr/>
          <p:nvPr/>
        </p:nvSpPr>
        <p:spPr>
          <a:xfrm>
            <a:off x="466344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41"/>
          <p:cNvSpPr/>
          <p:nvPr/>
        </p:nvSpPr>
        <p:spPr>
          <a:xfrm>
            <a:off x="466344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10+</a:t>
            </a:r>
            <a:endParaRPr b="0" i="0" sz="2800" u="none" cap="none" strike="noStrike">
              <a:solidFill>
                <a:schemeClr val="dk1"/>
              </a:solidFill>
              <a:latin typeface="Calibri"/>
              <a:ea typeface="Calibri"/>
              <a:cs typeface="Calibri"/>
              <a:sym typeface="Calibri"/>
            </a:endParaRPr>
          </a:p>
        </p:txBody>
      </p:sp>
      <p:sp>
        <p:nvSpPr>
          <p:cNvPr id="876" name="Google Shape;876;p41"/>
          <p:cNvSpPr/>
          <p:nvPr/>
        </p:nvSpPr>
        <p:spPr>
          <a:xfrm>
            <a:off x="466344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Channels Activated</a:t>
            </a:r>
            <a:endParaRPr b="0" i="0" sz="1100" u="none" cap="none" strike="noStrike">
              <a:solidFill>
                <a:schemeClr val="dk1"/>
              </a:solidFill>
              <a:latin typeface="Calibri"/>
              <a:ea typeface="Calibri"/>
              <a:cs typeface="Calibri"/>
              <a:sym typeface="Calibri"/>
            </a:endParaRPr>
          </a:p>
        </p:txBody>
      </p:sp>
      <p:sp>
        <p:nvSpPr>
          <p:cNvPr id="877" name="Google Shape;877;p41"/>
          <p:cNvSpPr/>
          <p:nvPr/>
        </p:nvSpPr>
        <p:spPr>
          <a:xfrm>
            <a:off x="676656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41"/>
          <p:cNvSpPr/>
          <p:nvPr/>
        </p:nvSpPr>
        <p:spPr>
          <a:xfrm>
            <a:off x="676656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$8.82</a:t>
            </a:r>
            <a:endParaRPr b="0" i="0" sz="2800" u="none" cap="none" strike="noStrike">
              <a:solidFill>
                <a:schemeClr val="dk1"/>
              </a:solidFill>
              <a:latin typeface="Calibri"/>
              <a:ea typeface="Calibri"/>
              <a:cs typeface="Calibri"/>
              <a:sym typeface="Calibri"/>
            </a:endParaRPr>
          </a:p>
        </p:txBody>
      </p:sp>
      <p:sp>
        <p:nvSpPr>
          <p:cNvPr id="879" name="Google Shape;879;p41"/>
          <p:cNvSpPr/>
          <p:nvPr/>
        </p:nvSpPr>
        <p:spPr>
          <a:xfrm>
            <a:off x="676656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Blended CPM</a:t>
            </a:r>
            <a:endParaRPr b="0" i="0" sz="1100" u="none" cap="none" strike="noStrike">
              <a:solidFill>
                <a:schemeClr val="dk1"/>
              </a:solidFill>
              <a:latin typeface="Calibri"/>
              <a:ea typeface="Calibri"/>
              <a:cs typeface="Calibri"/>
              <a:sym typeface="Calibri"/>
            </a:endParaRPr>
          </a:p>
        </p:txBody>
      </p:sp>
      <p:sp>
        <p:nvSpPr>
          <p:cNvPr id="880" name="Google Shape;880;p41"/>
          <p:cNvSpPr/>
          <p:nvPr/>
        </p:nvSpPr>
        <p:spPr>
          <a:xfrm>
            <a:off x="45720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41"/>
          <p:cNvSpPr/>
          <p:nvPr/>
        </p:nvSpPr>
        <p:spPr>
          <a:xfrm>
            <a:off x="457200" y="2560320"/>
            <a:ext cx="54864" cy="18288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41"/>
          <p:cNvSpPr/>
          <p:nvPr/>
        </p:nvSpPr>
        <p:spPr>
          <a:xfrm>
            <a:off x="68580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200"/>
              <a:buFont typeface="Arial"/>
              <a:buNone/>
            </a:pPr>
            <a:r>
              <a:rPr b="1" i="0" lang="en-US" sz="1200" u="none" cap="none" strike="noStrike">
                <a:solidFill>
                  <a:srgbClr val="0EA5E9"/>
                </a:solidFill>
                <a:latin typeface="Arial"/>
                <a:ea typeface="Arial"/>
                <a:cs typeface="Arial"/>
                <a:sym typeface="Arial"/>
              </a:rPr>
              <a:t>WHAT RHM OWNED (Independent Team)</a:t>
            </a:r>
            <a:endParaRPr b="0" i="0" sz="1200" u="none" cap="none" strike="noStrike">
              <a:solidFill>
                <a:schemeClr val="dk1"/>
              </a:solidFill>
              <a:latin typeface="Calibri"/>
              <a:ea typeface="Calibri"/>
              <a:cs typeface="Calibri"/>
              <a:sym typeface="Calibri"/>
            </a:endParaRPr>
          </a:p>
        </p:txBody>
      </p:sp>
      <p:sp>
        <p:nvSpPr>
          <p:cNvPr id="883" name="Google Shape;883;p41"/>
          <p:cNvSpPr/>
          <p:nvPr/>
        </p:nvSpPr>
        <p:spPr>
          <a:xfrm>
            <a:off x="68580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Strategy, messaging, and campaign planning</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Asset creation (graphics, copy, QR codes)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Landing page setup and tracking architecture</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Budget proposal and channel selection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Content calendar and posting schedule</a:t>
            </a:r>
            <a:endParaRPr b="0" i="0" sz="1000" u="none" cap="none" strike="noStrike">
              <a:solidFill>
                <a:schemeClr val="dk1"/>
              </a:solidFill>
              <a:latin typeface="Calibri"/>
              <a:ea typeface="Calibri"/>
              <a:cs typeface="Calibri"/>
              <a:sym typeface="Calibri"/>
            </a:endParaRPr>
          </a:p>
        </p:txBody>
      </p:sp>
      <p:sp>
        <p:nvSpPr>
          <p:cNvPr id="884" name="Google Shape;884;p41"/>
          <p:cNvSpPr/>
          <p:nvPr/>
        </p:nvSpPr>
        <p:spPr>
          <a:xfrm>
            <a:off x="484632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41"/>
          <p:cNvSpPr/>
          <p:nvPr/>
        </p:nvSpPr>
        <p:spPr>
          <a:xfrm>
            <a:off x="4846320" y="2560320"/>
            <a:ext cx="54864" cy="18288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41"/>
          <p:cNvSpPr/>
          <p:nvPr/>
        </p:nvSpPr>
        <p:spPr>
          <a:xfrm>
            <a:off x="507492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WHAT COBE MARKETING SUPPORTED (Review + Publish)</a:t>
            </a:r>
            <a:endParaRPr b="0" i="0" sz="1200" u="none" cap="none" strike="noStrike">
              <a:solidFill>
                <a:schemeClr val="dk1"/>
              </a:solidFill>
              <a:latin typeface="Calibri"/>
              <a:ea typeface="Calibri"/>
              <a:cs typeface="Calibri"/>
              <a:sym typeface="Calibri"/>
            </a:endParaRPr>
          </a:p>
        </p:txBody>
      </p:sp>
      <p:sp>
        <p:nvSpPr>
          <p:cNvPr id="887" name="Google Shape;887;p41"/>
          <p:cNvSpPr/>
          <p:nvPr/>
        </p:nvSpPr>
        <p:spPr>
          <a:xfrm>
            <a:off x="507492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Brand compliance review on all assets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Newsletter publishing and scheduling</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MBEB and campus screen submission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Social media posting to COBE accounts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Feedback and amplification support</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891" name="Shape 891"/>
        <p:cNvGrpSpPr/>
        <p:nvPr/>
      </p:nvGrpSpPr>
      <p:grpSpPr>
        <a:xfrm>
          <a:off x="0" y="0"/>
          <a:ext cx="0" cy="0"/>
          <a:chOff x="0" y="0"/>
          <a:chExt cx="0" cy="0"/>
        </a:xfrm>
      </p:grpSpPr>
      <p:sp>
        <p:nvSpPr>
          <p:cNvPr id="892" name="Google Shape;892;p42"/>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42"/>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894" name="Google Shape;894;p42"/>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895" name="Google Shape;895;p42"/>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33</a:t>
            </a:r>
            <a:endParaRPr b="0" i="0" sz="1000" u="none" cap="none" strike="noStrike">
              <a:solidFill>
                <a:schemeClr val="dk1"/>
              </a:solidFill>
              <a:latin typeface="Calibri"/>
              <a:ea typeface="Calibri"/>
              <a:cs typeface="Calibri"/>
              <a:sym typeface="Calibri"/>
            </a:endParaRPr>
          </a:p>
        </p:txBody>
      </p:sp>
      <p:sp>
        <p:nvSpPr>
          <p:cNvPr id="896" name="Google Shape;896;p42"/>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400"/>
              <a:buFont typeface="Georgia"/>
              <a:buNone/>
            </a:pPr>
            <a:r>
              <a:rPr b="1" i="0" lang="en-US" sz="2400" u="none" cap="none" strike="noStrike">
                <a:solidFill>
                  <a:srgbClr val="0B1220"/>
                </a:solidFill>
                <a:latin typeface="Georgia"/>
                <a:ea typeface="Georgia"/>
                <a:cs typeface="Georgia"/>
                <a:sym typeface="Georgia"/>
              </a:rPr>
              <a:t>How We Worked With COBE Marketing</a:t>
            </a:r>
            <a:endParaRPr b="0" i="0" sz="2400" u="none" cap="none" strike="noStrike">
              <a:solidFill>
                <a:schemeClr val="dk1"/>
              </a:solidFill>
              <a:latin typeface="Calibri"/>
              <a:ea typeface="Calibri"/>
              <a:cs typeface="Calibri"/>
              <a:sym typeface="Calibri"/>
            </a:endParaRPr>
          </a:p>
        </p:txBody>
      </p:sp>
      <p:sp>
        <p:nvSpPr>
          <p:cNvPr id="897" name="Google Shape;897;p42"/>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EA5E9"/>
              </a:buClr>
              <a:buSzPts val="1400"/>
              <a:buFont typeface="Arial"/>
              <a:buNone/>
            </a:pPr>
            <a:r>
              <a:rPr b="0" i="1" lang="en-US" sz="1400" u="none" cap="none" strike="noStrike">
                <a:solidFill>
                  <a:srgbClr val="0EA5E9"/>
                </a:solidFill>
                <a:latin typeface="Arial"/>
                <a:ea typeface="Arial"/>
                <a:cs typeface="Arial"/>
                <a:sym typeface="Arial"/>
              </a:rPr>
              <a:t>Two-team model: RHM owned production, COBE supported quality and publishing.</a:t>
            </a:r>
            <a:endParaRPr b="0" i="0" sz="1400" u="none" cap="none" strike="noStrike">
              <a:solidFill>
                <a:schemeClr val="dk1"/>
              </a:solidFill>
              <a:latin typeface="Calibri"/>
              <a:ea typeface="Calibri"/>
              <a:cs typeface="Calibri"/>
              <a:sym typeface="Calibri"/>
            </a:endParaRPr>
          </a:p>
        </p:txBody>
      </p:sp>
      <p:sp>
        <p:nvSpPr>
          <p:cNvPr id="898" name="Google Shape;898;p42"/>
          <p:cNvSpPr/>
          <p:nvPr/>
        </p:nvSpPr>
        <p:spPr>
          <a:xfrm>
            <a:off x="45720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42"/>
          <p:cNvSpPr/>
          <p:nvPr/>
        </p:nvSpPr>
        <p:spPr>
          <a:xfrm>
            <a:off x="45720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OWN</a:t>
            </a:r>
            <a:endParaRPr b="0" i="0" sz="2800" u="none" cap="none" strike="noStrike">
              <a:solidFill>
                <a:schemeClr val="dk1"/>
              </a:solidFill>
              <a:latin typeface="Calibri"/>
              <a:ea typeface="Calibri"/>
              <a:cs typeface="Calibri"/>
              <a:sym typeface="Calibri"/>
            </a:endParaRPr>
          </a:p>
        </p:txBody>
      </p:sp>
      <p:sp>
        <p:nvSpPr>
          <p:cNvPr id="900" name="Google Shape;900;p42"/>
          <p:cNvSpPr/>
          <p:nvPr/>
        </p:nvSpPr>
        <p:spPr>
          <a:xfrm>
            <a:off x="45720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Strategy</a:t>
            </a:r>
            <a:endParaRPr b="0" i="0" sz="1100" u="none" cap="none" strike="noStrike">
              <a:solidFill>
                <a:schemeClr val="dk1"/>
              </a:solidFill>
              <a:latin typeface="Calibri"/>
              <a:ea typeface="Calibri"/>
              <a:cs typeface="Calibri"/>
              <a:sym typeface="Calibri"/>
            </a:endParaRPr>
          </a:p>
        </p:txBody>
      </p:sp>
      <p:sp>
        <p:nvSpPr>
          <p:cNvPr id="901" name="Google Shape;901;p42"/>
          <p:cNvSpPr/>
          <p:nvPr/>
        </p:nvSpPr>
        <p:spPr>
          <a:xfrm>
            <a:off x="256032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42"/>
          <p:cNvSpPr/>
          <p:nvPr/>
        </p:nvSpPr>
        <p:spPr>
          <a:xfrm>
            <a:off x="256032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CREATE</a:t>
            </a:r>
            <a:endParaRPr b="0" i="0" sz="2800" u="none" cap="none" strike="noStrike">
              <a:solidFill>
                <a:schemeClr val="dk1"/>
              </a:solidFill>
              <a:latin typeface="Calibri"/>
              <a:ea typeface="Calibri"/>
              <a:cs typeface="Calibri"/>
              <a:sym typeface="Calibri"/>
            </a:endParaRPr>
          </a:p>
        </p:txBody>
      </p:sp>
      <p:sp>
        <p:nvSpPr>
          <p:cNvPr id="903" name="Google Shape;903;p42"/>
          <p:cNvSpPr/>
          <p:nvPr/>
        </p:nvSpPr>
        <p:spPr>
          <a:xfrm>
            <a:off x="256032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Assets</a:t>
            </a:r>
            <a:endParaRPr b="0" i="0" sz="1100" u="none" cap="none" strike="noStrike">
              <a:solidFill>
                <a:schemeClr val="dk1"/>
              </a:solidFill>
              <a:latin typeface="Calibri"/>
              <a:ea typeface="Calibri"/>
              <a:cs typeface="Calibri"/>
              <a:sym typeface="Calibri"/>
            </a:endParaRPr>
          </a:p>
        </p:txBody>
      </p:sp>
      <p:sp>
        <p:nvSpPr>
          <p:cNvPr id="904" name="Google Shape;904;p42"/>
          <p:cNvSpPr/>
          <p:nvPr/>
        </p:nvSpPr>
        <p:spPr>
          <a:xfrm>
            <a:off x="466344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42"/>
          <p:cNvSpPr/>
          <p:nvPr/>
        </p:nvSpPr>
        <p:spPr>
          <a:xfrm>
            <a:off x="466344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TRACK</a:t>
            </a:r>
            <a:endParaRPr b="0" i="0" sz="2800" u="none" cap="none" strike="noStrike">
              <a:solidFill>
                <a:schemeClr val="dk1"/>
              </a:solidFill>
              <a:latin typeface="Calibri"/>
              <a:ea typeface="Calibri"/>
              <a:cs typeface="Calibri"/>
              <a:sym typeface="Calibri"/>
            </a:endParaRPr>
          </a:p>
        </p:txBody>
      </p:sp>
      <p:sp>
        <p:nvSpPr>
          <p:cNvPr id="906" name="Google Shape;906;p42"/>
          <p:cNvSpPr/>
          <p:nvPr/>
        </p:nvSpPr>
        <p:spPr>
          <a:xfrm>
            <a:off x="466344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Results</a:t>
            </a:r>
            <a:endParaRPr b="0" i="0" sz="1100" u="none" cap="none" strike="noStrike">
              <a:solidFill>
                <a:schemeClr val="dk1"/>
              </a:solidFill>
              <a:latin typeface="Calibri"/>
              <a:ea typeface="Calibri"/>
              <a:cs typeface="Calibri"/>
              <a:sym typeface="Calibri"/>
            </a:endParaRPr>
          </a:p>
        </p:txBody>
      </p:sp>
      <p:sp>
        <p:nvSpPr>
          <p:cNvPr id="907" name="Google Shape;907;p42"/>
          <p:cNvSpPr/>
          <p:nvPr/>
        </p:nvSpPr>
        <p:spPr>
          <a:xfrm>
            <a:off x="676656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42"/>
          <p:cNvSpPr/>
          <p:nvPr/>
        </p:nvSpPr>
        <p:spPr>
          <a:xfrm>
            <a:off x="676656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PLAN</a:t>
            </a:r>
            <a:endParaRPr b="0" i="0" sz="2800" u="none" cap="none" strike="noStrike">
              <a:solidFill>
                <a:schemeClr val="dk1"/>
              </a:solidFill>
              <a:latin typeface="Calibri"/>
              <a:ea typeface="Calibri"/>
              <a:cs typeface="Calibri"/>
              <a:sym typeface="Calibri"/>
            </a:endParaRPr>
          </a:p>
        </p:txBody>
      </p:sp>
      <p:sp>
        <p:nvSpPr>
          <p:cNvPr id="909" name="Google Shape;909;p42"/>
          <p:cNvSpPr/>
          <p:nvPr/>
        </p:nvSpPr>
        <p:spPr>
          <a:xfrm>
            <a:off x="676656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Budget</a:t>
            </a:r>
            <a:endParaRPr b="0" i="0" sz="1100" u="none" cap="none" strike="noStrike">
              <a:solidFill>
                <a:schemeClr val="dk1"/>
              </a:solidFill>
              <a:latin typeface="Calibri"/>
              <a:ea typeface="Calibri"/>
              <a:cs typeface="Calibri"/>
              <a:sym typeface="Calibri"/>
            </a:endParaRPr>
          </a:p>
        </p:txBody>
      </p:sp>
      <p:sp>
        <p:nvSpPr>
          <p:cNvPr id="910" name="Google Shape;910;p42"/>
          <p:cNvSpPr/>
          <p:nvPr/>
        </p:nvSpPr>
        <p:spPr>
          <a:xfrm>
            <a:off x="45720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42"/>
          <p:cNvSpPr/>
          <p:nvPr/>
        </p:nvSpPr>
        <p:spPr>
          <a:xfrm>
            <a:off x="457200" y="2560320"/>
            <a:ext cx="54864" cy="18288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42"/>
          <p:cNvSpPr/>
          <p:nvPr/>
        </p:nvSpPr>
        <p:spPr>
          <a:xfrm>
            <a:off x="68580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200"/>
              <a:buFont typeface="Arial"/>
              <a:buNone/>
            </a:pPr>
            <a:r>
              <a:rPr b="1" i="0" lang="en-US" sz="1200" u="none" cap="none" strike="noStrike">
                <a:solidFill>
                  <a:srgbClr val="0EA5E9"/>
                </a:solidFill>
                <a:latin typeface="Arial"/>
                <a:ea typeface="Arial"/>
                <a:cs typeface="Arial"/>
                <a:sym typeface="Arial"/>
              </a:rPr>
              <a:t>RHM OWNED (Independent Team)</a:t>
            </a:r>
            <a:endParaRPr b="0" i="0" sz="1200" u="none" cap="none" strike="noStrike">
              <a:solidFill>
                <a:schemeClr val="dk1"/>
              </a:solidFill>
              <a:latin typeface="Calibri"/>
              <a:ea typeface="Calibri"/>
              <a:cs typeface="Calibri"/>
              <a:sym typeface="Calibri"/>
            </a:endParaRPr>
          </a:p>
        </p:txBody>
      </p:sp>
      <p:sp>
        <p:nvSpPr>
          <p:cNvPr id="913" name="Google Shape;913;p42"/>
          <p:cNvSpPr/>
          <p:nvPr/>
        </p:nvSpPr>
        <p:spPr>
          <a:xfrm>
            <a:off x="68580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Campaign strategy and messaging pillars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All graphic design and copywriting</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Landing page creation and maintenance</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QR code tracking setup (Flowcode)</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Content calendar and posting schedule</a:t>
            </a:r>
            <a:endParaRPr b="0" i="0" sz="1000" u="none" cap="none" strike="noStrike">
              <a:solidFill>
                <a:schemeClr val="dk1"/>
              </a:solidFill>
              <a:latin typeface="Calibri"/>
              <a:ea typeface="Calibri"/>
              <a:cs typeface="Calibri"/>
              <a:sym typeface="Calibri"/>
            </a:endParaRPr>
          </a:p>
        </p:txBody>
      </p:sp>
      <p:sp>
        <p:nvSpPr>
          <p:cNvPr id="914" name="Google Shape;914;p42"/>
          <p:cNvSpPr/>
          <p:nvPr/>
        </p:nvSpPr>
        <p:spPr>
          <a:xfrm>
            <a:off x="484632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42"/>
          <p:cNvSpPr/>
          <p:nvPr/>
        </p:nvSpPr>
        <p:spPr>
          <a:xfrm>
            <a:off x="4846320" y="2560320"/>
            <a:ext cx="54864" cy="18288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42"/>
          <p:cNvSpPr/>
          <p:nvPr/>
        </p:nvSpPr>
        <p:spPr>
          <a:xfrm>
            <a:off x="507492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COBE MARKETING SUPPORTED (Review + Publish)</a:t>
            </a:r>
            <a:endParaRPr b="0" i="0" sz="1200" u="none" cap="none" strike="noStrike">
              <a:solidFill>
                <a:schemeClr val="dk1"/>
              </a:solidFill>
              <a:latin typeface="Calibri"/>
              <a:ea typeface="Calibri"/>
              <a:cs typeface="Calibri"/>
              <a:sym typeface="Calibri"/>
            </a:endParaRPr>
          </a:p>
        </p:txBody>
      </p:sp>
      <p:sp>
        <p:nvSpPr>
          <p:cNvPr id="917" name="Google Shape;917;p42"/>
          <p:cNvSpPr/>
          <p:nvPr/>
        </p:nvSpPr>
        <p:spPr>
          <a:xfrm>
            <a:off x="507492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Brand compliance review on all assets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Newsletter inclusion and scheduling</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MBEB and campus screen submission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Social posting to COBE accounts (@boisestatecobe on Instagram; College of Business and Economics at Boise State on LinkedIn)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Feedback loops and amplification</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21" name="Shape 921"/>
        <p:cNvGrpSpPr/>
        <p:nvPr/>
      </p:nvGrpSpPr>
      <p:grpSpPr>
        <a:xfrm>
          <a:off x="0" y="0"/>
          <a:ext cx="0" cy="0"/>
          <a:chOff x="0" y="0"/>
          <a:chExt cx="0" cy="0"/>
        </a:xfrm>
      </p:grpSpPr>
      <p:sp>
        <p:nvSpPr>
          <p:cNvPr id="922" name="Google Shape;922;p43"/>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43"/>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924" name="Google Shape;924;p43"/>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925" name="Google Shape;925;p43"/>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34</a:t>
            </a:r>
            <a:endParaRPr b="0" i="0" sz="1000" u="none" cap="none" strike="noStrike">
              <a:solidFill>
                <a:schemeClr val="dk1"/>
              </a:solidFill>
              <a:latin typeface="Calibri"/>
              <a:ea typeface="Calibri"/>
              <a:cs typeface="Calibri"/>
              <a:sym typeface="Calibri"/>
            </a:endParaRPr>
          </a:p>
        </p:txBody>
      </p:sp>
      <p:sp>
        <p:nvSpPr>
          <p:cNvPr id="926" name="Google Shape;926;p43"/>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Strategy: Message, Offer, Funnel</a:t>
            </a:r>
            <a:endParaRPr b="0" i="0" sz="3000" u="none" cap="none" strike="noStrike">
              <a:solidFill>
                <a:schemeClr val="dk1"/>
              </a:solidFill>
              <a:latin typeface="Calibri"/>
              <a:ea typeface="Calibri"/>
              <a:cs typeface="Calibri"/>
              <a:sym typeface="Calibri"/>
            </a:endParaRPr>
          </a:p>
        </p:txBody>
      </p:sp>
      <p:sp>
        <p:nvSpPr>
          <p:cNvPr id="927" name="Google Shape;927;p43"/>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How RHM framed the campaign to connect with each audience.</a:t>
            </a:r>
            <a:endParaRPr b="0" i="0" sz="1400" u="none" cap="none" strike="noStrike">
              <a:solidFill>
                <a:schemeClr val="dk1"/>
              </a:solidFill>
              <a:latin typeface="Calibri"/>
              <a:ea typeface="Calibri"/>
              <a:cs typeface="Calibri"/>
              <a:sym typeface="Calibri"/>
            </a:endParaRPr>
          </a:p>
        </p:txBody>
      </p:sp>
      <p:sp>
        <p:nvSpPr>
          <p:cNvPr id="928" name="Google Shape;928;p43"/>
          <p:cNvSpPr/>
          <p:nvPr/>
        </p:nvSpPr>
        <p:spPr>
          <a:xfrm>
            <a:off x="457200" y="137160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43"/>
          <p:cNvSpPr/>
          <p:nvPr/>
        </p:nvSpPr>
        <p:spPr>
          <a:xfrm>
            <a:off x="457200" y="1371600"/>
            <a:ext cx="54864" cy="640080"/>
          </a:xfrm>
          <a:prstGeom prst="rect">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43"/>
          <p:cNvSpPr/>
          <p:nvPr/>
        </p:nvSpPr>
        <p:spPr>
          <a:xfrm>
            <a:off x="640080" y="1481328"/>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43"/>
          <p:cNvSpPr/>
          <p:nvPr/>
        </p:nvSpPr>
        <p:spPr>
          <a:xfrm>
            <a:off x="640080" y="148132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932" name="Google Shape;932;p43"/>
          <p:cNvSpPr/>
          <p:nvPr/>
        </p:nvSpPr>
        <p:spPr>
          <a:xfrm>
            <a:off x="1234440" y="141732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Pillar 1: Career-Readiness</a:t>
            </a:r>
            <a:endParaRPr b="0" i="0" sz="1300" u="none" cap="none" strike="noStrike">
              <a:solidFill>
                <a:schemeClr val="dk1"/>
              </a:solidFill>
              <a:latin typeface="Calibri"/>
              <a:ea typeface="Calibri"/>
              <a:cs typeface="Calibri"/>
              <a:sym typeface="Calibri"/>
            </a:endParaRPr>
          </a:p>
        </p:txBody>
      </p:sp>
      <p:sp>
        <p:nvSpPr>
          <p:cNvPr id="933" name="Google Shape;933;p43"/>
          <p:cNvSpPr/>
          <p:nvPr/>
        </p:nvSpPr>
        <p:spPr>
          <a:xfrm>
            <a:off x="1234440" y="167335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Students lead real projects with measurable outcomes. Certificates stack into degrees. Employers get pre-vetted talent.</a:t>
            </a:r>
            <a:endParaRPr b="0" i="0" sz="1000" u="none" cap="none" strike="noStrike">
              <a:solidFill>
                <a:schemeClr val="dk1"/>
              </a:solidFill>
              <a:latin typeface="Calibri"/>
              <a:ea typeface="Calibri"/>
              <a:cs typeface="Calibri"/>
              <a:sym typeface="Calibri"/>
            </a:endParaRPr>
          </a:p>
        </p:txBody>
      </p:sp>
      <p:sp>
        <p:nvSpPr>
          <p:cNvPr id="934" name="Google Shape;934;p43"/>
          <p:cNvSpPr/>
          <p:nvPr/>
        </p:nvSpPr>
        <p:spPr>
          <a:xfrm>
            <a:off x="457200" y="210312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43"/>
          <p:cNvSpPr/>
          <p:nvPr/>
        </p:nvSpPr>
        <p:spPr>
          <a:xfrm>
            <a:off x="457200" y="2103120"/>
            <a:ext cx="54864" cy="6400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43"/>
          <p:cNvSpPr/>
          <p:nvPr/>
        </p:nvSpPr>
        <p:spPr>
          <a:xfrm>
            <a:off x="640080" y="2212848"/>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43"/>
          <p:cNvSpPr/>
          <p:nvPr/>
        </p:nvSpPr>
        <p:spPr>
          <a:xfrm>
            <a:off x="640080" y="221284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938" name="Google Shape;938;p43"/>
          <p:cNvSpPr/>
          <p:nvPr/>
        </p:nvSpPr>
        <p:spPr>
          <a:xfrm>
            <a:off x="1234440" y="214884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Pillar 2: Flexible Formats</a:t>
            </a:r>
            <a:endParaRPr b="0" i="0" sz="1300" u="none" cap="none" strike="noStrike">
              <a:solidFill>
                <a:schemeClr val="dk1"/>
              </a:solidFill>
              <a:latin typeface="Calibri"/>
              <a:ea typeface="Calibri"/>
              <a:cs typeface="Calibri"/>
              <a:sym typeface="Calibri"/>
            </a:endParaRPr>
          </a:p>
        </p:txBody>
      </p:sp>
      <p:sp>
        <p:nvSpPr>
          <p:cNvPr id="939" name="Google Shape;939;p43"/>
          <p:cNvSpPr/>
          <p:nvPr/>
        </p:nvSpPr>
        <p:spPr>
          <a:xfrm>
            <a:off x="1234440" y="240487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Online self-paced modules under 60 min. In-person leadership workshops. Pause and resume anytime.</a:t>
            </a:r>
            <a:endParaRPr b="0" i="0" sz="1000" u="none" cap="none" strike="noStrike">
              <a:solidFill>
                <a:schemeClr val="dk1"/>
              </a:solidFill>
              <a:latin typeface="Calibri"/>
              <a:ea typeface="Calibri"/>
              <a:cs typeface="Calibri"/>
              <a:sym typeface="Calibri"/>
            </a:endParaRPr>
          </a:p>
        </p:txBody>
      </p:sp>
      <p:sp>
        <p:nvSpPr>
          <p:cNvPr id="940" name="Google Shape;940;p43"/>
          <p:cNvSpPr/>
          <p:nvPr/>
        </p:nvSpPr>
        <p:spPr>
          <a:xfrm>
            <a:off x="457200" y="283464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43"/>
          <p:cNvSpPr/>
          <p:nvPr/>
        </p:nvSpPr>
        <p:spPr>
          <a:xfrm>
            <a:off x="457200" y="2834640"/>
            <a:ext cx="54864" cy="6400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43"/>
          <p:cNvSpPr/>
          <p:nvPr/>
        </p:nvSpPr>
        <p:spPr>
          <a:xfrm>
            <a:off x="640080" y="2944368"/>
            <a:ext cx="411480" cy="4114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43"/>
          <p:cNvSpPr/>
          <p:nvPr/>
        </p:nvSpPr>
        <p:spPr>
          <a:xfrm>
            <a:off x="640080" y="294436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944" name="Google Shape;944;p43"/>
          <p:cNvSpPr/>
          <p:nvPr/>
        </p:nvSpPr>
        <p:spPr>
          <a:xfrm>
            <a:off x="1234440" y="288036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Pillar 3: Employer Pipeline</a:t>
            </a:r>
            <a:endParaRPr b="0" i="0" sz="1300" u="none" cap="none" strike="noStrike">
              <a:solidFill>
                <a:schemeClr val="dk1"/>
              </a:solidFill>
              <a:latin typeface="Calibri"/>
              <a:ea typeface="Calibri"/>
              <a:cs typeface="Calibri"/>
              <a:sym typeface="Calibri"/>
            </a:endParaRPr>
          </a:p>
        </p:txBody>
      </p:sp>
      <p:sp>
        <p:nvSpPr>
          <p:cNvPr id="945" name="Google Shape;945;p43"/>
          <p:cNvSpPr/>
          <p:nvPr/>
        </p:nvSpPr>
        <p:spPr>
          <a:xfrm>
            <a:off x="1234440" y="313639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Career fairs, mixers, bundled training. Connect employers to vetted COBE talent and upskilling options.</a:t>
            </a:r>
            <a:endParaRPr b="0" i="0" sz="1000" u="none" cap="none" strike="noStrike">
              <a:solidFill>
                <a:schemeClr val="dk1"/>
              </a:solidFill>
              <a:latin typeface="Calibri"/>
              <a:ea typeface="Calibri"/>
              <a:cs typeface="Calibri"/>
              <a:sym typeface="Calibri"/>
            </a:endParaRPr>
          </a:p>
        </p:txBody>
      </p:sp>
      <p:sp>
        <p:nvSpPr>
          <p:cNvPr id="946" name="Google Shape;946;p43"/>
          <p:cNvSpPr/>
          <p:nvPr/>
        </p:nvSpPr>
        <p:spPr>
          <a:xfrm>
            <a:off x="457200" y="356616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43"/>
          <p:cNvSpPr/>
          <p:nvPr/>
        </p:nvSpPr>
        <p:spPr>
          <a:xfrm>
            <a:off x="457200" y="3566160"/>
            <a:ext cx="54864" cy="6400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43"/>
          <p:cNvSpPr/>
          <p:nvPr/>
        </p:nvSpPr>
        <p:spPr>
          <a:xfrm>
            <a:off x="640080" y="3675888"/>
            <a:ext cx="411480" cy="411480"/>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43"/>
          <p:cNvSpPr/>
          <p:nvPr/>
        </p:nvSpPr>
        <p:spPr>
          <a:xfrm>
            <a:off x="640080" y="367588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4</a:t>
            </a:r>
            <a:endParaRPr b="0" i="0" sz="1600" u="none" cap="none" strike="noStrike">
              <a:solidFill>
                <a:schemeClr val="dk1"/>
              </a:solidFill>
              <a:latin typeface="Calibri"/>
              <a:ea typeface="Calibri"/>
              <a:cs typeface="Calibri"/>
              <a:sym typeface="Calibri"/>
            </a:endParaRPr>
          </a:p>
        </p:txBody>
      </p:sp>
      <p:sp>
        <p:nvSpPr>
          <p:cNvPr id="950" name="Google Shape;950;p43"/>
          <p:cNvSpPr/>
          <p:nvPr/>
        </p:nvSpPr>
        <p:spPr>
          <a:xfrm>
            <a:off x="1234440" y="361188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Offer Framing</a:t>
            </a:r>
            <a:endParaRPr b="0" i="0" sz="1300" u="none" cap="none" strike="noStrike">
              <a:solidFill>
                <a:schemeClr val="dk1"/>
              </a:solidFill>
              <a:latin typeface="Calibri"/>
              <a:ea typeface="Calibri"/>
              <a:cs typeface="Calibri"/>
              <a:sym typeface="Calibri"/>
            </a:endParaRPr>
          </a:p>
        </p:txBody>
      </p:sp>
      <p:sp>
        <p:nvSpPr>
          <p:cNvPr id="951" name="Google Shape;951;p43"/>
          <p:cNvSpPr/>
          <p:nvPr/>
        </p:nvSpPr>
        <p:spPr>
          <a:xfrm>
            <a:off x="1234440" y="386791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Free certificate info + career fair access. Low barrier to entry. All CTAs drive to one landing page.</a:t>
            </a:r>
            <a:endParaRPr b="0" i="0" sz="1000" u="none" cap="none" strike="noStrike">
              <a:solidFill>
                <a:schemeClr val="dk1"/>
              </a:solidFill>
              <a:latin typeface="Calibri"/>
              <a:ea typeface="Calibri"/>
              <a:cs typeface="Calibri"/>
              <a:sym typeface="Calibri"/>
            </a:endParaRPr>
          </a:p>
        </p:txBody>
      </p:sp>
      <p:sp>
        <p:nvSpPr>
          <p:cNvPr id="952" name="Google Shape;952;p43"/>
          <p:cNvSpPr/>
          <p:nvPr/>
        </p:nvSpPr>
        <p:spPr>
          <a:xfrm>
            <a:off x="457200" y="429768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43"/>
          <p:cNvSpPr/>
          <p:nvPr/>
        </p:nvSpPr>
        <p:spPr>
          <a:xfrm>
            <a:off x="457200" y="4297680"/>
            <a:ext cx="54864" cy="640080"/>
          </a:xfrm>
          <a:prstGeom prst="rect">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43"/>
          <p:cNvSpPr/>
          <p:nvPr/>
        </p:nvSpPr>
        <p:spPr>
          <a:xfrm>
            <a:off x="640080" y="4407408"/>
            <a:ext cx="411480" cy="411480"/>
          </a:xfrm>
          <a:prstGeom prst="ellipse">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43"/>
          <p:cNvSpPr/>
          <p:nvPr/>
        </p:nvSpPr>
        <p:spPr>
          <a:xfrm>
            <a:off x="640080" y="440740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5</a:t>
            </a:r>
            <a:endParaRPr b="0" i="0" sz="1600" u="none" cap="none" strike="noStrike">
              <a:solidFill>
                <a:schemeClr val="dk1"/>
              </a:solidFill>
              <a:latin typeface="Calibri"/>
              <a:ea typeface="Calibri"/>
              <a:cs typeface="Calibri"/>
              <a:sym typeface="Calibri"/>
            </a:endParaRPr>
          </a:p>
        </p:txBody>
      </p:sp>
      <p:sp>
        <p:nvSpPr>
          <p:cNvPr id="956" name="Google Shape;956;p43"/>
          <p:cNvSpPr/>
          <p:nvPr/>
        </p:nvSpPr>
        <p:spPr>
          <a:xfrm>
            <a:off x="1234440" y="434340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Funnel: Awareness to Action</a:t>
            </a:r>
            <a:endParaRPr b="0" i="0" sz="1300" u="none" cap="none" strike="noStrike">
              <a:solidFill>
                <a:schemeClr val="dk1"/>
              </a:solidFill>
              <a:latin typeface="Calibri"/>
              <a:ea typeface="Calibri"/>
              <a:cs typeface="Calibri"/>
              <a:sym typeface="Calibri"/>
            </a:endParaRPr>
          </a:p>
        </p:txBody>
      </p:sp>
      <p:sp>
        <p:nvSpPr>
          <p:cNvPr id="957" name="Google Shape;957;p43"/>
          <p:cNvSpPr/>
          <p:nvPr/>
        </p:nvSpPr>
        <p:spPr>
          <a:xfrm>
            <a:off x="1234440" y="459943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Awareness (social, screens, posters) to Interest (landing page, newsletter) to Action (registration, application, inquiry form).</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61" name="Shape 961"/>
        <p:cNvGrpSpPr/>
        <p:nvPr/>
      </p:nvGrpSpPr>
      <p:grpSpPr>
        <a:xfrm>
          <a:off x="0" y="0"/>
          <a:ext cx="0" cy="0"/>
          <a:chOff x="0" y="0"/>
          <a:chExt cx="0" cy="0"/>
        </a:xfrm>
      </p:grpSpPr>
      <p:sp>
        <p:nvSpPr>
          <p:cNvPr id="962" name="Google Shape;962;p44"/>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44"/>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964" name="Google Shape;964;p44"/>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965" name="Google Shape;965;p44"/>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35</a:t>
            </a:r>
            <a:endParaRPr b="0" i="0" sz="1000" u="none" cap="none" strike="noStrike">
              <a:solidFill>
                <a:schemeClr val="dk1"/>
              </a:solidFill>
              <a:latin typeface="Calibri"/>
              <a:ea typeface="Calibri"/>
              <a:cs typeface="Calibri"/>
              <a:sym typeface="Calibri"/>
            </a:endParaRPr>
          </a:p>
        </p:txBody>
      </p:sp>
      <p:sp>
        <p:nvSpPr>
          <p:cNvPr id="966" name="Google Shape;966;p44"/>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400"/>
              <a:buFont typeface="Georgia"/>
              <a:buNone/>
            </a:pPr>
            <a:r>
              <a:rPr b="1" i="0" lang="en-US" sz="2400" u="none" cap="none" strike="noStrike">
                <a:solidFill>
                  <a:srgbClr val="0B1220"/>
                </a:solidFill>
                <a:latin typeface="Georgia"/>
                <a:ea typeface="Georgia"/>
                <a:cs typeface="Georgia"/>
                <a:sym typeface="Georgia"/>
              </a:rPr>
              <a:t>What We Created (Asset Inventory)</a:t>
            </a:r>
            <a:endParaRPr b="0" i="0" sz="2400" u="none" cap="none" strike="noStrike">
              <a:solidFill>
                <a:schemeClr val="dk1"/>
              </a:solidFill>
              <a:latin typeface="Calibri"/>
              <a:ea typeface="Calibri"/>
              <a:cs typeface="Calibri"/>
              <a:sym typeface="Calibri"/>
            </a:endParaRPr>
          </a:p>
        </p:txBody>
      </p:sp>
      <p:sp>
        <p:nvSpPr>
          <p:cNvPr id="967" name="Google Shape;967;p44"/>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EA5E9"/>
              </a:buClr>
              <a:buSzPts val="1400"/>
              <a:buFont typeface="Arial"/>
              <a:buNone/>
            </a:pPr>
            <a:r>
              <a:rPr b="0" i="1" lang="en-US" sz="1400" u="none" cap="none" strike="noStrike">
                <a:solidFill>
                  <a:srgbClr val="0EA5E9"/>
                </a:solidFill>
                <a:latin typeface="Arial"/>
                <a:ea typeface="Arial"/>
                <a:cs typeface="Arial"/>
                <a:sym typeface="Arial"/>
              </a:rPr>
              <a:t>Every asset RHM built for the Spring 2025 campaign, grouped by type.</a:t>
            </a:r>
            <a:endParaRPr b="0" i="0" sz="1400" u="none" cap="none" strike="noStrike">
              <a:solidFill>
                <a:schemeClr val="dk1"/>
              </a:solidFill>
              <a:latin typeface="Calibri"/>
              <a:ea typeface="Calibri"/>
              <a:cs typeface="Calibri"/>
              <a:sym typeface="Calibri"/>
            </a:endParaRPr>
          </a:p>
        </p:txBody>
      </p:sp>
      <p:sp>
        <p:nvSpPr>
          <p:cNvPr id="968" name="Google Shape;968;p44"/>
          <p:cNvSpPr/>
          <p:nvPr/>
        </p:nvSpPr>
        <p:spPr>
          <a:xfrm>
            <a:off x="45720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44"/>
          <p:cNvSpPr/>
          <p:nvPr/>
        </p:nvSpPr>
        <p:spPr>
          <a:xfrm>
            <a:off x="45720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6+</a:t>
            </a:r>
            <a:endParaRPr b="0" i="0" sz="2800" u="none" cap="none" strike="noStrike">
              <a:solidFill>
                <a:schemeClr val="dk1"/>
              </a:solidFill>
              <a:latin typeface="Calibri"/>
              <a:ea typeface="Calibri"/>
              <a:cs typeface="Calibri"/>
              <a:sym typeface="Calibri"/>
            </a:endParaRPr>
          </a:p>
        </p:txBody>
      </p:sp>
      <p:sp>
        <p:nvSpPr>
          <p:cNvPr id="970" name="Google Shape;970;p44"/>
          <p:cNvSpPr/>
          <p:nvPr/>
        </p:nvSpPr>
        <p:spPr>
          <a:xfrm>
            <a:off x="45720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Social Assets</a:t>
            </a:r>
            <a:endParaRPr b="0" i="0" sz="1100" u="none" cap="none" strike="noStrike">
              <a:solidFill>
                <a:schemeClr val="dk1"/>
              </a:solidFill>
              <a:latin typeface="Calibri"/>
              <a:ea typeface="Calibri"/>
              <a:cs typeface="Calibri"/>
              <a:sym typeface="Calibri"/>
            </a:endParaRPr>
          </a:p>
        </p:txBody>
      </p:sp>
      <p:sp>
        <p:nvSpPr>
          <p:cNvPr id="971" name="Google Shape;971;p44"/>
          <p:cNvSpPr/>
          <p:nvPr/>
        </p:nvSpPr>
        <p:spPr>
          <a:xfrm>
            <a:off x="256032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44"/>
          <p:cNvSpPr/>
          <p:nvPr/>
        </p:nvSpPr>
        <p:spPr>
          <a:xfrm>
            <a:off x="256032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3x</a:t>
            </a:r>
            <a:endParaRPr b="0" i="0" sz="2800" u="none" cap="none" strike="noStrike">
              <a:solidFill>
                <a:schemeClr val="dk1"/>
              </a:solidFill>
              <a:latin typeface="Calibri"/>
              <a:ea typeface="Calibri"/>
              <a:cs typeface="Calibri"/>
              <a:sym typeface="Calibri"/>
            </a:endParaRPr>
          </a:p>
        </p:txBody>
      </p:sp>
      <p:sp>
        <p:nvSpPr>
          <p:cNvPr id="973" name="Google Shape;973;p44"/>
          <p:cNvSpPr/>
          <p:nvPr/>
        </p:nvSpPr>
        <p:spPr>
          <a:xfrm>
            <a:off x="256032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Newsletter Features</a:t>
            </a:r>
            <a:endParaRPr b="0" i="0" sz="1100" u="none" cap="none" strike="noStrike">
              <a:solidFill>
                <a:schemeClr val="dk1"/>
              </a:solidFill>
              <a:latin typeface="Calibri"/>
              <a:ea typeface="Calibri"/>
              <a:cs typeface="Calibri"/>
              <a:sym typeface="Calibri"/>
            </a:endParaRPr>
          </a:p>
        </p:txBody>
      </p:sp>
      <p:sp>
        <p:nvSpPr>
          <p:cNvPr id="974" name="Google Shape;974;p44"/>
          <p:cNvSpPr/>
          <p:nvPr/>
        </p:nvSpPr>
        <p:spPr>
          <a:xfrm>
            <a:off x="466344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44"/>
          <p:cNvSpPr/>
          <p:nvPr/>
        </p:nvSpPr>
        <p:spPr>
          <a:xfrm>
            <a:off x="466344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10+</a:t>
            </a:r>
            <a:endParaRPr b="0" i="0" sz="2800" u="none" cap="none" strike="noStrike">
              <a:solidFill>
                <a:schemeClr val="dk1"/>
              </a:solidFill>
              <a:latin typeface="Calibri"/>
              <a:ea typeface="Calibri"/>
              <a:cs typeface="Calibri"/>
              <a:sym typeface="Calibri"/>
            </a:endParaRPr>
          </a:p>
        </p:txBody>
      </p:sp>
      <p:sp>
        <p:nvSpPr>
          <p:cNvPr id="976" name="Google Shape;976;p44"/>
          <p:cNvSpPr/>
          <p:nvPr/>
        </p:nvSpPr>
        <p:spPr>
          <a:xfrm>
            <a:off x="466344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Print Pieces</a:t>
            </a:r>
            <a:endParaRPr b="0" i="0" sz="1100" u="none" cap="none" strike="noStrike">
              <a:solidFill>
                <a:schemeClr val="dk1"/>
              </a:solidFill>
              <a:latin typeface="Calibri"/>
              <a:ea typeface="Calibri"/>
              <a:cs typeface="Calibri"/>
              <a:sym typeface="Calibri"/>
            </a:endParaRPr>
          </a:p>
        </p:txBody>
      </p:sp>
      <p:sp>
        <p:nvSpPr>
          <p:cNvPr id="977" name="Google Shape;977;p44"/>
          <p:cNvSpPr/>
          <p:nvPr/>
        </p:nvSpPr>
        <p:spPr>
          <a:xfrm>
            <a:off x="676656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44"/>
          <p:cNvSpPr/>
          <p:nvPr/>
        </p:nvSpPr>
        <p:spPr>
          <a:xfrm>
            <a:off x="676656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2</a:t>
            </a:r>
            <a:endParaRPr b="0" i="0" sz="2800" u="none" cap="none" strike="noStrike">
              <a:solidFill>
                <a:schemeClr val="dk1"/>
              </a:solidFill>
              <a:latin typeface="Calibri"/>
              <a:ea typeface="Calibri"/>
              <a:cs typeface="Calibri"/>
              <a:sym typeface="Calibri"/>
            </a:endParaRPr>
          </a:p>
        </p:txBody>
      </p:sp>
      <p:sp>
        <p:nvSpPr>
          <p:cNvPr id="979" name="Google Shape;979;p44"/>
          <p:cNvSpPr/>
          <p:nvPr/>
        </p:nvSpPr>
        <p:spPr>
          <a:xfrm>
            <a:off x="676656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Event Kits</a:t>
            </a:r>
            <a:endParaRPr b="0" i="0" sz="1100" u="none" cap="none" strike="noStrike">
              <a:solidFill>
                <a:schemeClr val="dk1"/>
              </a:solidFill>
              <a:latin typeface="Calibri"/>
              <a:ea typeface="Calibri"/>
              <a:cs typeface="Calibri"/>
              <a:sym typeface="Calibri"/>
            </a:endParaRPr>
          </a:p>
        </p:txBody>
      </p:sp>
      <p:sp>
        <p:nvSpPr>
          <p:cNvPr id="980" name="Google Shape;980;p44"/>
          <p:cNvSpPr/>
          <p:nvPr/>
        </p:nvSpPr>
        <p:spPr>
          <a:xfrm>
            <a:off x="45720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44"/>
          <p:cNvSpPr/>
          <p:nvPr/>
        </p:nvSpPr>
        <p:spPr>
          <a:xfrm>
            <a:off x="457200" y="2560320"/>
            <a:ext cx="54864" cy="18288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44"/>
          <p:cNvSpPr/>
          <p:nvPr/>
        </p:nvSpPr>
        <p:spPr>
          <a:xfrm>
            <a:off x="68580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200"/>
              <a:buFont typeface="Arial"/>
              <a:buNone/>
            </a:pPr>
            <a:r>
              <a:rPr b="1" i="0" lang="en-US" sz="1200" u="none" cap="none" strike="noStrike">
                <a:solidFill>
                  <a:srgbClr val="0EA5E9"/>
                </a:solidFill>
                <a:latin typeface="Arial"/>
                <a:ea typeface="Arial"/>
                <a:cs typeface="Arial"/>
                <a:sym typeface="Arial"/>
              </a:rPr>
              <a:t>SOCIAL + DIGITAL ASSETS</a:t>
            </a:r>
            <a:endParaRPr b="0" i="0" sz="1200" u="none" cap="none" strike="noStrike">
              <a:solidFill>
                <a:schemeClr val="dk1"/>
              </a:solidFill>
              <a:latin typeface="Calibri"/>
              <a:ea typeface="Calibri"/>
              <a:cs typeface="Calibri"/>
              <a:sym typeface="Calibri"/>
            </a:endParaRPr>
          </a:p>
        </p:txBody>
      </p:sp>
      <p:sp>
        <p:nvSpPr>
          <p:cNvPr id="983" name="Google Shape;983;p44"/>
          <p:cNvSpPr/>
          <p:nvPr/>
        </p:nvSpPr>
        <p:spPr>
          <a:xfrm>
            <a:off x="68580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Instagram posts and stories (1080x1080, 1080x1920)</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LinkedIn banners and articles (1920x1080)</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MBEB screen graphics (1920x1080 JPG, dark bg)</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Campus screen graphics (Library, SUB, Housing, Rec)</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Meta/Instagram ad creatives with targeting copy</a:t>
            </a:r>
            <a:endParaRPr b="0" i="0" sz="1000" u="none" cap="none" strike="noStrike">
              <a:solidFill>
                <a:schemeClr val="dk1"/>
              </a:solidFill>
              <a:latin typeface="Calibri"/>
              <a:ea typeface="Calibri"/>
              <a:cs typeface="Calibri"/>
              <a:sym typeface="Calibri"/>
            </a:endParaRPr>
          </a:p>
        </p:txBody>
      </p:sp>
      <p:sp>
        <p:nvSpPr>
          <p:cNvPr id="984" name="Google Shape;984;p44"/>
          <p:cNvSpPr/>
          <p:nvPr/>
        </p:nvSpPr>
        <p:spPr>
          <a:xfrm>
            <a:off x="484632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44"/>
          <p:cNvSpPr/>
          <p:nvPr/>
        </p:nvSpPr>
        <p:spPr>
          <a:xfrm>
            <a:off x="4846320" y="2560320"/>
            <a:ext cx="54864" cy="18288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44"/>
          <p:cNvSpPr/>
          <p:nvPr/>
        </p:nvSpPr>
        <p:spPr>
          <a:xfrm>
            <a:off x="507492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PRINT + EVENT ASSETS</a:t>
            </a:r>
            <a:endParaRPr b="0" i="0" sz="1200" u="none" cap="none" strike="noStrike">
              <a:solidFill>
                <a:schemeClr val="dk1"/>
              </a:solidFill>
              <a:latin typeface="Calibri"/>
              <a:ea typeface="Calibri"/>
              <a:cs typeface="Calibri"/>
              <a:sym typeface="Calibri"/>
            </a:endParaRPr>
          </a:p>
        </p:txBody>
      </p:sp>
      <p:sp>
        <p:nvSpPr>
          <p:cNvPr id="987" name="Google Shape;987;p44"/>
          <p:cNvSpPr/>
          <p:nvPr/>
        </p:nvSpPr>
        <p:spPr>
          <a:xfrm>
            <a:off x="507492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Shuttle stop posters (24x35) with unique Flowcode QR</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Tabling handouts with QR codes and program blurbs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Career fair table signage and display materials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Class visit slide deck and leave-behind flyers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Blueprint Magazine half-page ad and Arbiter print ad</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991" name="Shape 991"/>
        <p:cNvGrpSpPr/>
        <p:nvPr/>
      </p:nvGrpSpPr>
      <p:grpSpPr>
        <a:xfrm>
          <a:off x="0" y="0"/>
          <a:ext cx="0" cy="0"/>
          <a:chOff x="0" y="0"/>
          <a:chExt cx="0" cy="0"/>
        </a:xfrm>
      </p:grpSpPr>
      <p:sp>
        <p:nvSpPr>
          <p:cNvPr id="992" name="Google Shape;992;p45"/>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45"/>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994" name="Google Shape;994;p45"/>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995" name="Google Shape;995;p45"/>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36</a:t>
            </a:r>
            <a:endParaRPr b="0" i="0" sz="1000" u="none" cap="none" strike="noStrike">
              <a:solidFill>
                <a:schemeClr val="dk1"/>
              </a:solidFill>
              <a:latin typeface="Calibri"/>
              <a:ea typeface="Calibri"/>
              <a:cs typeface="Calibri"/>
              <a:sym typeface="Calibri"/>
            </a:endParaRPr>
          </a:p>
        </p:txBody>
      </p:sp>
      <p:sp>
        <p:nvSpPr>
          <p:cNvPr id="996" name="Google Shape;996;p45"/>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Our Posting Rhythm (RHM Example Week)</a:t>
            </a:r>
            <a:endParaRPr b="0" i="0" sz="2800" u="none" cap="none" strike="noStrike">
              <a:solidFill>
                <a:schemeClr val="dk1"/>
              </a:solidFill>
              <a:latin typeface="Calibri"/>
              <a:ea typeface="Calibri"/>
              <a:cs typeface="Calibri"/>
              <a:sym typeface="Calibri"/>
            </a:endParaRPr>
          </a:p>
        </p:txBody>
      </p:sp>
      <p:sp>
        <p:nvSpPr>
          <p:cNvPr id="997" name="Google Shape;997;p45"/>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7316"/>
              </a:buClr>
              <a:buSzPts val="1100"/>
              <a:buFont typeface="Arial"/>
              <a:buNone/>
            </a:pPr>
            <a:r>
              <a:rPr b="0" i="1" lang="en-US" sz="1100" u="none" cap="none" strike="noStrike">
                <a:solidFill>
                  <a:srgbClr val="F97316"/>
                </a:solidFill>
                <a:latin typeface="Arial"/>
                <a:ea typeface="Arial"/>
                <a:cs typeface="Arial"/>
                <a:sym typeface="Arial"/>
              </a:rPr>
              <a:t>Based on RHM Spring 2025 calendar. All links drove to the certificate landing page with UTMs.</a:t>
            </a:r>
            <a:endParaRPr b="0" i="0" sz="1100" u="none" cap="none" strike="noStrike">
              <a:solidFill>
                <a:schemeClr val="dk1"/>
              </a:solidFill>
              <a:latin typeface="Calibri"/>
              <a:ea typeface="Calibri"/>
              <a:cs typeface="Calibri"/>
              <a:sym typeface="Calibri"/>
            </a:endParaRPr>
          </a:p>
        </p:txBody>
      </p:sp>
      <p:sp>
        <p:nvSpPr>
          <p:cNvPr id="998" name="Google Shape;998;p45"/>
          <p:cNvSpPr/>
          <p:nvPr/>
        </p:nvSpPr>
        <p:spPr>
          <a:xfrm>
            <a:off x="457200" y="1280160"/>
            <a:ext cx="3840480" cy="210312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45"/>
          <p:cNvSpPr/>
          <p:nvPr/>
        </p:nvSpPr>
        <p:spPr>
          <a:xfrm>
            <a:off x="457200" y="1280160"/>
            <a:ext cx="54864" cy="210312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45"/>
          <p:cNvSpPr/>
          <p:nvPr/>
        </p:nvSpPr>
        <p:spPr>
          <a:xfrm>
            <a:off x="685800" y="137160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Arial"/>
              <a:buNone/>
            </a:pPr>
            <a:r>
              <a:rPr b="1" i="0" lang="en-US" sz="1200" u="none" cap="none" strike="noStrike">
                <a:solidFill>
                  <a:srgbClr val="F97316"/>
                </a:solidFill>
                <a:latin typeface="Arial"/>
                <a:ea typeface="Arial"/>
                <a:cs typeface="Arial"/>
                <a:sym typeface="Arial"/>
              </a:rPr>
              <a:t>EXAMPLE WEEKLY CADENCE</a:t>
            </a:r>
            <a:endParaRPr b="0" i="0" sz="1200" u="none" cap="none" strike="noStrike">
              <a:solidFill>
                <a:schemeClr val="dk1"/>
              </a:solidFill>
              <a:latin typeface="Calibri"/>
              <a:ea typeface="Calibri"/>
              <a:cs typeface="Calibri"/>
              <a:sym typeface="Calibri"/>
            </a:endParaRPr>
          </a:p>
        </p:txBody>
      </p:sp>
      <p:sp>
        <p:nvSpPr>
          <p:cNvPr id="1001" name="Google Shape;1001;p45"/>
          <p:cNvSpPr/>
          <p:nvPr/>
        </p:nvSpPr>
        <p:spPr>
          <a:xfrm>
            <a:off x="685800" y="1691640"/>
            <a:ext cx="3474720" cy="155448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Monday: Instagram grid post (program highlight)</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Tuesday: LinkedIn article or employer spotlight</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Wednesday: Instagram story (event countdown or tip)</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Thursday: Newsletter feature (if scheduled that week)</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Friday: LinkedIn post (student success or partner tag)</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Ongoing: MBEB screens, campus screens, shuttle posters (static)</a:t>
            </a:r>
            <a:endParaRPr b="0" i="0" sz="1000" u="none" cap="none" strike="noStrike">
              <a:solidFill>
                <a:schemeClr val="dk1"/>
              </a:solidFill>
              <a:latin typeface="Calibri"/>
              <a:ea typeface="Calibri"/>
              <a:cs typeface="Calibri"/>
              <a:sym typeface="Calibri"/>
            </a:endParaRPr>
          </a:p>
        </p:txBody>
      </p:sp>
      <p:sp>
        <p:nvSpPr>
          <p:cNvPr id="1002" name="Google Shape;1002;p45"/>
          <p:cNvSpPr/>
          <p:nvPr/>
        </p:nvSpPr>
        <p:spPr>
          <a:xfrm>
            <a:off x="4846320" y="1280160"/>
            <a:ext cx="3840480" cy="210312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45"/>
          <p:cNvSpPr/>
          <p:nvPr/>
        </p:nvSpPr>
        <p:spPr>
          <a:xfrm>
            <a:off x="4846320" y="1280160"/>
            <a:ext cx="54864" cy="210312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45"/>
          <p:cNvSpPr/>
          <p:nvPr/>
        </p:nvSpPr>
        <p:spPr>
          <a:xfrm>
            <a:off x="5074920" y="137160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RAMP-UP STRATEGY</a:t>
            </a:r>
            <a:endParaRPr b="0" i="0" sz="1200" u="none" cap="none" strike="noStrike">
              <a:solidFill>
                <a:schemeClr val="dk1"/>
              </a:solidFill>
              <a:latin typeface="Calibri"/>
              <a:ea typeface="Calibri"/>
              <a:cs typeface="Calibri"/>
              <a:sym typeface="Calibri"/>
            </a:endParaRPr>
          </a:p>
        </p:txBody>
      </p:sp>
      <p:sp>
        <p:nvSpPr>
          <p:cNvPr id="1005" name="Google Shape;1005;p45"/>
          <p:cNvSpPr/>
          <p:nvPr/>
        </p:nvSpPr>
        <p:spPr>
          <a:xfrm>
            <a:off x="5074920" y="1691640"/>
            <a:ext cx="3474720" cy="155448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Weeks 1-2: Soft launch (1-2 posts/week, screens go live)</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Weeks 3-4: Build momentum (3-4 posts/week, newsletter)</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Weeks 5-6: Peak push (daily stories, paid ads, tabling)</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Event week: All channels active, reminders, live stories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Post-event: Recap posts, thank-yous, metrics review</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Key rule: Every link includes UTMs pointing to landing page</a:t>
            </a:r>
            <a:endParaRPr b="0" i="0" sz="1000" u="none" cap="none" strike="noStrike">
              <a:solidFill>
                <a:schemeClr val="dk1"/>
              </a:solidFill>
              <a:latin typeface="Calibri"/>
              <a:ea typeface="Calibri"/>
              <a:cs typeface="Calibri"/>
              <a:sym typeface="Calibri"/>
            </a:endParaRPr>
          </a:p>
        </p:txBody>
      </p:sp>
      <p:sp>
        <p:nvSpPr>
          <p:cNvPr id="1006" name="Google Shape;1006;p45"/>
          <p:cNvSpPr/>
          <p:nvPr/>
        </p:nvSpPr>
        <p:spPr>
          <a:xfrm>
            <a:off x="457200" y="356616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ASSET SPECIFICATIONS</a:t>
            </a:r>
            <a:endParaRPr b="0" i="0" sz="1200" u="none" cap="none" strike="noStrike">
              <a:solidFill>
                <a:schemeClr val="dk1"/>
              </a:solidFill>
              <a:latin typeface="Calibri"/>
              <a:ea typeface="Calibri"/>
              <a:cs typeface="Calibri"/>
              <a:sym typeface="Calibri"/>
            </a:endParaRPr>
          </a:p>
        </p:txBody>
      </p:sp>
      <p:graphicFrame>
        <p:nvGraphicFramePr>
          <p:cNvPr id="1007" name="Google Shape;1007;p45"/>
          <p:cNvGraphicFramePr/>
          <p:nvPr/>
        </p:nvGraphicFramePr>
        <p:xfrm>
          <a:off x="457200" y="3840480"/>
          <a:ext cx="3000000" cy="3000000"/>
        </p:xfrm>
        <a:graphic>
          <a:graphicData uri="http://schemas.openxmlformats.org/drawingml/2006/table">
            <a:tbl>
              <a:tblPr>
                <a:noFill/>
                <a:tableStyleId>{AD4631F1-437D-4764-92B6-2A4562E18BC6}</a:tableStyleId>
              </a:tblPr>
              <a:tblGrid>
                <a:gridCol w="1645925"/>
                <a:gridCol w="1645925"/>
                <a:gridCol w="1371600"/>
                <a:gridCol w="3566150"/>
              </a:tblGrid>
              <a:tr h="182875">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Asset Type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Size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Format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rPr>
                        <a:t>Used For</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Square post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1080 x 1080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JPG/PNG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Instagram grid, Facebook</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Story / Reel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1080 x 1920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JPG/PNG/MP4</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Instagram/Facebook stories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Banner / Screen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1920 x 1080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LinkedIn, MBEB screens, classroom slides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SUB Dining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768 x 1366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Student Union dining area screens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1828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Library Screens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1280 x 720 px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JPG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Albertsons Library digital displays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11" name="Shape 1011"/>
        <p:cNvGrpSpPr/>
        <p:nvPr/>
      </p:nvGrpSpPr>
      <p:grpSpPr>
        <a:xfrm>
          <a:off x="0" y="0"/>
          <a:ext cx="0" cy="0"/>
          <a:chOff x="0" y="0"/>
          <a:chExt cx="0" cy="0"/>
        </a:xfrm>
      </p:grpSpPr>
      <p:sp>
        <p:nvSpPr>
          <p:cNvPr id="1012" name="Google Shape;1012;p46"/>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46"/>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1014" name="Google Shape;1014;p46"/>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015" name="Google Shape;1015;p46"/>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37</a:t>
            </a:r>
            <a:endParaRPr b="0" i="0" sz="1000" u="none" cap="none" strike="noStrike">
              <a:solidFill>
                <a:schemeClr val="dk1"/>
              </a:solidFill>
              <a:latin typeface="Calibri"/>
              <a:ea typeface="Calibri"/>
              <a:cs typeface="Calibri"/>
              <a:sym typeface="Calibri"/>
            </a:endParaRPr>
          </a:p>
        </p:txBody>
      </p:sp>
      <p:sp>
        <p:nvSpPr>
          <p:cNvPr id="1016" name="Google Shape;1016;p46"/>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600"/>
              <a:buFont typeface="Georgia"/>
              <a:buNone/>
            </a:pPr>
            <a:r>
              <a:rPr b="1" i="0" lang="en-US" sz="2600" u="none" cap="none" strike="noStrike">
                <a:solidFill>
                  <a:srgbClr val="0B1220"/>
                </a:solidFill>
                <a:latin typeface="Georgia"/>
                <a:ea typeface="Georgia"/>
                <a:cs typeface="Georgia"/>
                <a:sym typeface="Georgia"/>
              </a:rPr>
              <a:t>Single Source of Truth: Landing Page (RHM)</a:t>
            </a:r>
            <a:endParaRPr b="0" i="0" sz="2600" u="none" cap="none" strike="noStrike">
              <a:solidFill>
                <a:schemeClr val="dk1"/>
              </a:solidFill>
              <a:latin typeface="Calibri"/>
              <a:ea typeface="Calibri"/>
              <a:cs typeface="Calibri"/>
              <a:sym typeface="Calibri"/>
            </a:endParaRPr>
          </a:p>
        </p:txBody>
      </p:sp>
      <p:sp>
        <p:nvSpPr>
          <p:cNvPr id="1017" name="Google Shape;1017;p46"/>
          <p:cNvSpPr/>
          <p:nvPr/>
        </p:nvSpPr>
        <p:spPr>
          <a:xfrm>
            <a:off x="457200" y="1005840"/>
            <a:ext cx="3840480" cy="22860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46"/>
          <p:cNvSpPr/>
          <p:nvPr/>
        </p:nvSpPr>
        <p:spPr>
          <a:xfrm>
            <a:off x="457200" y="1005840"/>
            <a:ext cx="54864" cy="2286000"/>
          </a:xfrm>
          <a:prstGeom prst="rect">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46"/>
          <p:cNvSpPr/>
          <p:nvPr/>
        </p:nvSpPr>
        <p:spPr>
          <a:xfrm>
            <a:off x="68580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100"/>
              <a:buFont typeface="Arial"/>
              <a:buNone/>
            </a:pPr>
            <a:r>
              <a:rPr b="1" i="0" lang="en-US" sz="1100" u="none" cap="none" strike="noStrike">
                <a:solidFill>
                  <a:srgbClr val="F97316"/>
                </a:solidFill>
                <a:latin typeface="Arial"/>
                <a:ea typeface="Arial"/>
                <a:cs typeface="Arial"/>
                <a:sym typeface="Arial"/>
              </a:rPr>
              <a:t>WHAT WE BUILT</a:t>
            </a:r>
            <a:endParaRPr b="0" i="0" sz="1100" u="none" cap="none" strike="noStrike">
              <a:solidFill>
                <a:schemeClr val="dk1"/>
              </a:solidFill>
              <a:latin typeface="Calibri"/>
              <a:ea typeface="Calibri"/>
              <a:cs typeface="Calibri"/>
              <a:sym typeface="Calibri"/>
            </a:endParaRPr>
          </a:p>
        </p:txBody>
      </p:sp>
      <p:sp>
        <p:nvSpPr>
          <p:cNvPr id="1020" name="Google Shape;1020;p46"/>
          <p:cNvSpPr/>
          <p:nvPr/>
        </p:nvSpPr>
        <p:spPr>
          <a:xfrm>
            <a:off x="685800" y="1417320"/>
            <a:ext cx="3474720" cy="16459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Platform: Google Sites (quick launch while WordPress access was pending)</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Sections: Program overview, certificate details, value props, career outcomes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CTA: Interest form + direct link to Boise State application page</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Iteration: Updated copy and CTAs monthly based on analytics data</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Email: Requested program-specific email alias from Boise State IT for inquiries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p:txBody>
      </p:sp>
      <p:sp>
        <p:nvSpPr>
          <p:cNvPr id="1021" name="Google Shape;1021;p46"/>
          <p:cNvSpPr/>
          <p:nvPr/>
        </p:nvSpPr>
        <p:spPr>
          <a:xfrm>
            <a:off x="4846320" y="1005840"/>
            <a:ext cx="3840480" cy="22860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46"/>
          <p:cNvSpPr/>
          <p:nvPr/>
        </p:nvSpPr>
        <p:spPr>
          <a:xfrm>
            <a:off x="4846320" y="1005840"/>
            <a:ext cx="54864" cy="2286000"/>
          </a:xfrm>
          <a:prstGeom prst="rect">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46"/>
          <p:cNvSpPr/>
          <p:nvPr/>
        </p:nvSpPr>
        <p:spPr>
          <a:xfrm>
            <a:off x="507492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4444"/>
              </a:buClr>
              <a:buSzPts val="1100"/>
              <a:buFont typeface="Arial"/>
              <a:buNone/>
            </a:pPr>
            <a:r>
              <a:rPr b="1" i="0" lang="en-US" sz="1100" u="none" cap="none" strike="noStrike">
                <a:solidFill>
                  <a:srgbClr val="EF4444"/>
                </a:solidFill>
                <a:latin typeface="Arial"/>
                <a:ea typeface="Arial"/>
                <a:cs typeface="Arial"/>
                <a:sym typeface="Arial"/>
              </a:rPr>
              <a:t>WHY A SINGLE LANDING PAGE MATTERS</a:t>
            </a:r>
            <a:endParaRPr b="0" i="0" sz="1100" u="none" cap="none" strike="noStrike">
              <a:solidFill>
                <a:schemeClr val="dk1"/>
              </a:solidFill>
              <a:latin typeface="Calibri"/>
              <a:ea typeface="Calibri"/>
              <a:cs typeface="Calibri"/>
              <a:sym typeface="Calibri"/>
            </a:endParaRPr>
          </a:p>
        </p:txBody>
      </p:sp>
      <p:sp>
        <p:nvSpPr>
          <p:cNvPr id="1024" name="Google Shape;1024;p46"/>
          <p:cNvSpPr/>
          <p:nvPr/>
        </p:nvSpPr>
        <p:spPr>
          <a:xfrm>
            <a:off x="5074920" y="1417320"/>
            <a:ext cx="3474720" cy="16459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Every channel (social, email, print, screens) drives to one URL</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Clean attribution: UTMs show which channel drove each visit</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QR codes on physical materials point to the same page</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One page to update means consistent messaging across all touchpoints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Looker Studio dashboard tracks all traffic to this single destination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p:txBody>
      </p:sp>
      <p:sp>
        <p:nvSpPr>
          <p:cNvPr id="1025" name="Google Shape;1025;p46"/>
          <p:cNvSpPr/>
          <p:nvPr/>
        </p:nvSpPr>
        <p:spPr>
          <a:xfrm>
            <a:off x="457200" y="3474720"/>
            <a:ext cx="8229600" cy="128016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46"/>
          <p:cNvSpPr/>
          <p:nvPr/>
        </p:nvSpPr>
        <p:spPr>
          <a:xfrm>
            <a:off x="457200" y="3474720"/>
            <a:ext cx="54864" cy="128016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46"/>
          <p:cNvSpPr/>
          <p:nvPr/>
        </p:nvSpPr>
        <p:spPr>
          <a:xfrm>
            <a:off x="685800" y="3566160"/>
            <a:ext cx="7772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100"/>
              <a:buFont typeface="Arial"/>
              <a:buNone/>
            </a:pPr>
            <a:r>
              <a:rPr b="1" i="0" lang="en-US" sz="1100" u="none" cap="none" strike="noStrike">
                <a:solidFill>
                  <a:srgbClr val="0033A0"/>
                </a:solidFill>
                <a:latin typeface="Arial"/>
                <a:ea typeface="Arial"/>
                <a:cs typeface="Arial"/>
                <a:sym typeface="Arial"/>
              </a:rPr>
              <a:t>LESSON LEARNED</a:t>
            </a:r>
            <a:endParaRPr b="0" i="0" sz="1100" u="none" cap="none" strike="noStrike">
              <a:solidFill>
                <a:schemeClr val="dk1"/>
              </a:solidFill>
              <a:latin typeface="Calibri"/>
              <a:ea typeface="Calibri"/>
              <a:cs typeface="Calibri"/>
              <a:sym typeface="Calibri"/>
            </a:endParaRPr>
          </a:p>
        </p:txBody>
      </p:sp>
      <p:sp>
        <p:nvSpPr>
          <p:cNvPr id="1028" name="Google Shape;1028;p46"/>
          <p:cNvSpPr/>
          <p:nvPr/>
        </p:nvSpPr>
        <p:spPr>
          <a:xfrm>
            <a:off x="685800" y="3840480"/>
            <a:ext cx="77724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Start with Google Sites if you need speed. Migrate to WordPress once you have access and accessibility training complete. The landing page should be live BEFORE your first post.</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34155"/>
              </a:buClr>
              <a:buSzPts val="1000"/>
              <a:buFont typeface="Arial"/>
              <a:buNone/>
            </a:pPr>
            <a:r>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32" name="Shape 1032"/>
        <p:cNvGrpSpPr/>
        <p:nvPr/>
      </p:nvGrpSpPr>
      <p:grpSpPr>
        <a:xfrm>
          <a:off x="0" y="0"/>
          <a:ext cx="0" cy="0"/>
          <a:chOff x="0" y="0"/>
          <a:chExt cx="0" cy="0"/>
        </a:xfrm>
      </p:grpSpPr>
      <p:sp>
        <p:nvSpPr>
          <p:cNvPr id="1033" name="Google Shape;1033;p47"/>
          <p:cNvSpPr/>
          <p:nvPr/>
        </p:nvSpPr>
        <p:spPr>
          <a:xfrm>
            <a:off x="6766560" y="182880"/>
            <a:ext cx="2103120" cy="320040"/>
          </a:xfrm>
          <a:prstGeom prst="roundRect">
            <a:avLst>
              <a:gd fmla="val 14286" name="adj"/>
            </a:avLst>
          </a:prstGeom>
          <a:solidFill>
            <a:srgbClr val="F9731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47"/>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1035" name="Google Shape;1035;p47"/>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036" name="Google Shape;1036;p47"/>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38</a:t>
            </a:r>
            <a:endParaRPr b="0" i="0" sz="1000" u="none" cap="none" strike="noStrike">
              <a:solidFill>
                <a:schemeClr val="dk1"/>
              </a:solidFill>
              <a:latin typeface="Calibri"/>
              <a:ea typeface="Calibri"/>
              <a:cs typeface="Calibri"/>
              <a:sym typeface="Calibri"/>
            </a:endParaRPr>
          </a:p>
        </p:txBody>
      </p:sp>
      <p:sp>
        <p:nvSpPr>
          <p:cNvPr id="1037" name="Google Shape;1037;p47"/>
          <p:cNvSpPr/>
          <p:nvPr/>
        </p:nvSpPr>
        <p:spPr>
          <a:xfrm>
            <a:off x="457200" y="32004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Tracking Architecture (RHM Example)</a:t>
            </a:r>
            <a:endParaRPr b="0" i="0" sz="2800" u="none" cap="none" strike="noStrike">
              <a:solidFill>
                <a:schemeClr val="dk1"/>
              </a:solidFill>
              <a:latin typeface="Calibri"/>
              <a:ea typeface="Calibri"/>
              <a:cs typeface="Calibri"/>
              <a:sym typeface="Calibri"/>
            </a:endParaRPr>
          </a:p>
        </p:txBody>
      </p:sp>
      <p:sp>
        <p:nvSpPr>
          <p:cNvPr id="1038" name="Google Shape;1038;p47"/>
          <p:cNvSpPr/>
          <p:nvPr/>
        </p:nvSpPr>
        <p:spPr>
          <a:xfrm>
            <a:off x="457200" y="1005840"/>
            <a:ext cx="3840480" cy="27432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47"/>
          <p:cNvSpPr/>
          <p:nvPr/>
        </p:nvSpPr>
        <p:spPr>
          <a:xfrm>
            <a:off x="457200" y="1005840"/>
            <a:ext cx="54864" cy="27432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47"/>
          <p:cNvSpPr/>
          <p:nvPr/>
        </p:nvSpPr>
        <p:spPr>
          <a:xfrm>
            <a:off x="68580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C3AED"/>
              </a:buClr>
              <a:buSzPts val="1200"/>
              <a:buFont typeface="Arial"/>
              <a:buNone/>
            </a:pPr>
            <a:r>
              <a:rPr b="1" i="0" lang="en-US" sz="1200" u="none" cap="none" strike="noStrike">
                <a:solidFill>
                  <a:srgbClr val="7C3AED"/>
                </a:solidFill>
                <a:latin typeface="Arial"/>
                <a:ea typeface="Arial"/>
                <a:cs typeface="Arial"/>
                <a:sym typeface="Arial"/>
              </a:rPr>
              <a:t>FLOWCODE QR STRATEGY</a:t>
            </a:r>
            <a:endParaRPr b="0" i="0" sz="1200" u="none" cap="none" strike="noStrike">
              <a:solidFill>
                <a:schemeClr val="dk1"/>
              </a:solidFill>
              <a:latin typeface="Calibri"/>
              <a:ea typeface="Calibri"/>
              <a:cs typeface="Calibri"/>
              <a:sym typeface="Calibri"/>
            </a:endParaRPr>
          </a:p>
        </p:txBody>
      </p:sp>
      <p:sp>
        <p:nvSpPr>
          <p:cNvPr id="1041" name="Google Shape;1041;p47"/>
          <p:cNvSpPr/>
          <p:nvPr/>
        </p:nvSpPr>
        <p:spPr>
          <a:xfrm>
            <a:off x="685800" y="1463040"/>
            <a:ext cx="3474720" cy="21031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Unique Flowcode per physical placement:</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RHM_Shuttle_SP25 (shuttle stop posters)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RHM_Tabling_SP25 (tabling handouts)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RHM_ClassVisit_SP25 (class visit flyers)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RHM_CareerFair_SP25 (career fair signage)</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RHM_MBEB_SP25 (MBEB poster)</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Each QR points to the same landing page with unique UTM source</a:t>
            </a:r>
            <a:endParaRPr b="0" i="0" sz="1000" u="none" cap="none" strike="noStrike">
              <a:solidFill>
                <a:schemeClr val="dk1"/>
              </a:solidFill>
              <a:latin typeface="Calibri"/>
              <a:ea typeface="Calibri"/>
              <a:cs typeface="Calibri"/>
              <a:sym typeface="Calibri"/>
            </a:endParaRPr>
          </a:p>
        </p:txBody>
      </p:sp>
      <p:sp>
        <p:nvSpPr>
          <p:cNvPr id="1042" name="Google Shape;1042;p47"/>
          <p:cNvSpPr/>
          <p:nvPr/>
        </p:nvSpPr>
        <p:spPr>
          <a:xfrm>
            <a:off x="4846320" y="1005840"/>
            <a:ext cx="3840480" cy="27432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47"/>
          <p:cNvSpPr/>
          <p:nvPr/>
        </p:nvSpPr>
        <p:spPr>
          <a:xfrm>
            <a:off x="4846320" y="1005840"/>
            <a:ext cx="54864" cy="2743200"/>
          </a:xfrm>
          <a:prstGeom prst="rect">
            <a:avLst/>
          </a:prstGeom>
          <a:solidFill>
            <a:srgbClr val="0D948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47"/>
          <p:cNvSpPr/>
          <p:nvPr/>
        </p:nvSpPr>
        <p:spPr>
          <a:xfrm>
            <a:off x="5074920" y="109728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9488"/>
              </a:buClr>
              <a:buSzPts val="1200"/>
              <a:buFont typeface="Arial"/>
              <a:buNone/>
            </a:pPr>
            <a:r>
              <a:rPr b="1" i="0" lang="en-US" sz="1200" u="none" cap="none" strike="noStrike">
                <a:solidFill>
                  <a:srgbClr val="0D9488"/>
                </a:solidFill>
                <a:latin typeface="Arial"/>
                <a:ea typeface="Arial"/>
                <a:cs typeface="Arial"/>
                <a:sym typeface="Arial"/>
              </a:rPr>
              <a:t>UTM CONVENTIONS</a:t>
            </a:r>
            <a:endParaRPr b="0" i="0" sz="1200" u="none" cap="none" strike="noStrike">
              <a:solidFill>
                <a:schemeClr val="dk1"/>
              </a:solidFill>
              <a:latin typeface="Calibri"/>
              <a:ea typeface="Calibri"/>
              <a:cs typeface="Calibri"/>
              <a:sym typeface="Calibri"/>
            </a:endParaRPr>
          </a:p>
        </p:txBody>
      </p:sp>
      <p:sp>
        <p:nvSpPr>
          <p:cNvPr id="1045" name="Google Shape;1045;p47"/>
          <p:cNvSpPr/>
          <p:nvPr/>
        </p:nvSpPr>
        <p:spPr>
          <a:xfrm>
            <a:off x="5074920" y="1463040"/>
            <a:ext cx="3474720" cy="21031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utm_source = channel (shuttle, tabling, classvisit, instagram, newsletter)</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utm_medium = type (print, social, email, screen, event)</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utm_campaign = rhm_sp25 (consistent across all links)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Example: ?utm_source=shuttle&amp;utm_medium=print&amp;utm_campaign=rhm_sp25</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t/>
            </a:r>
            <a:endParaRPr b="0" i="0" sz="1000" u="none" cap="none" strike="noStrike">
              <a:solidFill>
                <a:schemeClr val="dk1"/>
              </a:solidFill>
              <a:latin typeface="Calibri"/>
              <a:ea typeface="Calibri"/>
              <a:cs typeface="Calibri"/>
              <a:sym typeface="Calibri"/>
            </a:endParaRPr>
          </a:p>
        </p:txBody>
      </p:sp>
      <p:sp>
        <p:nvSpPr>
          <p:cNvPr id="1046" name="Google Shape;1046;p47"/>
          <p:cNvSpPr/>
          <p:nvPr/>
        </p:nvSpPr>
        <p:spPr>
          <a:xfrm>
            <a:off x="457200" y="3931920"/>
            <a:ext cx="8229600" cy="822960"/>
          </a:xfrm>
          <a:prstGeom prst="rect">
            <a:avLst/>
          </a:prstGeom>
          <a:solidFill>
            <a:srgbClr val="F5F3FF"/>
          </a:solidFill>
          <a:ln cap="flat" cmpd="sng" w="12700">
            <a:solidFill>
              <a:srgbClr val="7C3AED"/>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47"/>
          <p:cNvSpPr/>
          <p:nvPr/>
        </p:nvSpPr>
        <p:spPr>
          <a:xfrm>
            <a:off x="685800" y="3977640"/>
            <a:ext cx="7772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C3AED"/>
              </a:buClr>
              <a:buSzPts val="1000"/>
              <a:buFont typeface="Arial"/>
              <a:buNone/>
            </a:pPr>
            <a:r>
              <a:rPr b="1" i="0" lang="en-US" sz="1000" u="none" cap="none" strike="noStrike">
                <a:solidFill>
                  <a:srgbClr val="7C3AED"/>
                </a:solidFill>
                <a:latin typeface="Arial"/>
                <a:ea typeface="Arial"/>
                <a:cs typeface="Arial"/>
                <a:sym typeface="Arial"/>
              </a:rPr>
              <a:t>LOOKER STUDIO DASHBOARD</a:t>
            </a:r>
            <a:endParaRPr b="0" i="0" sz="1000" u="none" cap="none" strike="noStrike">
              <a:solidFill>
                <a:schemeClr val="dk1"/>
              </a:solidFill>
              <a:latin typeface="Calibri"/>
              <a:ea typeface="Calibri"/>
              <a:cs typeface="Calibri"/>
              <a:sym typeface="Calibri"/>
            </a:endParaRPr>
          </a:p>
        </p:txBody>
      </p:sp>
      <p:sp>
        <p:nvSpPr>
          <p:cNvPr id="1048" name="Google Shape;1048;p47"/>
          <p:cNvSpPr/>
          <p:nvPr/>
        </p:nvSpPr>
        <p:spPr>
          <a:xfrm>
            <a:off x="685800" y="4251960"/>
            <a:ext cx="77724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000"/>
              <a:buFont typeface="Arial"/>
              <a:buNone/>
            </a:pPr>
            <a:r>
              <a:rPr b="0" i="0" lang="en-US" sz="1000" u="none" cap="none" strike="noStrike">
                <a:solidFill>
                  <a:srgbClr val="334155"/>
                </a:solidFill>
                <a:latin typeface="Arial"/>
                <a:ea typeface="Arial"/>
                <a:cs typeface="Arial"/>
                <a:sym typeface="Arial"/>
              </a:rPr>
              <a:t>Dashboard Name: RHM_SP25_Performance. Views: Traffic by source/medium, QR scan volume by placement, landing page conversion rate, weekly trend lines. This let us see which physical placements drove the most traffic and compare paid vs free channels side-by-side.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53" name="Shape 1053"/>
        <p:cNvGrpSpPr/>
        <p:nvPr/>
      </p:nvGrpSpPr>
      <p:grpSpPr>
        <a:xfrm>
          <a:off x="0" y="0"/>
          <a:ext cx="0" cy="0"/>
          <a:chOff x="0" y="0"/>
          <a:chExt cx="0" cy="0"/>
        </a:xfrm>
      </p:grpSpPr>
      <p:sp>
        <p:nvSpPr>
          <p:cNvPr id="1054" name="Google Shape;1054;p48"/>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48"/>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1056" name="Google Shape;1056;p48"/>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057" name="Google Shape;1057;p48"/>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39</a:t>
            </a:r>
            <a:endParaRPr b="0" i="0" sz="1000" u="none" cap="none" strike="noStrike">
              <a:solidFill>
                <a:schemeClr val="dk1"/>
              </a:solidFill>
              <a:latin typeface="Calibri"/>
              <a:ea typeface="Calibri"/>
              <a:cs typeface="Calibri"/>
              <a:sym typeface="Calibri"/>
            </a:endParaRPr>
          </a:p>
        </p:txBody>
      </p:sp>
      <p:sp>
        <p:nvSpPr>
          <p:cNvPr id="1058" name="Google Shape;1058;p48"/>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400"/>
              <a:buFont typeface="Georgia"/>
              <a:buNone/>
            </a:pPr>
            <a:r>
              <a:rPr b="1" i="0" lang="en-US" sz="2400" u="none" cap="none" strike="noStrike">
                <a:solidFill>
                  <a:srgbClr val="0B1220"/>
                </a:solidFill>
                <a:latin typeface="Georgia"/>
                <a:ea typeface="Georgia"/>
                <a:cs typeface="Georgia"/>
                <a:sym typeface="Georgia"/>
              </a:rPr>
              <a:t>Budget &amp; Requests (RHM Example)</a:t>
            </a:r>
            <a:endParaRPr b="0" i="0" sz="2400" u="none" cap="none" strike="noStrike">
              <a:solidFill>
                <a:schemeClr val="dk1"/>
              </a:solidFill>
              <a:latin typeface="Calibri"/>
              <a:ea typeface="Calibri"/>
              <a:cs typeface="Calibri"/>
              <a:sym typeface="Calibri"/>
            </a:endParaRPr>
          </a:p>
        </p:txBody>
      </p:sp>
      <p:graphicFrame>
        <p:nvGraphicFramePr>
          <p:cNvPr id="1059" name="Google Shape;1059;p48"/>
          <p:cNvGraphicFramePr/>
          <p:nvPr/>
        </p:nvGraphicFramePr>
        <p:xfrm>
          <a:off x="457200" y="1005840"/>
          <a:ext cx="3000000" cy="3000000"/>
        </p:xfrm>
        <a:graphic>
          <a:graphicData uri="http://schemas.openxmlformats.org/drawingml/2006/table">
            <a:tbl>
              <a:tblPr>
                <a:noFill/>
                <a:tableStyleId>{AD4631F1-437D-4764-92B6-2A4562E18BC6}</a:tableStyleId>
              </a:tblPr>
              <a:tblGrid>
                <a:gridCol w="1828800"/>
                <a:gridCol w="731525"/>
                <a:gridCol w="822950"/>
                <a:gridCol w="1371600"/>
                <a:gridCol w="1097275"/>
                <a:gridCol w="1097275"/>
              </a:tblGrid>
              <a:tr h="295425">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Channel</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Type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Cost</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Est. Impressions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CPM</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ROAS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295425">
                <a:tc gridSpan="6">
                  <a:txBody>
                    <a:bodyPr/>
                    <a:lstStyle/>
                    <a:p>
                      <a:pPr indent="0" lvl="0" marL="0" marR="0" rtl="0" algn="l">
                        <a:spcBef>
                          <a:spcPts val="0"/>
                        </a:spcBef>
                        <a:spcAft>
                          <a:spcPts val="0"/>
                        </a:spcAft>
                        <a:buClr>
                          <a:srgbClr val="D64309"/>
                        </a:buClr>
                        <a:buSzPts val="900"/>
                        <a:buFont typeface="Calibri"/>
                        <a:buNone/>
                      </a:pPr>
                      <a:r>
                        <a:rPr b="1" lang="en-US" sz="900" u="none" cap="none" strike="noStrike">
                          <a:solidFill>
                            <a:srgbClr val="D64309"/>
                          </a:solidFill>
                        </a:rPr>
                        <a:t>PAID CHANNELS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hMerge="1"/>
                <a:tc hMerge="1"/>
                <a:tc hMerge="1"/>
                <a:tc hMerge="1"/>
                <a:tc hMerge="1"/>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Blueprint Magazine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Print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$450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9,000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$50.00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Arbiter Web Banner</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Digital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$400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20,000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Arbiter Print Ad</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Print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$400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6,000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$66.67</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Shuttle Stop Posters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Print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$280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12,000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$23.33</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Meta/Instagram Ads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Digital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$560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105,000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$5.33</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gridSpan="6">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FREE COBE CHANNELS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hMerge="1"/>
                <a:tc hMerge="1"/>
                <a:tc hMerge="1"/>
                <a:tc hMerge="1"/>
                <a:tc hMerge="1"/>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Instagram + LinkedIn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Social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Free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17,000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Newsletters (2)</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Email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Free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7,000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MBEB/Campus Screens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Digital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Free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20,000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Tabling + Class Visits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Event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Free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1,000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TOTAL</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chemeClr val="dk1"/>
                        </a:buClr>
                        <a:buSzPts val="1200"/>
                        <a:buFont typeface="Calibri"/>
                        <a:buNone/>
                      </a:pPr>
                      <a:r>
                        <a:t/>
                      </a:r>
                      <a:endParaRPr sz="12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$2,090</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237,000+</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$8.82</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chemeClr val="dk1"/>
                        </a:buClr>
                        <a:buSzPts val="1200"/>
                        <a:buFont typeface="Calibri"/>
                        <a:buNone/>
                      </a:pPr>
                      <a:r>
                        <a:t/>
                      </a:r>
                      <a:endParaRPr sz="12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63" name="Shape 1063"/>
        <p:cNvGrpSpPr/>
        <p:nvPr/>
      </p:nvGrpSpPr>
      <p:grpSpPr>
        <a:xfrm>
          <a:off x="0" y="0"/>
          <a:ext cx="0" cy="0"/>
          <a:chOff x="0" y="0"/>
          <a:chExt cx="0" cy="0"/>
        </a:xfrm>
      </p:grpSpPr>
      <p:sp>
        <p:nvSpPr>
          <p:cNvPr id="1064" name="Google Shape;1064;p49"/>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49"/>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1066" name="Google Shape;1066;p49"/>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067" name="Google Shape;1067;p49"/>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40</a:t>
            </a:r>
            <a:endParaRPr b="0" i="0" sz="1000" u="none" cap="none" strike="noStrike">
              <a:solidFill>
                <a:schemeClr val="dk1"/>
              </a:solidFill>
              <a:latin typeface="Calibri"/>
              <a:ea typeface="Calibri"/>
              <a:cs typeface="Calibri"/>
              <a:sym typeface="Calibri"/>
            </a:endParaRPr>
          </a:p>
        </p:txBody>
      </p:sp>
      <p:sp>
        <p:nvSpPr>
          <p:cNvPr id="1068" name="Google Shape;1068;p49"/>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Channel Highlights (RHM)</a:t>
            </a:r>
            <a:endParaRPr b="0" i="0" sz="3000" u="none" cap="none" strike="noStrike">
              <a:solidFill>
                <a:schemeClr val="dk1"/>
              </a:solidFill>
              <a:latin typeface="Calibri"/>
              <a:ea typeface="Calibri"/>
              <a:cs typeface="Calibri"/>
              <a:sym typeface="Calibri"/>
            </a:endParaRPr>
          </a:p>
        </p:txBody>
      </p:sp>
      <p:sp>
        <p:nvSpPr>
          <p:cNvPr id="1069" name="Google Shape;1069;p49"/>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What we executed on each channel and what worked best.</a:t>
            </a:r>
            <a:endParaRPr b="0" i="0" sz="1400" u="none" cap="none" strike="noStrike">
              <a:solidFill>
                <a:schemeClr val="dk1"/>
              </a:solidFill>
              <a:latin typeface="Calibri"/>
              <a:ea typeface="Calibri"/>
              <a:cs typeface="Calibri"/>
              <a:sym typeface="Calibri"/>
            </a:endParaRPr>
          </a:p>
        </p:txBody>
      </p:sp>
      <p:sp>
        <p:nvSpPr>
          <p:cNvPr id="1070" name="Google Shape;1070;p49"/>
          <p:cNvSpPr/>
          <p:nvPr/>
        </p:nvSpPr>
        <p:spPr>
          <a:xfrm>
            <a:off x="457200" y="137160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49"/>
          <p:cNvSpPr/>
          <p:nvPr/>
        </p:nvSpPr>
        <p:spPr>
          <a:xfrm>
            <a:off x="457200" y="1371600"/>
            <a:ext cx="54864" cy="640080"/>
          </a:xfrm>
          <a:prstGeom prst="rect">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49"/>
          <p:cNvSpPr/>
          <p:nvPr/>
        </p:nvSpPr>
        <p:spPr>
          <a:xfrm>
            <a:off x="640080" y="1481328"/>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49"/>
          <p:cNvSpPr/>
          <p:nvPr/>
        </p:nvSpPr>
        <p:spPr>
          <a:xfrm>
            <a:off x="640080" y="148132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1074" name="Google Shape;1074;p49"/>
          <p:cNvSpPr/>
          <p:nvPr/>
        </p:nvSpPr>
        <p:spPr>
          <a:xfrm>
            <a:off x="1234440" y="141732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Best CPM: Meta/Instagram Ads</a:t>
            </a:r>
            <a:endParaRPr b="0" i="0" sz="1300" u="none" cap="none" strike="noStrike">
              <a:solidFill>
                <a:schemeClr val="dk1"/>
              </a:solidFill>
              <a:latin typeface="Calibri"/>
              <a:ea typeface="Calibri"/>
              <a:cs typeface="Calibri"/>
              <a:sym typeface="Calibri"/>
            </a:endParaRPr>
          </a:p>
        </p:txBody>
      </p:sp>
      <p:sp>
        <p:nvSpPr>
          <p:cNvPr id="1075" name="Google Shape;1075;p49"/>
          <p:cNvSpPr/>
          <p:nvPr/>
        </p:nvSpPr>
        <p:spPr>
          <a:xfrm>
            <a:off x="1234440" y="167335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$5.33 per 1,000 impressions with precise demographic targeting. $5/day budget is manageable for any program.</a:t>
            </a:r>
            <a:endParaRPr b="0" i="0" sz="1000" u="none" cap="none" strike="noStrike">
              <a:solidFill>
                <a:schemeClr val="dk1"/>
              </a:solidFill>
              <a:latin typeface="Calibri"/>
              <a:ea typeface="Calibri"/>
              <a:cs typeface="Calibri"/>
              <a:sym typeface="Calibri"/>
            </a:endParaRPr>
          </a:p>
        </p:txBody>
      </p:sp>
      <p:sp>
        <p:nvSpPr>
          <p:cNvPr id="1076" name="Google Shape;1076;p49"/>
          <p:cNvSpPr/>
          <p:nvPr/>
        </p:nvSpPr>
        <p:spPr>
          <a:xfrm>
            <a:off x="457200" y="210312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9"/>
          <p:cNvSpPr/>
          <p:nvPr/>
        </p:nvSpPr>
        <p:spPr>
          <a:xfrm>
            <a:off x="457200" y="2103120"/>
            <a:ext cx="54864" cy="6400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49"/>
          <p:cNvSpPr/>
          <p:nvPr/>
        </p:nvSpPr>
        <p:spPr>
          <a:xfrm>
            <a:off x="640080" y="2212848"/>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9"/>
          <p:cNvSpPr/>
          <p:nvPr/>
        </p:nvSpPr>
        <p:spPr>
          <a:xfrm>
            <a:off x="640080" y="221284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1080" name="Google Shape;1080;p49"/>
          <p:cNvSpPr/>
          <p:nvPr/>
        </p:nvSpPr>
        <p:spPr>
          <a:xfrm>
            <a:off x="1234440" y="214884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Best Quality: Tabling &amp; Class Visits</a:t>
            </a:r>
            <a:endParaRPr b="0" i="0" sz="1300" u="none" cap="none" strike="noStrike">
              <a:solidFill>
                <a:schemeClr val="dk1"/>
              </a:solidFill>
              <a:latin typeface="Calibri"/>
              <a:ea typeface="Calibri"/>
              <a:cs typeface="Calibri"/>
              <a:sym typeface="Calibri"/>
            </a:endParaRPr>
          </a:p>
        </p:txBody>
      </p:sp>
      <p:sp>
        <p:nvSpPr>
          <p:cNvPr id="1081" name="Google Shape;1081;p49"/>
          <p:cNvSpPr/>
          <p:nvPr/>
        </p:nvSpPr>
        <p:spPr>
          <a:xfrm>
            <a:off x="1234440" y="240487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Highest-quality direct engagement. QR-coded handouts drive traffic with trackable attribution.</a:t>
            </a:r>
            <a:endParaRPr b="0" i="0" sz="1000" u="none" cap="none" strike="noStrike">
              <a:solidFill>
                <a:schemeClr val="dk1"/>
              </a:solidFill>
              <a:latin typeface="Calibri"/>
              <a:ea typeface="Calibri"/>
              <a:cs typeface="Calibri"/>
              <a:sym typeface="Calibri"/>
            </a:endParaRPr>
          </a:p>
        </p:txBody>
      </p:sp>
      <p:sp>
        <p:nvSpPr>
          <p:cNvPr id="1082" name="Google Shape;1082;p49"/>
          <p:cNvSpPr/>
          <p:nvPr/>
        </p:nvSpPr>
        <p:spPr>
          <a:xfrm>
            <a:off x="457200" y="283464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49"/>
          <p:cNvSpPr/>
          <p:nvPr/>
        </p:nvSpPr>
        <p:spPr>
          <a:xfrm>
            <a:off x="457200" y="2834640"/>
            <a:ext cx="54864" cy="6400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49"/>
          <p:cNvSpPr/>
          <p:nvPr/>
        </p:nvSpPr>
        <p:spPr>
          <a:xfrm>
            <a:off x="640080" y="2944368"/>
            <a:ext cx="411480" cy="4114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49"/>
          <p:cNvSpPr/>
          <p:nvPr/>
        </p:nvSpPr>
        <p:spPr>
          <a:xfrm>
            <a:off x="640080" y="294436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1086" name="Google Shape;1086;p49"/>
          <p:cNvSpPr/>
          <p:nvPr/>
        </p:nvSpPr>
        <p:spPr>
          <a:xfrm>
            <a:off x="1234440" y="288036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Free Channel Value: 45K Impressions</a:t>
            </a:r>
            <a:endParaRPr b="0" i="0" sz="1300" u="none" cap="none" strike="noStrike">
              <a:solidFill>
                <a:schemeClr val="dk1"/>
              </a:solidFill>
              <a:latin typeface="Calibri"/>
              <a:ea typeface="Calibri"/>
              <a:cs typeface="Calibri"/>
              <a:sym typeface="Calibri"/>
            </a:endParaRPr>
          </a:p>
        </p:txBody>
      </p:sp>
      <p:sp>
        <p:nvSpPr>
          <p:cNvPr id="1087" name="Google Shape;1087;p49"/>
          <p:cNvSpPr/>
          <p:nvPr/>
        </p:nvSpPr>
        <p:spPr>
          <a:xfrm>
            <a:off x="1234440" y="313639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COBE internal channels deliver ~19% of total reach at zero cost. Always activate these first.</a:t>
            </a:r>
            <a:endParaRPr b="0" i="0" sz="1000" u="none" cap="none" strike="noStrike">
              <a:solidFill>
                <a:schemeClr val="dk1"/>
              </a:solidFill>
              <a:latin typeface="Calibri"/>
              <a:ea typeface="Calibri"/>
              <a:cs typeface="Calibri"/>
              <a:sym typeface="Calibri"/>
            </a:endParaRPr>
          </a:p>
        </p:txBody>
      </p:sp>
      <p:sp>
        <p:nvSpPr>
          <p:cNvPr id="1088" name="Google Shape;1088;p49"/>
          <p:cNvSpPr/>
          <p:nvPr/>
        </p:nvSpPr>
        <p:spPr>
          <a:xfrm>
            <a:off x="640080" y="367588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4</a:t>
            </a:r>
            <a:endParaRPr b="0" i="0" sz="1600" u="none" cap="none" strike="noStrike">
              <a:solidFill>
                <a:schemeClr val="dk1"/>
              </a:solidFill>
              <a:latin typeface="Calibri"/>
              <a:ea typeface="Calibri"/>
              <a:cs typeface="Calibri"/>
              <a:sym typeface="Calibri"/>
            </a:endParaRPr>
          </a:p>
        </p:txBody>
      </p:sp>
      <p:sp>
        <p:nvSpPr>
          <p:cNvPr id="1089" name="Google Shape;1089;p49"/>
          <p:cNvSpPr/>
          <p:nvPr/>
        </p:nvSpPr>
        <p:spPr>
          <a:xfrm>
            <a:off x="1234440" y="361188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Newsletter Strategy Matters</a:t>
            </a:r>
            <a:endParaRPr b="0" i="0" sz="1300" u="none" cap="none" strike="noStrike">
              <a:solidFill>
                <a:schemeClr val="dk1"/>
              </a:solidFill>
              <a:latin typeface="Calibri"/>
              <a:ea typeface="Calibri"/>
              <a:cs typeface="Calibri"/>
              <a:sym typeface="Calibri"/>
            </a:endParaRPr>
          </a:p>
        </p:txBody>
      </p:sp>
      <p:sp>
        <p:nvSpPr>
          <p:cNvPr id="1090" name="Google Shape;1090;p49"/>
          <p:cNvSpPr/>
          <p:nvPr/>
        </p:nvSpPr>
        <p:spPr>
          <a:xfrm>
            <a:off x="1234440" y="386791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Feature programs every few months with varied messaging. Don’t appear in every email — subscribers tune out.</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094" name="Shape 1094"/>
        <p:cNvGrpSpPr/>
        <p:nvPr/>
      </p:nvGrpSpPr>
      <p:grpSpPr>
        <a:xfrm>
          <a:off x="0" y="0"/>
          <a:ext cx="0" cy="0"/>
          <a:chOff x="0" y="0"/>
          <a:chExt cx="0" cy="0"/>
        </a:xfrm>
      </p:grpSpPr>
      <p:sp>
        <p:nvSpPr>
          <p:cNvPr id="1095" name="Google Shape;1095;p50"/>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50"/>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1097" name="Google Shape;1097;p50"/>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098" name="Google Shape;1098;p50"/>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41</a:t>
            </a:r>
            <a:endParaRPr b="0" i="0" sz="1000" u="none" cap="none" strike="noStrike">
              <a:solidFill>
                <a:schemeClr val="dk1"/>
              </a:solidFill>
              <a:latin typeface="Calibri"/>
              <a:ea typeface="Calibri"/>
              <a:cs typeface="Calibri"/>
              <a:sym typeface="Calibri"/>
            </a:endParaRPr>
          </a:p>
        </p:txBody>
      </p:sp>
      <p:sp>
        <p:nvSpPr>
          <p:cNvPr id="1099" name="Google Shape;1099;p50"/>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400"/>
              <a:buFont typeface="Georgia"/>
              <a:buNone/>
            </a:pPr>
            <a:r>
              <a:rPr b="1" i="0" lang="en-US" sz="2400" u="none" cap="none" strike="noStrike">
                <a:solidFill>
                  <a:srgbClr val="0B1220"/>
                </a:solidFill>
                <a:latin typeface="Georgia"/>
                <a:ea typeface="Georgia"/>
                <a:cs typeface="Georgia"/>
                <a:sym typeface="Georgia"/>
              </a:rPr>
              <a:t>Where COBE Marketing Plugged In</a:t>
            </a:r>
            <a:endParaRPr b="0" i="0" sz="2400" u="none" cap="none" strike="noStrike">
              <a:solidFill>
                <a:schemeClr val="dk1"/>
              </a:solidFill>
              <a:latin typeface="Calibri"/>
              <a:ea typeface="Calibri"/>
              <a:cs typeface="Calibri"/>
              <a:sym typeface="Calibri"/>
            </a:endParaRPr>
          </a:p>
        </p:txBody>
      </p:sp>
      <p:sp>
        <p:nvSpPr>
          <p:cNvPr id="1100" name="Google Shape;1100;p50"/>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EA5E9"/>
              </a:buClr>
              <a:buSzPts val="1400"/>
              <a:buFont typeface="Arial"/>
              <a:buNone/>
            </a:pPr>
            <a:r>
              <a:rPr b="0" i="1" lang="en-US" sz="1400" u="none" cap="none" strike="noStrike">
                <a:solidFill>
                  <a:srgbClr val="0EA5E9"/>
                </a:solidFill>
                <a:latin typeface="Arial"/>
                <a:ea typeface="Arial"/>
                <a:cs typeface="Arial"/>
                <a:sym typeface="Arial"/>
              </a:rPr>
              <a:t>The specific touchpoints where COBE Marketing supported the RHM campaign.</a:t>
            </a:r>
            <a:endParaRPr b="0" i="0" sz="1400" u="none" cap="none" strike="noStrike">
              <a:solidFill>
                <a:schemeClr val="dk1"/>
              </a:solidFill>
              <a:latin typeface="Calibri"/>
              <a:ea typeface="Calibri"/>
              <a:cs typeface="Calibri"/>
              <a:sym typeface="Calibri"/>
            </a:endParaRPr>
          </a:p>
        </p:txBody>
      </p:sp>
      <p:sp>
        <p:nvSpPr>
          <p:cNvPr id="1101" name="Google Shape;1101;p50"/>
          <p:cNvSpPr/>
          <p:nvPr/>
        </p:nvSpPr>
        <p:spPr>
          <a:xfrm>
            <a:off x="45720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50"/>
          <p:cNvSpPr/>
          <p:nvPr/>
        </p:nvSpPr>
        <p:spPr>
          <a:xfrm>
            <a:off x="45720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REVIEW</a:t>
            </a:r>
            <a:endParaRPr b="0" i="0" sz="2800" u="none" cap="none" strike="noStrike">
              <a:solidFill>
                <a:schemeClr val="dk1"/>
              </a:solidFill>
              <a:latin typeface="Calibri"/>
              <a:ea typeface="Calibri"/>
              <a:cs typeface="Calibri"/>
              <a:sym typeface="Calibri"/>
            </a:endParaRPr>
          </a:p>
        </p:txBody>
      </p:sp>
      <p:sp>
        <p:nvSpPr>
          <p:cNvPr id="1103" name="Google Shape;1103;p50"/>
          <p:cNvSpPr/>
          <p:nvPr/>
        </p:nvSpPr>
        <p:spPr>
          <a:xfrm>
            <a:off x="45720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Brand Check</a:t>
            </a:r>
            <a:endParaRPr b="0" i="0" sz="1100" u="none" cap="none" strike="noStrike">
              <a:solidFill>
                <a:schemeClr val="dk1"/>
              </a:solidFill>
              <a:latin typeface="Calibri"/>
              <a:ea typeface="Calibri"/>
              <a:cs typeface="Calibri"/>
              <a:sym typeface="Calibri"/>
            </a:endParaRPr>
          </a:p>
        </p:txBody>
      </p:sp>
      <p:sp>
        <p:nvSpPr>
          <p:cNvPr id="1104" name="Google Shape;1104;p50"/>
          <p:cNvSpPr/>
          <p:nvPr/>
        </p:nvSpPr>
        <p:spPr>
          <a:xfrm>
            <a:off x="256032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0"/>
          <p:cNvSpPr/>
          <p:nvPr/>
        </p:nvSpPr>
        <p:spPr>
          <a:xfrm>
            <a:off x="256032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PUBLISH</a:t>
            </a:r>
            <a:endParaRPr b="0" i="0" sz="2800" u="none" cap="none" strike="noStrike">
              <a:solidFill>
                <a:schemeClr val="dk1"/>
              </a:solidFill>
              <a:latin typeface="Calibri"/>
              <a:ea typeface="Calibri"/>
              <a:cs typeface="Calibri"/>
              <a:sym typeface="Calibri"/>
            </a:endParaRPr>
          </a:p>
        </p:txBody>
      </p:sp>
      <p:sp>
        <p:nvSpPr>
          <p:cNvPr id="1106" name="Google Shape;1106;p50"/>
          <p:cNvSpPr/>
          <p:nvPr/>
        </p:nvSpPr>
        <p:spPr>
          <a:xfrm>
            <a:off x="256032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Scheduling</a:t>
            </a:r>
            <a:endParaRPr b="0" i="0" sz="1100" u="none" cap="none" strike="noStrike">
              <a:solidFill>
                <a:schemeClr val="dk1"/>
              </a:solidFill>
              <a:latin typeface="Calibri"/>
              <a:ea typeface="Calibri"/>
              <a:cs typeface="Calibri"/>
              <a:sym typeface="Calibri"/>
            </a:endParaRPr>
          </a:p>
        </p:txBody>
      </p:sp>
      <p:sp>
        <p:nvSpPr>
          <p:cNvPr id="1107" name="Google Shape;1107;p50"/>
          <p:cNvSpPr/>
          <p:nvPr/>
        </p:nvSpPr>
        <p:spPr>
          <a:xfrm>
            <a:off x="466344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50"/>
          <p:cNvSpPr/>
          <p:nvPr/>
        </p:nvSpPr>
        <p:spPr>
          <a:xfrm>
            <a:off x="466344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AMPLIFY</a:t>
            </a:r>
            <a:endParaRPr b="0" i="0" sz="2800" u="none" cap="none" strike="noStrike">
              <a:solidFill>
                <a:schemeClr val="dk1"/>
              </a:solidFill>
              <a:latin typeface="Calibri"/>
              <a:ea typeface="Calibri"/>
              <a:cs typeface="Calibri"/>
              <a:sym typeface="Calibri"/>
            </a:endParaRPr>
          </a:p>
        </p:txBody>
      </p:sp>
      <p:sp>
        <p:nvSpPr>
          <p:cNvPr id="1109" name="Google Shape;1109;p50"/>
          <p:cNvSpPr/>
          <p:nvPr/>
        </p:nvSpPr>
        <p:spPr>
          <a:xfrm>
            <a:off x="466344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Newsletter + Social</a:t>
            </a:r>
            <a:endParaRPr b="0" i="0" sz="1100" u="none" cap="none" strike="noStrike">
              <a:solidFill>
                <a:schemeClr val="dk1"/>
              </a:solidFill>
              <a:latin typeface="Calibri"/>
              <a:ea typeface="Calibri"/>
              <a:cs typeface="Calibri"/>
              <a:sym typeface="Calibri"/>
            </a:endParaRPr>
          </a:p>
        </p:txBody>
      </p:sp>
      <p:sp>
        <p:nvSpPr>
          <p:cNvPr id="1110" name="Google Shape;1110;p50"/>
          <p:cNvSpPr/>
          <p:nvPr/>
        </p:nvSpPr>
        <p:spPr>
          <a:xfrm>
            <a:off x="676656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50"/>
          <p:cNvSpPr/>
          <p:nvPr/>
        </p:nvSpPr>
        <p:spPr>
          <a:xfrm>
            <a:off x="676656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FEEDBACK</a:t>
            </a:r>
            <a:endParaRPr b="0" i="0" sz="2800" u="none" cap="none" strike="noStrike">
              <a:solidFill>
                <a:schemeClr val="dk1"/>
              </a:solidFill>
              <a:latin typeface="Calibri"/>
              <a:ea typeface="Calibri"/>
              <a:cs typeface="Calibri"/>
              <a:sym typeface="Calibri"/>
            </a:endParaRPr>
          </a:p>
        </p:txBody>
      </p:sp>
      <p:sp>
        <p:nvSpPr>
          <p:cNvPr id="1112" name="Google Shape;1112;p50"/>
          <p:cNvSpPr/>
          <p:nvPr/>
        </p:nvSpPr>
        <p:spPr>
          <a:xfrm>
            <a:off x="676656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Iterate</a:t>
            </a:r>
            <a:endParaRPr b="0" i="0" sz="1100" u="none" cap="none" strike="noStrike">
              <a:solidFill>
                <a:schemeClr val="dk1"/>
              </a:solidFill>
              <a:latin typeface="Calibri"/>
              <a:ea typeface="Calibri"/>
              <a:cs typeface="Calibri"/>
              <a:sym typeface="Calibri"/>
            </a:endParaRPr>
          </a:p>
        </p:txBody>
      </p:sp>
      <p:sp>
        <p:nvSpPr>
          <p:cNvPr id="1113" name="Google Shape;1113;p50"/>
          <p:cNvSpPr/>
          <p:nvPr/>
        </p:nvSpPr>
        <p:spPr>
          <a:xfrm>
            <a:off x="45720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50"/>
          <p:cNvSpPr/>
          <p:nvPr/>
        </p:nvSpPr>
        <p:spPr>
          <a:xfrm>
            <a:off x="457200" y="2560320"/>
            <a:ext cx="54864" cy="18288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 name="Google Shape;1115;p50"/>
          <p:cNvSpPr/>
          <p:nvPr/>
        </p:nvSpPr>
        <p:spPr>
          <a:xfrm>
            <a:off x="68580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200"/>
              <a:buFont typeface="Arial"/>
              <a:buNone/>
            </a:pPr>
            <a:r>
              <a:rPr b="1" i="0" lang="en-US" sz="1200" u="none" cap="none" strike="noStrike">
                <a:solidFill>
                  <a:srgbClr val="0EA5E9"/>
                </a:solidFill>
                <a:latin typeface="Arial"/>
                <a:ea typeface="Arial"/>
                <a:cs typeface="Arial"/>
                <a:sym typeface="Arial"/>
              </a:rPr>
              <a:t>WHAT WE SENT COBE (CHECKLIST)</a:t>
            </a:r>
            <a:endParaRPr b="0" i="0" sz="1200" u="none" cap="none" strike="noStrike">
              <a:solidFill>
                <a:schemeClr val="dk1"/>
              </a:solidFill>
              <a:latin typeface="Calibri"/>
              <a:ea typeface="Calibri"/>
              <a:cs typeface="Calibri"/>
              <a:sym typeface="Calibri"/>
            </a:endParaRPr>
          </a:p>
        </p:txBody>
      </p:sp>
      <p:sp>
        <p:nvSpPr>
          <p:cNvPr id="1116" name="Google Shape;1116;p50"/>
          <p:cNvSpPr/>
          <p:nvPr/>
        </p:nvSpPr>
        <p:spPr>
          <a:xfrm>
            <a:off x="68580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Final graphics in all required specs per channel</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Approved copy with CTAs and UTM-tagged links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Posting dates and schedule from content calendar</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Flowcode QR files for physical placements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Tracking plan showing dashboard and naming conventions</a:t>
            </a:r>
            <a:endParaRPr b="0" i="0" sz="1000" u="none" cap="none" strike="noStrike">
              <a:solidFill>
                <a:schemeClr val="dk1"/>
              </a:solidFill>
              <a:latin typeface="Calibri"/>
              <a:ea typeface="Calibri"/>
              <a:cs typeface="Calibri"/>
              <a:sym typeface="Calibri"/>
            </a:endParaRPr>
          </a:p>
        </p:txBody>
      </p:sp>
      <p:sp>
        <p:nvSpPr>
          <p:cNvPr id="1117" name="Google Shape;1117;p50"/>
          <p:cNvSpPr/>
          <p:nvPr/>
        </p:nvSpPr>
        <p:spPr>
          <a:xfrm>
            <a:off x="484632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50"/>
          <p:cNvSpPr/>
          <p:nvPr/>
        </p:nvSpPr>
        <p:spPr>
          <a:xfrm>
            <a:off x="4846320" y="2560320"/>
            <a:ext cx="54864" cy="18288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50"/>
          <p:cNvSpPr/>
          <p:nvPr/>
        </p:nvSpPr>
        <p:spPr>
          <a:xfrm>
            <a:off x="507492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HOW COBE RESPONDED</a:t>
            </a:r>
            <a:endParaRPr b="0" i="0" sz="1200" u="none" cap="none" strike="noStrike">
              <a:solidFill>
                <a:schemeClr val="dk1"/>
              </a:solidFill>
              <a:latin typeface="Calibri"/>
              <a:ea typeface="Calibri"/>
              <a:cs typeface="Calibri"/>
              <a:sym typeface="Calibri"/>
            </a:endParaRPr>
          </a:p>
        </p:txBody>
      </p:sp>
      <p:sp>
        <p:nvSpPr>
          <p:cNvPr id="1120" name="Google Shape;1120;p50"/>
          <p:cNvSpPr/>
          <p:nvPr/>
        </p:nvSpPr>
        <p:spPr>
          <a:xfrm>
            <a:off x="507492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Brand compliance check within 2-3 business days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Newsletter placement in next available send</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MBEB screen upload on requested dates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Social posts published to COBE accounts (@boisestatecobe on Instagram; College of Business and Economics at Boise State on LinkedIn)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Alignment feedback when messaging needed adjustment</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24" name="Shape 1124"/>
        <p:cNvGrpSpPr/>
        <p:nvPr/>
      </p:nvGrpSpPr>
      <p:grpSpPr>
        <a:xfrm>
          <a:off x="0" y="0"/>
          <a:ext cx="0" cy="0"/>
          <a:chOff x="0" y="0"/>
          <a:chExt cx="0" cy="0"/>
        </a:xfrm>
      </p:grpSpPr>
      <p:sp>
        <p:nvSpPr>
          <p:cNvPr id="1125" name="Google Shape;1125;p51"/>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51"/>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1127" name="Google Shape;1127;p51"/>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128" name="Google Shape;1128;p51"/>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42</a:t>
            </a:r>
            <a:endParaRPr b="0" i="0" sz="1000" u="none" cap="none" strike="noStrike">
              <a:solidFill>
                <a:schemeClr val="dk1"/>
              </a:solidFill>
              <a:latin typeface="Calibri"/>
              <a:ea typeface="Calibri"/>
              <a:cs typeface="Calibri"/>
              <a:sym typeface="Calibri"/>
            </a:endParaRPr>
          </a:p>
        </p:txBody>
      </p:sp>
      <p:sp>
        <p:nvSpPr>
          <p:cNvPr id="1129" name="Google Shape;1129;p51"/>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400"/>
              <a:buFont typeface="Georgia"/>
              <a:buNone/>
            </a:pPr>
            <a:r>
              <a:rPr b="1" i="0" lang="en-US" sz="2400" u="none" cap="none" strike="noStrike">
                <a:solidFill>
                  <a:srgbClr val="0B1220"/>
                </a:solidFill>
                <a:latin typeface="Georgia"/>
                <a:ea typeface="Georgia"/>
                <a:cs typeface="Georgia"/>
                <a:sym typeface="Georgia"/>
              </a:rPr>
              <a:t>Results: What We Saw (RHM Spring 2025)</a:t>
            </a:r>
            <a:endParaRPr b="0" i="0" sz="2400" u="none" cap="none" strike="noStrike">
              <a:solidFill>
                <a:schemeClr val="dk1"/>
              </a:solidFill>
              <a:latin typeface="Calibri"/>
              <a:ea typeface="Calibri"/>
              <a:cs typeface="Calibri"/>
              <a:sym typeface="Calibri"/>
            </a:endParaRPr>
          </a:p>
        </p:txBody>
      </p:sp>
      <p:graphicFrame>
        <p:nvGraphicFramePr>
          <p:cNvPr id="1130" name="Google Shape;1130;p51"/>
          <p:cNvGraphicFramePr/>
          <p:nvPr/>
        </p:nvGraphicFramePr>
        <p:xfrm>
          <a:off x="457200" y="1005840"/>
          <a:ext cx="3000000" cy="3000000"/>
        </p:xfrm>
        <a:graphic>
          <a:graphicData uri="http://schemas.openxmlformats.org/drawingml/2006/table">
            <a:tbl>
              <a:tblPr>
                <a:noFill/>
                <a:tableStyleId>{AD4631F1-437D-4764-92B6-2A4562E18BC6}</a:tableStyleId>
              </a:tblPr>
              <a:tblGrid>
                <a:gridCol w="1828800"/>
                <a:gridCol w="731525"/>
                <a:gridCol w="822950"/>
                <a:gridCol w="1371600"/>
                <a:gridCol w="1097275"/>
                <a:gridCol w="1097275"/>
              </a:tblGrid>
              <a:tr h="295425">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Metric</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Target</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Actual</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Notes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Trend</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Rating</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295425">
                <a:tc gridSpan="6">
                  <a:txBody>
                    <a:bodyPr/>
                    <a:lstStyle/>
                    <a:p>
                      <a:pPr indent="0" lvl="0" marL="0" marR="0" rtl="0" algn="l">
                        <a:spcBef>
                          <a:spcPts val="0"/>
                        </a:spcBef>
                        <a:spcAft>
                          <a:spcPts val="0"/>
                        </a:spcAft>
                        <a:buClr>
                          <a:srgbClr val="D64309"/>
                        </a:buClr>
                        <a:buSzPts val="900"/>
                        <a:buFont typeface="Calibri"/>
                        <a:buNone/>
                      </a:pPr>
                      <a:r>
                        <a:rPr b="1" lang="en-US" sz="900" u="none" cap="none" strike="noStrike">
                          <a:solidFill>
                            <a:srgbClr val="D64309"/>
                          </a:solidFill>
                        </a:rPr>
                        <a:t>AWARENESS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hMerge="1"/>
                <a:tc hMerge="1"/>
                <a:tc hMerge="1"/>
                <a:tc hMerge="1"/>
                <a:tc hMerge="1"/>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Total Impressions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200K+</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237K+</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Exceeded target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Up</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Free Channel Impressions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30K+</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45K</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19% of total reach at $0 cost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Up</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Best CPM Channel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&lt;$15 CPM</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$5.33 (Meta/IG)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Lowest cost per 1K impressions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QR Scan Attribution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Baseline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Active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5 placements tracked via Flowcode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New</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Landing Page Visits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Baseline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Active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10+ channels driving to single URL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New</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gridSpan="6">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CONVERSION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hMerge="1"/>
                <a:tc hMerge="1"/>
                <a:tc hMerge="1"/>
                <a:tc hMerge="1"/>
                <a:tc hMerge="1"/>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Event RSVPs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Increase YoY</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Active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Career panel + fair tracked</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Certificate Inquiries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Establish pipeline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Active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Interest form live on landing page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Employer Leads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5+ new contacts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Active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Fair + training package promoted</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SURPRISE INSIGHT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10B981"/>
                        </a:buClr>
                        <a:buSzPts val="900"/>
                        <a:buFont typeface="Calibri"/>
                        <a:buNone/>
                      </a:pPr>
                      <a:r>
                        <a:rPr b="1" lang="en-US" sz="900" u="none" cap="none" strike="noStrike">
                          <a:solidFill>
                            <a:srgbClr val="10B981"/>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QR codes enabled physical-to-digital attribution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295425">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BLENDED CPM</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chemeClr val="dk1"/>
                        </a:buClr>
                        <a:buSzPts val="1200"/>
                        <a:buFont typeface="Calibri"/>
                        <a:buNone/>
                      </a:pPr>
                      <a:r>
                        <a:t/>
                      </a:r>
                      <a:endParaRPr sz="12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$2,090 total</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237K+ impressions</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rgbClr val="000000"/>
                        </a:buClr>
                        <a:buSzPts val="1000"/>
                        <a:buFont typeface="Calibri"/>
                        <a:buNone/>
                      </a:pPr>
                      <a:r>
                        <a:rPr b="1" lang="en-US" sz="1000" u="none" cap="none" strike="noStrike">
                          <a:solidFill>
                            <a:srgbClr val="000000"/>
                          </a:solidFill>
                        </a:rPr>
                        <a:t>$8.82 blended</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c>
                  <a:txBody>
                    <a:bodyPr/>
                    <a:lstStyle/>
                    <a:p>
                      <a:pPr indent="0" lvl="0" marL="0" marR="0" rtl="0" algn="l">
                        <a:spcBef>
                          <a:spcPts val="0"/>
                        </a:spcBef>
                        <a:spcAft>
                          <a:spcPts val="0"/>
                        </a:spcAft>
                        <a:buClr>
                          <a:schemeClr val="dk1"/>
                        </a:buClr>
                        <a:buSzPts val="1200"/>
                        <a:buFont typeface="Calibri"/>
                        <a:buNone/>
                      </a:pPr>
                      <a:r>
                        <a:t/>
                      </a:r>
                      <a:endParaRPr sz="12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E0F2FE"/>
                    </a:solidFill>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34" name="Shape 1134"/>
        <p:cNvGrpSpPr/>
        <p:nvPr/>
      </p:nvGrpSpPr>
      <p:grpSpPr>
        <a:xfrm>
          <a:off x="0" y="0"/>
          <a:ext cx="0" cy="0"/>
          <a:chOff x="0" y="0"/>
          <a:chExt cx="0" cy="0"/>
        </a:xfrm>
      </p:grpSpPr>
      <p:sp>
        <p:nvSpPr>
          <p:cNvPr id="1135" name="Google Shape;1135;p52"/>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52"/>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1137" name="Google Shape;1137;p52"/>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138" name="Google Shape;1138;p52"/>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43</a:t>
            </a:r>
            <a:endParaRPr b="0" i="0" sz="1000" u="none" cap="none" strike="noStrike">
              <a:solidFill>
                <a:schemeClr val="dk1"/>
              </a:solidFill>
              <a:latin typeface="Calibri"/>
              <a:ea typeface="Calibri"/>
              <a:cs typeface="Calibri"/>
              <a:sym typeface="Calibri"/>
            </a:endParaRPr>
          </a:p>
        </p:txBody>
      </p:sp>
      <p:sp>
        <p:nvSpPr>
          <p:cNvPr id="1139" name="Google Shape;1139;p52"/>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Lessons Learned (RHM)</a:t>
            </a:r>
            <a:endParaRPr b="0" i="0" sz="3000" u="none" cap="none" strike="noStrike">
              <a:solidFill>
                <a:schemeClr val="dk1"/>
              </a:solidFill>
              <a:latin typeface="Calibri"/>
              <a:ea typeface="Calibri"/>
              <a:cs typeface="Calibri"/>
              <a:sym typeface="Calibri"/>
            </a:endParaRPr>
          </a:p>
        </p:txBody>
      </p:sp>
      <p:sp>
        <p:nvSpPr>
          <p:cNvPr id="1140" name="Google Shape;1140;p52"/>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What to repeat and what to improve for next time.</a:t>
            </a:r>
            <a:endParaRPr b="0" i="0" sz="1400" u="none" cap="none" strike="noStrike">
              <a:solidFill>
                <a:schemeClr val="dk1"/>
              </a:solidFill>
              <a:latin typeface="Calibri"/>
              <a:ea typeface="Calibri"/>
              <a:cs typeface="Calibri"/>
              <a:sym typeface="Calibri"/>
            </a:endParaRPr>
          </a:p>
        </p:txBody>
      </p:sp>
      <p:sp>
        <p:nvSpPr>
          <p:cNvPr id="1141" name="Google Shape;1141;p52"/>
          <p:cNvSpPr/>
          <p:nvPr/>
        </p:nvSpPr>
        <p:spPr>
          <a:xfrm>
            <a:off x="457200" y="137160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52"/>
          <p:cNvSpPr/>
          <p:nvPr/>
        </p:nvSpPr>
        <p:spPr>
          <a:xfrm>
            <a:off x="457200" y="1371600"/>
            <a:ext cx="54864" cy="640080"/>
          </a:xfrm>
          <a:prstGeom prst="rect">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52"/>
          <p:cNvSpPr/>
          <p:nvPr/>
        </p:nvSpPr>
        <p:spPr>
          <a:xfrm>
            <a:off x="640080" y="1481328"/>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52"/>
          <p:cNvSpPr/>
          <p:nvPr/>
        </p:nvSpPr>
        <p:spPr>
          <a:xfrm>
            <a:off x="640080" y="148132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1145" name="Google Shape;1145;p52"/>
          <p:cNvSpPr/>
          <p:nvPr/>
        </p:nvSpPr>
        <p:spPr>
          <a:xfrm>
            <a:off x="1234440" y="141732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REPEAT: Free channels first</a:t>
            </a:r>
            <a:endParaRPr b="0" i="0" sz="1300" u="none" cap="none" strike="noStrike">
              <a:solidFill>
                <a:schemeClr val="dk1"/>
              </a:solidFill>
              <a:latin typeface="Calibri"/>
              <a:ea typeface="Calibri"/>
              <a:cs typeface="Calibri"/>
              <a:sym typeface="Calibri"/>
            </a:endParaRPr>
          </a:p>
        </p:txBody>
      </p:sp>
      <p:sp>
        <p:nvSpPr>
          <p:cNvPr id="1146" name="Google Shape;1146;p52"/>
          <p:cNvSpPr/>
          <p:nvPr/>
        </p:nvSpPr>
        <p:spPr>
          <a:xfrm>
            <a:off x="1234440" y="167335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45K impressions at zero cost. Always activate MBEB screens, newsletters, tabling, and class visits before spending on paid.</a:t>
            </a:r>
            <a:endParaRPr b="0" i="0" sz="1000" u="none" cap="none" strike="noStrike">
              <a:solidFill>
                <a:schemeClr val="dk1"/>
              </a:solidFill>
              <a:latin typeface="Calibri"/>
              <a:ea typeface="Calibri"/>
              <a:cs typeface="Calibri"/>
              <a:sym typeface="Calibri"/>
            </a:endParaRPr>
          </a:p>
        </p:txBody>
      </p:sp>
      <p:sp>
        <p:nvSpPr>
          <p:cNvPr id="1147" name="Google Shape;1147;p52"/>
          <p:cNvSpPr/>
          <p:nvPr/>
        </p:nvSpPr>
        <p:spPr>
          <a:xfrm>
            <a:off x="457200" y="210312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52"/>
          <p:cNvSpPr/>
          <p:nvPr/>
        </p:nvSpPr>
        <p:spPr>
          <a:xfrm>
            <a:off x="457200" y="2103120"/>
            <a:ext cx="54864" cy="6400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52"/>
          <p:cNvSpPr/>
          <p:nvPr/>
        </p:nvSpPr>
        <p:spPr>
          <a:xfrm>
            <a:off x="640080" y="2212848"/>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 name="Google Shape;1150;p52"/>
          <p:cNvSpPr/>
          <p:nvPr/>
        </p:nvSpPr>
        <p:spPr>
          <a:xfrm>
            <a:off x="640080" y="221284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1151" name="Google Shape;1151;p52"/>
          <p:cNvSpPr/>
          <p:nvPr/>
        </p:nvSpPr>
        <p:spPr>
          <a:xfrm>
            <a:off x="1234440" y="214884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REPEAT: Single landing page</a:t>
            </a:r>
            <a:endParaRPr b="0" i="0" sz="1300" u="none" cap="none" strike="noStrike">
              <a:solidFill>
                <a:schemeClr val="dk1"/>
              </a:solidFill>
              <a:latin typeface="Calibri"/>
              <a:ea typeface="Calibri"/>
              <a:cs typeface="Calibri"/>
              <a:sym typeface="Calibri"/>
            </a:endParaRPr>
          </a:p>
        </p:txBody>
      </p:sp>
      <p:sp>
        <p:nvSpPr>
          <p:cNvPr id="1152" name="Google Shape;1152;p52"/>
          <p:cNvSpPr/>
          <p:nvPr/>
        </p:nvSpPr>
        <p:spPr>
          <a:xfrm>
            <a:off x="1234440" y="240487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One URL for all channels made tracking clean and messaging consistent. Update one page instead of many.</a:t>
            </a:r>
            <a:endParaRPr b="0" i="0" sz="1000" u="none" cap="none" strike="noStrike">
              <a:solidFill>
                <a:schemeClr val="dk1"/>
              </a:solidFill>
              <a:latin typeface="Calibri"/>
              <a:ea typeface="Calibri"/>
              <a:cs typeface="Calibri"/>
              <a:sym typeface="Calibri"/>
            </a:endParaRPr>
          </a:p>
        </p:txBody>
      </p:sp>
      <p:sp>
        <p:nvSpPr>
          <p:cNvPr id="1153" name="Google Shape;1153;p52"/>
          <p:cNvSpPr/>
          <p:nvPr/>
        </p:nvSpPr>
        <p:spPr>
          <a:xfrm>
            <a:off x="457200" y="283464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52"/>
          <p:cNvSpPr/>
          <p:nvPr/>
        </p:nvSpPr>
        <p:spPr>
          <a:xfrm>
            <a:off x="457200" y="2834640"/>
            <a:ext cx="54864" cy="6400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52"/>
          <p:cNvSpPr/>
          <p:nvPr/>
        </p:nvSpPr>
        <p:spPr>
          <a:xfrm>
            <a:off x="640080" y="2944368"/>
            <a:ext cx="411480" cy="4114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52"/>
          <p:cNvSpPr/>
          <p:nvPr/>
        </p:nvSpPr>
        <p:spPr>
          <a:xfrm>
            <a:off x="640080" y="294436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1157" name="Google Shape;1157;p52"/>
          <p:cNvSpPr/>
          <p:nvPr/>
        </p:nvSpPr>
        <p:spPr>
          <a:xfrm>
            <a:off x="1234440" y="288036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IMPROVE: Start tracking earlier</a:t>
            </a:r>
            <a:endParaRPr b="0" i="0" sz="1300" u="none" cap="none" strike="noStrike">
              <a:solidFill>
                <a:schemeClr val="dk1"/>
              </a:solidFill>
              <a:latin typeface="Calibri"/>
              <a:ea typeface="Calibri"/>
              <a:cs typeface="Calibri"/>
              <a:sym typeface="Calibri"/>
            </a:endParaRPr>
          </a:p>
        </p:txBody>
      </p:sp>
      <p:sp>
        <p:nvSpPr>
          <p:cNvPr id="1158" name="Google Shape;1158;p52"/>
          <p:cNvSpPr/>
          <p:nvPr/>
        </p:nvSpPr>
        <p:spPr>
          <a:xfrm>
            <a:off x="1234440" y="313639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Set up Flowcode, UTMs, and Looker Studio dashboard BEFORE the first post. We lost early data by launching tracking mid-campaign.</a:t>
            </a:r>
            <a:endParaRPr b="0" i="0" sz="1000" u="none" cap="none" strike="noStrike">
              <a:solidFill>
                <a:schemeClr val="dk1"/>
              </a:solidFill>
              <a:latin typeface="Calibri"/>
              <a:ea typeface="Calibri"/>
              <a:cs typeface="Calibri"/>
              <a:sym typeface="Calibri"/>
            </a:endParaRPr>
          </a:p>
        </p:txBody>
      </p:sp>
      <p:sp>
        <p:nvSpPr>
          <p:cNvPr id="1159" name="Google Shape;1159;p52"/>
          <p:cNvSpPr/>
          <p:nvPr/>
        </p:nvSpPr>
        <p:spPr>
          <a:xfrm>
            <a:off x="640080" y="367588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4</a:t>
            </a:r>
            <a:endParaRPr b="0" i="0" sz="1600" u="none" cap="none" strike="noStrike">
              <a:solidFill>
                <a:schemeClr val="dk1"/>
              </a:solidFill>
              <a:latin typeface="Calibri"/>
              <a:ea typeface="Calibri"/>
              <a:cs typeface="Calibri"/>
              <a:sym typeface="Calibri"/>
            </a:endParaRPr>
          </a:p>
        </p:txBody>
      </p:sp>
      <p:sp>
        <p:nvSpPr>
          <p:cNvPr id="1160" name="Google Shape;1160;p52"/>
          <p:cNvSpPr/>
          <p:nvPr/>
        </p:nvSpPr>
        <p:spPr>
          <a:xfrm>
            <a:off x="1234440" y="361188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IMPROVE: Vary newsletter messaging</a:t>
            </a:r>
            <a:endParaRPr b="0" i="0" sz="1300" u="none" cap="none" strike="noStrike">
              <a:solidFill>
                <a:schemeClr val="dk1"/>
              </a:solidFill>
              <a:latin typeface="Calibri"/>
              <a:ea typeface="Calibri"/>
              <a:cs typeface="Calibri"/>
              <a:sym typeface="Calibri"/>
            </a:endParaRPr>
          </a:p>
        </p:txBody>
      </p:sp>
      <p:sp>
        <p:nvSpPr>
          <p:cNvPr id="1161" name="Google Shape;1161;p52"/>
          <p:cNvSpPr/>
          <p:nvPr/>
        </p:nvSpPr>
        <p:spPr>
          <a:xfrm>
            <a:off x="1234440" y="386791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Feature certificates every few months with fresh angles. Same blurb repeated causes subscriber tune-out — Rotate value props each appearance.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66" name="Shape 1166"/>
        <p:cNvGrpSpPr/>
        <p:nvPr/>
      </p:nvGrpSpPr>
      <p:grpSpPr>
        <a:xfrm>
          <a:off x="0" y="0"/>
          <a:ext cx="0" cy="0"/>
          <a:chOff x="0" y="0"/>
          <a:chExt cx="0" cy="0"/>
        </a:xfrm>
      </p:grpSpPr>
      <p:sp>
        <p:nvSpPr>
          <p:cNvPr id="1167" name="Google Shape;1167;p53"/>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 name="Google Shape;1168;p53"/>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PATH 2: HANDS-ON</a:t>
            </a:r>
            <a:endParaRPr b="0" i="0" sz="1100" u="none" cap="none" strike="noStrike">
              <a:solidFill>
                <a:schemeClr val="dk1"/>
              </a:solidFill>
              <a:latin typeface="Calibri"/>
              <a:ea typeface="Calibri"/>
              <a:cs typeface="Calibri"/>
              <a:sym typeface="Calibri"/>
            </a:endParaRPr>
          </a:p>
        </p:txBody>
      </p:sp>
      <p:sp>
        <p:nvSpPr>
          <p:cNvPr id="1169" name="Google Shape;1169;p53"/>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170" name="Google Shape;1170;p53"/>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44</a:t>
            </a:r>
            <a:endParaRPr b="0" i="0" sz="1000" u="none" cap="none" strike="noStrike">
              <a:solidFill>
                <a:schemeClr val="dk1"/>
              </a:solidFill>
              <a:latin typeface="Calibri"/>
              <a:ea typeface="Calibri"/>
              <a:cs typeface="Calibri"/>
              <a:sym typeface="Calibri"/>
            </a:endParaRPr>
          </a:p>
        </p:txBody>
      </p:sp>
      <p:sp>
        <p:nvSpPr>
          <p:cNvPr id="1171" name="Google Shape;1171;p53"/>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Use This Blueprint</a:t>
            </a:r>
            <a:endParaRPr b="0" i="0" sz="3000" u="none" cap="none" strike="noStrike">
              <a:solidFill>
                <a:schemeClr val="dk1"/>
              </a:solidFill>
              <a:latin typeface="Calibri"/>
              <a:ea typeface="Calibri"/>
              <a:cs typeface="Calibri"/>
              <a:sym typeface="Calibri"/>
            </a:endParaRPr>
          </a:p>
        </p:txBody>
      </p:sp>
      <p:sp>
        <p:nvSpPr>
          <p:cNvPr id="1172" name="Google Shape;1172;p53"/>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Any program can replicate the RHM approach. Follow these steps.</a:t>
            </a:r>
            <a:endParaRPr b="0" i="0" sz="1400" u="none" cap="none" strike="noStrike">
              <a:solidFill>
                <a:schemeClr val="dk1"/>
              </a:solidFill>
              <a:latin typeface="Calibri"/>
              <a:ea typeface="Calibri"/>
              <a:cs typeface="Calibri"/>
              <a:sym typeface="Calibri"/>
            </a:endParaRPr>
          </a:p>
        </p:txBody>
      </p:sp>
      <p:sp>
        <p:nvSpPr>
          <p:cNvPr id="1173" name="Google Shape;1173;p53"/>
          <p:cNvSpPr/>
          <p:nvPr/>
        </p:nvSpPr>
        <p:spPr>
          <a:xfrm>
            <a:off x="457200" y="137160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53"/>
          <p:cNvSpPr/>
          <p:nvPr/>
        </p:nvSpPr>
        <p:spPr>
          <a:xfrm>
            <a:off x="457200" y="1371600"/>
            <a:ext cx="54864" cy="640080"/>
          </a:xfrm>
          <a:prstGeom prst="rect">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 name="Google Shape;1175;p53"/>
          <p:cNvSpPr/>
          <p:nvPr/>
        </p:nvSpPr>
        <p:spPr>
          <a:xfrm>
            <a:off x="640080" y="1481328"/>
            <a:ext cx="411480" cy="411480"/>
          </a:xfrm>
          <a:prstGeom prst="ellipse">
            <a:avLst/>
          </a:prstGeom>
          <a:solidFill>
            <a:srgbClr val="10B9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 name="Google Shape;1176;p53"/>
          <p:cNvSpPr/>
          <p:nvPr/>
        </p:nvSpPr>
        <p:spPr>
          <a:xfrm>
            <a:off x="640080" y="148132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1177" name="Google Shape;1177;p53"/>
          <p:cNvSpPr/>
          <p:nvPr/>
        </p:nvSpPr>
        <p:spPr>
          <a:xfrm>
            <a:off x="1234440" y="141732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Start with FREE channels</a:t>
            </a:r>
            <a:endParaRPr b="0" i="0" sz="1300" u="none" cap="none" strike="noStrike">
              <a:solidFill>
                <a:schemeClr val="dk1"/>
              </a:solidFill>
              <a:latin typeface="Calibri"/>
              <a:ea typeface="Calibri"/>
              <a:cs typeface="Calibri"/>
              <a:sym typeface="Calibri"/>
            </a:endParaRPr>
          </a:p>
        </p:txBody>
      </p:sp>
      <p:sp>
        <p:nvSpPr>
          <p:cNvPr id="1178" name="Google Shape;1178;p53"/>
          <p:cNvSpPr/>
          <p:nvPr/>
        </p:nvSpPr>
        <p:spPr>
          <a:xfrm>
            <a:off x="1234440" y="167335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MBEB screens, Instagram, LinkedIn, newsletters, Boise State Events Calendar (Localist), tabling, class visits. These deliver ~45,000 impressions at zero cost.</a:t>
            </a:r>
            <a:endParaRPr b="0" i="0" sz="1000" u="none" cap="none" strike="noStrike">
              <a:solidFill>
                <a:schemeClr val="dk1"/>
              </a:solidFill>
              <a:latin typeface="Calibri"/>
              <a:ea typeface="Calibri"/>
              <a:cs typeface="Calibri"/>
              <a:sym typeface="Calibri"/>
            </a:endParaRPr>
          </a:p>
        </p:txBody>
      </p:sp>
      <p:sp>
        <p:nvSpPr>
          <p:cNvPr id="1179" name="Google Shape;1179;p53"/>
          <p:cNvSpPr/>
          <p:nvPr/>
        </p:nvSpPr>
        <p:spPr>
          <a:xfrm>
            <a:off x="457200" y="210312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53"/>
          <p:cNvSpPr/>
          <p:nvPr/>
        </p:nvSpPr>
        <p:spPr>
          <a:xfrm>
            <a:off x="457200" y="2103120"/>
            <a:ext cx="54864" cy="6400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53"/>
          <p:cNvSpPr/>
          <p:nvPr/>
        </p:nvSpPr>
        <p:spPr>
          <a:xfrm>
            <a:off x="640080" y="2212848"/>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53"/>
          <p:cNvSpPr/>
          <p:nvPr/>
        </p:nvSpPr>
        <p:spPr>
          <a:xfrm>
            <a:off x="640080" y="221284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1183" name="Google Shape;1183;p53"/>
          <p:cNvSpPr/>
          <p:nvPr/>
        </p:nvSpPr>
        <p:spPr>
          <a:xfrm>
            <a:off x="1234440" y="214884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Add PAID ads for reach</a:t>
            </a:r>
            <a:endParaRPr b="0" i="0" sz="1300" u="none" cap="none" strike="noStrike">
              <a:solidFill>
                <a:schemeClr val="dk1"/>
              </a:solidFill>
              <a:latin typeface="Calibri"/>
              <a:ea typeface="Calibri"/>
              <a:cs typeface="Calibri"/>
              <a:sym typeface="Calibri"/>
            </a:endParaRPr>
          </a:p>
        </p:txBody>
      </p:sp>
      <p:sp>
        <p:nvSpPr>
          <p:cNvPr id="1184" name="Google Shape;1184;p53"/>
          <p:cNvSpPr/>
          <p:nvPr/>
        </p:nvSpPr>
        <p:spPr>
          <a:xfrm>
            <a:off x="1234440" y="240487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Meta/IG ads ($5/day) give the best CPM. Shuttle stops hit captive bus riders. Blueprint reaches grads and new students.</a:t>
            </a:r>
            <a:endParaRPr b="0" i="0" sz="1000" u="none" cap="none" strike="noStrike">
              <a:solidFill>
                <a:schemeClr val="dk1"/>
              </a:solidFill>
              <a:latin typeface="Calibri"/>
              <a:ea typeface="Calibri"/>
              <a:cs typeface="Calibri"/>
              <a:sym typeface="Calibri"/>
            </a:endParaRPr>
          </a:p>
        </p:txBody>
      </p:sp>
      <p:sp>
        <p:nvSpPr>
          <p:cNvPr id="1185" name="Google Shape;1185;p53"/>
          <p:cNvSpPr/>
          <p:nvPr/>
        </p:nvSpPr>
        <p:spPr>
          <a:xfrm>
            <a:off x="457200" y="283464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53"/>
          <p:cNvSpPr/>
          <p:nvPr/>
        </p:nvSpPr>
        <p:spPr>
          <a:xfrm>
            <a:off x="457200" y="2834640"/>
            <a:ext cx="54864" cy="6400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53"/>
          <p:cNvSpPr/>
          <p:nvPr/>
        </p:nvSpPr>
        <p:spPr>
          <a:xfrm>
            <a:off x="640080" y="2944368"/>
            <a:ext cx="411480" cy="4114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53"/>
          <p:cNvSpPr/>
          <p:nvPr/>
        </p:nvSpPr>
        <p:spPr>
          <a:xfrm>
            <a:off x="640080" y="294436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1189" name="Google Shape;1189;p53"/>
          <p:cNvSpPr/>
          <p:nvPr/>
        </p:nvSpPr>
        <p:spPr>
          <a:xfrm>
            <a:off x="1234440" y="288036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Drive to ONE landing page</a:t>
            </a:r>
            <a:endParaRPr b="0" i="0" sz="1300" u="none" cap="none" strike="noStrike">
              <a:solidFill>
                <a:schemeClr val="dk1"/>
              </a:solidFill>
              <a:latin typeface="Calibri"/>
              <a:ea typeface="Calibri"/>
              <a:cs typeface="Calibri"/>
              <a:sym typeface="Calibri"/>
            </a:endParaRPr>
          </a:p>
        </p:txBody>
      </p:sp>
      <p:sp>
        <p:nvSpPr>
          <p:cNvPr id="1190" name="Google Shape;1190;p53"/>
          <p:cNvSpPr/>
          <p:nvPr/>
        </p:nvSpPr>
        <p:spPr>
          <a:xfrm>
            <a:off x="1234440" y="313639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All channels point to the same certificate landing page or Handshake event. One destination = clean tracking.</a:t>
            </a:r>
            <a:endParaRPr b="0" i="0" sz="1000" u="none" cap="none" strike="noStrike">
              <a:solidFill>
                <a:schemeClr val="dk1"/>
              </a:solidFill>
              <a:latin typeface="Calibri"/>
              <a:ea typeface="Calibri"/>
              <a:cs typeface="Calibri"/>
              <a:sym typeface="Calibri"/>
            </a:endParaRPr>
          </a:p>
        </p:txBody>
      </p:sp>
      <p:sp>
        <p:nvSpPr>
          <p:cNvPr id="1191" name="Google Shape;1191;p53"/>
          <p:cNvSpPr/>
          <p:nvPr/>
        </p:nvSpPr>
        <p:spPr>
          <a:xfrm>
            <a:off x="457200" y="356616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 name="Google Shape;1192;p53"/>
          <p:cNvSpPr/>
          <p:nvPr/>
        </p:nvSpPr>
        <p:spPr>
          <a:xfrm>
            <a:off x="457200" y="3566160"/>
            <a:ext cx="54864" cy="6400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 name="Google Shape;1193;p53"/>
          <p:cNvSpPr/>
          <p:nvPr/>
        </p:nvSpPr>
        <p:spPr>
          <a:xfrm>
            <a:off x="640080" y="3675888"/>
            <a:ext cx="411480" cy="411480"/>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53"/>
          <p:cNvSpPr/>
          <p:nvPr/>
        </p:nvSpPr>
        <p:spPr>
          <a:xfrm>
            <a:off x="640080" y="367588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4</a:t>
            </a:r>
            <a:endParaRPr b="0" i="0" sz="1600" u="none" cap="none" strike="noStrike">
              <a:solidFill>
                <a:schemeClr val="dk1"/>
              </a:solidFill>
              <a:latin typeface="Calibri"/>
              <a:ea typeface="Calibri"/>
              <a:cs typeface="Calibri"/>
              <a:sym typeface="Calibri"/>
            </a:endParaRPr>
          </a:p>
        </p:txBody>
      </p:sp>
      <p:sp>
        <p:nvSpPr>
          <p:cNvPr id="1195" name="Google Shape;1195;p53"/>
          <p:cNvSpPr/>
          <p:nvPr/>
        </p:nvSpPr>
        <p:spPr>
          <a:xfrm>
            <a:off x="1234440" y="361188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Track with QR Codes (everyone) + UTMs + Looker Studio (specialized teams)</a:t>
            </a:r>
            <a:endParaRPr b="0" i="0" sz="1300" u="none" cap="none" strike="noStrike">
              <a:solidFill>
                <a:schemeClr val="dk1"/>
              </a:solidFill>
              <a:latin typeface="Calibri"/>
              <a:ea typeface="Calibri"/>
              <a:cs typeface="Calibri"/>
              <a:sym typeface="Calibri"/>
            </a:endParaRPr>
          </a:p>
        </p:txBody>
      </p:sp>
      <p:sp>
        <p:nvSpPr>
          <p:cNvPr id="1196" name="Google Shape;1196;p53"/>
          <p:cNvSpPr/>
          <p:nvPr/>
        </p:nvSpPr>
        <p:spPr>
          <a:xfrm>
            <a:off x="1234440" y="386791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For general users: Create Flowcode QR codes for your physical placements — this is the main tracking most programs need. For specialized teams: Add UTM parameters on every digital link and use Looker Studio dashboards to compare channels side-by-side.</a:t>
            </a:r>
            <a:endParaRPr b="0" i="0" sz="1000" u="none" cap="none" strike="noStrike">
              <a:solidFill>
                <a:schemeClr val="dk1"/>
              </a:solidFill>
              <a:latin typeface="Calibri"/>
              <a:ea typeface="Calibri"/>
              <a:cs typeface="Calibri"/>
              <a:sym typeface="Calibri"/>
            </a:endParaRPr>
          </a:p>
        </p:txBody>
      </p:sp>
      <p:sp>
        <p:nvSpPr>
          <p:cNvPr id="1197" name="Google Shape;1197;p53"/>
          <p:cNvSpPr/>
          <p:nvPr/>
        </p:nvSpPr>
        <p:spPr>
          <a:xfrm>
            <a:off x="457200" y="4297680"/>
            <a:ext cx="8229600" cy="6400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53"/>
          <p:cNvSpPr/>
          <p:nvPr/>
        </p:nvSpPr>
        <p:spPr>
          <a:xfrm>
            <a:off x="457200" y="4297680"/>
            <a:ext cx="54864" cy="640080"/>
          </a:xfrm>
          <a:prstGeom prst="rect">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 name="Google Shape;1199;p53"/>
          <p:cNvSpPr/>
          <p:nvPr/>
        </p:nvSpPr>
        <p:spPr>
          <a:xfrm>
            <a:off x="640080" y="4407408"/>
            <a:ext cx="411480" cy="411480"/>
          </a:xfrm>
          <a:prstGeom prst="ellipse">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53"/>
          <p:cNvSpPr/>
          <p:nvPr/>
        </p:nvSpPr>
        <p:spPr>
          <a:xfrm>
            <a:off x="640080" y="440740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5</a:t>
            </a:r>
            <a:endParaRPr b="0" i="0" sz="1600" u="none" cap="none" strike="noStrike">
              <a:solidFill>
                <a:schemeClr val="dk1"/>
              </a:solidFill>
              <a:latin typeface="Calibri"/>
              <a:ea typeface="Calibri"/>
              <a:cs typeface="Calibri"/>
              <a:sym typeface="Calibri"/>
            </a:endParaRPr>
          </a:p>
        </p:txBody>
      </p:sp>
      <p:sp>
        <p:nvSpPr>
          <p:cNvPr id="1201" name="Google Shape;1201;p53"/>
          <p:cNvSpPr/>
          <p:nvPr/>
        </p:nvSpPr>
        <p:spPr>
          <a:xfrm>
            <a:off x="1234440" y="4343400"/>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Report and optimize</a:t>
            </a:r>
            <a:endParaRPr b="0" i="0" sz="1300" u="none" cap="none" strike="noStrike">
              <a:solidFill>
                <a:schemeClr val="dk1"/>
              </a:solidFill>
              <a:latin typeface="Calibri"/>
              <a:ea typeface="Calibri"/>
              <a:cs typeface="Calibri"/>
              <a:sym typeface="Calibri"/>
            </a:endParaRPr>
          </a:p>
        </p:txBody>
      </p:sp>
      <p:sp>
        <p:nvSpPr>
          <p:cNvPr id="1202" name="Google Shape;1202;p53"/>
          <p:cNvSpPr/>
          <p:nvPr/>
        </p:nvSpPr>
        <p:spPr>
          <a:xfrm>
            <a:off x="1234440" y="4599432"/>
            <a:ext cx="7132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Monthly check-ins on impressions, clicks, RSVPs. Double down on what works; pause what doesn't.</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06" name="Shape 1206"/>
        <p:cNvGrpSpPr/>
        <p:nvPr/>
      </p:nvGrpSpPr>
      <p:grpSpPr>
        <a:xfrm>
          <a:off x="0" y="0"/>
          <a:ext cx="0" cy="0"/>
          <a:chOff x="0" y="0"/>
          <a:chExt cx="0" cy="0"/>
        </a:xfrm>
      </p:grpSpPr>
      <p:sp>
        <p:nvSpPr>
          <p:cNvPr id="1207" name="Google Shape;1207;p54"/>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208" name="Google Shape;1208;p54"/>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45</a:t>
            </a:r>
            <a:endParaRPr b="0" i="0" sz="1000" u="none" cap="none" strike="noStrike">
              <a:solidFill>
                <a:schemeClr val="dk1"/>
              </a:solidFill>
              <a:latin typeface="Calibri"/>
              <a:ea typeface="Calibri"/>
              <a:cs typeface="Calibri"/>
              <a:sym typeface="Calibri"/>
            </a:endParaRPr>
          </a:p>
        </p:txBody>
      </p:sp>
      <p:sp>
        <p:nvSpPr>
          <p:cNvPr id="1209" name="Google Shape;1209;p54"/>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RHM Templates (Examples You Can Reuse)</a:t>
            </a:r>
            <a:endParaRPr b="0" i="0" sz="2800" u="none" cap="none" strike="noStrike">
              <a:solidFill>
                <a:schemeClr val="dk1"/>
              </a:solidFill>
              <a:latin typeface="Calibri"/>
              <a:ea typeface="Calibri"/>
              <a:cs typeface="Calibri"/>
              <a:sym typeface="Calibri"/>
            </a:endParaRPr>
          </a:p>
        </p:txBody>
      </p:sp>
      <p:graphicFrame>
        <p:nvGraphicFramePr>
          <p:cNvPr id="1210" name="Google Shape;1210;p54"/>
          <p:cNvGraphicFramePr/>
          <p:nvPr/>
        </p:nvGraphicFramePr>
        <p:xfrm>
          <a:off x="457200" y="1005840"/>
          <a:ext cx="3000000" cy="3000000"/>
        </p:xfrm>
        <a:graphic>
          <a:graphicData uri="http://schemas.openxmlformats.org/drawingml/2006/table">
            <a:tbl>
              <a:tblPr>
                <a:noFill/>
                <a:tableStyleId>{AD4631F1-437D-4764-92B6-2A4562E18BC6}</a:tableStyleId>
              </a:tblPr>
              <a:tblGrid>
                <a:gridCol w="2286000"/>
                <a:gridCol w="2926075"/>
                <a:gridCol w="3017525"/>
              </a:tblGrid>
              <a:tr h="386075">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Resource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Purpose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Location</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Social Media Calendar</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Weekly/monthly posting plan with channel codes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Social Media Calendar Template.xlsx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Social Media Calendar Template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Completed example calendar to model structure and pacing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Social Media Calendar Example.xlsx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Landing Page Outline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Sections: headline, value props, CTA, contact, interest form</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Google Sites or WordPress template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RHM Marketing Budget 2025</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5-sheet budget model: summary, channels, calendar, ROAS, contacts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RHM Marketing Budget 2025.xlsx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Reporting Snapshot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Monthly channel roll-up template: impressions, CTR, conversions, CPM</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Looker Studio dashboard example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Request Email Template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Copy-paste format for cobe-info submissions with all required fields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See Sample Request Email slide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Asset Folder Structure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Organized folder template: Copy, Graphics, Links, Schedule, Budget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See Asset Pack Folder Structure slide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File Naming Convention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Pattern: Topic_StartDate_Size.ext for consistent organization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See Brand Quick Reference slide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215" name="Shape 1215"/>
        <p:cNvGrpSpPr/>
        <p:nvPr/>
      </p:nvGrpSpPr>
      <p:grpSpPr>
        <a:xfrm>
          <a:off x="0" y="0"/>
          <a:ext cx="0" cy="0"/>
          <a:chOff x="0" y="0"/>
          <a:chExt cx="0" cy="0"/>
        </a:xfrm>
      </p:grpSpPr>
      <p:sp>
        <p:nvSpPr>
          <p:cNvPr id="1216" name="Google Shape;1216;p55"/>
          <p:cNvSpPr/>
          <p:nvPr/>
        </p:nvSpPr>
        <p:spPr>
          <a:xfrm>
            <a:off x="0" y="0"/>
            <a:ext cx="9144000" cy="5143500"/>
          </a:xfrm>
          <a:prstGeom prst="rect">
            <a:avLst/>
          </a:prstGeom>
          <a:solidFill>
            <a:srgbClr val="1118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 name="Google Shape;1217;p55"/>
          <p:cNvSpPr/>
          <p:nvPr/>
        </p:nvSpPr>
        <p:spPr>
          <a:xfrm>
            <a:off x="0" y="0"/>
            <a:ext cx="109800" cy="5143500"/>
          </a:xfrm>
          <a:prstGeom prst="rect">
            <a:avLst/>
          </a:prstGeom>
          <a:solidFill>
            <a:srgbClr val="6474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55"/>
          <p:cNvSpPr/>
          <p:nvPr/>
        </p:nvSpPr>
        <p:spPr>
          <a:xfrm>
            <a:off x="548640" y="1336390"/>
            <a:ext cx="7315200" cy="1097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4800"/>
              <a:buFont typeface="Georgia"/>
              <a:buNone/>
            </a:pPr>
            <a:r>
              <a:rPr b="1" lang="en-US" sz="4800">
                <a:solidFill>
                  <a:schemeClr val="lt1"/>
                </a:solidFill>
                <a:latin typeface="Georgia"/>
                <a:ea typeface="Georgia"/>
                <a:cs typeface="Georgia"/>
                <a:sym typeface="Georgia"/>
              </a:rPr>
              <a:t>TRACKING &amp;</a:t>
            </a:r>
            <a:br>
              <a:rPr b="1" lang="en-US" sz="4800">
                <a:solidFill>
                  <a:schemeClr val="lt1"/>
                </a:solidFill>
                <a:latin typeface="Georgia"/>
                <a:ea typeface="Georgia"/>
                <a:cs typeface="Georgia"/>
                <a:sym typeface="Georgia"/>
              </a:rPr>
            </a:br>
            <a:r>
              <a:rPr b="1" lang="en-US" sz="4800">
                <a:solidFill>
                  <a:schemeClr val="lt1"/>
                </a:solidFill>
                <a:latin typeface="Georgia"/>
                <a:ea typeface="Georgia"/>
                <a:cs typeface="Georgia"/>
                <a:sym typeface="Georgia"/>
              </a:rPr>
              <a:t>ANALYTICS</a:t>
            </a:r>
            <a:endParaRPr b="0" i="0" sz="4800" u="none" cap="none" strike="noStrike">
              <a:solidFill>
                <a:schemeClr val="dk1"/>
              </a:solidFill>
              <a:latin typeface="Calibri"/>
              <a:ea typeface="Calibri"/>
              <a:cs typeface="Calibri"/>
              <a:sym typeface="Calibri"/>
            </a:endParaRPr>
          </a:p>
        </p:txBody>
      </p:sp>
      <p:sp>
        <p:nvSpPr>
          <p:cNvPr id="1219" name="Google Shape;1219;p55"/>
          <p:cNvSpPr/>
          <p:nvPr/>
        </p:nvSpPr>
        <p:spPr>
          <a:xfrm>
            <a:off x="548640" y="2777820"/>
            <a:ext cx="7315200" cy="548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BD5E1"/>
              </a:buClr>
              <a:buSzPts val="2200"/>
              <a:buFont typeface="Arial"/>
              <a:buNone/>
            </a:pPr>
            <a:r>
              <a:rPr lang="en-US" sz="2200">
                <a:solidFill>
                  <a:srgbClr val="CBD5E1"/>
                </a:solidFill>
              </a:rPr>
              <a:t>QR Codes • UTM Parameters • Performance Measurement</a:t>
            </a:r>
            <a:endParaRPr b="0" i="0" sz="2200" u="none" cap="none" strike="noStrike">
              <a:solidFill>
                <a:schemeClr val="dk1"/>
              </a:solidFill>
              <a:latin typeface="Calibri"/>
              <a:ea typeface="Calibri"/>
              <a:cs typeface="Calibri"/>
              <a:sym typeface="Calibri"/>
            </a:endParaRPr>
          </a:p>
        </p:txBody>
      </p:sp>
      <p:sp>
        <p:nvSpPr>
          <p:cNvPr id="1220" name="Google Shape;1220;p55"/>
          <p:cNvSpPr txBox="1"/>
          <p:nvPr/>
        </p:nvSpPr>
        <p:spPr>
          <a:xfrm>
            <a:off x="439900" y="3670550"/>
            <a:ext cx="6837900" cy="548700"/>
          </a:xfrm>
          <a:prstGeom prst="rect">
            <a:avLst/>
          </a:prstGeom>
          <a:noFill/>
          <a:ln>
            <a:noFill/>
          </a:ln>
        </p:spPr>
        <p:txBody>
          <a:bodyPr anchorCtr="0" anchor="t" bIns="91425" lIns="91425" spcFirstLastPara="1" rIns="91425" wrap="square" tIns="91425">
            <a:noAutofit/>
          </a:bodyPr>
          <a:lstStyle/>
          <a:p>
            <a:pPr indent="0" lvl="0" marL="0" rtl="0" algn="l">
              <a:lnSpc>
                <a:spcPct val="140000"/>
              </a:lnSpc>
              <a:spcBef>
                <a:spcPts val="0"/>
              </a:spcBef>
              <a:spcAft>
                <a:spcPts val="0"/>
              </a:spcAft>
              <a:buClr>
                <a:srgbClr val="CBD5E1"/>
              </a:buClr>
              <a:buSzPts val="1400"/>
              <a:buFont typeface="Arial"/>
              <a:buNone/>
            </a:pPr>
            <a:r>
              <a:rPr lang="en-US">
                <a:solidFill>
                  <a:srgbClr val="CBD5E1"/>
                </a:solidFill>
              </a:rPr>
              <a:t>Understand what to measure and how to connect metrics back to program goals.</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24" name="Shape 1224"/>
        <p:cNvGrpSpPr/>
        <p:nvPr/>
      </p:nvGrpSpPr>
      <p:grpSpPr>
        <a:xfrm>
          <a:off x="0" y="0"/>
          <a:ext cx="0" cy="0"/>
          <a:chOff x="0" y="0"/>
          <a:chExt cx="0" cy="0"/>
        </a:xfrm>
      </p:grpSpPr>
      <p:sp>
        <p:nvSpPr>
          <p:cNvPr id="1225" name="Google Shape;1225;p56"/>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226" name="Google Shape;1226;p56"/>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46</a:t>
            </a:r>
            <a:endParaRPr b="0" i="0" sz="1000" u="none" cap="none" strike="noStrike">
              <a:solidFill>
                <a:schemeClr val="dk1"/>
              </a:solidFill>
              <a:latin typeface="Calibri"/>
              <a:ea typeface="Calibri"/>
              <a:cs typeface="Calibri"/>
              <a:sym typeface="Calibri"/>
            </a:endParaRPr>
          </a:p>
        </p:txBody>
      </p:sp>
      <p:sp>
        <p:nvSpPr>
          <p:cNvPr id="1227" name="Google Shape;1227;p56"/>
          <p:cNvSpPr/>
          <p:nvPr/>
        </p:nvSpPr>
        <p:spPr>
          <a:xfrm>
            <a:off x="457200" y="3200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600"/>
              <a:buFont typeface="Georgia"/>
              <a:buNone/>
            </a:pPr>
            <a:r>
              <a:rPr b="1" i="0" lang="en-US" sz="3600" u="none" cap="none" strike="noStrike">
                <a:solidFill>
                  <a:srgbClr val="0B1220"/>
                </a:solidFill>
                <a:latin typeface="Georgia"/>
                <a:ea typeface="Georgia"/>
                <a:cs typeface="Georgia"/>
                <a:sym typeface="Georgia"/>
              </a:rPr>
              <a:t>Metrics That Matter</a:t>
            </a:r>
            <a:endParaRPr b="0" i="0" sz="3600" u="none" cap="none" strike="noStrike">
              <a:solidFill>
                <a:schemeClr val="dk1"/>
              </a:solidFill>
              <a:latin typeface="Calibri"/>
              <a:ea typeface="Calibri"/>
              <a:cs typeface="Calibri"/>
              <a:sym typeface="Calibri"/>
            </a:endParaRPr>
          </a:p>
        </p:txBody>
      </p:sp>
      <p:sp>
        <p:nvSpPr>
          <p:cNvPr id="1228" name="Google Shape;1228;p56"/>
          <p:cNvSpPr/>
          <p:nvPr/>
        </p:nvSpPr>
        <p:spPr>
          <a:xfrm>
            <a:off x="457200" y="1005840"/>
            <a:ext cx="8229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500"/>
              <a:buFont typeface="Arial"/>
              <a:buNone/>
            </a:pPr>
            <a:r>
              <a:rPr b="0" i="0" lang="en-US" sz="1500" u="none" cap="none" strike="noStrike">
                <a:solidFill>
                  <a:srgbClr val="334155"/>
                </a:solidFill>
                <a:latin typeface="Arial"/>
                <a:ea typeface="Arial"/>
                <a:cs typeface="Arial"/>
                <a:sym typeface="Arial"/>
              </a:rPr>
              <a:t>Understanding what to measure and what it actually means.</a:t>
            </a:r>
            <a:endParaRPr b="0" i="0" sz="1500" u="none" cap="none" strike="noStrike">
              <a:solidFill>
                <a:schemeClr val="dk1"/>
              </a:solidFill>
              <a:latin typeface="Calibri"/>
              <a:ea typeface="Calibri"/>
              <a:cs typeface="Calibri"/>
              <a:sym typeface="Calibri"/>
            </a:endParaRPr>
          </a:p>
        </p:txBody>
      </p:sp>
      <p:sp>
        <p:nvSpPr>
          <p:cNvPr id="1229" name="Google Shape;1229;p56"/>
          <p:cNvSpPr/>
          <p:nvPr/>
        </p:nvSpPr>
        <p:spPr>
          <a:xfrm>
            <a:off x="457200" y="1600200"/>
            <a:ext cx="8229600" cy="9144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p56"/>
          <p:cNvSpPr/>
          <p:nvPr/>
        </p:nvSpPr>
        <p:spPr>
          <a:xfrm>
            <a:off x="457200" y="1600200"/>
            <a:ext cx="54864" cy="9144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56"/>
          <p:cNvSpPr/>
          <p:nvPr/>
        </p:nvSpPr>
        <p:spPr>
          <a:xfrm>
            <a:off x="640080" y="1847088"/>
            <a:ext cx="411480" cy="4114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 name="Google Shape;1232;p56"/>
          <p:cNvSpPr/>
          <p:nvPr/>
        </p:nvSpPr>
        <p:spPr>
          <a:xfrm>
            <a:off x="640080" y="184708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1233" name="Google Shape;1233;p56"/>
          <p:cNvSpPr/>
          <p:nvPr/>
        </p:nvSpPr>
        <p:spPr>
          <a:xfrm>
            <a:off x="1234440" y="1709928"/>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500"/>
              <a:buFont typeface="Arial"/>
              <a:buNone/>
            </a:pPr>
            <a:r>
              <a:rPr b="1" i="0" lang="en-US" sz="1500" u="none" cap="none" strike="noStrike">
                <a:solidFill>
                  <a:srgbClr val="0B1220"/>
                </a:solidFill>
                <a:latin typeface="Arial"/>
                <a:ea typeface="Arial"/>
                <a:cs typeface="Arial"/>
                <a:sym typeface="Arial"/>
              </a:rPr>
              <a:t>Reach</a:t>
            </a:r>
            <a:endParaRPr b="0" i="0" sz="1500" u="none" cap="none" strike="noStrike">
              <a:solidFill>
                <a:schemeClr val="dk1"/>
              </a:solidFill>
              <a:latin typeface="Calibri"/>
              <a:ea typeface="Calibri"/>
              <a:cs typeface="Calibri"/>
              <a:sym typeface="Calibri"/>
            </a:endParaRPr>
          </a:p>
        </p:txBody>
      </p:sp>
      <p:sp>
        <p:nvSpPr>
          <p:cNvPr id="1234" name="Google Shape;1234;p56"/>
          <p:cNvSpPr/>
          <p:nvPr/>
        </p:nvSpPr>
        <p:spPr>
          <a:xfrm>
            <a:off x="1234440" y="2029968"/>
            <a:ext cx="71323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200"/>
              <a:buFont typeface="Arial"/>
              <a:buNone/>
            </a:pPr>
            <a:r>
              <a:rPr b="0" i="0" lang="en-US" sz="1200" u="none" cap="none" strike="noStrike">
                <a:solidFill>
                  <a:srgbClr val="334155"/>
                </a:solidFill>
                <a:latin typeface="Arial"/>
                <a:ea typeface="Arial"/>
                <a:cs typeface="Arial"/>
                <a:sym typeface="Arial"/>
              </a:rPr>
              <a:t>How many people saw it? Track via Instagram Insights, LinkedIn Analytics, email open counts.</a:t>
            </a:r>
            <a:endParaRPr b="0" i="0" sz="1200" u="none" cap="none" strike="noStrike">
              <a:solidFill>
                <a:schemeClr val="dk1"/>
              </a:solidFill>
              <a:latin typeface="Calibri"/>
              <a:ea typeface="Calibri"/>
              <a:cs typeface="Calibri"/>
              <a:sym typeface="Calibri"/>
            </a:endParaRPr>
          </a:p>
        </p:txBody>
      </p:sp>
      <p:sp>
        <p:nvSpPr>
          <p:cNvPr id="1235" name="Google Shape;1235;p56"/>
          <p:cNvSpPr/>
          <p:nvPr/>
        </p:nvSpPr>
        <p:spPr>
          <a:xfrm>
            <a:off x="457200" y="2651760"/>
            <a:ext cx="8229600" cy="9144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 name="Google Shape;1236;p56"/>
          <p:cNvSpPr/>
          <p:nvPr/>
        </p:nvSpPr>
        <p:spPr>
          <a:xfrm>
            <a:off x="457200" y="2651760"/>
            <a:ext cx="54864" cy="9144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56"/>
          <p:cNvSpPr/>
          <p:nvPr/>
        </p:nvSpPr>
        <p:spPr>
          <a:xfrm>
            <a:off x="640080" y="2898648"/>
            <a:ext cx="411480" cy="4114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56"/>
          <p:cNvSpPr/>
          <p:nvPr/>
        </p:nvSpPr>
        <p:spPr>
          <a:xfrm>
            <a:off x="640080" y="289864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1239" name="Google Shape;1239;p56"/>
          <p:cNvSpPr/>
          <p:nvPr/>
        </p:nvSpPr>
        <p:spPr>
          <a:xfrm>
            <a:off x="1234440" y="2761488"/>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500"/>
              <a:buFont typeface="Arial"/>
              <a:buNone/>
            </a:pPr>
            <a:r>
              <a:rPr b="1" i="0" lang="en-US" sz="1500" u="none" cap="none" strike="noStrike">
                <a:solidFill>
                  <a:srgbClr val="0B1220"/>
                </a:solidFill>
                <a:latin typeface="Arial"/>
                <a:ea typeface="Arial"/>
                <a:cs typeface="Arial"/>
                <a:sym typeface="Arial"/>
              </a:rPr>
              <a:t>Engagement</a:t>
            </a:r>
            <a:endParaRPr b="0" i="0" sz="1500" u="none" cap="none" strike="noStrike">
              <a:solidFill>
                <a:schemeClr val="dk1"/>
              </a:solidFill>
              <a:latin typeface="Calibri"/>
              <a:ea typeface="Calibri"/>
              <a:cs typeface="Calibri"/>
              <a:sym typeface="Calibri"/>
            </a:endParaRPr>
          </a:p>
        </p:txBody>
      </p:sp>
      <p:sp>
        <p:nvSpPr>
          <p:cNvPr id="1240" name="Google Shape;1240;p56"/>
          <p:cNvSpPr/>
          <p:nvPr/>
        </p:nvSpPr>
        <p:spPr>
          <a:xfrm>
            <a:off x="1234440" y="3081528"/>
            <a:ext cx="71323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200"/>
              <a:buFont typeface="Arial"/>
              <a:buNone/>
            </a:pPr>
            <a:r>
              <a:rPr b="0" i="0" lang="en-US" sz="1200" u="none" cap="none" strike="noStrike">
                <a:solidFill>
                  <a:srgbClr val="334155"/>
                </a:solidFill>
                <a:latin typeface="Arial"/>
                <a:ea typeface="Arial"/>
                <a:cs typeface="Arial"/>
                <a:sym typeface="Arial"/>
              </a:rPr>
              <a:t>Did they interact? (Reactions + Comments + Shares) / Impressions. Measures content quality.</a:t>
            </a:r>
            <a:endParaRPr b="0" i="0" sz="1200" u="none" cap="none" strike="noStrike">
              <a:solidFill>
                <a:schemeClr val="dk1"/>
              </a:solidFill>
              <a:latin typeface="Calibri"/>
              <a:ea typeface="Calibri"/>
              <a:cs typeface="Calibri"/>
              <a:sym typeface="Calibri"/>
            </a:endParaRPr>
          </a:p>
        </p:txBody>
      </p:sp>
      <p:sp>
        <p:nvSpPr>
          <p:cNvPr id="1241" name="Google Shape;1241;p56"/>
          <p:cNvSpPr/>
          <p:nvPr/>
        </p:nvSpPr>
        <p:spPr>
          <a:xfrm>
            <a:off x="457200" y="3703320"/>
            <a:ext cx="8229600" cy="9144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56"/>
          <p:cNvSpPr/>
          <p:nvPr/>
        </p:nvSpPr>
        <p:spPr>
          <a:xfrm>
            <a:off x="457200" y="3703320"/>
            <a:ext cx="54864" cy="9144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56"/>
          <p:cNvSpPr/>
          <p:nvPr/>
        </p:nvSpPr>
        <p:spPr>
          <a:xfrm>
            <a:off x="640080" y="3950208"/>
            <a:ext cx="411480" cy="411480"/>
          </a:xfrm>
          <a:prstGeom prst="ellipse">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56"/>
          <p:cNvSpPr/>
          <p:nvPr/>
        </p:nvSpPr>
        <p:spPr>
          <a:xfrm>
            <a:off x="640080" y="3950208"/>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X</a:t>
            </a:r>
            <a:endParaRPr b="0" i="0" sz="1600" u="none" cap="none" strike="noStrike">
              <a:solidFill>
                <a:schemeClr val="dk1"/>
              </a:solidFill>
              <a:latin typeface="Calibri"/>
              <a:ea typeface="Calibri"/>
              <a:cs typeface="Calibri"/>
              <a:sym typeface="Calibri"/>
            </a:endParaRPr>
          </a:p>
        </p:txBody>
      </p:sp>
      <p:sp>
        <p:nvSpPr>
          <p:cNvPr id="1245" name="Google Shape;1245;p56"/>
          <p:cNvSpPr/>
          <p:nvPr/>
        </p:nvSpPr>
        <p:spPr>
          <a:xfrm>
            <a:off x="1234440" y="3813048"/>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500"/>
              <a:buFont typeface="Arial"/>
              <a:buNone/>
            </a:pPr>
            <a:r>
              <a:rPr b="1" i="0" lang="en-US" sz="1500" u="none" cap="none" strike="noStrike">
                <a:solidFill>
                  <a:srgbClr val="0B1220"/>
                </a:solidFill>
                <a:latin typeface="Arial"/>
                <a:ea typeface="Arial"/>
                <a:cs typeface="Arial"/>
                <a:sym typeface="Arial"/>
              </a:rPr>
              <a:t>Conversion</a:t>
            </a:r>
            <a:endParaRPr b="0" i="0" sz="1500" u="none" cap="none" strike="noStrike">
              <a:solidFill>
                <a:schemeClr val="dk1"/>
              </a:solidFill>
              <a:latin typeface="Calibri"/>
              <a:ea typeface="Calibri"/>
              <a:cs typeface="Calibri"/>
              <a:sym typeface="Calibri"/>
            </a:endParaRPr>
          </a:p>
        </p:txBody>
      </p:sp>
      <p:sp>
        <p:nvSpPr>
          <p:cNvPr id="1246" name="Google Shape;1246;p56"/>
          <p:cNvSpPr/>
          <p:nvPr/>
        </p:nvSpPr>
        <p:spPr>
          <a:xfrm>
            <a:off x="1234440" y="4133088"/>
            <a:ext cx="71323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4155"/>
              </a:buClr>
              <a:buSzPts val="1200"/>
              <a:buFont typeface="Arial"/>
              <a:buNone/>
            </a:pPr>
            <a:r>
              <a:rPr b="0" i="0" lang="en-US" sz="1200" u="none" cap="none" strike="noStrike">
                <a:solidFill>
                  <a:srgbClr val="334155"/>
                </a:solidFill>
                <a:latin typeface="Arial"/>
                <a:ea typeface="Arial"/>
                <a:cs typeface="Arial"/>
                <a:sym typeface="Arial"/>
              </a:rPr>
              <a:t>Did they take action? RSVPs, applications, registrations. This is the metric that matters most.</a:t>
            </a:r>
            <a:endParaRPr b="0" i="0" sz="1200" u="none" cap="none" strike="noStrike">
              <a:solidFill>
                <a:schemeClr val="dk1"/>
              </a:solidFill>
              <a:latin typeface="Calibri"/>
              <a:ea typeface="Calibri"/>
              <a:cs typeface="Calibri"/>
              <a:sym typeface="Calibri"/>
            </a:endParaRPr>
          </a:p>
        </p:txBody>
      </p:sp>
      <p:sp>
        <p:nvSpPr>
          <p:cNvPr id="1247" name="Google Shape;1247;p56"/>
          <p:cNvSpPr/>
          <p:nvPr/>
        </p:nvSpPr>
        <p:spPr>
          <a:xfrm>
            <a:off x="457200" y="438912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33A0"/>
              </a:buClr>
              <a:buSzPts val="1400"/>
              <a:buFont typeface="Arial"/>
              <a:buNone/>
            </a:pPr>
            <a:r>
              <a:rPr b="1" i="0" lang="en-US" sz="1400" u="none" cap="none" strike="noStrike">
                <a:solidFill>
                  <a:srgbClr val="0033A0"/>
                </a:solidFill>
                <a:latin typeface="Arial"/>
                <a:ea typeface="Arial"/>
                <a:cs typeface="Arial"/>
                <a:sym typeface="Arial"/>
              </a:rPr>
              <a:t>Reach without conversion is vanity. Always connect metrics back to program goals.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51" name="Shape 1251"/>
        <p:cNvGrpSpPr/>
        <p:nvPr/>
      </p:nvGrpSpPr>
      <p:grpSpPr>
        <a:xfrm>
          <a:off x="0" y="0"/>
          <a:ext cx="0" cy="0"/>
          <a:chOff x="0" y="0"/>
          <a:chExt cx="0" cy="0"/>
        </a:xfrm>
      </p:grpSpPr>
      <p:sp>
        <p:nvSpPr>
          <p:cNvPr id="1252" name="Google Shape;1252;p57"/>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57"/>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TRACKING</a:t>
            </a:r>
            <a:endParaRPr b="0" i="0" sz="1100" u="none" cap="none" strike="noStrike">
              <a:solidFill>
                <a:schemeClr val="dk1"/>
              </a:solidFill>
              <a:latin typeface="Calibri"/>
              <a:ea typeface="Calibri"/>
              <a:cs typeface="Calibri"/>
              <a:sym typeface="Calibri"/>
            </a:endParaRPr>
          </a:p>
        </p:txBody>
      </p:sp>
      <p:sp>
        <p:nvSpPr>
          <p:cNvPr id="1254" name="Google Shape;1254;p57"/>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255" name="Google Shape;1255;p57"/>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47</a:t>
            </a:r>
            <a:endParaRPr b="0" i="0" sz="1000" u="none" cap="none" strike="noStrike">
              <a:solidFill>
                <a:schemeClr val="dk1"/>
              </a:solidFill>
              <a:latin typeface="Calibri"/>
              <a:ea typeface="Calibri"/>
              <a:cs typeface="Calibri"/>
              <a:sym typeface="Calibri"/>
            </a:endParaRPr>
          </a:p>
        </p:txBody>
      </p:sp>
      <p:sp>
        <p:nvSpPr>
          <p:cNvPr id="1256" name="Google Shape;1256;p57"/>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400"/>
              <a:buFont typeface="Georgia"/>
              <a:buNone/>
            </a:pPr>
            <a:r>
              <a:rPr b="1" i="0" lang="en-US" sz="2400" u="none" cap="none" strike="noStrike">
                <a:solidFill>
                  <a:srgbClr val="0B1220"/>
                </a:solidFill>
                <a:latin typeface="Georgia"/>
                <a:ea typeface="Georgia"/>
                <a:cs typeface="Georgia"/>
                <a:sym typeface="Georgia"/>
              </a:rPr>
              <a:t>CPM Benchmarks by Channel</a:t>
            </a:r>
            <a:endParaRPr b="0" i="0" sz="2400" u="none" cap="none" strike="noStrike">
              <a:solidFill>
                <a:schemeClr val="dk1"/>
              </a:solidFill>
              <a:latin typeface="Calibri"/>
              <a:ea typeface="Calibri"/>
              <a:cs typeface="Calibri"/>
              <a:sym typeface="Calibri"/>
            </a:endParaRPr>
          </a:p>
        </p:txBody>
      </p:sp>
      <p:sp>
        <p:nvSpPr>
          <p:cNvPr id="1257" name="Google Shape;1257;p57"/>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EA5E9"/>
              </a:buClr>
              <a:buSzPts val="1400"/>
              <a:buFont typeface="Arial"/>
              <a:buNone/>
            </a:pPr>
            <a:r>
              <a:rPr b="0" i="1" lang="en-US" sz="1400" u="none" cap="none" strike="noStrike">
                <a:solidFill>
                  <a:srgbClr val="0EA5E9"/>
                </a:solidFill>
                <a:latin typeface="Arial"/>
                <a:ea typeface="Arial"/>
                <a:cs typeface="Arial"/>
                <a:sym typeface="Arial"/>
              </a:rPr>
              <a:t>Cost Per Thousand Impressions — Lower is better for awareness campaigns.</a:t>
            </a:r>
            <a:endParaRPr b="0" i="0" sz="1400" u="none" cap="none" strike="noStrike">
              <a:solidFill>
                <a:schemeClr val="dk1"/>
              </a:solidFill>
              <a:latin typeface="Calibri"/>
              <a:ea typeface="Calibri"/>
              <a:cs typeface="Calibri"/>
              <a:sym typeface="Calibri"/>
            </a:endParaRPr>
          </a:p>
        </p:txBody>
      </p:sp>
      <p:sp>
        <p:nvSpPr>
          <p:cNvPr id="1258" name="Google Shape;1258;p57"/>
          <p:cNvSpPr/>
          <p:nvPr/>
        </p:nvSpPr>
        <p:spPr>
          <a:xfrm>
            <a:off x="45720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57"/>
          <p:cNvSpPr/>
          <p:nvPr/>
        </p:nvSpPr>
        <p:spPr>
          <a:xfrm>
            <a:off x="45720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$0</a:t>
            </a:r>
            <a:endParaRPr b="0" i="0" sz="2800" u="none" cap="none" strike="noStrike">
              <a:solidFill>
                <a:schemeClr val="dk1"/>
              </a:solidFill>
              <a:latin typeface="Calibri"/>
              <a:ea typeface="Calibri"/>
              <a:cs typeface="Calibri"/>
              <a:sym typeface="Calibri"/>
            </a:endParaRPr>
          </a:p>
        </p:txBody>
      </p:sp>
      <p:sp>
        <p:nvSpPr>
          <p:cNvPr id="1260" name="Google Shape;1260;p57"/>
          <p:cNvSpPr/>
          <p:nvPr/>
        </p:nvSpPr>
        <p:spPr>
          <a:xfrm>
            <a:off x="45720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Free Channels</a:t>
            </a:r>
            <a:endParaRPr b="0" i="0" sz="1100" u="none" cap="none" strike="noStrike">
              <a:solidFill>
                <a:schemeClr val="dk1"/>
              </a:solidFill>
              <a:latin typeface="Calibri"/>
              <a:ea typeface="Calibri"/>
              <a:cs typeface="Calibri"/>
              <a:sym typeface="Calibri"/>
            </a:endParaRPr>
          </a:p>
        </p:txBody>
      </p:sp>
      <p:sp>
        <p:nvSpPr>
          <p:cNvPr id="1261" name="Google Shape;1261;p57"/>
          <p:cNvSpPr/>
          <p:nvPr/>
        </p:nvSpPr>
        <p:spPr>
          <a:xfrm>
            <a:off x="256032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57"/>
          <p:cNvSpPr/>
          <p:nvPr/>
        </p:nvSpPr>
        <p:spPr>
          <a:xfrm>
            <a:off x="256032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$5.33</a:t>
            </a:r>
            <a:endParaRPr b="0" i="0" sz="2800" u="none" cap="none" strike="noStrike">
              <a:solidFill>
                <a:schemeClr val="dk1"/>
              </a:solidFill>
              <a:latin typeface="Calibri"/>
              <a:ea typeface="Calibri"/>
              <a:cs typeface="Calibri"/>
              <a:sym typeface="Calibri"/>
            </a:endParaRPr>
          </a:p>
        </p:txBody>
      </p:sp>
      <p:sp>
        <p:nvSpPr>
          <p:cNvPr id="1263" name="Google Shape;1263;p57"/>
          <p:cNvSpPr/>
          <p:nvPr/>
        </p:nvSpPr>
        <p:spPr>
          <a:xfrm>
            <a:off x="256032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Meta/IG Ads</a:t>
            </a:r>
            <a:endParaRPr b="0" i="0" sz="1100" u="none" cap="none" strike="noStrike">
              <a:solidFill>
                <a:schemeClr val="dk1"/>
              </a:solidFill>
              <a:latin typeface="Calibri"/>
              <a:ea typeface="Calibri"/>
              <a:cs typeface="Calibri"/>
              <a:sym typeface="Calibri"/>
            </a:endParaRPr>
          </a:p>
        </p:txBody>
      </p:sp>
      <p:sp>
        <p:nvSpPr>
          <p:cNvPr id="1264" name="Google Shape;1264;p57"/>
          <p:cNvSpPr/>
          <p:nvPr/>
        </p:nvSpPr>
        <p:spPr>
          <a:xfrm>
            <a:off x="466344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p57"/>
          <p:cNvSpPr/>
          <p:nvPr/>
        </p:nvSpPr>
        <p:spPr>
          <a:xfrm>
            <a:off x="466344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$23</a:t>
            </a:r>
            <a:endParaRPr b="0" i="0" sz="2800" u="none" cap="none" strike="noStrike">
              <a:solidFill>
                <a:schemeClr val="dk1"/>
              </a:solidFill>
              <a:latin typeface="Calibri"/>
              <a:ea typeface="Calibri"/>
              <a:cs typeface="Calibri"/>
              <a:sym typeface="Calibri"/>
            </a:endParaRPr>
          </a:p>
        </p:txBody>
      </p:sp>
      <p:sp>
        <p:nvSpPr>
          <p:cNvPr id="1266" name="Google Shape;1266;p57"/>
          <p:cNvSpPr/>
          <p:nvPr/>
        </p:nvSpPr>
        <p:spPr>
          <a:xfrm>
            <a:off x="466344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Shuttle Stops</a:t>
            </a:r>
            <a:endParaRPr b="0" i="0" sz="1100" u="none" cap="none" strike="noStrike">
              <a:solidFill>
                <a:schemeClr val="dk1"/>
              </a:solidFill>
              <a:latin typeface="Calibri"/>
              <a:ea typeface="Calibri"/>
              <a:cs typeface="Calibri"/>
              <a:sym typeface="Calibri"/>
            </a:endParaRPr>
          </a:p>
        </p:txBody>
      </p:sp>
      <p:sp>
        <p:nvSpPr>
          <p:cNvPr id="1267" name="Google Shape;1267;p57"/>
          <p:cNvSpPr/>
          <p:nvPr/>
        </p:nvSpPr>
        <p:spPr>
          <a:xfrm>
            <a:off x="6766560" y="1325880"/>
            <a:ext cx="1920240" cy="100584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 name="Google Shape;1268;p57"/>
          <p:cNvSpPr/>
          <p:nvPr/>
        </p:nvSpPr>
        <p:spPr>
          <a:xfrm>
            <a:off x="6766560" y="1371600"/>
            <a:ext cx="19202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A0"/>
              </a:buClr>
              <a:buSzPts val="2800"/>
              <a:buFont typeface="Georgia"/>
              <a:buNone/>
            </a:pPr>
            <a:r>
              <a:rPr b="1" i="0" lang="en-US" sz="2800" u="none" cap="none" strike="noStrike">
                <a:solidFill>
                  <a:srgbClr val="0033A0"/>
                </a:solidFill>
                <a:latin typeface="Georgia"/>
                <a:ea typeface="Georgia"/>
                <a:cs typeface="Georgia"/>
                <a:sym typeface="Georgia"/>
              </a:rPr>
              <a:t>$50</a:t>
            </a:r>
            <a:endParaRPr b="0" i="0" sz="2800" u="none" cap="none" strike="noStrike">
              <a:solidFill>
                <a:schemeClr val="dk1"/>
              </a:solidFill>
              <a:latin typeface="Calibri"/>
              <a:ea typeface="Calibri"/>
              <a:cs typeface="Calibri"/>
              <a:sym typeface="Calibri"/>
            </a:endParaRPr>
          </a:p>
        </p:txBody>
      </p:sp>
      <p:sp>
        <p:nvSpPr>
          <p:cNvPr id="1269" name="Google Shape;1269;p57"/>
          <p:cNvSpPr/>
          <p:nvPr/>
        </p:nvSpPr>
        <p:spPr>
          <a:xfrm>
            <a:off x="6766560" y="1874520"/>
            <a:ext cx="19202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Arial"/>
              <a:buNone/>
            </a:pPr>
            <a:r>
              <a:rPr b="0" i="0" lang="en-US" sz="1100" u="none" cap="none" strike="noStrike">
                <a:solidFill>
                  <a:srgbClr val="64748B"/>
                </a:solidFill>
                <a:latin typeface="Arial"/>
                <a:ea typeface="Arial"/>
                <a:cs typeface="Arial"/>
                <a:sym typeface="Arial"/>
              </a:rPr>
              <a:t>Blueprint Mag</a:t>
            </a:r>
            <a:endParaRPr b="0" i="0" sz="1100" u="none" cap="none" strike="noStrike">
              <a:solidFill>
                <a:schemeClr val="dk1"/>
              </a:solidFill>
              <a:latin typeface="Calibri"/>
              <a:ea typeface="Calibri"/>
              <a:cs typeface="Calibri"/>
              <a:sym typeface="Calibri"/>
            </a:endParaRPr>
          </a:p>
        </p:txBody>
      </p:sp>
      <p:sp>
        <p:nvSpPr>
          <p:cNvPr id="1270" name="Google Shape;1270;p57"/>
          <p:cNvSpPr/>
          <p:nvPr/>
        </p:nvSpPr>
        <p:spPr>
          <a:xfrm>
            <a:off x="45720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57"/>
          <p:cNvSpPr/>
          <p:nvPr/>
        </p:nvSpPr>
        <p:spPr>
          <a:xfrm>
            <a:off x="457200" y="2560320"/>
            <a:ext cx="54864" cy="182880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57"/>
          <p:cNvSpPr/>
          <p:nvPr/>
        </p:nvSpPr>
        <p:spPr>
          <a:xfrm>
            <a:off x="68580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200"/>
              <a:buFont typeface="Arial"/>
              <a:buNone/>
            </a:pPr>
            <a:r>
              <a:rPr b="1" i="0" lang="en-US" sz="1200" u="none" cap="none" strike="noStrike">
                <a:solidFill>
                  <a:srgbClr val="0EA5E9"/>
                </a:solidFill>
                <a:latin typeface="Arial"/>
                <a:ea typeface="Arial"/>
                <a:cs typeface="Arial"/>
                <a:sym typeface="Arial"/>
              </a:rPr>
              <a:t>FREE COBE CHANNELS (ALL $0 CPM)</a:t>
            </a:r>
            <a:endParaRPr b="0" i="0" sz="1200" u="none" cap="none" strike="noStrike">
              <a:solidFill>
                <a:schemeClr val="dk1"/>
              </a:solidFill>
              <a:latin typeface="Calibri"/>
              <a:ea typeface="Calibri"/>
              <a:cs typeface="Calibri"/>
              <a:sym typeface="Calibri"/>
            </a:endParaRPr>
          </a:p>
        </p:txBody>
      </p:sp>
      <p:sp>
        <p:nvSpPr>
          <p:cNvPr id="1273" name="Google Shape;1273;p57"/>
          <p:cNvSpPr/>
          <p:nvPr/>
        </p:nvSpPr>
        <p:spPr>
          <a:xfrm>
            <a:off x="68580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COBE Social (organic) — limited to followers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Email Newsletter — 5,000+ subscribers</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MBEB Digital Screens — daily rotation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Tabling &amp; Class Visits — highest quality</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Other campus screens</a:t>
            </a:r>
            <a:endParaRPr b="0" i="0" sz="1000" u="none" cap="none" strike="noStrike">
              <a:solidFill>
                <a:schemeClr val="dk1"/>
              </a:solidFill>
              <a:latin typeface="Calibri"/>
              <a:ea typeface="Calibri"/>
              <a:cs typeface="Calibri"/>
              <a:sym typeface="Calibri"/>
            </a:endParaRPr>
          </a:p>
        </p:txBody>
      </p:sp>
      <p:sp>
        <p:nvSpPr>
          <p:cNvPr id="1274" name="Google Shape;1274;p57"/>
          <p:cNvSpPr/>
          <p:nvPr/>
        </p:nvSpPr>
        <p:spPr>
          <a:xfrm>
            <a:off x="4846320" y="2560320"/>
            <a:ext cx="3840480" cy="182880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57"/>
          <p:cNvSpPr/>
          <p:nvPr/>
        </p:nvSpPr>
        <p:spPr>
          <a:xfrm>
            <a:off x="4846320" y="2560320"/>
            <a:ext cx="54864" cy="18288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57"/>
          <p:cNvSpPr/>
          <p:nvPr/>
        </p:nvSpPr>
        <p:spPr>
          <a:xfrm>
            <a:off x="5074920" y="26517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200"/>
              <a:buFont typeface="Arial"/>
              <a:buNone/>
            </a:pPr>
            <a:r>
              <a:rPr b="1" i="0" lang="en-US" sz="1200" u="none" cap="none" strike="noStrike">
                <a:solidFill>
                  <a:srgbClr val="0033A0"/>
                </a:solidFill>
                <a:latin typeface="Arial"/>
                <a:ea typeface="Arial"/>
                <a:cs typeface="Arial"/>
                <a:sym typeface="Arial"/>
              </a:rPr>
              <a:t>KEY INSIGHT</a:t>
            </a:r>
            <a:endParaRPr b="0" i="0" sz="1200" u="none" cap="none" strike="noStrike">
              <a:solidFill>
                <a:schemeClr val="dk1"/>
              </a:solidFill>
              <a:latin typeface="Calibri"/>
              <a:ea typeface="Calibri"/>
              <a:cs typeface="Calibri"/>
              <a:sym typeface="Calibri"/>
            </a:endParaRPr>
          </a:p>
        </p:txBody>
      </p:sp>
      <p:sp>
        <p:nvSpPr>
          <p:cNvPr id="1277" name="Google Shape;1277;p57"/>
          <p:cNvSpPr/>
          <p:nvPr/>
        </p:nvSpPr>
        <p:spPr>
          <a:xfrm>
            <a:off x="5074920" y="2971800"/>
            <a:ext cx="3474720" cy="12801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COBE internal channels deliver ~45,000</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impressions at zero cost — that’s 19%</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of total reach in the RHM campaign.</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Always activate free channels first,</a:t>
            </a:r>
            <a:endParaRPr b="0" i="0" sz="100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then add paid strategically.</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282" name="Shape 1282"/>
        <p:cNvGrpSpPr/>
        <p:nvPr/>
      </p:nvGrpSpPr>
      <p:grpSpPr>
        <a:xfrm>
          <a:off x="0" y="0"/>
          <a:ext cx="0" cy="0"/>
          <a:chOff x="0" y="0"/>
          <a:chExt cx="0" cy="0"/>
        </a:xfrm>
      </p:grpSpPr>
      <p:sp>
        <p:nvSpPr>
          <p:cNvPr id="1283" name="Google Shape;1283;p58"/>
          <p:cNvSpPr/>
          <p:nvPr/>
        </p:nvSpPr>
        <p:spPr>
          <a:xfrm>
            <a:off x="0" y="0"/>
            <a:ext cx="9144000" cy="5143500"/>
          </a:xfrm>
          <a:prstGeom prst="rect">
            <a:avLst/>
          </a:prstGeom>
          <a:solidFill>
            <a:srgbClr val="1118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58"/>
          <p:cNvSpPr/>
          <p:nvPr/>
        </p:nvSpPr>
        <p:spPr>
          <a:xfrm>
            <a:off x="0" y="0"/>
            <a:ext cx="109728" cy="5143500"/>
          </a:xfrm>
          <a:prstGeom prst="rect">
            <a:avLst/>
          </a:prstGeom>
          <a:solidFill>
            <a:srgbClr val="6474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58"/>
          <p:cNvSpPr/>
          <p:nvPr/>
        </p:nvSpPr>
        <p:spPr>
          <a:xfrm>
            <a:off x="548640" y="1463040"/>
            <a:ext cx="731520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APPENDIX</a:t>
            </a:r>
            <a:endParaRPr b="0" i="0" sz="4800" u="none" cap="none" strike="noStrike">
              <a:solidFill>
                <a:schemeClr val="dk1"/>
              </a:solidFill>
              <a:latin typeface="Calibri"/>
              <a:ea typeface="Calibri"/>
              <a:cs typeface="Calibri"/>
              <a:sym typeface="Calibri"/>
            </a:endParaRPr>
          </a:p>
        </p:txBody>
      </p:sp>
      <p:sp>
        <p:nvSpPr>
          <p:cNvPr id="1286" name="Google Shape;1286;p58"/>
          <p:cNvSpPr/>
          <p:nvPr/>
        </p:nvSpPr>
        <p:spPr>
          <a:xfrm>
            <a:off x="548640" y="2560320"/>
            <a:ext cx="7315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E1"/>
              </a:buClr>
              <a:buSzPts val="2200"/>
              <a:buFont typeface="Arial"/>
              <a:buNone/>
            </a:pPr>
            <a:r>
              <a:rPr b="0" i="0" lang="en-US" sz="2200" u="none" cap="none" strike="noStrike">
                <a:solidFill>
                  <a:srgbClr val="CBD5E1"/>
                </a:solidFill>
                <a:latin typeface="Arial"/>
                <a:ea typeface="Arial"/>
                <a:cs typeface="Arial"/>
                <a:sym typeface="Arial"/>
              </a:rPr>
              <a:t>Contacts, Resources &amp; Brand Guidelines</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291" name="Shape 1291"/>
        <p:cNvGrpSpPr/>
        <p:nvPr/>
      </p:nvGrpSpPr>
      <p:grpSpPr>
        <a:xfrm>
          <a:off x="0" y="0"/>
          <a:ext cx="0" cy="0"/>
          <a:chOff x="0" y="0"/>
          <a:chExt cx="0" cy="0"/>
        </a:xfrm>
      </p:grpSpPr>
      <p:sp>
        <p:nvSpPr>
          <p:cNvPr id="1292" name="Google Shape;1292;p59"/>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293" name="Google Shape;1293;p59"/>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48</a:t>
            </a:r>
            <a:endParaRPr b="0" i="0" sz="1000" u="none" cap="none" strike="noStrike">
              <a:solidFill>
                <a:schemeClr val="dk1"/>
              </a:solidFill>
              <a:latin typeface="Calibri"/>
              <a:ea typeface="Calibri"/>
              <a:cs typeface="Calibri"/>
              <a:sym typeface="Calibri"/>
            </a:endParaRPr>
          </a:p>
        </p:txBody>
      </p:sp>
      <p:sp>
        <p:nvSpPr>
          <p:cNvPr id="1294" name="Google Shape;1294;p59"/>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COBE Marketing Team Contacts</a:t>
            </a:r>
            <a:endParaRPr b="0" i="0" sz="2800" u="none" cap="none" strike="noStrike">
              <a:solidFill>
                <a:schemeClr val="dk1"/>
              </a:solidFill>
              <a:latin typeface="Calibri"/>
              <a:ea typeface="Calibri"/>
              <a:cs typeface="Calibri"/>
              <a:sym typeface="Calibri"/>
            </a:endParaRPr>
          </a:p>
        </p:txBody>
      </p:sp>
      <p:graphicFrame>
        <p:nvGraphicFramePr>
          <p:cNvPr id="1295" name="Google Shape;1295;p59"/>
          <p:cNvGraphicFramePr/>
          <p:nvPr/>
        </p:nvGraphicFramePr>
        <p:xfrm>
          <a:off x="457200" y="1005840"/>
          <a:ext cx="3000000" cy="3000000"/>
        </p:xfrm>
        <a:graphic>
          <a:graphicData uri="http://schemas.openxmlformats.org/drawingml/2006/table">
            <a:tbl>
              <a:tblPr>
                <a:noFill/>
                <a:tableStyleId>{AD4631F1-437D-4764-92B6-2A4562E18BC6}</a:tableStyleId>
              </a:tblPr>
              <a:tblGrid>
                <a:gridCol w="1645925"/>
                <a:gridCol w="1371600"/>
                <a:gridCol w="2926075"/>
                <a:gridCol w="2286000"/>
              </a:tblGrid>
              <a:tr h="386075">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Role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Name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Responsibility</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Contact</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3860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Director / Mktg Manager</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Kate Watson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Strategy, approvals, crisis response, newsletter coordination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katewatson@boisestate.edu</a:t>
                      </a:r>
                      <a:endParaRPr sz="900" u="none" cap="none" strike="noStrike"/>
                    </a:p>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(208) 426-6134</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Management Assistant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Kim Presnell</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Social media scheduling, posting logistics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cobe-info@boisestate.edu</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Multimedia</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Joe Morgan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Video production, event photography, reels, Bronco Business Podcast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cobe-info@boisestate.edu</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Career Services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Laura Chiuppi</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External engagement | For design support: Boise State Central Marketing (boisestate.edu/communicationsandmarketing/creative/request-design-support/), Bronco Business Podcast coordination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laurachiuppi@boisestate.edu</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00" name="Shape 1300"/>
        <p:cNvGrpSpPr/>
        <p:nvPr/>
      </p:nvGrpSpPr>
      <p:grpSpPr>
        <a:xfrm>
          <a:off x="0" y="0"/>
          <a:ext cx="0" cy="0"/>
          <a:chOff x="0" y="0"/>
          <a:chExt cx="0" cy="0"/>
        </a:xfrm>
      </p:grpSpPr>
      <p:sp>
        <p:nvSpPr>
          <p:cNvPr id="1301" name="Google Shape;1301;p60"/>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302" name="Google Shape;1302;p60"/>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49</a:t>
            </a:r>
            <a:endParaRPr b="0" i="0" sz="1000" u="none" cap="none" strike="noStrike">
              <a:solidFill>
                <a:schemeClr val="dk1"/>
              </a:solidFill>
              <a:latin typeface="Calibri"/>
              <a:ea typeface="Calibri"/>
              <a:cs typeface="Calibri"/>
              <a:sym typeface="Calibri"/>
            </a:endParaRPr>
          </a:p>
        </p:txBody>
      </p:sp>
      <p:sp>
        <p:nvSpPr>
          <p:cNvPr id="1303" name="Google Shape;1303;p60"/>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Brand Quick Reference</a:t>
            </a:r>
            <a:endParaRPr b="0" i="0" sz="2800" u="none" cap="none" strike="noStrike">
              <a:solidFill>
                <a:schemeClr val="dk1"/>
              </a:solidFill>
              <a:latin typeface="Calibri"/>
              <a:ea typeface="Calibri"/>
              <a:cs typeface="Calibri"/>
              <a:sym typeface="Calibri"/>
            </a:endParaRPr>
          </a:p>
        </p:txBody>
      </p:sp>
      <p:sp>
        <p:nvSpPr>
          <p:cNvPr id="1304" name="Google Shape;1304;p60"/>
          <p:cNvSpPr/>
          <p:nvPr/>
        </p:nvSpPr>
        <p:spPr>
          <a:xfrm>
            <a:off x="457200" y="10058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BOISE STATE COLORS (Digital — see brand site for print versions)</a:t>
            </a:r>
            <a:endParaRPr b="0" i="0" sz="1200" u="none" cap="none" strike="noStrike">
              <a:solidFill>
                <a:schemeClr val="dk1"/>
              </a:solidFill>
              <a:latin typeface="Calibri"/>
              <a:ea typeface="Calibri"/>
              <a:cs typeface="Calibri"/>
              <a:sym typeface="Calibri"/>
            </a:endParaRPr>
          </a:p>
        </p:txBody>
      </p:sp>
      <p:sp>
        <p:nvSpPr>
          <p:cNvPr id="1305" name="Google Shape;1305;p60"/>
          <p:cNvSpPr/>
          <p:nvPr/>
        </p:nvSpPr>
        <p:spPr>
          <a:xfrm>
            <a:off x="457200" y="1371600"/>
            <a:ext cx="1828800" cy="731520"/>
          </a:xfrm>
          <a:prstGeom prst="rect">
            <a:avLst/>
          </a:prstGeom>
          <a:solidFill>
            <a:srgbClr val="0033A0"/>
          </a:solidFill>
          <a:ln cap="flat" cmpd="sng" w="9525">
            <a:solidFill>
              <a:srgbClr val="CBD5E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 name="Google Shape;1306;p60"/>
          <p:cNvSpPr/>
          <p:nvPr/>
        </p:nvSpPr>
        <p:spPr>
          <a:xfrm>
            <a:off x="457200" y="214884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Blue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#0033A0</a:t>
            </a:r>
            <a:endParaRPr b="0" i="0" sz="1000" u="none" cap="none" strike="noStrike">
              <a:solidFill>
                <a:schemeClr val="dk1"/>
              </a:solidFill>
              <a:latin typeface="Calibri"/>
              <a:ea typeface="Calibri"/>
              <a:cs typeface="Calibri"/>
              <a:sym typeface="Calibri"/>
            </a:endParaRPr>
          </a:p>
        </p:txBody>
      </p:sp>
      <p:sp>
        <p:nvSpPr>
          <p:cNvPr id="1307" name="Google Shape;1307;p60"/>
          <p:cNvSpPr/>
          <p:nvPr/>
        </p:nvSpPr>
        <p:spPr>
          <a:xfrm>
            <a:off x="2560320" y="1371600"/>
            <a:ext cx="1828800" cy="731520"/>
          </a:xfrm>
          <a:prstGeom prst="rect">
            <a:avLst/>
          </a:prstGeom>
          <a:solidFill>
            <a:srgbClr val="D64309"/>
          </a:solidFill>
          <a:ln cap="flat" cmpd="sng" w="9525">
            <a:solidFill>
              <a:srgbClr val="CBD5E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60"/>
          <p:cNvSpPr/>
          <p:nvPr/>
        </p:nvSpPr>
        <p:spPr>
          <a:xfrm>
            <a:off x="2560320" y="214884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Orange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#D64309</a:t>
            </a:r>
            <a:endParaRPr b="0" i="0" sz="1000" u="none" cap="none" strike="noStrike">
              <a:solidFill>
                <a:schemeClr val="dk1"/>
              </a:solidFill>
              <a:latin typeface="Calibri"/>
              <a:ea typeface="Calibri"/>
              <a:cs typeface="Calibri"/>
              <a:sym typeface="Calibri"/>
            </a:endParaRPr>
          </a:p>
        </p:txBody>
      </p:sp>
      <p:sp>
        <p:nvSpPr>
          <p:cNvPr id="1309" name="Google Shape;1309;p60"/>
          <p:cNvSpPr/>
          <p:nvPr/>
        </p:nvSpPr>
        <p:spPr>
          <a:xfrm>
            <a:off x="4663440" y="1371600"/>
            <a:ext cx="1828800" cy="731520"/>
          </a:xfrm>
          <a:prstGeom prst="rect">
            <a:avLst/>
          </a:prstGeom>
          <a:solidFill>
            <a:srgbClr val="0B1220"/>
          </a:solidFill>
          <a:ln cap="flat" cmpd="sng" w="9525">
            <a:solidFill>
              <a:srgbClr val="CBD5E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60"/>
          <p:cNvSpPr/>
          <p:nvPr/>
        </p:nvSpPr>
        <p:spPr>
          <a:xfrm>
            <a:off x="4663440" y="214884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Dark</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#0B1220</a:t>
            </a:r>
            <a:endParaRPr b="0" i="0" sz="1000" u="none" cap="none" strike="noStrike">
              <a:solidFill>
                <a:schemeClr val="dk1"/>
              </a:solidFill>
              <a:latin typeface="Calibri"/>
              <a:ea typeface="Calibri"/>
              <a:cs typeface="Calibri"/>
              <a:sym typeface="Calibri"/>
            </a:endParaRPr>
          </a:p>
        </p:txBody>
      </p:sp>
      <p:sp>
        <p:nvSpPr>
          <p:cNvPr id="1311" name="Google Shape;1311;p60"/>
          <p:cNvSpPr/>
          <p:nvPr/>
        </p:nvSpPr>
        <p:spPr>
          <a:xfrm>
            <a:off x="6766560" y="1371600"/>
            <a:ext cx="1828800" cy="731520"/>
          </a:xfrm>
          <a:prstGeom prst="rect">
            <a:avLst/>
          </a:prstGeom>
          <a:solidFill>
            <a:srgbClr val="FFFFFF"/>
          </a:solidFill>
          <a:ln cap="flat" cmpd="sng" w="9525">
            <a:solidFill>
              <a:srgbClr val="CBD5E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60"/>
          <p:cNvSpPr/>
          <p:nvPr/>
        </p:nvSpPr>
        <p:spPr>
          <a:xfrm>
            <a:off x="6766560" y="214884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White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#FFFFFF</a:t>
            </a:r>
            <a:endParaRPr b="0" i="0" sz="1000" u="none" cap="none" strike="noStrike">
              <a:solidFill>
                <a:schemeClr val="dk1"/>
              </a:solidFill>
              <a:latin typeface="Calibri"/>
              <a:ea typeface="Calibri"/>
              <a:cs typeface="Calibri"/>
              <a:sym typeface="Calibri"/>
            </a:endParaRPr>
          </a:p>
        </p:txBody>
      </p:sp>
      <p:sp>
        <p:nvSpPr>
          <p:cNvPr id="1313" name="Google Shape;1313;p60"/>
          <p:cNvSpPr/>
          <p:nvPr/>
        </p:nvSpPr>
        <p:spPr>
          <a:xfrm>
            <a:off x="457200" y="27432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200"/>
              <a:buFont typeface="Arial"/>
              <a:buNone/>
            </a:pPr>
            <a:r>
              <a:rPr b="1" i="0" lang="en-US" sz="1200" u="none" cap="none" strike="noStrike">
                <a:solidFill>
                  <a:srgbClr val="0B1220"/>
                </a:solidFill>
                <a:latin typeface="Arial"/>
                <a:ea typeface="Arial"/>
                <a:cs typeface="Arial"/>
                <a:sym typeface="Arial"/>
              </a:rPr>
              <a:t>KEY GUIDELINES (For complete visual identity including print color profiles, visit boisestate.edu/brand/visual-identity/)</a:t>
            </a:r>
            <a:endParaRPr b="0" i="0" sz="1200" u="none" cap="none" strike="noStrike">
              <a:solidFill>
                <a:schemeClr val="dk1"/>
              </a:solidFill>
              <a:latin typeface="Calibri"/>
              <a:ea typeface="Calibri"/>
              <a:cs typeface="Calibri"/>
              <a:sym typeface="Calibri"/>
            </a:endParaRPr>
          </a:p>
        </p:txBody>
      </p:sp>
      <p:sp>
        <p:nvSpPr>
          <p:cNvPr id="1314" name="Google Shape;1314;p60"/>
          <p:cNvSpPr/>
          <p:nvPr/>
        </p:nvSpPr>
        <p:spPr>
          <a:xfrm>
            <a:off x="457200" y="3063240"/>
            <a:ext cx="822960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Typography: Garamond (body), Gotham/Oswald (headlines). Web: Oswald + Lato.</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High-Res Only: Blurry images damage brand perception. Min 1080px for social, 1920px for screens.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Accessibility Required: Alt text on all images, descriptive links, proper heading structure.</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Headlines under 60 characters; prioritize action verbs and clarity over cleverness.</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Include clear CTAs: "Register," "Apply," "Join the info session," "Request training"</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When featuring students/partners, secure approval and double-check name/title</a:t>
            </a:r>
            <a:endParaRPr b="0" i="0" sz="1000" u="none" cap="none" strike="noStrike">
              <a:solidFill>
                <a:schemeClr val="dk1"/>
              </a:solidFill>
              <a:latin typeface="Calibri"/>
              <a:ea typeface="Calibri"/>
              <a:cs typeface="Calibri"/>
              <a:sym typeface="Calibri"/>
            </a:endParaRPr>
          </a:p>
          <a:p>
            <a:pPr indent="-342900" lvl="0" marL="342900" marR="0" rtl="0" algn="l">
              <a:spcBef>
                <a:spcPts val="300"/>
              </a:spcBef>
              <a:spcAft>
                <a:spcPts val="0"/>
              </a:spcAft>
              <a:buClr>
                <a:srgbClr val="334155"/>
              </a:buClr>
              <a:buSzPts val="1000"/>
              <a:buFont typeface="Arial"/>
              <a:buChar char="•"/>
            </a:pPr>
            <a:r>
              <a:rPr b="0" i="0" lang="en-US" sz="1000" u="none" cap="none" strike="noStrike">
                <a:solidFill>
                  <a:srgbClr val="334155"/>
                </a:solidFill>
                <a:latin typeface="Arial"/>
                <a:ea typeface="Arial"/>
                <a:cs typeface="Arial"/>
                <a:sym typeface="Arial"/>
              </a:rPr>
              <a:t>File naming convention: Topic_StartDate-EndDate_Size (e.g., CareerFair_2025-10-01_1920x1080.jpg)</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18" name="Shape 1318"/>
        <p:cNvGrpSpPr/>
        <p:nvPr/>
      </p:nvGrpSpPr>
      <p:grpSpPr>
        <a:xfrm>
          <a:off x="0" y="0"/>
          <a:ext cx="0" cy="0"/>
          <a:chOff x="0" y="0"/>
          <a:chExt cx="0" cy="0"/>
        </a:xfrm>
      </p:grpSpPr>
      <p:sp>
        <p:nvSpPr>
          <p:cNvPr id="1319" name="Google Shape;1319;p61"/>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320" name="Google Shape;1320;p61"/>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000"/>
              <a:buFont typeface="Georgia"/>
              <a:buNone/>
            </a:pPr>
            <a:r>
              <a:rPr b="1" i="0" lang="en-US" sz="3000" u="none" cap="none" strike="noStrike">
                <a:solidFill>
                  <a:srgbClr val="0B1220"/>
                </a:solidFill>
                <a:latin typeface="Georgia"/>
                <a:ea typeface="Georgia"/>
                <a:cs typeface="Georgia"/>
                <a:sym typeface="Georgia"/>
              </a:rPr>
              <a:t>When Things Go Wrong</a:t>
            </a:r>
            <a:endParaRPr b="0" i="0" sz="3000" u="none" cap="none" strike="noStrike">
              <a:solidFill>
                <a:schemeClr val="dk1"/>
              </a:solidFill>
              <a:latin typeface="Calibri"/>
              <a:ea typeface="Calibri"/>
              <a:cs typeface="Calibri"/>
              <a:sym typeface="Calibri"/>
            </a:endParaRPr>
          </a:p>
        </p:txBody>
      </p:sp>
      <p:sp>
        <p:nvSpPr>
          <p:cNvPr id="1321" name="Google Shape;1321;p61"/>
          <p:cNvSpPr/>
          <p:nvPr/>
        </p:nvSpPr>
        <p:spPr>
          <a:xfrm>
            <a:off x="457200" y="86868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Arial"/>
              <a:buNone/>
            </a:pPr>
            <a:r>
              <a:rPr b="0" i="0" lang="en-US" sz="1400" u="none" cap="none" strike="noStrike">
                <a:solidFill>
                  <a:srgbClr val="64748B"/>
                </a:solidFill>
                <a:latin typeface="Arial"/>
                <a:ea typeface="Arial"/>
                <a:cs typeface="Arial"/>
                <a:sym typeface="Arial"/>
              </a:rPr>
              <a:t>Negative comments, errors, or controversial content require immediate action.</a:t>
            </a:r>
            <a:endParaRPr b="0" i="0" sz="1400" u="none" cap="none" strike="noStrike">
              <a:solidFill>
                <a:schemeClr val="dk1"/>
              </a:solidFill>
              <a:latin typeface="Calibri"/>
              <a:ea typeface="Calibri"/>
              <a:cs typeface="Calibri"/>
              <a:sym typeface="Calibri"/>
            </a:endParaRPr>
          </a:p>
        </p:txBody>
      </p:sp>
      <p:sp>
        <p:nvSpPr>
          <p:cNvPr id="1322" name="Google Shape;1322;p61"/>
          <p:cNvSpPr/>
          <p:nvPr/>
        </p:nvSpPr>
        <p:spPr>
          <a:xfrm>
            <a:off x="457200" y="13533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 name="Google Shape;1323;p61"/>
          <p:cNvSpPr/>
          <p:nvPr/>
        </p:nvSpPr>
        <p:spPr>
          <a:xfrm>
            <a:off x="457200" y="13533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1</a:t>
            </a:r>
            <a:endParaRPr b="0" i="0" sz="1600" u="none" cap="none" strike="noStrike">
              <a:solidFill>
                <a:schemeClr val="dk1"/>
              </a:solidFill>
              <a:latin typeface="Calibri"/>
              <a:ea typeface="Calibri"/>
              <a:cs typeface="Calibri"/>
              <a:sym typeface="Calibri"/>
            </a:endParaRPr>
          </a:p>
        </p:txBody>
      </p:sp>
      <p:sp>
        <p:nvSpPr>
          <p:cNvPr id="1324" name="Google Shape;1324;p61"/>
          <p:cNvSpPr/>
          <p:nvPr/>
        </p:nvSpPr>
        <p:spPr>
          <a:xfrm>
            <a:off x="1005840" y="12801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PAUSE IMMEDIATELY</a:t>
            </a:r>
            <a:endParaRPr b="0" i="0" sz="1300" u="none" cap="none" strike="noStrike">
              <a:solidFill>
                <a:schemeClr val="dk1"/>
              </a:solidFill>
              <a:latin typeface="Calibri"/>
              <a:ea typeface="Calibri"/>
              <a:cs typeface="Calibri"/>
              <a:sym typeface="Calibri"/>
            </a:endParaRPr>
          </a:p>
        </p:txBody>
      </p:sp>
      <p:sp>
        <p:nvSpPr>
          <p:cNvPr id="1325" name="Google Shape;1325;p61"/>
          <p:cNvSpPr/>
          <p:nvPr/>
        </p:nvSpPr>
        <p:spPr>
          <a:xfrm>
            <a:off x="1005840" y="15544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Stop all scheduled publishing. Do not respond to negative comments yet. Take a breath.</a:t>
            </a:r>
            <a:endParaRPr b="0" i="0" sz="1000" u="none" cap="none" strike="noStrike">
              <a:solidFill>
                <a:schemeClr val="dk1"/>
              </a:solidFill>
              <a:latin typeface="Calibri"/>
              <a:ea typeface="Calibri"/>
              <a:cs typeface="Calibri"/>
              <a:sym typeface="Calibri"/>
            </a:endParaRPr>
          </a:p>
        </p:txBody>
      </p:sp>
      <p:sp>
        <p:nvSpPr>
          <p:cNvPr id="1326" name="Google Shape;1326;p61"/>
          <p:cNvSpPr/>
          <p:nvPr/>
        </p:nvSpPr>
        <p:spPr>
          <a:xfrm>
            <a:off x="457200" y="22677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1"/>
          <p:cNvSpPr/>
          <p:nvPr/>
        </p:nvSpPr>
        <p:spPr>
          <a:xfrm>
            <a:off x="457200" y="22677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2</a:t>
            </a:r>
            <a:endParaRPr b="0" i="0" sz="1600" u="none" cap="none" strike="noStrike">
              <a:solidFill>
                <a:schemeClr val="dk1"/>
              </a:solidFill>
              <a:latin typeface="Calibri"/>
              <a:ea typeface="Calibri"/>
              <a:cs typeface="Calibri"/>
              <a:sym typeface="Calibri"/>
            </a:endParaRPr>
          </a:p>
        </p:txBody>
      </p:sp>
      <p:sp>
        <p:nvSpPr>
          <p:cNvPr id="1328" name="Google Shape;1328;p61"/>
          <p:cNvSpPr/>
          <p:nvPr/>
        </p:nvSpPr>
        <p:spPr>
          <a:xfrm>
            <a:off x="1005840" y="21945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NOTIFY KATE WATSON</a:t>
            </a:r>
            <a:endParaRPr b="0" i="0" sz="1300" u="none" cap="none" strike="noStrike">
              <a:solidFill>
                <a:schemeClr val="dk1"/>
              </a:solidFill>
              <a:latin typeface="Calibri"/>
              <a:ea typeface="Calibri"/>
              <a:cs typeface="Calibri"/>
              <a:sym typeface="Calibri"/>
            </a:endParaRPr>
          </a:p>
        </p:txBody>
      </p:sp>
      <p:sp>
        <p:nvSpPr>
          <p:cNvPr id="1329" name="Google Shape;1329;p61"/>
          <p:cNvSpPr/>
          <p:nvPr/>
        </p:nvSpPr>
        <p:spPr>
          <a:xfrm>
            <a:off x="1005840" y="24688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Contact Kate Watson, Director, immediately. She will coordinate the response strategy.</a:t>
            </a:r>
            <a:endParaRPr b="0" i="0" sz="1000" u="none" cap="none" strike="noStrike">
              <a:solidFill>
                <a:schemeClr val="dk1"/>
              </a:solidFill>
              <a:latin typeface="Calibri"/>
              <a:ea typeface="Calibri"/>
              <a:cs typeface="Calibri"/>
              <a:sym typeface="Calibri"/>
            </a:endParaRPr>
          </a:p>
        </p:txBody>
      </p:sp>
      <p:sp>
        <p:nvSpPr>
          <p:cNvPr id="1330" name="Google Shape;1330;p61"/>
          <p:cNvSpPr/>
          <p:nvPr/>
        </p:nvSpPr>
        <p:spPr>
          <a:xfrm>
            <a:off x="457200" y="3182112"/>
            <a:ext cx="411480" cy="411480"/>
          </a:xfrm>
          <a:prstGeom prst="ellipse">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61"/>
          <p:cNvSpPr/>
          <p:nvPr/>
        </p:nvSpPr>
        <p:spPr>
          <a:xfrm>
            <a:off x="457200" y="3182112"/>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3</a:t>
            </a:r>
            <a:endParaRPr b="0" i="0" sz="1600" u="none" cap="none" strike="noStrike">
              <a:solidFill>
                <a:schemeClr val="dk1"/>
              </a:solidFill>
              <a:latin typeface="Calibri"/>
              <a:ea typeface="Calibri"/>
              <a:cs typeface="Calibri"/>
              <a:sym typeface="Calibri"/>
            </a:endParaRPr>
          </a:p>
        </p:txBody>
      </p:sp>
      <p:sp>
        <p:nvSpPr>
          <p:cNvPr id="1332" name="Google Shape;1332;p61"/>
          <p:cNvSpPr/>
          <p:nvPr/>
        </p:nvSpPr>
        <p:spPr>
          <a:xfrm>
            <a:off x="1005840" y="3108960"/>
            <a:ext cx="3474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1300"/>
              <a:buFont typeface="Arial"/>
              <a:buNone/>
            </a:pPr>
            <a:r>
              <a:rPr b="1" i="0" lang="en-US" sz="1300" u="none" cap="none" strike="noStrike">
                <a:solidFill>
                  <a:srgbClr val="0B1220"/>
                </a:solidFill>
                <a:latin typeface="Arial"/>
                <a:ea typeface="Arial"/>
                <a:cs typeface="Arial"/>
                <a:sym typeface="Arial"/>
              </a:rPr>
              <a:t>CORRECT &amp; DOCUMENT</a:t>
            </a:r>
            <a:endParaRPr b="0" i="0" sz="1300" u="none" cap="none" strike="noStrike">
              <a:solidFill>
                <a:schemeClr val="dk1"/>
              </a:solidFill>
              <a:latin typeface="Calibri"/>
              <a:ea typeface="Calibri"/>
              <a:cs typeface="Calibri"/>
              <a:sym typeface="Calibri"/>
            </a:endParaRPr>
          </a:p>
        </p:txBody>
      </p:sp>
      <p:sp>
        <p:nvSpPr>
          <p:cNvPr id="1333" name="Google Shape;1333;p61"/>
          <p:cNvSpPr/>
          <p:nvPr/>
        </p:nvSpPr>
        <p:spPr>
          <a:xfrm>
            <a:off x="1005840" y="3383280"/>
            <a:ext cx="34747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Once approved, correct the issue. Document what happened and the response for future reference.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37" name="Shape 1337"/>
        <p:cNvGrpSpPr/>
        <p:nvPr/>
      </p:nvGrpSpPr>
      <p:grpSpPr>
        <a:xfrm>
          <a:off x="0" y="0"/>
          <a:ext cx="0" cy="0"/>
          <a:chOff x="0" y="0"/>
          <a:chExt cx="0" cy="0"/>
        </a:xfrm>
      </p:grpSpPr>
      <p:sp>
        <p:nvSpPr>
          <p:cNvPr id="1338" name="Google Shape;1338;p62"/>
          <p:cNvSpPr/>
          <p:nvPr/>
        </p:nvSpPr>
        <p:spPr>
          <a:xfrm>
            <a:off x="6766560" y="182880"/>
            <a:ext cx="2103120" cy="320040"/>
          </a:xfrm>
          <a:prstGeom prst="roundRect">
            <a:avLst>
              <a:gd fmla="val 14286" name="adj"/>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62"/>
          <p:cNvSpPr/>
          <p:nvPr/>
        </p:nvSpPr>
        <p:spPr>
          <a:xfrm>
            <a:off x="6766560" y="182880"/>
            <a:ext cx="21031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APPENDIX</a:t>
            </a:r>
            <a:endParaRPr b="0" i="0" sz="1100" u="none" cap="none" strike="noStrike">
              <a:solidFill>
                <a:schemeClr val="dk1"/>
              </a:solidFill>
              <a:latin typeface="Calibri"/>
              <a:ea typeface="Calibri"/>
              <a:cs typeface="Calibri"/>
              <a:sym typeface="Calibri"/>
            </a:endParaRPr>
          </a:p>
        </p:txBody>
      </p:sp>
      <p:sp>
        <p:nvSpPr>
          <p:cNvPr id="1340" name="Google Shape;1340;p62"/>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341" name="Google Shape;1341;p62"/>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51</a:t>
            </a:r>
            <a:endParaRPr b="0" i="0" sz="1000" u="none" cap="none" strike="noStrike">
              <a:solidFill>
                <a:schemeClr val="dk1"/>
              </a:solidFill>
              <a:latin typeface="Calibri"/>
              <a:ea typeface="Calibri"/>
              <a:cs typeface="Calibri"/>
              <a:sym typeface="Calibri"/>
            </a:endParaRPr>
          </a:p>
        </p:txBody>
      </p:sp>
      <p:sp>
        <p:nvSpPr>
          <p:cNvPr id="1342" name="Google Shape;1342;p62"/>
          <p:cNvSpPr/>
          <p:nvPr/>
        </p:nvSpPr>
        <p:spPr>
          <a:xfrm>
            <a:off x="457200" y="32004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3200"/>
              <a:buFont typeface="Georgia"/>
              <a:buNone/>
            </a:pPr>
            <a:r>
              <a:rPr b="1" i="0" lang="en-US" sz="3200" u="none" cap="none" strike="noStrike">
                <a:solidFill>
                  <a:srgbClr val="0B1220"/>
                </a:solidFill>
                <a:latin typeface="Georgia"/>
                <a:ea typeface="Georgia"/>
                <a:cs typeface="Georgia"/>
                <a:sym typeface="Georgia"/>
              </a:rPr>
              <a:t>Frequently Asked Questions</a:t>
            </a:r>
            <a:endParaRPr b="0" i="0" sz="3200" u="none" cap="none" strike="noStrike">
              <a:solidFill>
                <a:schemeClr val="dk1"/>
              </a:solidFill>
              <a:latin typeface="Calibri"/>
              <a:ea typeface="Calibri"/>
              <a:cs typeface="Calibri"/>
              <a:sym typeface="Calibri"/>
            </a:endParaRPr>
          </a:p>
        </p:txBody>
      </p:sp>
      <p:sp>
        <p:nvSpPr>
          <p:cNvPr id="1343" name="Google Shape;1343;p62"/>
          <p:cNvSpPr/>
          <p:nvPr/>
        </p:nvSpPr>
        <p:spPr>
          <a:xfrm>
            <a:off x="457200" y="91440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344" name="Google Shape;1344;p62"/>
          <p:cNvSpPr/>
          <p:nvPr/>
        </p:nvSpPr>
        <p:spPr>
          <a:xfrm>
            <a:off x="457200" y="1371600"/>
            <a:ext cx="3840480" cy="24688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62"/>
          <p:cNvSpPr/>
          <p:nvPr/>
        </p:nvSpPr>
        <p:spPr>
          <a:xfrm>
            <a:off x="457200" y="1371600"/>
            <a:ext cx="54864" cy="2468880"/>
          </a:xfrm>
          <a:prstGeom prst="rect">
            <a:avLst/>
          </a:prstGeom>
          <a:solidFill>
            <a:srgbClr val="0EA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62"/>
          <p:cNvSpPr/>
          <p:nvPr/>
        </p:nvSpPr>
        <p:spPr>
          <a:xfrm>
            <a:off x="685800" y="14630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A5E9"/>
              </a:buClr>
              <a:buSzPts val="1300"/>
              <a:buFont typeface="Arial"/>
              <a:buNone/>
            </a:pPr>
            <a:r>
              <a:rPr b="1" i="0" lang="en-US" sz="1300" u="none" cap="none" strike="noStrike">
                <a:solidFill>
                  <a:srgbClr val="0EA5E9"/>
                </a:solidFill>
                <a:latin typeface="Arial"/>
                <a:ea typeface="Arial"/>
                <a:cs typeface="Arial"/>
                <a:sym typeface="Arial"/>
              </a:rPr>
              <a:t>COMMON QUESTIONS</a:t>
            </a:r>
            <a:endParaRPr b="0" i="0" sz="1300" u="none" cap="none" strike="noStrike">
              <a:solidFill>
                <a:schemeClr val="dk1"/>
              </a:solidFill>
              <a:latin typeface="Calibri"/>
              <a:ea typeface="Calibri"/>
              <a:cs typeface="Calibri"/>
              <a:sym typeface="Calibri"/>
            </a:endParaRPr>
          </a:p>
        </p:txBody>
      </p:sp>
      <p:sp>
        <p:nvSpPr>
          <p:cNvPr id="1347" name="Google Shape;1347;p62"/>
          <p:cNvSpPr/>
          <p:nvPr/>
        </p:nvSpPr>
        <p:spPr>
          <a:xfrm>
            <a:off x="685800" y="1874520"/>
            <a:ext cx="347472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Can I post directly to COBE social?</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 No. All content goes through cobe-info for review.</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How fast can COBE turn this around?</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 Standard is 10 business days. Rush = director approval.</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Do I need to provide graphics?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t/>
            </a:r>
            <a:endParaRPr b="0" i="0" sz="1100" u="none" cap="none" strike="noStrike">
              <a:solidFill>
                <a:schemeClr val="dk1"/>
              </a:solidFill>
              <a:latin typeface="Calibri"/>
              <a:ea typeface="Calibri"/>
              <a:cs typeface="Calibri"/>
              <a:sym typeface="Calibri"/>
            </a:endParaRPr>
          </a:p>
        </p:txBody>
      </p:sp>
      <p:sp>
        <p:nvSpPr>
          <p:cNvPr id="1348" name="Google Shape;1348;p62"/>
          <p:cNvSpPr/>
          <p:nvPr/>
        </p:nvSpPr>
        <p:spPr>
          <a:xfrm>
            <a:off x="4846320" y="1371600"/>
            <a:ext cx="3840480" cy="2468880"/>
          </a:xfrm>
          <a:prstGeom prst="rect">
            <a:avLst/>
          </a:prstGeom>
          <a:solidFill>
            <a:srgbClr val="FFFFFF"/>
          </a:solidFill>
          <a:ln>
            <a:noFill/>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62"/>
          <p:cNvSpPr/>
          <p:nvPr/>
        </p:nvSpPr>
        <p:spPr>
          <a:xfrm>
            <a:off x="4846320" y="1371600"/>
            <a:ext cx="54864" cy="246888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62"/>
          <p:cNvSpPr/>
          <p:nvPr/>
        </p:nvSpPr>
        <p:spPr>
          <a:xfrm>
            <a:off x="5074920" y="14630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A0"/>
              </a:buClr>
              <a:buSzPts val="1300"/>
              <a:buFont typeface="Arial"/>
              <a:buNone/>
            </a:pPr>
            <a:r>
              <a:rPr b="1" i="0" lang="en-US" sz="1300" u="none" cap="none" strike="noStrike">
                <a:solidFill>
                  <a:srgbClr val="0033A0"/>
                </a:solidFill>
                <a:latin typeface="Arial"/>
                <a:ea typeface="Arial"/>
                <a:cs typeface="Arial"/>
                <a:sym typeface="Arial"/>
              </a:rPr>
              <a:t>MORE QUESTIONS</a:t>
            </a:r>
            <a:endParaRPr b="0" i="0" sz="1300" u="none" cap="none" strike="noStrike">
              <a:solidFill>
                <a:schemeClr val="dk1"/>
              </a:solidFill>
              <a:latin typeface="Calibri"/>
              <a:ea typeface="Calibri"/>
              <a:cs typeface="Calibri"/>
              <a:sym typeface="Calibri"/>
            </a:endParaRPr>
          </a:p>
        </p:txBody>
      </p:sp>
      <p:sp>
        <p:nvSpPr>
          <p:cNvPr id="1351" name="Google Shape;1351;p62"/>
          <p:cNvSpPr/>
          <p:nvPr/>
        </p:nvSpPr>
        <p:spPr>
          <a:xfrm>
            <a:off x="5074920" y="1874520"/>
            <a:ext cx="347472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 Hands-Off: COBE creates them. Hands-On: use Canva templates (replacing Canva, campus-wide transition).</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Can you promote my student org event?</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 Yes! Email cobe-info, subject: STUDENT ORG REQUEST.</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Where do I find the templates?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rPr b="0" i="0" lang="en-US" sz="1100" u="none" cap="none" strike="noStrike">
                <a:solidFill>
                  <a:srgbClr val="334155"/>
                </a:solidFill>
                <a:latin typeface="Arial"/>
                <a:ea typeface="Arial"/>
                <a:cs typeface="Arial"/>
                <a:sym typeface="Arial"/>
              </a:rPr>
              <a:t>→ See the Appendix or contact cobe-info@boisestate.edu for templates.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rgbClr val="334155"/>
              </a:buClr>
              <a:buSzPts val="1100"/>
              <a:buFont typeface="Arial"/>
              <a:buChar char="•"/>
            </a:pPr>
            <a:r>
              <a:t/>
            </a:r>
            <a:endParaRPr b="0" i="0" sz="1100" u="none" cap="none" strike="noStrike">
              <a:solidFill>
                <a:schemeClr val="dk1"/>
              </a:solidFill>
              <a:latin typeface="Calibri"/>
              <a:ea typeface="Calibri"/>
              <a:cs typeface="Calibri"/>
              <a:sym typeface="Calibri"/>
            </a:endParaRPr>
          </a:p>
        </p:txBody>
      </p:sp>
      <p:sp>
        <p:nvSpPr>
          <p:cNvPr id="1352" name="Google Shape;1352;p62"/>
          <p:cNvSpPr/>
          <p:nvPr/>
        </p:nvSpPr>
        <p:spPr>
          <a:xfrm>
            <a:off x="457200" y="4023360"/>
            <a:ext cx="8229600" cy="502920"/>
          </a:xfrm>
          <a:prstGeom prst="rect">
            <a:avLst/>
          </a:prstGeom>
          <a:solidFill>
            <a:srgbClr val="FFF7ED"/>
          </a:solidFill>
          <a:ln cap="flat" cmpd="sng" w="12700">
            <a:solidFill>
              <a:srgbClr val="F97316"/>
            </a:solidFill>
            <a:prstDash val="solid"/>
            <a:round/>
            <a:headEnd len="sm" w="sm" type="none"/>
            <a:tailEnd len="sm" w="sm" type="none"/>
          </a:ln>
          <a:effectLst>
            <a:outerShdw blurRad="101600" rotWithShape="0" algn="bl" dir="8100000" dist="38100">
              <a:srgbClr val="000000">
                <a:alpha val="11764"/>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62"/>
          <p:cNvSpPr/>
          <p:nvPr/>
        </p:nvSpPr>
        <p:spPr>
          <a:xfrm>
            <a:off x="640080" y="4069080"/>
            <a:ext cx="78638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97316"/>
              </a:buClr>
              <a:buSzPts val="1200"/>
              <a:buFont typeface="Arial"/>
              <a:buNone/>
            </a:pPr>
            <a:r>
              <a:rPr b="1" i="0" lang="en-US" sz="1200" u="none" cap="none" strike="noStrike">
                <a:solidFill>
                  <a:srgbClr val="F97316"/>
                </a:solidFill>
                <a:latin typeface="Arial"/>
                <a:ea typeface="Arial"/>
                <a:cs typeface="Arial"/>
                <a:sym typeface="Arial"/>
              </a:rPr>
              <a:t>→ Contact Kate Watson directly for urgent changes or crisis situations.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58" name="Shape 1358"/>
        <p:cNvGrpSpPr/>
        <p:nvPr/>
      </p:nvGrpSpPr>
      <p:grpSpPr>
        <a:xfrm>
          <a:off x="0" y="0"/>
          <a:ext cx="0" cy="0"/>
          <a:chOff x="0" y="0"/>
          <a:chExt cx="0" cy="0"/>
        </a:xfrm>
      </p:grpSpPr>
      <p:sp>
        <p:nvSpPr>
          <p:cNvPr id="1359" name="Google Shape;1359;p63"/>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360" name="Google Shape;1360;p63"/>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52</a:t>
            </a:r>
            <a:endParaRPr b="0" i="0" sz="1000" u="none" cap="none" strike="noStrike">
              <a:solidFill>
                <a:schemeClr val="dk1"/>
              </a:solidFill>
              <a:latin typeface="Calibri"/>
              <a:ea typeface="Calibri"/>
              <a:cs typeface="Calibri"/>
              <a:sym typeface="Calibri"/>
            </a:endParaRPr>
          </a:p>
        </p:txBody>
      </p:sp>
      <p:sp>
        <p:nvSpPr>
          <p:cNvPr id="1361" name="Google Shape;1361;p63"/>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Resource Library</a:t>
            </a:r>
            <a:endParaRPr b="0" i="0" sz="2800" u="none" cap="none" strike="noStrike">
              <a:solidFill>
                <a:schemeClr val="dk1"/>
              </a:solidFill>
              <a:latin typeface="Calibri"/>
              <a:ea typeface="Calibri"/>
              <a:cs typeface="Calibri"/>
              <a:sym typeface="Calibri"/>
            </a:endParaRPr>
          </a:p>
        </p:txBody>
      </p:sp>
      <p:graphicFrame>
        <p:nvGraphicFramePr>
          <p:cNvPr id="1362" name="Google Shape;1362;p63"/>
          <p:cNvGraphicFramePr/>
          <p:nvPr/>
        </p:nvGraphicFramePr>
        <p:xfrm>
          <a:off x="457200" y="1005840"/>
          <a:ext cx="3000000" cy="3000000"/>
        </p:xfrm>
        <a:graphic>
          <a:graphicData uri="http://schemas.openxmlformats.org/drawingml/2006/table">
            <a:tbl>
              <a:tblPr>
                <a:noFill/>
                <a:tableStyleId>{AD4631F1-437D-4764-92B6-2A4562E18BC6}</a:tableStyleId>
              </a:tblPr>
              <a:tblGrid>
                <a:gridCol w="2286000"/>
                <a:gridCol w="2926075"/>
                <a:gridCol w="3017525"/>
              </a:tblGrid>
              <a:tr h="386075">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Resource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Purpose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Location</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COBE Marketing Playbook</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Complete guide — this document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Shared Team Drive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Social Media Calendar Template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Plan weekly/monthly posts and schedule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Social Media Calendar Template.xlsx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Social Media Calendar Example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Completed example to model structure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Social Media Calendar Example.xlsx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RHM Marketing Budget 2025</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Budget proposal model (5 sheets)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RHM Marketing Budget 2025.xlsx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2025-2026 RHM Overview</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Program messaging inputs for fairs, trainings, internships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2025-2026 RHM Overview.docx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Promotion Resources Guide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Lead times, specs, contacts for all COBE promotions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Promotion Resources.docx</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WordPress Access Training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Required accessibility training for web editing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boisestate.edu/webguide/wordpress-accessibility-compliance-training/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Boise State Events Calendar</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Post events to university-wide calendar</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events.boisestate.edu</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366" name="Shape 1366"/>
        <p:cNvGrpSpPr/>
        <p:nvPr/>
      </p:nvGrpSpPr>
      <p:grpSpPr>
        <a:xfrm>
          <a:off x="0" y="0"/>
          <a:ext cx="0" cy="0"/>
          <a:chOff x="0" y="0"/>
          <a:chExt cx="0" cy="0"/>
        </a:xfrm>
      </p:grpSpPr>
      <p:sp>
        <p:nvSpPr>
          <p:cNvPr id="1367" name="Google Shape;1367;p64"/>
          <p:cNvSpPr/>
          <p:nvPr/>
        </p:nvSpPr>
        <p:spPr>
          <a:xfrm>
            <a:off x="457200" y="4754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Arial"/>
              <a:buNone/>
            </a:pPr>
            <a:r>
              <a:rPr b="0" i="1" lang="en-US" sz="900" u="none" cap="none" strike="noStrike">
                <a:solidFill>
                  <a:srgbClr val="64748B"/>
                </a:solidFill>
                <a:latin typeface="Arial"/>
                <a:ea typeface="Arial"/>
                <a:cs typeface="Arial"/>
                <a:sym typeface="Arial"/>
              </a:rPr>
              <a:t>COBE Marketing Playbook  |  cobe-info@boisestate.edu</a:t>
            </a:r>
            <a:endParaRPr b="0" i="0" sz="900" u="none" cap="none" strike="noStrike">
              <a:solidFill>
                <a:schemeClr val="dk1"/>
              </a:solidFill>
              <a:latin typeface="Calibri"/>
              <a:ea typeface="Calibri"/>
              <a:cs typeface="Calibri"/>
              <a:sym typeface="Calibri"/>
            </a:endParaRPr>
          </a:p>
        </p:txBody>
      </p:sp>
      <p:sp>
        <p:nvSpPr>
          <p:cNvPr id="1368" name="Google Shape;1368;p64"/>
          <p:cNvSpPr/>
          <p:nvPr/>
        </p:nvSpPr>
        <p:spPr>
          <a:xfrm>
            <a:off x="8412480" y="4754880"/>
            <a:ext cx="4572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64748B"/>
              </a:buClr>
              <a:buSzPts val="1000"/>
              <a:buFont typeface="Arial"/>
              <a:buNone/>
            </a:pPr>
            <a:r>
              <a:rPr b="0" i="0" lang="en-US" sz="1000" u="none" cap="none" strike="noStrike">
                <a:solidFill>
                  <a:srgbClr val="64748B"/>
                </a:solidFill>
                <a:latin typeface="Arial"/>
                <a:ea typeface="Arial"/>
                <a:cs typeface="Arial"/>
                <a:sym typeface="Arial"/>
              </a:rPr>
              <a:t>53</a:t>
            </a:r>
            <a:endParaRPr b="0" i="0" sz="1000" u="none" cap="none" strike="noStrike">
              <a:solidFill>
                <a:schemeClr val="dk1"/>
              </a:solidFill>
              <a:latin typeface="Calibri"/>
              <a:ea typeface="Calibri"/>
              <a:cs typeface="Calibri"/>
              <a:sym typeface="Calibri"/>
            </a:endParaRPr>
          </a:p>
        </p:txBody>
      </p:sp>
      <p:sp>
        <p:nvSpPr>
          <p:cNvPr id="1369" name="Google Shape;1369;p64"/>
          <p:cNvSpPr/>
          <p:nvPr/>
        </p:nvSpPr>
        <p:spPr>
          <a:xfrm>
            <a:off x="457200" y="32004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1220"/>
              </a:buClr>
              <a:buSzPts val="2800"/>
              <a:buFont typeface="Georgia"/>
              <a:buNone/>
            </a:pPr>
            <a:r>
              <a:rPr b="1" i="0" lang="en-US" sz="2800" u="none" cap="none" strike="noStrike">
                <a:solidFill>
                  <a:srgbClr val="0B1220"/>
                </a:solidFill>
                <a:latin typeface="Georgia"/>
                <a:ea typeface="Georgia"/>
                <a:cs typeface="Georgia"/>
                <a:sym typeface="Georgia"/>
              </a:rPr>
              <a:t>Changelog</a:t>
            </a:r>
            <a:endParaRPr b="0" i="0" sz="2800" u="none" cap="none" strike="noStrike">
              <a:solidFill>
                <a:schemeClr val="dk1"/>
              </a:solidFill>
              <a:latin typeface="Calibri"/>
              <a:ea typeface="Calibri"/>
              <a:cs typeface="Calibri"/>
              <a:sym typeface="Calibri"/>
            </a:endParaRPr>
          </a:p>
        </p:txBody>
      </p:sp>
      <p:graphicFrame>
        <p:nvGraphicFramePr>
          <p:cNvPr id="1370" name="Google Shape;1370;p64"/>
          <p:cNvGraphicFramePr/>
          <p:nvPr/>
        </p:nvGraphicFramePr>
        <p:xfrm>
          <a:off x="457200" y="1005840"/>
          <a:ext cx="3000000" cy="3000000"/>
        </p:xfrm>
        <a:graphic>
          <a:graphicData uri="http://schemas.openxmlformats.org/drawingml/2006/table">
            <a:tbl>
              <a:tblPr>
                <a:noFill/>
                <a:tableStyleId>{AD4631F1-437D-4764-92B6-2A4562E18BC6}</a:tableStyleId>
              </a:tblPr>
              <a:tblGrid>
                <a:gridCol w="1645925"/>
                <a:gridCol w="1371600"/>
                <a:gridCol w="2926075"/>
                <a:gridCol w="2286000"/>
              </a:tblGrid>
              <a:tr h="386075">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Version</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Date</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Author</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c>
                  <a:txBody>
                    <a:bodyPr/>
                    <a:lstStyle/>
                    <a:p>
                      <a:pPr indent="0" lvl="0" marL="0" marR="0" rtl="0" algn="l">
                        <a:spcBef>
                          <a:spcPts val="0"/>
                        </a:spcBef>
                        <a:spcAft>
                          <a:spcPts val="0"/>
                        </a:spcAft>
                        <a:buClr>
                          <a:srgbClr val="FFFFFF"/>
                        </a:buClr>
                        <a:buSzPts val="1000"/>
                        <a:buFont typeface="Calibri"/>
                        <a:buNone/>
                      </a:pPr>
                      <a:r>
                        <a:rPr b="1" lang="en-US" sz="1000" u="none" cap="none" strike="noStrike">
                          <a:solidFill>
                            <a:srgbClr val="FFFFFF"/>
                          </a:solidFill>
                        </a:rPr>
                        <a:t>Summary</a:t>
                      </a:r>
                      <a:endParaRPr sz="10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solidFill>
                      <a:srgbClr val="0033A0"/>
                    </a:solidFill>
                  </a:tcPr>
                </a:tc>
              </a:tr>
              <a:tr h="3860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v1.0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2025-06-09</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COBE Marketing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Initial consolidated playbook from source docs</a:t>
                      </a:r>
                      <a:endParaRPr sz="900" u="none" cap="none" strike="noStrike"/>
                    </a:p>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v1.1</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2025-06-09</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COBE Marketing</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Professionalized structure, added lead times and intake checklist</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v2.0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2026-02-03</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Ben Howerton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Expanded to 60 slides; RHM case study; Bronco Business Podcast process; Hands-Off/Hands-On pathways; tracking architecture</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v3.0</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b="1" lang="en-US" sz="900" u="none" cap="none" strike="noStrike">
                          <a:solidFill>
                            <a:srgbClr val="000000"/>
                          </a:solidFill>
                        </a:rPr>
                        <a:t>2026-02-07</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Ben Howerton</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Final audit: corrected page numbers, fixed data tables, updated changelog, distribution-ready | v4.0 — 2026-02-23 — Ben Howerton — Kate Watson revisions: consolidated hands-off channels, fixed audience focus, renamed Bronco Business Podcast, simplified for department chairs, updated contacts and brand references.</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rPr lang="en-US" sz="900" u="none" cap="none" strike="noStrike">
                          <a:solidFill>
                            <a:srgbClr val="000000"/>
                          </a:solidFill>
                        </a:rPr>
                        <a:t>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r h="386075">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900"/>
                        <a:buFont typeface="Calibri"/>
                        <a:buNone/>
                      </a:pPr>
                      <a:r>
                        <a:t/>
                      </a:r>
                      <a:endParaRPr sz="900" u="none" cap="none" strike="noStrike"/>
                    </a:p>
                  </a:txBody>
                  <a:tcPr marT="45725" marB="45725" marR="91450" marL="91450">
                    <a:lnL cap="flat" cmpd="sng" w="9525">
                      <a:solidFill>
                        <a:srgbClr val="CBD5E1"/>
                      </a:solidFill>
                      <a:prstDash val="solid"/>
                      <a:round/>
                      <a:headEnd len="sm" w="sm" type="none"/>
                      <a:tailEnd len="sm" w="sm" type="none"/>
                    </a:lnL>
                    <a:lnR cap="flat" cmpd="sng" w="9525">
                      <a:solidFill>
                        <a:srgbClr val="CBD5E1"/>
                      </a:solidFill>
                      <a:prstDash val="solid"/>
                      <a:round/>
                      <a:headEnd len="sm" w="sm" type="none"/>
                      <a:tailEnd len="sm" w="sm" type="none"/>
                    </a:lnR>
                    <a:lnT cap="flat" cmpd="sng" w="9525">
                      <a:solidFill>
                        <a:srgbClr val="CBD5E1"/>
                      </a:solidFill>
                      <a:prstDash val="solid"/>
                      <a:round/>
                      <a:headEnd len="sm" w="sm" type="none"/>
                      <a:tailEnd len="sm" w="sm" type="none"/>
                    </a:lnT>
                    <a:lnB cap="flat" cmpd="sng" w="9525">
                      <a:solidFill>
                        <a:srgbClr val="CBD5E1"/>
                      </a:solidFill>
                      <a:prstDash val="solid"/>
                      <a:round/>
                      <a:headEnd len="sm" w="sm" type="none"/>
                      <a:tailEnd len="sm" w="sm" type="none"/>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0"/>
        </a:solidFill>
      </p:bgPr>
    </p:bg>
    <p:spTree>
      <p:nvGrpSpPr>
        <p:cNvPr id="1375" name="Shape 1375"/>
        <p:cNvGrpSpPr/>
        <p:nvPr/>
      </p:nvGrpSpPr>
      <p:grpSpPr>
        <a:xfrm>
          <a:off x="0" y="0"/>
          <a:ext cx="0" cy="0"/>
          <a:chOff x="0" y="0"/>
          <a:chExt cx="0" cy="0"/>
        </a:xfrm>
      </p:grpSpPr>
      <p:sp>
        <p:nvSpPr>
          <p:cNvPr id="1376" name="Google Shape;1376;p65"/>
          <p:cNvSpPr/>
          <p:nvPr/>
        </p:nvSpPr>
        <p:spPr>
          <a:xfrm>
            <a:off x="0" y="0"/>
            <a:ext cx="9144000" cy="5143500"/>
          </a:xfrm>
          <a:prstGeom prst="rect">
            <a:avLst/>
          </a:prstGeom>
          <a:solidFill>
            <a:srgbClr val="0033A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65"/>
          <p:cNvSpPr/>
          <p:nvPr/>
        </p:nvSpPr>
        <p:spPr>
          <a:xfrm>
            <a:off x="0" y="0"/>
            <a:ext cx="9144000" cy="54864"/>
          </a:xfrm>
          <a:prstGeom prst="rect">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 name="Google Shape;1378;p65"/>
          <p:cNvSpPr/>
          <p:nvPr/>
        </p:nvSpPr>
        <p:spPr>
          <a:xfrm>
            <a:off x="731520" y="1097280"/>
            <a:ext cx="7315200" cy="1463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400"/>
              <a:buFont typeface="Georgia"/>
              <a:buNone/>
            </a:pPr>
            <a:r>
              <a:rPr b="1" i="0" lang="en-US" sz="4400" u="none" cap="none" strike="noStrike">
                <a:solidFill>
                  <a:srgbClr val="FFFFFF"/>
                </a:solidFill>
                <a:latin typeface="Georgia"/>
                <a:ea typeface="Georgia"/>
                <a:cs typeface="Georgia"/>
                <a:sym typeface="Georgia"/>
              </a:rPr>
              <a:t>Ready to promote</a:t>
            </a:r>
            <a:endParaRPr b="0" i="0" sz="44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FFFFFF"/>
              </a:buClr>
              <a:buSzPts val="4400"/>
              <a:buFont typeface="Georgia"/>
              <a:buNone/>
            </a:pPr>
            <a:r>
              <a:rPr b="1" i="0" lang="en-US" sz="4400" u="none" cap="none" strike="noStrike">
                <a:solidFill>
                  <a:srgbClr val="FFFFFF"/>
                </a:solidFill>
                <a:latin typeface="Georgia"/>
                <a:ea typeface="Georgia"/>
                <a:cs typeface="Georgia"/>
                <a:sym typeface="Georgia"/>
              </a:rPr>
              <a:t>your program?</a:t>
            </a:r>
            <a:endParaRPr b="0" i="0" sz="4400" u="none" cap="none" strike="noStrike">
              <a:solidFill>
                <a:schemeClr val="dk1"/>
              </a:solidFill>
              <a:latin typeface="Calibri"/>
              <a:ea typeface="Calibri"/>
              <a:cs typeface="Calibri"/>
              <a:sym typeface="Calibri"/>
            </a:endParaRPr>
          </a:p>
        </p:txBody>
      </p:sp>
      <p:sp>
        <p:nvSpPr>
          <p:cNvPr id="1379" name="Google Shape;1379;p65"/>
          <p:cNvSpPr/>
          <p:nvPr/>
        </p:nvSpPr>
        <p:spPr>
          <a:xfrm>
            <a:off x="731520" y="2743200"/>
            <a:ext cx="1828800" cy="36576"/>
          </a:xfrm>
          <a:prstGeom prst="rect">
            <a:avLst/>
          </a:prstGeom>
          <a:solidFill>
            <a:srgbClr val="D6430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65"/>
          <p:cNvSpPr/>
          <p:nvPr/>
        </p:nvSpPr>
        <p:spPr>
          <a:xfrm>
            <a:off x="731520" y="3017520"/>
            <a:ext cx="73152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BD5E1"/>
              </a:buClr>
              <a:buSzPts val="1800"/>
              <a:buFont typeface="Arial"/>
              <a:buNone/>
            </a:pPr>
            <a:r>
              <a:rPr b="0" i="0" lang="en-US" sz="1800" u="none" cap="none" strike="noStrike">
                <a:solidFill>
                  <a:srgbClr val="CBD5E1"/>
                </a:solidFill>
                <a:latin typeface="Arial"/>
                <a:ea typeface="Arial"/>
                <a:cs typeface="Arial"/>
                <a:sym typeface="Arial"/>
              </a:rPr>
              <a:t>Start here:</a:t>
            </a:r>
            <a:endParaRPr b="0" i="0" sz="1800" u="none" cap="none" strike="noStrike">
              <a:solidFill>
                <a:schemeClr val="dk1"/>
              </a:solidFill>
              <a:latin typeface="Calibri"/>
              <a:ea typeface="Calibri"/>
              <a:cs typeface="Calibri"/>
              <a:sym typeface="Calibri"/>
            </a:endParaRPr>
          </a:p>
        </p:txBody>
      </p:sp>
      <p:sp>
        <p:nvSpPr>
          <p:cNvPr id="1381" name="Google Shape;1381;p65"/>
          <p:cNvSpPr/>
          <p:nvPr/>
        </p:nvSpPr>
        <p:spPr>
          <a:xfrm>
            <a:off x="731520" y="3383280"/>
            <a:ext cx="73152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Arial"/>
              <a:buNone/>
            </a:pPr>
            <a:r>
              <a:rPr b="1" i="0" lang="en-US" sz="2800" u="none" cap="none" strike="noStrike">
                <a:solidFill>
                  <a:srgbClr val="FFFFFF"/>
                </a:solidFill>
                <a:latin typeface="Arial"/>
                <a:ea typeface="Arial"/>
                <a:cs typeface="Arial"/>
                <a:sym typeface="Arial"/>
              </a:rPr>
              <a:t>cobe-info@boisestate.edu</a:t>
            </a:r>
            <a:endParaRPr b="0" i="0" sz="2800" u="none" cap="none" strike="noStrike">
              <a:solidFill>
                <a:schemeClr val="dk1"/>
              </a:solidFill>
              <a:latin typeface="Calibri"/>
              <a:ea typeface="Calibri"/>
              <a:cs typeface="Calibri"/>
              <a:sym typeface="Calibri"/>
            </a:endParaRPr>
          </a:p>
        </p:txBody>
      </p:sp>
      <p:sp>
        <p:nvSpPr>
          <p:cNvPr id="1382" name="Google Shape;1382;p65"/>
          <p:cNvSpPr/>
          <p:nvPr/>
        </p:nvSpPr>
        <p:spPr>
          <a:xfrm>
            <a:off x="731520" y="438912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BD5E1"/>
              </a:buClr>
              <a:buSzPts val="1200"/>
              <a:buFont typeface="Arial"/>
              <a:buNone/>
            </a:pPr>
            <a:r>
              <a:rPr b="0" i="0" lang="en-US" sz="1200" u="none" cap="none" strike="noStrike">
                <a:solidFill>
                  <a:srgbClr val="CBD5E1"/>
                </a:solidFill>
                <a:latin typeface="Arial"/>
                <a:ea typeface="Arial"/>
                <a:cs typeface="Arial"/>
                <a:sym typeface="Arial"/>
              </a:rPr>
              <a:t>College of Business and Economics  |  Boise State University  |  2025</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