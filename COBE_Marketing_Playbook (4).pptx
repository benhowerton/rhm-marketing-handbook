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3A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6430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COBE MARKETING</a:t>
            </a:r>
            <a:endParaRPr lang="en-US" sz="4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PLAYBOOK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step-by-step guide for College of Business and Economics programs</a:t>
            </a:r>
            <a:endParaRPr lang="en-US" sz="16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leverage COBE Marketing channels effectively and consistently.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749040"/>
            <a:ext cx="1371600" cy="36576"/>
          </a:xfrm>
          <a:prstGeom prst="rect">
            <a:avLst/>
          </a:prstGeom>
          <a:solidFill>
            <a:srgbClr val="D6430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931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Boise State University  |  College of Business &amp; Economics  | 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 Marketing Playbook  |  cobe-info@boisestate.edu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Bandwidth Problem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 Marketing manages powerful channels, but programs often: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00200"/>
            <a:ext cx="54864" cy="914400"/>
          </a:xfrm>
          <a:prstGeom prst="rect">
            <a:avLst/>
          </a:prstGeom>
          <a:solidFill>
            <a:srgbClr val="0033A0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847088"/>
            <a:ext cx="411480" cy="411480"/>
          </a:xfrm>
          <a:prstGeom prst="ellipse">
            <a:avLst/>
          </a:prstGeom>
          <a:solidFill>
            <a:srgbClr val="0033A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47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17099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know what's available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02996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media, newsletters, digital screens, websites, paid ads — most departments only use 1-2 of these.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651760"/>
            <a:ext cx="54864" cy="914400"/>
          </a:xfrm>
          <a:prstGeom prst="rect">
            <a:avLst/>
          </a:prstGeom>
          <a:solidFill>
            <a:srgbClr val="0033A0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2898648"/>
            <a:ext cx="411480" cy="411480"/>
          </a:xfrm>
          <a:prstGeom prst="ellipse">
            <a:avLst/>
          </a:prstGeom>
          <a:solidFill>
            <a:srgbClr val="0033A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8986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27614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have dedicated marketing staff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308152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and program leads lack time, templates, and clear processes to produce brand-ready content.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703320"/>
            <a:ext cx="54864" cy="914400"/>
          </a:xfrm>
          <a:prstGeom prst="rect">
            <a:avLst/>
          </a:prstGeom>
          <a:solidFill>
            <a:srgbClr val="0033A0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950208"/>
            <a:ext cx="411480" cy="411480"/>
          </a:xfrm>
          <a:prstGeom prst="ellipse">
            <a:avLst/>
          </a:prstGeom>
          <a:solidFill>
            <a:srgbClr val="0033A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9502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3813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 lead-time windows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34440" y="413308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submitted late gets deprioritized. Without clear timelines, promotions launch after the event.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playbook solves all three — with two clear pathways.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 Marketing Playbook  |  cobe-info@boisestate.edu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Your Path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approach that fits your bandwidth and comfort level.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8404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63040"/>
            <a:ext cx="54864" cy="29260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463040"/>
            <a:ext cx="3840480" cy="4572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63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1: HANDS-OFF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Concierge Service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37744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PROVIDE: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Who, What, When, Where, Photos, Links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HANDLE: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Copywriting, graphic design, scheduling,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approvals, publishing, and performance tracking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794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Faculty, program leads, student orgs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want results without the production work.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1463040"/>
            <a:ext cx="38404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463040"/>
            <a:ext cx="54864" cy="29260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Shape 13"/>
          <p:cNvSpPr/>
          <p:nvPr/>
        </p:nvSpPr>
        <p:spPr>
          <a:xfrm>
            <a:off x="4846320" y="1463040"/>
            <a:ext cx="3840480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463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2: HANDS-ON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9200" y="2011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DIY With Support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237744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CREATE: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Copy, graphics, schedule using our templates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brand guidelines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PROVIDE: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Templates, brand review, copy feedback,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approval, and publishing support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3794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GAs, student workers, staff with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design/writing experience.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6430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64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GOLDEN RULE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requests start at: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71600" y="2377440"/>
            <a:ext cx="640080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D6430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71600" y="2468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cobe-info@boisestate.edu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71600" y="3017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Subject: PROGRAM REQUEST – [Channel] – [Date Range]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840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single entry point for both Hands-Off and Hands-On requests.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matter which path you choose, your journey starts with this email.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HANDS-OFF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Concierge Service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18288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5204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provide the basics. We handle everything else.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here if you're new to COBE Marketing.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182880"/>
            <a:ext cx="2103120" cy="320040"/>
          </a:xfrm>
          <a:prstGeom prst="roundRect">
            <a:avLst>
              <a:gd name="adj" fmla="val 14286"/>
            </a:avLst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0" y="182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1: HANDS-OFF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 Marketing Playbook  |  cobe-info@boisestate.edu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Hands-Off?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fastest way to get your program promoted across COBE channels.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384048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71600"/>
            <a:ext cx="54864" cy="24688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PROVIDE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the audience? (students, employers, alumni)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event/program/deadline?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does it happen? (dates + times)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is it? (location or online link)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 or logos (if available)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 LINK or CTA destination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371600"/>
            <a:ext cx="384048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371600"/>
            <a:ext cx="54864" cy="2468880"/>
          </a:xfrm>
          <a:prstGeom prst="rect">
            <a:avLst/>
          </a:prstGeom>
          <a:solidFill>
            <a:srgbClr val="0033A0"/>
          </a:solidFill>
          <a:ln/>
        </p:spPr>
      </p:sp>
      <p:sp>
        <p:nvSpPr>
          <p:cNvPr id="14" name="Text 12"/>
          <p:cNvSpPr/>
          <p:nvPr/>
        </p:nvSpPr>
        <p:spPr>
          <a:xfrm>
            <a:off x="507492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HANDLE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74920" y="187452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compelling copy + captions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on-brand graphics (all sizes)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across appropriate channels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approvals with COBE Marketing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to social, newsletter, screens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performance + share results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4069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TIME: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requests at least 10 business days before your target date. Events/fairs need 3-6 weeks.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182880"/>
            <a:ext cx="2103120" cy="320040"/>
          </a:xfrm>
          <a:prstGeom prst="roundRect">
            <a:avLst>
              <a:gd name="adj" fmla="val 14286"/>
            </a:avLst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0" y="182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1: HANDS-OFF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 Marketing Playbook  |  cobe-info@boisestate.edu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Hands-Off Promotion Workflow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request to results in 7 steps.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353312"/>
            <a:ext cx="411480" cy="4114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353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Request Email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5544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cobe-info@boisestate.edu with required subject format, event details, and any assets you have.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267712"/>
            <a:ext cx="411480" cy="4114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267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2194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Confirms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4688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confirms channels, timeline, and any additional info needed. Expect response in 1-2 business days.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182112"/>
            <a:ext cx="411480" cy="4114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182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3108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Development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3832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drafts copy and designs graphics in all required sizes for approved channels.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096512"/>
            <a:ext cx="411480" cy="4114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096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4023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Approval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2976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review copy for accuracy. Marketing manager approves for brand compliance.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1353312"/>
            <a:ext cx="411480" cy="4114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1353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0352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&amp; Publish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03520" y="15544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is scheduled across channels: social, newsletter, screens, web, and paid placements.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267712"/>
            <a:ext cx="411480" cy="4114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2267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303520" y="2194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Day-of Promotion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03520" y="24688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Stories, reminders, and last-minute pushes go live. Event photography if applicable.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182112"/>
            <a:ext cx="411480" cy="4114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3182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03520" y="3108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&amp; Metrics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03520" y="33832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Post-campaign report: impressions, clicks, RSVPs, and lessons for next time.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182880"/>
            <a:ext cx="2103120" cy="320040"/>
          </a:xfrm>
          <a:prstGeom prst="roundRect">
            <a:avLst>
              <a:gd name="adj" fmla="val 14286"/>
            </a:avLst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0" y="182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1: HANDS-OFF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 Marketing Playbook  |  cobe-info@boisestate.edu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Channel Should I Use?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us your goal. We'll recommend the right mix.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320040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YOUR GOAL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RECOMMENDED CHANNELS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WHAT TO SEND IN EMAIL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220"/>
                          </a:solidFill>
                        </a:rPr>
                        <a:t>Drive event attendance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Newsletter + Instagram + MBEB Screens + Localist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Event details, date, link, photo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220"/>
                          </a:solidFill>
                        </a:rPr>
                        <a:t>Recruit to certificate program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Newsletter + Landing Page + Paid Ads + Class Visits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Program blurb, CTA link, target audience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220"/>
                          </a:solidFill>
                        </a:rPr>
                        <a:t>Build employer awareness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LinkedIn + Email outreach + Career Fair promo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Employer value props, partner logos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220"/>
                          </a:solidFill>
                        </a:rPr>
                        <a:t>Quick campus visibility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MBEB Screens + SUB/Library Screens + Flyers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Graphic (1920x1080), date range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220"/>
                          </a:solidFill>
                        </a:rPr>
                        <a:t>Showcase student success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Instagram Reels + LinkedIn + Newsletter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Student photo/video, quote, story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182880"/>
            <a:ext cx="2103120" cy="320040"/>
          </a:xfrm>
          <a:prstGeom prst="roundRect">
            <a:avLst>
              <a:gd name="adj" fmla="val 14286"/>
            </a:avLst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0" y="182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1: HANDS-OFF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 Marketing Playbook  |  cobe-info@boisestate.edu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 Promotion Timeline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143000"/>
            <a:ext cx="182880" cy="182880"/>
          </a:xfrm>
          <a:prstGeom prst="ellipse">
            <a:avLst/>
          </a:prstGeom>
          <a:solidFill>
            <a:srgbClr val="0033A0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1325880"/>
            <a:ext cx="36576" cy="36576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051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WEEKS OUT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77440" y="1051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event details, venue, speakers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0" y="1051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 newsletter slot, draft Localist listing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1691640"/>
            <a:ext cx="182880" cy="1828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792" y="1874520"/>
            <a:ext cx="36576" cy="36576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1600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WEEKS OUT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37744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photos, speaker bios, reg link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graphics, draft social copy, submit MBEB screens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240280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" y="2423160"/>
            <a:ext cx="36576" cy="36576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2148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WEEKS OUT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377440" y="2148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and approve all copy/creative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0" y="2148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social posts, submit digital screens campus-wide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27889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3" name="Shape 21"/>
          <p:cNvSpPr/>
          <p:nvPr/>
        </p:nvSpPr>
        <p:spPr>
          <a:xfrm>
            <a:off x="621792" y="2971800"/>
            <a:ext cx="36576" cy="36576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2697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WEEKS OUT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377440" y="2697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with your network, invite key attendees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0" y="2697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 feature goes out, LinkedIn event created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3337560"/>
            <a:ext cx="182880" cy="182880"/>
          </a:xfrm>
          <a:prstGeom prst="ellipse">
            <a:avLst/>
          </a:prstGeom>
          <a:solidFill>
            <a:srgbClr val="D64309"/>
          </a:solidFill>
          <a:ln/>
        </p:spPr>
      </p:sp>
      <p:sp>
        <p:nvSpPr>
          <p:cNvPr id="28" name="Shape 26"/>
          <p:cNvSpPr/>
          <p:nvPr/>
        </p:nvSpPr>
        <p:spPr>
          <a:xfrm>
            <a:off x="621792" y="3520440"/>
            <a:ext cx="36576" cy="36576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3246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4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WEEK OUT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7744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headcount check, logistics confirmed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0" y="3246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 posts, stories, email reminder blast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3886200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Shape 31"/>
          <p:cNvSpPr/>
          <p:nvPr/>
        </p:nvSpPr>
        <p:spPr>
          <a:xfrm>
            <a:off x="621792" y="4069080"/>
            <a:ext cx="36576" cy="36576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0" y="3794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OF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377440" y="3794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event, coordinate check-in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0" y="3794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stories, day-of posts, photography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" y="4434840"/>
            <a:ext cx="182880" cy="1828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914400" y="4343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WEEK AFTER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377440" y="4343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feedback, thank-you notes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0" y="4343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Post-event recap, metrics report, photo gallery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14400" y="822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377440" y="8229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86400" y="822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DOES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182880"/>
            <a:ext cx="2103120" cy="320040"/>
          </a:xfrm>
          <a:prstGeom prst="roundRect">
            <a:avLst>
              <a:gd name="adj" fmla="val 14286"/>
            </a:avLst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0" y="182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1: HANDS-OFF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 Marketing Playbook  |  cobe-info@boisestate.edu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Request Email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Copy, paste, and adapt this template for your next request.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To: </a:t>
            </a:r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cobe-info@boisestate.edu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Subject: </a:t>
            </a:r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REQUEST – Newsletter + Instagram + MBEB – Oct 2025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 COBE Marketing team,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We'd like to promote the Hospitality Career Panel &amp; Career Fair.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Details: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What: Hospitality Career Panel &amp; Career Fair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When: Thursday, October 23, 4-6 PM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Where: Jackson Commons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Who: All COBE students + employers (Grove Hotel, Idaho Central Arena, etc.)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Registration: [Handshake Link]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 requested: Student Events Newsletter, Instagram post + stories, MBEB screens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dates: Promotion to begin Oct 1; event Oct 23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metric: RSVPs via Handshake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Attached: Event flyer (1080x1080), speaker headshots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contact: Ashley Walter (ashleywalter@boisestate.edu)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182880"/>
            <a:ext cx="2103120" cy="320040"/>
          </a:xfrm>
          <a:prstGeom prst="roundRect">
            <a:avLst>
              <a:gd name="adj" fmla="val 14286"/>
            </a:avLst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0" y="182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1: HANDS-OFF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 Marketing Playbook  |  cobe-info@boisestate.edu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Hands-Off in Action: RHM Spring 2025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what Hands-Off looks like when done well.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33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$2,090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874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Budget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0" y="132588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60320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33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237K+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60320" y="1874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Impressions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32588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33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63440" y="1874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 Activated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0" y="132588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66560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33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$8.82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766560" y="1874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Blended CPM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56032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560320"/>
            <a:ext cx="54864" cy="18288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2651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RHM PROVIDED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297180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details and registration links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 program blurbs and value props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approval from department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Speaker/employer confirmations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of final copy for accuracy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56032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560320"/>
            <a:ext cx="54864" cy="1828800"/>
          </a:xfrm>
          <a:prstGeom prst="rect">
            <a:avLst/>
          </a:prstGeom>
          <a:solidFill>
            <a:srgbClr val="0033A0"/>
          </a:solidFill>
          <a:ln/>
        </p:spPr>
      </p:sp>
      <p:sp>
        <p:nvSpPr>
          <p:cNvPr id="26" name="Text 24"/>
          <p:cNvSpPr/>
          <p:nvPr/>
        </p:nvSpPr>
        <p:spPr>
          <a:xfrm>
            <a:off x="5074920" y="2651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MARKETING HANDLED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74920" y="297180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Graphic design for all 10+ channels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 features (3x per semester)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MBEB + campus screen scheduling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ad placement and optimization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Semester performance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182880"/>
            <a:ext cx="2103120" cy="320040"/>
          </a:xfrm>
          <a:prstGeom prst="roundRect">
            <a:avLst>
              <a:gd name="adj" fmla="val 14286"/>
            </a:avLst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0" y="182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1: HANDS-OFF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 Marketing Playbook  |  cobe-info@boisestate.edu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RHM Budget Breakdown: Spring 2025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840480"/>
        </p:xfrm>
        <a:graphic>
          <a:graphicData uri="http://schemas.openxmlformats.org/drawingml/2006/table">
            <a:tbl>
              <a:tblPr/>
              <a:tblGrid>
                <a:gridCol w="1828800"/>
                <a:gridCol w="731520"/>
                <a:gridCol w="822960"/>
                <a:gridCol w="1371600"/>
                <a:gridCol w="1097280"/>
                <a:gridCol w="1097280"/>
              </a:tblGrid>
              <a:tr h="2954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Channel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Est. Impressions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CPM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ROAS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</a:tr>
              <a:tr h="295422">
                <a:tc gridSpan="6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64309"/>
                          </a:solidFill>
                        </a:rPr>
                        <a:t>PAID CHANNELS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954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Blueprint Magazine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Print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$450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9,000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$50.00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★★★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54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Arbiter Web Banner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Digital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$400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20,000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$20.00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★★★★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54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Arbiter Print Ad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Print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$400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6,000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$66.67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★★★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54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Shuttle Stop Posters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Print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$280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12,000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$23.33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★★★★★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54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Meta/Instagram Ads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Digital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$560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105,000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$5.33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★★★★★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5422">
                <a:tc gridSpan="6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FREE COBE CHANNELS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954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Instagram + LinkedIn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Social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Free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17,000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★★★★★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54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Newsletters (2)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Email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Free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7,000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★★★★★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54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MBEB/Campus Screens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Digital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Free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20,000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★★★★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54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Tabling + Class Visits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Event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Free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1,000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★★★★★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54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$2,090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237,000+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$8.82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182880"/>
            <a:ext cx="2103120" cy="320040"/>
          </a:xfrm>
          <a:prstGeom prst="roundRect">
            <a:avLst>
              <a:gd name="adj" fmla="val 14286"/>
            </a:avLst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0" y="182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1: HANDS-OFF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 Marketing Playbook  |  cobe-info@boisestate.edu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Repeatable Recipe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this formula for any program campaign.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71600"/>
            <a:ext cx="54864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481328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481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FREE channels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167335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MBEB screens, Instagram, LinkedIn, newsletters, Localist, tabling, class visits. These deliver ~45,000 impressions at zero cost.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10312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103120"/>
            <a:ext cx="54864" cy="6400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2212848"/>
            <a:ext cx="411480" cy="4114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212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2148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PAID ads for reach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240487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Meta/IG ads ($5/day) give the best CPM. Shuttle stops hit captive bus riders. Blueprint reaches grads and new students.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834640"/>
            <a:ext cx="54864" cy="640080"/>
          </a:xfrm>
          <a:prstGeom prst="rect">
            <a:avLst/>
          </a:prstGeom>
          <a:solidFill>
            <a:srgbClr val="0033A0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2944368"/>
            <a:ext cx="411480" cy="411480"/>
          </a:xfrm>
          <a:prstGeom prst="ellipse">
            <a:avLst/>
          </a:prstGeom>
          <a:solidFill>
            <a:srgbClr val="0033A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944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34440" y="2880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 to ONE landing page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34440" y="313639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channels point to the same certificate landing page or Handshake event. One destination = clean tracking.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5661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566160"/>
            <a:ext cx="54864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" y="3675888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675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34440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everything with QR + UTMs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234440" y="386791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Flowcode QR codes on physical materials. UTM parameters on digital links. Measure which channels drive traffic.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4297680"/>
            <a:ext cx="54864" cy="640080"/>
          </a:xfrm>
          <a:prstGeom prst="rect">
            <a:avLst/>
          </a:prstGeom>
          <a:solidFill>
            <a:srgbClr val="D64309"/>
          </a:solidFill>
          <a:ln/>
        </p:spPr>
      </p:sp>
      <p:sp>
        <p:nvSpPr>
          <p:cNvPr id="34" name="Shape 32"/>
          <p:cNvSpPr/>
          <p:nvPr/>
        </p:nvSpPr>
        <p:spPr>
          <a:xfrm>
            <a:off x="640080" y="4407408"/>
            <a:ext cx="411480" cy="411480"/>
          </a:xfrm>
          <a:prstGeom prst="ellipse">
            <a:avLst/>
          </a:prstGeom>
          <a:solidFill>
            <a:srgbClr val="D64309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4407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234440" y="4343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and optimize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234440" y="459943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check-ins on impressions, clicks, RSVPs. Double down on what works; pause what doesn't.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182880"/>
            <a:ext cx="2103120" cy="320040"/>
          </a:xfrm>
          <a:prstGeom prst="roundRect">
            <a:avLst>
              <a:gd name="adj" fmla="val 14286"/>
            </a:avLst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0" y="182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1: HANDS-OFF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 Marketing Playbook  |  cobe-info@boisestate.edu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Tracking &amp; Metrics (Hands-Off)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8404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05840"/>
            <a:ext cx="54864" cy="2194560"/>
          </a:xfrm>
          <a:prstGeom prst="rect">
            <a:avLst/>
          </a:prstGeom>
          <a:solidFill>
            <a:srgbClr val="0033A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097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TRACK FOR YOU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141732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Impressions/reach per channel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Click-through rates (CTR)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 scans (Flowcode dashboard)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 open rates and clicks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 visits and form submissions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RSVPs vs. actual attendance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impression (CPM) by channel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1005840"/>
            <a:ext cx="38404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005840"/>
            <a:ext cx="54864" cy="21945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5074920" y="1097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US WHAT YOU CARE ABOUT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74920" y="141732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need 50 RSVPs for the career fair"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want to increase landing page visits by 30%"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need employer sign-ups for training"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want more certificate inquiries"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need to fill 25 internship spots"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8229600" cy="109728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34747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 TRACKING WITH FLOWCODE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37490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physical asset (poster, flyer, shuttle ad, handout) includes a unique Flowcode QR code pointing to the certificate landing page. </a:t>
            </a:r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lets us attribute page traffic directly to offline materials.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Spring 2025, QR scans accounted for a significant share of landing page visits, proving the value of physical marketing.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182880"/>
            <a:ext cx="2103120" cy="320040"/>
          </a:xfrm>
          <a:prstGeom prst="roundRect">
            <a:avLst>
              <a:gd name="adj" fmla="val 14286"/>
            </a:avLst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0" y="182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1: HANDS-OFF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 Marketing Playbook  |  cobe-info@boisestate.edu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Hands-Off Lead Time Reference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56032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4114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Channel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Lead Time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Instagram / LinkedIn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10 business days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Urgent posts need marketing manager approval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Email Newsletter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10-15 business days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Complex multi-section newsletters need more lead time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Web / Landing Page Updates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10-15 business days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Include exact copy, URL, alt text. New pages = 15 days.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MBEB / Campus Screens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3-4 weeks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Submit graphic 3 weeks before desired display date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Events / Fairs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3-6 weeks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Longer for venue booking and partner coordination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Print (Posters/Shuttle)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2-3 weeks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Include FDCC funding string for printing costs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HANDS-OFF REQUEST CHECKLIST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40233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Email sent to cobe-info@boisestate.edu with correct subject line format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Event/program details included (Who, What, When, Where)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Registration or CTA link provided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Photos/logos attached (if available)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Approval contact name and email included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Sent at least 10 business days before target date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7C2D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HANDS-ON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DIY With Support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18288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5204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build the content using our templates.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review, approve, and help you publish.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182880"/>
            <a:ext cx="2103120" cy="320040"/>
          </a:xfrm>
          <a:prstGeom prst="roundRect">
            <a:avLst>
              <a:gd name="adj" fmla="val 14286"/>
            </a:avLst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0" y="182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2: HANDS-ON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 Marketing Playbook  |  cobe-info@boisestate.edu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Hands-On?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teams ready to create their own content with guidance and guardrails.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71600"/>
            <a:ext cx="54864" cy="20116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CREATE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178308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copy using our copy frameworks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graphics using brand templates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posting schedule with cadence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tracking (UTM links, QR codes)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a budget plan (if paid channels)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37160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371600"/>
            <a:ext cx="54864" cy="2011680"/>
          </a:xfrm>
          <a:prstGeom prst="rect">
            <a:avLst/>
          </a:prstGeom>
          <a:solidFill>
            <a:srgbClr val="0033A0"/>
          </a:solidFill>
          <a:ln/>
        </p:spPr>
      </p:sp>
      <p:sp>
        <p:nvSpPr>
          <p:cNvPr id="14" name="Text 12"/>
          <p:cNvSpPr/>
          <p:nvPr/>
        </p:nvSpPr>
        <p:spPr>
          <a:xfrm>
            <a:off x="507492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PROVIDE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74920" y="178308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repository (social, email, budget)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guidelines and asset specs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and design feedback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brand compliance review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Publishing and scheduling support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FFFBEB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3657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PREREQUISITES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3977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to template repository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(shared Google Drive folder)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design tool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(Canva, Slides, or InDesign)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WordPress access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(requires accessibility training)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182880"/>
            <a:ext cx="2103120" cy="320040"/>
          </a:xfrm>
          <a:prstGeom prst="roundRect">
            <a:avLst>
              <a:gd name="adj" fmla="val 14286"/>
            </a:avLst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0" y="182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2: HANDS-ON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 Marketing Playbook  |  cobe-info@boisestate.edu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Hands-On Workflow: 10 Steps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0515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goal + channels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30759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your objective and pick channels from the decision helper.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18288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correct template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08483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social, email, or budget template from the shared repository.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2606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copy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86207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captions, subject lines, and CTAs using the copy framework.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42900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33832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graphics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363931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assets in correct specs using brand colors and templates.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206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5840" y="41605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schedule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" y="441655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out posting cadence and dates in the calendar template.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109728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03520" y="10515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tracking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03520" y="130759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UTM links and Flowcode QR codes for each channel.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187452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03520" y="18288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paid budget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03520" y="208483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using paid channels, draft a simple spend plan.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265176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303520" y="2606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for review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03520" y="286207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complete asset pack to cobe-info@boisestate.edu.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342900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40" name="Text 38"/>
          <p:cNvSpPr/>
          <p:nvPr/>
        </p:nvSpPr>
        <p:spPr>
          <a:xfrm>
            <a:off x="475488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303520" y="33832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 + approval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303520" y="363931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Incorporate feedback. Marketing gives final brand approval.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54880" y="420624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44" name="Text 42"/>
          <p:cNvSpPr/>
          <p:nvPr/>
        </p:nvSpPr>
        <p:spPr>
          <a:xfrm>
            <a:off x="4754880" y="4206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303520" y="41605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+ schedule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303520" y="441655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goes live. Marketing helps with channel scheduling.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182880"/>
            <a:ext cx="2103120" cy="320040"/>
          </a:xfrm>
          <a:prstGeom prst="roundRect">
            <a:avLst>
              <a:gd name="adj" fmla="val 14286"/>
            </a:avLst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0" y="182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2: HANDS-ON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 Marketing Playbook  |  cobe-info@boisestate.edu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Template Guide: Social Media Calendar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file: Social Media Calendar Template.xlsx  |  Example: Social Media Calendar Example.xlsx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38404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80160"/>
            <a:ext cx="54864" cy="21031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 THE TEMPLATE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169164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template Excel file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in: Date, Channel, Post Type, Copy, CTA, Link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the graphic filename for each post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Color-code by channel (IG = pink, LI = blue, etc.)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against recommended cadence below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completed calendar with assets to cobe-info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280160"/>
            <a:ext cx="38404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280160"/>
            <a:ext cx="54864" cy="2103120"/>
          </a:xfrm>
          <a:prstGeom prst="rect">
            <a:avLst/>
          </a:prstGeom>
          <a:solidFill>
            <a:srgbClr val="0033A0"/>
          </a:solidFill>
          <a:ln/>
        </p:spPr>
      </p:sp>
      <p:sp>
        <p:nvSpPr>
          <p:cNvPr id="14" name="Text 12"/>
          <p:cNvSpPr/>
          <p:nvPr/>
        </p:nvSpPr>
        <p:spPr>
          <a:xfrm>
            <a:off x="507492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CADENCE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74920" y="169164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Instagram: 3-4 posts/week during peak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LinkedIn: 2-3 posts/week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Stories: Around events and deadlines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 features: Every few months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Vary messaging each time (avoid tune-out)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around fairs, deadlines, events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SPECIFICATIONS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40480"/>
          <a:ext cx="8229600" cy="109728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371600"/>
                <a:gridCol w="3566160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Asset Type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Size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Format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Used For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Square post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1080 x 1080 px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JPG/PNG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Instagram grid, Facebook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Story / Reel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1080 x 1920 px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JPG/PNG/MP4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Instagram/Facebook stories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Banner / Screen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1920 x 1080 px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JPG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LinkedIn, MBEB screens, classroom slides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SUB Dining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768 x 1366 px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JPG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Student Union dining area screens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Library Screens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1280 x 720 px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JPG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Albertsons Library digital displays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182880"/>
            <a:ext cx="2103120" cy="320040"/>
          </a:xfrm>
          <a:prstGeom prst="roundRect">
            <a:avLst>
              <a:gd name="adj" fmla="val 14286"/>
            </a:avLst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0" y="182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2: HANDS-ON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 Marketing Playbook  |  cobe-info@boisestate.edu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Template Guide: Budget Planning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file: RHM Marketing Budget 2025.xlsx (use as model)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80160"/>
            <a:ext cx="54864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371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#1: FREE CHANNELS FIRST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maximize free COBE channels (Instagram, LinkedIn, newsletters, MBEB screens, tabling, class visits, Localist) before allocating paid budget. These deliver ~45,000 impressions at zero cost.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38404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194560"/>
            <a:ext cx="54864" cy="23774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86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WORKBOOK SHEETS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260604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– Total budget, impressions, milestones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Detail – Per-channel rates, monthly spend, notes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Calendar – Visual timeline of all activities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 &amp; Impressions – CPM analysis and channel ratings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Contacts &amp; Process – Team contacts and request format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2194560"/>
            <a:ext cx="38404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2194560"/>
            <a:ext cx="54864" cy="2377440"/>
          </a:xfrm>
          <a:prstGeom prst="rect">
            <a:avLst/>
          </a:prstGeom>
          <a:solidFill>
            <a:srgbClr val="0033A0"/>
          </a:solidFill>
          <a:ln/>
        </p:spPr>
      </p:sp>
      <p:sp>
        <p:nvSpPr>
          <p:cNvPr id="17" name="Text 15"/>
          <p:cNvSpPr/>
          <p:nvPr/>
        </p:nvSpPr>
        <p:spPr>
          <a:xfrm>
            <a:off x="5074920" y="2286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CPM BENCHMARKS (RHM DATA)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74920" y="260604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Meta/IG Ads: ~$5.33 CPM (best value)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Arbiter Web Banner: ~$20 CPM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Shuttle Stop Posters: ~$23 CPM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Blueprint Magazine: ~$50 CPM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Arbiter Print: ~$67 CPM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Blended average: $8.82 CPM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182880"/>
            <a:ext cx="2103120" cy="320040"/>
          </a:xfrm>
          <a:prstGeom prst="roundRect">
            <a:avLst>
              <a:gd name="adj" fmla="val 14286"/>
            </a:avLst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0" y="182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2: HANDS-ON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 Marketing Playbook  |  cobe-info@boisestate.edu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Channel Guide: Instagram (@boisestatecobe)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94560" y="100584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engagement, event awareness, program visibility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8229600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508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TYPES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94560" y="150876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 posts (1080x1080), Stories/Reels (1080x1920)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20240"/>
            <a:ext cx="8229600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011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94560" y="201168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3-4 posts/week during peak recruitment; stories around events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8229600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514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94560" y="251460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business days; urgent posts need marketing manager approval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8229600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017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TIPS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94560" y="301752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Short, energetic captions. Strong CTA. Use relevant hashtags.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429000"/>
            <a:ext cx="8229600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520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 EXAMPLES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94560" y="352044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"Register now" | "Apply today" | "Tap link in bio"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8229600" cy="777240"/>
          </a:xfrm>
          <a:prstGeom prst="rect">
            <a:avLst/>
          </a:prstGeom>
          <a:solidFill>
            <a:srgbClr val="FFFBEB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4069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MINI-CHECKLIST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" y="4297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Use Social Media Calendar Template  ☐ Export graphics at 1080x1080 or 1080x1920  ☐ Include caption + CTA link  ☐ Submit to cobe-info@boisestate.edu for brand review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182880"/>
            <a:ext cx="2103120" cy="320040"/>
          </a:xfrm>
          <a:prstGeom prst="roundRect">
            <a:avLst>
              <a:gd name="adj" fmla="val 14286"/>
            </a:avLst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0" y="182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2: HANDS-ON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 Marketing Playbook  |  cobe-info@boisestate.edu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Channel Guide: LinkedIn (@boisestatecobe)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94560" y="100584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 partnerships, alumni highlights, professional storytelling, Online BBA community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8229600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508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TYPES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94560" y="150876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Banners (1920x1080), articles, student spotlights, employer partnerships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20240"/>
            <a:ext cx="8229600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011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94560" y="201168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posts/week; increase around fairs and mixers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8229600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514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94560" y="251460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business days; webinars/events should be requested 3 weeks out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8229600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017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TIPS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94560" y="301752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Professional, outcome-focused. Include employer value props and landing page links.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429000"/>
            <a:ext cx="8229600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520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 EXAMPLES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94560" y="352044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"Learn more" | "Connect with our team" | "Register for the mixer"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8229600" cy="777240"/>
          </a:xfrm>
          <a:prstGeom prst="rect">
            <a:avLst/>
          </a:prstGeom>
          <a:solidFill>
            <a:srgbClr val="FFFBEB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4069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MINI-CHECKLIST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" y="4297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Use 1920x1080 for event banners  ☐ Tag industry partners  ☐ Link to landing page  ☐ Submit to cobe-info@boisestate.edu for brand review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182880"/>
            <a:ext cx="2103120" cy="320040"/>
          </a:xfrm>
          <a:prstGeom prst="roundRect">
            <a:avLst>
              <a:gd name="adj" fmla="val 14286"/>
            </a:avLst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0" y="182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2: HANDS-ON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 Marketing Playbook  |  cobe-info@boisestate.edu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Channel Guide: Email &amp; Newsletter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94560" y="100584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event attendance, applications, and program inquiries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8229600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508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94560" y="150876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Events (weekly/biweekly) and Bronco Business News (monthly/quarterly)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20240"/>
            <a:ext cx="8229600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011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SUBSCRIBER REACH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94560" y="201168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5,000+ COBE subscribers across student and faculty lists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8229600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514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94560" y="251460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business days (simple), 15 business days (complex multi-section)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8229600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017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LINE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94560" y="301752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under 55 characters. Be specific. Include date if event-related.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429000"/>
            <a:ext cx="8229600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520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PROVIDE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94560" y="352044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Square-ish photo, short paragraph (value props), CTA button link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8229600" cy="777240"/>
          </a:xfrm>
          <a:prstGeom prst="rect">
            <a:avLst/>
          </a:prstGeom>
          <a:solidFill>
            <a:srgbClr val="FFFBEB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4069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 (FROM KATE)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" y="4297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certificates every few months — not every newsletter. Vary messaging each time to avoid tune-out. Include events (career fairs, panels) as they happen.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182880"/>
            <a:ext cx="2103120" cy="320040"/>
          </a:xfrm>
          <a:prstGeom prst="roundRect">
            <a:avLst>
              <a:gd name="adj" fmla="val 14286"/>
            </a:avLst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0" y="182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2: HANDS-ON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 Marketing Playbook  |  cobe-info@boisestate.edu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Channel Guide: Digital Screens &amp; Physical Materials</a:t>
            </a:r>
            <a:endParaRPr lang="en-US" sz="2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1828800"/>
        </p:xfrm>
        <a:graphic>
          <a:graphicData uri="http://schemas.openxmlformats.org/drawingml/2006/table">
            <a:tbl>
              <a:tblPr/>
              <a:tblGrid>
                <a:gridCol w="1371600"/>
                <a:gridCol w="1645920"/>
                <a:gridCol w="2560320"/>
                <a:gridCol w="2651760"/>
              </a:tblGrid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Location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Spec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Submit To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MBEB Screens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1920x1080 JPG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cobe-info@boisestate.edu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Logo on screen already—NO logo overlays. Dark bg + white text best.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Housing Displays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1920x1080 PPT/PDF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verenitzebeltran@boisestate.edu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Landscape preferred. Marketing form submission.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Student Union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1920x1080 JPG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SUB promotional request form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 dining screens (768x1366), 2 info desk (1920x1080)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Albertsons Library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1280x720 JPG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lib_communications@boisestate.edu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High foot traffic location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Campus Rec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1920x1080 JPG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jaredcox@boisestate.edu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Rec center digital screens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MATERIALS</a:t>
            </a:r>
            <a:endParaRPr lang="en-US" sz="1300" dirty="0"/>
          </a:p>
        </p:txBody>
      </p:sp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91840"/>
          <a:ext cx="8229600" cy="10972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188720"/>
                <a:gridCol w="4297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Material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Size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Cost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Flyers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8.5" x 11"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Minimal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Post on MBEB bulletin boards. Remove after event.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Posters (MBEB)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24" x 31"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$8-$12/ea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Uncoated $8, semi-gloss $12. Include FDCC code.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Shuttle Stop Posters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24" x 35"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$14/ea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Captive bus rider audience. High visibility.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182880"/>
            <a:ext cx="2103120" cy="320040"/>
          </a:xfrm>
          <a:prstGeom prst="roundRect">
            <a:avLst>
              <a:gd name="adj" fmla="val 14286"/>
            </a:avLst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0" y="182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2: HANDS-ON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 Marketing Playbook  |  cobe-info@boisestate.edu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Tracking Setup: QR Codes &amp; UTMs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8404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05840"/>
            <a:ext cx="54864" cy="2743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097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FLOWCODE QR CODES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1463040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account at flowcode.com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QR code pointing to your landing page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convention: Program_Channel_Semester (e.g., RHM_Shuttle_SP25)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as high-res PNG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on every physical asset (posters, flyers, handouts)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scans in the Flowcode dashboard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scan data in your campaign report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1005840"/>
            <a:ext cx="38404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005840"/>
            <a:ext cx="54864" cy="2743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074920" y="1097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UTM PARAMETERS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74920" y="1463040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Google Campaign URL Builder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utm_source = channel (instagram, newsletter, shuttle)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utm_medium = type (social, email, print, screen)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utm_campaign = program_semester (rhm_sp25)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to every digital link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in Google Analytics or Looker Studio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channel performance side-by-side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39776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PLACEMENT STRATEGY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42519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QR codes on: shuttle stop posters, class visit handouts, tabling materials, MBEB posters, career fair table signs, and event signage. Each physical touchpoint becomes a measurable conversion opportunity.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182880"/>
            <a:ext cx="2103120" cy="320040"/>
          </a:xfrm>
          <a:prstGeom prst="roundRect">
            <a:avLst>
              <a:gd name="adj" fmla="val 14286"/>
            </a:avLst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0" y="182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2: HANDS-ON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 Marketing Playbook  |  cobe-info@boisestate.edu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Channel Guide: Website &amp; Landing Pages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840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05840"/>
            <a:ext cx="54864" cy="2286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097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A GOOD LANDING PAGE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141732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headline stating the program/event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bullet value propositions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CTA button ("Apply Now", "Register")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info for questions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Mobile-responsive design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 text on all images (accessibility required)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deadlines and dates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1005840"/>
            <a:ext cx="3840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005840"/>
            <a:ext cx="54864" cy="22860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5074920" y="1097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WORDPRESS ACCESS REQUIREMENTS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74920" y="141732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web accessibility compliance training (60-90 min, self-paced)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Enroll: boisestate.edu/webguide/wordpress-accessibility-compliance-training/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completion, you receive WordPress Editor access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Introduction to WordPress training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your responsibilities as account holder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security information (data limitations)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helpdesk@boisestate.edu for support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474720"/>
            <a:ext cx="54864" cy="1280160"/>
          </a:xfrm>
          <a:prstGeom prst="rect">
            <a:avLst/>
          </a:prstGeom>
          <a:solidFill>
            <a:srgbClr val="0033A0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5661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UPDATE REQUEST FORMAT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38404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to: cobe-info@boisestate.edu  |  Lead time: 10 days (updates), 15 days (new pages)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Include: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URL + exact text to change  |  New assets with alt text and credit  |  CTA destination + form ownership (who monitors submissions)  |  Quality check: headings, alt text, descriptive links, correct dates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182880"/>
            <a:ext cx="2103120" cy="320040"/>
          </a:xfrm>
          <a:prstGeom prst="roundRect">
            <a:avLst>
              <a:gd name="adj" fmla="val 14286"/>
            </a:avLst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0" y="182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2: HANDS-ON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 Marketing Playbook  |  cobe-info@boisestate.edu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Hands-On Submission Checklist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this before submitting your asset pack to cobe-info@boisestate.edu.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80160"/>
            <a:ext cx="54864" cy="32918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&amp; COPY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169164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Copy draft for each channel (under 100 words each)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Subject line under 55 characters (for email)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Clear CTA on every piece (Register, Apply, etc.)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CTA destination URL tested and working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Registration/landing page link confirmed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Alt text written for every image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Student/partner names and titles double-checked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Dates, times, and locations verified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28016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280160"/>
            <a:ext cx="54864" cy="3291840"/>
          </a:xfrm>
          <a:prstGeom prst="rect">
            <a:avLst/>
          </a:prstGeom>
          <a:solidFill>
            <a:srgbClr val="0033A0"/>
          </a:solidFill>
          <a:ln/>
        </p:spPr>
      </p:sp>
      <p:sp>
        <p:nvSpPr>
          <p:cNvPr id="14" name="Text 12"/>
          <p:cNvSpPr/>
          <p:nvPr/>
        </p:nvSpPr>
        <p:spPr>
          <a:xfrm>
            <a:off x="507492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 &amp; GRAPHICS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74920" y="169164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Graphics exported in correct specs per channel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Files follow Boise State brand standards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File naming: Topic_StartDate_Size.jpg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QR code (Flowcode) included on physical materials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UTM parameters added to all digital links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Completed social media calendar template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Budget plan (if paid channels are included)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Approval contact name and email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FDCC funding string (if printing needed)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COBECAST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Guest Podcast Playbook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18288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3375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industry voices into the university, provide value to students,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strengthen connections between COBE, partners, and career pathways.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 Marketing Playbook  |  cobe-info@boisestate.edu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COBECAST: 6-Step Process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24712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24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External Guest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3258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professional, alumni, employer, or community partner who offers learning, career insight, leadership, or industry perspective (not promotion).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404872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404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331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 with Career Services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6060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out to Laura Chiuppi (laurachiuppi@boisestate.edu) — ask if she'd like to be introduced to the guest, explore projects/internships, or have the guest speak in class.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685032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685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3611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the Guest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38862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a brief email: who they are, why students benefit, and whether Career Services wants involvement. Get confirmation from Kate Watson before proceeding.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1124712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124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0352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the Recording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0" y="13258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 date/time via Calendly or email. Confirm with Joe Morgan (multimedia) for recording logistics. Send guest a prep sheet with topics and format.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2404872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2404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03520" y="2331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&amp; Edit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0" y="26060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Joe handles recording and editing. Review final cut for accuracy. Add intro/outro if applicable.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3685032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3685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03520" y="3611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the Episode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3520" y="38862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promotion request to cobe-info@boisestate.edu: social posts, newsletter feature, LinkedIn. Tag guest and their organization.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Contacts, Resources &amp; Brand Guidelines</a:t>
            </a:r>
            <a:endParaRPr lang="en-US" sz="2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 Marketing Playbook  |  cobe-info@boisestate.edu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COBE Marketing Team Contacts</a:t>
            </a:r>
            <a:endParaRPr lang="en-US" sz="28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1645920"/>
                <a:gridCol w="1371600"/>
                <a:gridCol w="2926080"/>
                <a:gridCol w="2286000"/>
              </a:tblGrid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Responsibility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Contact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Director / Mktg Manager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Kate Watson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Strategy, approvals, crisis response, newsletter coordination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katewatson@boisestate.edu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(208) 426-6134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Management Assistant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Kim Presnell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Social media scheduling, posting logistics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cobe-info@boisestate.edu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Multimedia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Joe Morgan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Video production, event photography, reels, COBECAST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cobe-info@boisestate.edu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Graphic Design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McKenna Howard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Visual assets, layout design, Hands-Off creative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cobe-info@boisestate.edu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Graphic Design (Central)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Ann Hottinger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Creative support, template design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annhottinger@boisestate.edu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RHM Program Lead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Ashley Walter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Program marketing inputs, employer outreach, internships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ashleywalter@boisestate.edu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(208) 918-0885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RHM Contact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Kent Neupert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Program information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kneupert@boisestate.edu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Career Services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Laura Chiuppi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External engagement, COBECAST coordination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laurachiuppi@boisestate.edu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 Marketing Playbook  |  cobe-info@boisestate.edu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Quick Reference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BOISE STATE COLORS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828800" cy="731520"/>
          </a:xfrm>
          <a:prstGeom prst="rect">
            <a:avLst/>
          </a:prstGeom>
          <a:solidFill>
            <a:srgbClr val="0033A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48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#0033A0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1371600"/>
            <a:ext cx="1828800" cy="731520"/>
          </a:xfrm>
          <a:prstGeom prst="rect">
            <a:avLst/>
          </a:prstGeom>
          <a:solidFill>
            <a:srgbClr val="D6430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2148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#D64309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1828800" cy="731520"/>
          </a:xfrm>
          <a:prstGeom prst="rect">
            <a:avLst/>
          </a:prstGeom>
          <a:solidFill>
            <a:srgbClr val="0B122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148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#0B1220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766560" y="1371600"/>
            <a:ext cx="1828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2148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#FFFFFF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GUIDELINES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06324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Boise State brand standards for all graphics (logo, color, typography)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MBEB screens already include Boise State logo — do NOT add logo overlays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Headlines under 60 characters; prioritize action verbs and clarity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asset must have alt text and high-resolution imagery (min 1080px width)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clear CTAs: "Register," "Apply," "Join the info session," "Request training"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featuring students/partners, secure approval and double-check name/title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naming convention: Topic_StartDate-EndDate_Size (e.g., CareerFair_2025-10-01_1920x1080.jpg)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 Marketing Playbook  |  cobe-info@boisestate.edu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 Library</a:t>
            </a:r>
            <a:endParaRPr lang="en-US" sz="28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2286000"/>
                <a:gridCol w="2926080"/>
                <a:gridCol w="3017520"/>
              </a:tblGrid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Resource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Location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COBE Marketing Playbook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Complete guide — this document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Shared Team Drive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Social Media Calendar Template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Plan weekly/monthly posts and schedule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Social Media Calendar Template.xlsx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Social Media Calendar Example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Completed example to model structure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Social Media Calendar Example.xlsx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RHM Marketing Budget 2025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Budget proposal model (5 sheets)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RHM Marketing Budget 2025.xlsx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2025-2026 RHM Overview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Program messaging inputs for fairs, trainings, internships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2025-2026 RHM Overview.docx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Promotion Resources Guide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Lead times, specs, contacts for all COBE promotions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Promotion Resources.docx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WordPress Access Training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Required accessibility training for web editing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boisestate.edu/webguide/wordpress-accessibility-compliance-training/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Localist Event Calendar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Post events to university-wide calendar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events.boisestate.edu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3A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6430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promote</a:t>
            </a:r>
            <a:endParaRPr lang="en-US" sz="4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program?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1828800" cy="36576"/>
          </a:xfrm>
          <a:prstGeom prst="rect">
            <a:avLst/>
          </a:prstGeom>
          <a:solidFill>
            <a:srgbClr val="D6430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here: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cobe-info@boisestate.edu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of Business and Economics  |  Boise State University  |  2025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COBE Marketing Playbook</dc:title>
  <dc:subject>PptxGenJS Presentation</dc:subject>
  <dc:creator>Ben Howerton</dc:creator>
  <cp:lastModifiedBy>Ben Howerton</cp:lastModifiedBy>
  <cp:revision>1</cp:revision>
  <dcterms:created xsi:type="dcterms:W3CDTF">2026-02-07T15:38:01Z</dcterms:created>
  <dcterms:modified xsi:type="dcterms:W3CDTF">2026-02-07T15:38:01Z</dcterms:modified>
</cp:coreProperties>
</file>